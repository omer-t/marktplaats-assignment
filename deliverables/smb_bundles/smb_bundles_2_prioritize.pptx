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0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modernComment_108_0.xml" ContentType="application/vnd.ms-powerpoint.comments+xml"/>
  <Override PartName="/ppt/comments/modernComment_10D_0.xml" ContentType="application/vnd.ms-powerpoint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B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3"/>
  </p:notesMasterIdLst>
  <p:sldIdLst>
    <p:sldId id="256" r:id="rId2"/>
    <p:sldId id="268" r:id="rId3"/>
    <p:sldId id="259" r:id="rId4"/>
    <p:sldId id="258" r:id="rId5"/>
    <p:sldId id="261" r:id="rId6"/>
    <p:sldId id="262" r:id="rId7"/>
    <p:sldId id="263" r:id="rId8"/>
    <p:sldId id="264" r:id="rId9"/>
    <p:sldId id="269" r:id="rId10"/>
    <p:sldId id="266" r:id="rId11"/>
    <p:sldId id="267" r:id="rId12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15BEED1-CB72-B48E-F02F-A910FFABA975}" name="Omer Tal" initials="OT" userId="4873ff6cd3b5db5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A8A8"/>
    <a:srgbClr val="4FB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30"/>
    <p:restoredTop sz="94678"/>
  </p:normalViewPr>
  <p:slideViewPr>
    <p:cSldViewPr snapToGrid="0" snapToObjects="1">
      <p:cViewPr>
        <p:scale>
          <a:sx n="154" d="100"/>
          <a:sy n="154" d="100"/>
        </p:scale>
        <p:origin x="25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0B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DE1CCA5-542A-E544-AD4E-AA7A7AC4E213}" authorId="{415BEED1-CB72-B48E-F02F-A910FFABA975}" created="2026-06-15T19:48:12.34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7"/>
      <ac:spMk id="11" creationId="{00000000-0000-0000-0000-000000000000}"/>
      <ac:txMk cp="196" len="75">
        <ac:context len="272" hash="1452923450"/>
      </ac:txMk>
    </ac:txMkLst>
    <p188:pos x="6324323" y="743989"/>
    <p188:txBody>
      <a:bodyPr/>
      <a:lstStyle/>
      <a:p>
        <a:r>
          <a:rPr lang="en-US"/>
          <a:t>Remove or rephrase</a:t>
        </a:r>
      </a:p>
    </p188:txBody>
  </p188:cm>
</p188:cmLst>
</file>

<file path=ppt/comments/modernComment_10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F9493B-9852-AE4A-82B5-722D2DDECA51}" authorId="{415BEED1-CB72-B48E-F02F-A910FFABA975}" created="2026-06-15T20:15:01.7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8"/>
      <ac:spMk id="30" creationId="{00000000-0000-0000-0000-000000000000}"/>
    </ac:deMkLst>
    <p188:txBody>
      <a:bodyPr/>
      <a:lstStyle/>
      <a:p>
        <a:r>
          <a:rPr lang="en-US"/>
          <a:t>Focus on this</a:t>
        </a:r>
      </a:p>
    </p188:txBody>
  </p188:cm>
</p188:cmLst>
</file>

<file path=ppt/comments/modernComment_10D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C56E0D-8A77-C94D-B843-CDD9B45B9AAD}" authorId="{415BEED1-CB72-B48E-F02F-A910FFABA975}" created="2026-06-15T19:49:21.11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9"/>
      <ac:spMk id="24" creationId="{00000000-0000-0000-0000-000000000000}"/>
    </ac:deMkLst>
    <p188:txBody>
      <a:bodyPr/>
      <a:lstStyle/>
      <a:p>
        <a:r>
          <a:rPr lang="en-US"/>
          <a:t>Remove</a:t>
        </a:r>
      </a:p>
    </p188:txBody>
  </p188:cm>
</p188:cmLst>
</file>

<file path=ppt/comments/modernComment_10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F10BF8-CC85-0945-A848-863966AA2DA4}" authorId="{415BEED1-CB72-B48E-F02F-A910FFABA975}" created="2026-06-15T19:43:16.98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4"/>
      <ac:graphicFrameMk id="10" creationId="{00000000-0000-0000-0000-000000000000}"/>
    </ac:deMkLst>
    <p188:txBody>
      <a:bodyPr/>
      <a:lstStyle/>
      <a:p>
        <a:r>
          <a:rPr lang="en-US"/>
          <a:t>Remove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663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1241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474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3171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34413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64234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94979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92786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11721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6396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04464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60439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2783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070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C_0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D_0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0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09630" y="900135"/>
            <a:ext cx="3600450" cy="389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D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Identify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12064" y="1645920"/>
            <a:ext cx="10499964" cy="8300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70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Prioritize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512064" y="279806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sellers by outreach readiness and bundle fit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9630" y="4096512"/>
            <a:ext cx="3600450" cy="389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38D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Monitor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09630" y="4590288"/>
            <a:ext cx="3600450" cy="389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7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Scale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tion Number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37AFFF"/>
                </a:solidFill>
                <a:latin typeface="Arial"/>
                <a:ea typeface="Arial"/>
                <a:cs typeface="Arial"/>
              </a:rPr>
              <a:t>02</a:t>
            </a:r>
            <a:endParaRPr sz="3600"/>
          </a:p>
        </p:txBody>
      </p:sp>
      <p:sp>
        <p:nvSpPr>
          <p:cNvPr id="4" name="Title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 dirty="0">
                <a:solidFill>
                  <a:srgbClr val="F3F4F6"/>
                </a:solidFill>
                <a:latin typeface="Arial"/>
                <a:ea typeface="Arial"/>
                <a:cs typeface="Arial"/>
              </a:rPr>
              <a:t>1. Framin</a:t>
            </a:r>
            <a:r>
              <a:rPr lang="en-US" sz="3600" b="1" dirty="0">
                <a:solidFill>
                  <a:srgbClr val="F3F4F6"/>
                </a:solidFill>
                <a:latin typeface="Arial"/>
                <a:ea typeface="Arial"/>
                <a:cs typeface="Arial"/>
              </a:rPr>
              <a:t>g</a:t>
            </a:r>
            <a:endParaRPr sz="3600" dirty="0"/>
          </a:p>
        </p:txBody>
      </p:sp>
      <p:sp>
        <p:nvSpPr>
          <p:cNvPr id="5" name="Top Divider"/>
          <p:cNvSpPr/>
          <p:nvPr/>
        </p:nvSpPr>
        <p:spPr>
          <a:xfrm>
            <a:off x="457200" y="1160008"/>
            <a:ext cx="11277570" cy="0"/>
          </a:xfrm>
          <a:prstGeom prst="rect">
            <a:avLst/>
          </a:prstGeom>
          <a:noFill/>
          <a:ln w="9525">
            <a:solidFill>
              <a:srgbClr val="3A3A3A"/>
            </a:solidFill>
          </a:ln>
        </p:spPr>
        <p:txBody>
          <a:bodyPr/>
          <a:lstStyle/>
          <a:p>
            <a:endParaRPr lang="en-US"/>
          </a:p>
        </p:txBody>
      </p:sp>
      <p:grpSp>
        <p:nvGrpSpPr>
          <p:cNvPr id="49" name="Metric Rail"/>
          <p:cNvGrpSpPr/>
          <p:nvPr/>
        </p:nvGrpSpPr>
        <p:grpSpPr>
          <a:xfrm>
            <a:off x="566928" y="1417320"/>
            <a:ext cx="10707624" cy="868680"/>
            <a:chOff x="566928" y="1417320"/>
            <a:chExt cx="10707624" cy="868680"/>
          </a:xfrm>
        </p:grpSpPr>
        <p:sp>
          <p:nvSpPr>
            <p:cNvPr id="6" name="Metric Card 1"/>
            <p:cNvSpPr/>
            <p:nvPr/>
          </p:nvSpPr>
          <p:spPr>
            <a:xfrm>
              <a:off x="566928" y="1417320"/>
              <a:ext cx="2423160" cy="868680"/>
            </a:xfrm>
            <a:prstGeom prst="roundRect">
              <a:avLst/>
            </a:prstGeom>
            <a:solidFill>
              <a:srgbClr val="0D0D0D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Metric Value 1"/>
            <p:cNvSpPr/>
            <p:nvPr/>
          </p:nvSpPr>
          <p:spPr>
            <a:xfrm>
              <a:off x="658368" y="1481328"/>
              <a:ext cx="214884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3,840</a:t>
              </a:r>
              <a:endParaRPr sz="3100"/>
            </a:p>
          </p:txBody>
        </p:sp>
        <p:sp>
          <p:nvSpPr>
            <p:cNvPr id="8" name="Metric Label 1"/>
            <p:cNvSpPr/>
            <p:nvPr/>
          </p:nvSpPr>
          <p:spPr>
            <a:xfrm>
              <a:off x="658368" y="1965960"/>
              <a:ext cx="2148840" cy="22860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sample sellers</a:t>
              </a:r>
              <a:endParaRPr sz="1200"/>
            </a:p>
          </p:txBody>
        </p:sp>
        <p:sp>
          <p:nvSpPr>
            <p:cNvPr id="9" name="Metric Card 2"/>
            <p:cNvSpPr/>
            <p:nvPr/>
          </p:nvSpPr>
          <p:spPr>
            <a:xfrm>
              <a:off x="3328416" y="1417320"/>
              <a:ext cx="2423160" cy="868680"/>
            </a:xfrm>
            <a:prstGeom prst="roundRect">
              <a:avLst/>
            </a:prstGeom>
            <a:solidFill>
              <a:srgbClr val="0D0D0D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Metric Value 2"/>
            <p:cNvSpPr/>
            <p:nvPr/>
          </p:nvSpPr>
          <p:spPr>
            <a:xfrm>
              <a:off x="3419856" y="1481328"/>
              <a:ext cx="214884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83%</a:t>
              </a:r>
              <a:endParaRPr sz="3100"/>
            </a:p>
          </p:txBody>
        </p:sp>
        <p:sp>
          <p:nvSpPr>
            <p:cNvPr id="11" name="Metric Label 2"/>
            <p:cNvSpPr/>
            <p:nvPr/>
          </p:nvSpPr>
          <p:spPr>
            <a:xfrm>
              <a:off x="3419856" y="1965960"/>
              <a:ext cx="2148840" cy="22860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likely SMBs</a:t>
              </a:r>
              <a:endParaRPr sz="1200"/>
            </a:p>
          </p:txBody>
        </p:sp>
        <p:sp>
          <p:nvSpPr>
            <p:cNvPr id="12" name="Metric Card 3"/>
            <p:cNvSpPr/>
            <p:nvPr/>
          </p:nvSpPr>
          <p:spPr>
            <a:xfrm>
              <a:off x="6089904" y="1417320"/>
              <a:ext cx="2423160" cy="868680"/>
            </a:xfrm>
            <a:prstGeom prst="roundRect">
              <a:avLst/>
            </a:prstGeom>
            <a:solidFill>
              <a:srgbClr val="0D0D0D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Metric Value 3"/>
            <p:cNvSpPr/>
            <p:nvPr/>
          </p:nvSpPr>
          <p:spPr>
            <a:xfrm>
              <a:off x="6181344" y="1481328"/>
              <a:ext cx="214884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960</a:t>
              </a:r>
              <a:endParaRPr sz="3100"/>
            </a:p>
          </p:txBody>
        </p:sp>
        <p:sp>
          <p:nvSpPr>
            <p:cNvPr id="14" name="Metric Label 3"/>
            <p:cNvSpPr/>
            <p:nvPr/>
          </p:nvSpPr>
          <p:spPr>
            <a:xfrm>
              <a:off x="6181344" y="1965960"/>
              <a:ext cx="2148840" cy="22860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first-batch target</a:t>
              </a:r>
              <a:endParaRPr sz="1200"/>
            </a:p>
          </p:txBody>
        </p:sp>
        <p:sp>
          <p:nvSpPr>
            <p:cNvPr id="15" name="Metric Card 4"/>
            <p:cNvSpPr/>
            <p:nvPr/>
          </p:nvSpPr>
          <p:spPr>
            <a:xfrm>
              <a:off x="8851392" y="1417320"/>
              <a:ext cx="2423160" cy="868680"/>
            </a:xfrm>
            <a:prstGeom prst="roundRect">
              <a:avLst/>
            </a:prstGeom>
            <a:solidFill>
              <a:srgbClr val="0D0D0D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Metric Value 4"/>
            <p:cNvSpPr/>
            <p:nvPr/>
          </p:nvSpPr>
          <p:spPr>
            <a:xfrm>
              <a:off x="8942832" y="1481328"/>
              <a:ext cx="214884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310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25%</a:t>
              </a:r>
              <a:endParaRPr sz="3100"/>
            </a:p>
          </p:txBody>
        </p:sp>
        <p:sp>
          <p:nvSpPr>
            <p:cNvPr id="17" name="Metric Label 4"/>
            <p:cNvSpPr/>
            <p:nvPr/>
          </p:nvSpPr>
          <p:spPr>
            <a:xfrm>
              <a:off x="8942832" y="1965960"/>
              <a:ext cx="2148840" cy="22860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of sample prioritized</a:t>
              </a:r>
              <a:endParaRPr sz="1200"/>
            </a:p>
          </p:txBody>
        </p:sp>
      </p:grpSp>
      <p:grpSp>
        <p:nvGrpSpPr>
          <p:cNvPr id="47" name="Basic Bundle Card"/>
          <p:cNvGrpSpPr/>
          <p:nvPr/>
        </p:nvGrpSpPr>
        <p:grpSpPr>
          <a:xfrm>
            <a:off x="566928" y="2686081"/>
            <a:ext cx="5074920" cy="1785335"/>
            <a:chOff x="566928" y="2606040"/>
            <a:chExt cx="5074920" cy="1920240"/>
          </a:xfrm>
        </p:grpSpPr>
        <p:sp>
          <p:nvSpPr>
            <p:cNvPr id="18" name="Basic Card"/>
            <p:cNvSpPr/>
            <p:nvPr/>
          </p:nvSpPr>
          <p:spPr>
            <a:xfrm>
              <a:off x="566928" y="2606040"/>
              <a:ext cx="5074920" cy="192024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Basic Accent"/>
            <p:cNvSpPr/>
            <p:nvPr/>
          </p:nvSpPr>
          <p:spPr>
            <a:xfrm>
              <a:off x="566928" y="2606040"/>
              <a:ext cx="54864" cy="1920240"/>
            </a:xfrm>
            <a:prstGeom prst="rect">
              <a:avLst/>
            </a:prstGeom>
            <a:solidFill>
              <a:srgbClr val="37AFFF"/>
            </a:solidFill>
            <a:ln w="0">
              <a:solidFill>
                <a:srgbClr val="37AFFF">
                  <a:alpha val="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Basic Title"/>
            <p:cNvSpPr/>
            <p:nvPr/>
          </p:nvSpPr>
          <p:spPr>
            <a:xfrm>
              <a:off x="768096" y="2761488"/>
              <a:ext cx="155448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285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285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Basic</a:t>
              </a:r>
              <a:endParaRPr sz="2850"/>
            </a:p>
          </p:txBody>
        </p:sp>
        <p:sp>
          <p:nvSpPr>
            <p:cNvPr id="21" name="Basic Badge"/>
            <p:cNvSpPr/>
            <p:nvPr/>
          </p:nvSpPr>
          <p:spPr>
            <a:xfrm>
              <a:off x="3872088" y="2816352"/>
              <a:ext cx="1449719" cy="301752"/>
            </a:xfrm>
            <a:prstGeom prst="roundRect">
              <a:avLst/>
            </a:prstGeom>
            <a:solidFill>
              <a:srgbClr val="050505"/>
            </a:solidFill>
            <a:ln w="9525">
              <a:solidFill>
                <a:srgbClr val="37AFFF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Basic Badge Text"/>
            <p:cNvSpPr/>
            <p:nvPr/>
          </p:nvSpPr>
          <p:spPr>
            <a:xfrm>
              <a:off x="3968044" y="2848356"/>
              <a:ext cx="1262324" cy="164592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050" b="1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sz="1050" b="1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professional trust</a:t>
              </a:r>
              <a:endParaRPr sz="1050" dirty="0"/>
            </a:p>
          </p:txBody>
        </p:sp>
        <p:sp>
          <p:nvSpPr>
            <p:cNvPr id="23" name="Basic Body"/>
            <p:cNvSpPr/>
            <p:nvPr/>
          </p:nvSpPr>
          <p:spPr>
            <a:xfrm>
              <a:off x="768096" y="3509531"/>
              <a:ext cx="4498848" cy="713232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750" b="0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sz="1400" b="0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Verified seller icon, professional seller page, and extra pictures for more visibility.</a:t>
              </a:r>
              <a:endParaRPr sz="1400" b="0" dirty="0"/>
            </a:p>
          </p:txBody>
        </p:sp>
      </p:grpSp>
      <p:grpSp>
        <p:nvGrpSpPr>
          <p:cNvPr id="48" name="Plus Bundle Card"/>
          <p:cNvGrpSpPr/>
          <p:nvPr/>
        </p:nvGrpSpPr>
        <p:grpSpPr>
          <a:xfrm>
            <a:off x="6236208" y="2686081"/>
            <a:ext cx="5074920" cy="1785335"/>
            <a:chOff x="6236208" y="2606040"/>
            <a:chExt cx="5074920" cy="1920240"/>
          </a:xfrm>
        </p:grpSpPr>
        <p:sp>
          <p:nvSpPr>
            <p:cNvPr id="24" name="Plus Card"/>
            <p:cNvSpPr/>
            <p:nvPr/>
          </p:nvSpPr>
          <p:spPr>
            <a:xfrm>
              <a:off x="6236208" y="2606040"/>
              <a:ext cx="5074920" cy="192024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Plus Accent"/>
            <p:cNvSpPr/>
            <p:nvPr/>
          </p:nvSpPr>
          <p:spPr>
            <a:xfrm>
              <a:off x="6236208" y="2606040"/>
              <a:ext cx="54864" cy="1920240"/>
            </a:xfrm>
            <a:prstGeom prst="rect">
              <a:avLst/>
            </a:prstGeom>
            <a:solidFill>
              <a:srgbClr val="37AFFF"/>
            </a:solidFill>
            <a:ln w="0">
              <a:solidFill>
                <a:srgbClr val="37AFFF">
                  <a:alpha val="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Plus Title"/>
            <p:cNvSpPr/>
            <p:nvPr/>
          </p:nvSpPr>
          <p:spPr>
            <a:xfrm>
              <a:off x="6437376" y="2761488"/>
              <a:ext cx="1554480" cy="384048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285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285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Plus</a:t>
              </a:r>
              <a:endParaRPr sz="2850"/>
            </a:p>
          </p:txBody>
        </p:sp>
        <p:sp>
          <p:nvSpPr>
            <p:cNvPr id="27" name="Plus Badge"/>
            <p:cNvSpPr/>
            <p:nvPr/>
          </p:nvSpPr>
          <p:spPr>
            <a:xfrm>
              <a:off x="8193024" y="2816351"/>
              <a:ext cx="2798064" cy="445039"/>
            </a:xfrm>
            <a:prstGeom prst="roundRect">
              <a:avLst/>
            </a:prstGeom>
            <a:solidFill>
              <a:srgbClr val="050505"/>
            </a:solidFill>
            <a:ln w="9525">
              <a:solidFill>
                <a:srgbClr val="37AFFF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Plus Badge Text"/>
            <p:cNvSpPr/>
            <p:nvPr/>
          </p:nvSpPr>
          <p:spPr>
            <a:xfrm>
              <a:off x="8330184" y="2848356"/>
              <a:ext cx="2569464" cy="164592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>
                <a:defRPr sz="1050" b="1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50" b="1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professional trust +</a:t>
              </a:r>
            </a:p>
            <a:p>
              <a:pPr>
                <a:defRPr sz="1050" b="1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sz="1050" b="1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attention + cross-promotion</a:t>
              </a:r>
              <a:endParaRPr sz="1050" dirty="0"/>
            </a:p>
          </p:txBody>
        </p:sp>
        <p:sp>
          <p:nvSpPr>
            <p:cNvPr id="29" name="Plus Body"/>
            <p:cNvSpPr/>
            <p:nvPr/>
          </p:nvSpPr>
          <p:spPr>
            <a:xfrm>
              <a:off x="6437376" y="3509531"/>
              <a:ext cx="4498848" cy="713232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750" b="0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sz="1400" b="0" dirty="0">
                  <a:solidFill>
                    <a:srgbClr val="F3F4F6"/>
                  </a:solidFill>
                  <a:ea typeface="Arial"/>
                  <a:cs typeface="Arial"/>
                </a:rPr>
                <a:t>Everything in Basic, plus visibility stickers and links from every ad to the seller's other ads.</a:t>
              </a:r>
              <a:endParaRPr sz="1400" b="0" dirty="0"/>
            </a:p>
          </p:txBody>
        </p:sp>
      </p:grpSp>
      <p:grpSp>
        <p:nvGrpSpPr>
          <p:cNvPr id="50" name="Approach Strip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0" name="Approach Strip"/>
            <p:cNvSpPr/>
            <p:nvPr/>
          </p:nvSpPr>
          <p:spPr>
            <a:xfrm>
              <a:off x="566928" y="4892040"/>
              <a:ext cx="11018520" cy="777240"/>
            </a:xfrm>
            <a:prstGeom prst="roundRect">
              <a:avLst/>
            </a:prstGeom>
            <a:solidFill>
              <a:srgbClr val="0B0B0B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Approach Label"/>
            <p:cNvSpPr/>
            <p:nvPr/>
          </p:nvSpPr>
          <p:spPr>
            <a:xfrm>
              <a:off x="713232" y="5047488"/>
              <a:ext cx="109728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650" b="1">
                  <a:solidFill>
                    <a:srgbClr val="37AFFF"/>
                  </a:solidFill>
                  <a:latin typeface="Arial"/>
                  <a:ea typeface="Arial"/>
                  <a:cs typeface="Arial"/>
                </a:defRPr>
              </a:pPr>
              <a:r>
                <a:rPr sz="1650" b="1">
                  <a:solidFill>
                    <a:srgbClr val="37AFFF"/>
                  </a:solidFill>
                  <a:latin typeface="Arial"/>
                  <a:ea typeface="Arial"/>
                  <a:cs typeface="Arial"/>
                </a:rPr>
                <a:t>Approach</a:t>
              </a:r>
              <a:endParaRPr sz="1650"/>
            </a:p>
          </p:txBody>
        </p:sp>
        <p:sp>
          <p:nvSpPr>
            <p:cNvPr id="32" name="Approach Text"/>
            <p:cNvSpPr/>
            <p:nvPr/>
          </p:nvSpPr>
          <p:spPr>
            <a:xfrm>
              <a:off x="1828800" y="5047488"/>
              <a:ext cx="905256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  <a:defRPr sz="1650" b="1">
                  <a:solidFill>
                    <a:srgbClr val="F3F4F6"/>
                  </a:solidFill>
                  <a:latin typeface="Arial"/>
                  <a:ea typeface="Arial"/>
                  <a:cs typeface="Arial"/>
                </a:defRPr>
              </a:pPr>
              <a:r>
                <a:rPr sz="1650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Review activity, fees, and anomalies; then build a broader outreach readiness score.</a:t>
              </a:r>
              <a:endParaRPr sz="1650" dirty="0"/>
            </a:p>
          </p:txBody>
        </p:sp>
      </p:grpSp>
      <p:sp>
        <p:nvSpPr>
          <p:cNvPr id="44" name="Bottom Divider"/>
          <p:cNvSpPr/>
          <p:nvPr/>
        </p:nvSpPr>
        <p:spPr>
          <a:xfrm>
            <a:off x="457200" y="6210330"/>
            <a:ext cx="11277570" cy="0"/>
          </a:xfrm>
          <a:prstGeom prst="rect">
            <a:avLst/>
          </a:prstGeom>
          <a:noFill/>
          <a:ln w="9525">
            <a:solidFill>
              <a:srgbClr val="3A3A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Footer Label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Outreach Prioritization</a:t>
            </a:r>
            <a:endParaRPr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46" name="Page Marker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02 / 12</a:t>
            </a:r>
            <a:endParaRPr sz="90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Snapshot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12</a:t>
            </a:r>
            <a:endParaRPr lang="en-US" sz="900" dirty="0"/>
          </a:p>
        </p:txBody>
      </p:sp>
      <p:pic>
        <p:nvPicPr>
          <p:cNvPr id="9" name="Image 0" descr="/Users/omertal/PycharmProjects/Marketplaats/outputs/manual-20260615-q2-refresh/assets/cell_1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09822" y="1325879"/>
            <a:ext cx="5895961" cy="47096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2927" y="1684006"/>
            <a:ext cx="4160520" cy="90269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is strong: no missing values, duplicate seller-month-category rows, or negative metrics.</a:t>
            </a:r>
            <a:endParaRPr lang="en-US" sz="12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BB87519-4260-BEAD-7FB3-39618BDA98CA}"/>
              </a:ext>
            </a:extLst>
          </p:cNvPr>
          <p:cNvSpPr/>
          <p:nvPr/>
        </p:nvSpPr>
        <p:spPr>
          <a:xfrm>
            <a:off x="682927" y="2880199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Overview</a:t>
            </a:r>
            <a:endParaRPr lang="en-US" sz="18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03870BB8-745D-3407-8E36-A6856B7FBCE5}"/>
              </a:ext>
            </a:extLst>
          </p:cNvPr>
          <p:cNvSpPr/>
          <p:nvPr/>
        </p:nvSpPr>
        <p:spPr>
          <a:xfrm>
            <a:off x="682927" y="3398343"/>
            <a:ext cx="4160520" cy="197864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 2023 has a visible spike, partly driven by seller </a:t>
            </a:r>
            <a:r>
              <a:rPr lang="en-US" sz="1200" dirty="0">
                <a:solidFill>
                  <a:srgbClr val="4FB3FF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65950787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r>
              <a:rPr lang="en-US" sz="1200" dirty="0">
                <a:solidFill>
                  <a:srgbClr val="4FB3FF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Auto-</a:t>
            </a:r>
            <a:r>
              <a:rPr lang="en-US" sz="1200" dirty="0" err="1">
                <a:solidFill>
                  <a:srgbClr val="4FB3FF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onderdelen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explains most extreme November fee spike.</a:t>
            </a: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excluding that seller, November remains elevated in ads and fees. The remaining lift is broader across sellers/categories, not another single obvious anomaly.</a:t>
            </a:r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Snapshot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389888"/>
            <a:ext cx="388620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endParaRPr lang="en-US" sz="1480" dirty="0"/>
          </a:p>
        </p:txBody>
      </p:sp>
      <p:pic>
        <p:nvPicPr>
          <p:cNvPr id="11" name="Image 0" descr="/Users/omertal/PycharmProjects/Marketplaats/outputs/manual-20260615-q2-refresh/assets/cell_15.png">
            <a:extLst>
              <a:ext uri="{FF2B5EF4-FFF2-40B4-BE49-F238E27FC236}">
                <a16:creationId xmlns:a16="http://schemas.microsoft.com/office/drawing/2014/main" id="{DF505DD6-05DC-7E85-C690-DBFDF27357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01352" y="3618891"/>
            <a:ext cx="6812280" cy="23752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39C13FC-DB28-C6B4-4BEC-222495F201AB}"/>
              </a:ext>
            </a:extLst>
          </p:cNvPr>
          <p:cNvGrpSpPr/>
          <p:nvPr/>
        </p:nvGrpSpPr>
        <p:grpSpPr>
          <a:xfrm>
            <a:off x="3252836" y="1219475"/>
            <a:ext cx="4909312" cy="2389632"/>
            <a:chOff x="3252836" y="1219475"/>
            <a:chExt cx="4909312" cy="2389632"/>
          </a:xfrm>
        </p:grpSpPr>
        <p:pic>
          <p:nvPicPr>
            <p:cNvPr id="10" name="Image 0" descr="/Users/omertal/PycharmProjects/Marketplaats/outputs/manual-20260615-q2-refresh/assets/cell_11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3252836" y="1219475"/>
              <a:ext cx="4909312" cy="2389632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50AC65-64C4-2993-C5DB-43EC7977CE48}"/>
                </a:ext>
              </a:extLst>
            </p:cNvPr>
            <p:cNvSpPr/>
            <p:nvPr/>
          </p:nvSpPr>
          <p:spPr>
            <a:xfrm>
              <a:off x="6683363" y="3135993"/>
              <a:ext cx="1055511" cy="4120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Outreach Prioritization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270990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by total fees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85216" y="3394440"/>
            <a:ext cx="4624606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F3F4F6"/>
                </a:solidFill>
                <a:latin typeface="Arial" pitchFamily="34" charset="0"/>
                <a:cs typeface="Arial" pitchFamily="34" charset="-120"/>
              </a:rPr>
              <a:t>Ranking sellers by total fees is as a baseline initial prioritization approach: </a:t>
            </a:r>
            <a:r>
              <a:rPr lang="en-US" sz="1900" dirty="0">
                <a:solidFill>
                  <a:srgbClr val="F3F4F6"/>
                </a:solidFill>
                <a:latin typeface="Arial" pitchFamily="34" charset="0"/>
                <a:cs typeface="Arial" pitchFamily="34" charset="-120"/>
              </a:rPr>
              <a:t>target</a:t>
            </a:r>
            <a:r>
              <a:rPr lang="en-US" dirty="0">
                <a:solidFill>
                  <a:srgbClr val="F3F4F6"/>
                </a:solidFill>
                <a:latin typeface="Arial" pitchFamily="34" charset="0"/>
                <a:cs typeface="Arial" pitchFamily="34" charset="-120"/>
              </a:rPr>
              <a:t> sellers with the strongest historical willingness to pay.</a:t>
            </a:r>
          </a:p>
        </p:txBody>
      </p:sp>
      <p:sp>
        <p:nvSpPr>
          <p:cNvPr id="11" name="Text 9"/>
          <p:cNvSpPr/>
          <p:nvPr/>
        </p:nvSpPr>
        <p:spPr>
          <a:xfrm>
            <a:off x="585216" y="1631809"/>
            <a:ext cx="4624606" cy="76707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activity is highly skewed: a small group drives much of the volume and fees.</a:t>
            </a:r>
            <a:endParaRPr lang="en-US" sz="1650" dirty="0">
              <a:solidFill>
                <a:srgbClr val="F3F4F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buClr>
                <a:srgbClr val="4FB3FF"/>
              </a:buClr>
            </a:pPr>
            <a:endParaRPr lang="en-US" sz="1650" dirty="0"/>
          </a:p>
        </p:txBody>
      </p:sp>
      <p:pic>
        <p:nvPicPr>
          <p:cNvPr id="12" name="Image 0" descr="/Users/omertal/PycharmProjects/Marketplaats/outputs/manual-20260615-q2-refresh/assets/cell_1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0881" y="1651977"/>
            <a:ext cx="6200150" cy="38456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Outreach Readiness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1473476"/>
            <a:ext cx="10972800" cy="95416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rank outreach readiness, not just historical spend.</a:t>
            </a:r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first outreach batch should prioritize sellers who are both commercially valuable and likely to see value in a bundle.</a:t>
            </a: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convert each signal to a seller percentile rank, then take a </a:t>
            </a:r>
            <a:r>
              <a:rPr lang="en-US" sz="1200" b="1" dirty="0">
                <a:solidFill>
                  <a:srgbClr val="4FB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average</a:t>
            </a: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six scores.</a:t>
            </a: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sellers in the top 25% of Outreach-Readiness score are the outreach-ready group.</a:t>
            </a:r>
          </a:p>
          <a:p>
            <a:pPr>
              <a:buClr>
                <a:srgbClr val="4FB3FF"/>
              </a:buClr>
            </a:pPr>
            <a:endParaRPr lang="en-US" sz="1200" dirty="0"/>
          </a:p>
        </p:txBody>
      </p:sp>
      <p:sp>
        <p:nvSpPr>
          <p:cNvPr id="10" name="Signal Cards Heading"/>
          <p:cNvSpPr/>
          <p:nvPr/>
        </p:nvSpPr>
        <p:spPr>
          <a:xfrm>
            <a:off x="566928" y="2616463"/>
            <a:ext cx="6583680" cy="29260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</a:pPr>
            <a:r>
              <a:rPr lang="en-US" sz="1800" b="1" dirty="0">
                <a:solidFill>
                  <a:srgbClr val="37AFFF"/>
                </a:solidFill>
                <a:latin typeface="Arial"/>
                <a:ea typeface="Arial"/>
                <a:cs typeface="Arial"/>
              </a:rPr>
              <a:t>Signals used in the outreach-readiness score</a:t>
            </a:r>
            <a:endParaRPr lang="en-US" sz="1800" dirty="0"/>
          </a:p>
        </p:txBody>
      </p:sp>
      <p:grpSp>
        <p:nvGrpSpPr>
          <p:cNvPr id="112" name="Signal Card - Recent paid usage"/>
          <p:cNvGrpSpPr/>
          <p:nvPr/>
        </p:nvGrpSpPr>
        <p:grpSpPr>
          <a:xfrm>
            <a:off x="0" y="8313"/>
            <a:ext cx="12192000" cy="6858000"/>
            <a:chOff x="0" y="0"/>
            <a:chExt cx="12192000" cy="6858000"/>
          </a:xfrm>
        </p:grpSpPr>
        <p:sp>
          <p:nvSpPr>
            <p:cNvPr id="12" name="Recent paid usage Card"/>
            <p:cNvSpPr/>
            <p:nvPr/>
          </p:nvSpPr>
          <p:spPr>
            <a:xfrm>
              <a:off x="566928" y="3246120"/>
              <a:ext cx="3401568" cy="1042416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Recent paid usage Accent"/>
            <p:cNvSpPr/>
            <p:nvPr/>
          </p:nvSpPr>
          <p:spPr>
            <a:xfrm>
              <a:off x="566928" y="324612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Recent paid usage Title"/>
            <p:cNvSpPr/>
            <p:nvPr/>
          </p:nvSpPr>
          <p:spPr>
            <a:xfrm>
              <a:off x="694944" y="331927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Recent paid usage</a:t>
              </a:r>
              <a:endParaRPr lang="en-US" sz="1450" dirty="0"/>
            </a:p>
          </p:txBody>
        </p:sp>
        <p:sp>
          <p:nvSpPr>
            <p:cNvPr id="15" name="Recent paid usage Purpose"/>
            <p:cNvSpPr/>
            <p:nvPr/>
          </p:nvSpPr>
          <p:spPr>
            <a:xfrm>
              <a:off x="694944" y="355701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Current paid-product need / activity</a:t>
              </a:r>
              <a:endParaRPr lang="en-US" sz="1000" dirty="0"/>
            </a:p>
          </p:txBody>
        </p:sp>
        <p:sp>
          <p:nvSpPr>
            <p:cNvPr id="16" name="Recent paid usage Divider"/>
            <p:cNvSpPr/>
            <p:nvPr/>
          </p:nvSpPr>
          <p:spPr>
            <a:xfrm>
              <a:off x="694944" y="384048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ent paid usage Definition"/>
            <p:cNvSpPr/>
            <p:nvPr/>
          </p:nvSpPr>
          <p:spPr>
            <a:xfrm>
              <a:off x="694944" y="390448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Paid marketplace actions in the last 6 months</a:t>
              </a:r>
              <a:endParaRPr lang="en-US" sz="950" dirty="0"/>
            </a:p>
          </p:txBody>
        </p:sp>
      </p:grpSp>
      <p:grpSp>
        <p:nvGrpSpPr>
          <p:cNvPr id="118" name="Signal Card - Consistency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8" name="Consistency Card"/>
            <p:cNvSpPr/>
            <p:nvPr/>
          </p:nvSpPr>
          <p:spPr>
            <a:xfrm>
              <a:off x="4407408" y="3246120"/>
              <a:ext cx="3401568" cy="1042416"/>
            </a:xfrm>
            <a:prstGeom prst="rect">
              <a:avLst/>
            </a:prstGeom>
            <a:solidFill>
              <a:srgbClr val="171717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Consistency Accent"/>
            <p:cNvSpPr/>
            <p:nvPr/>
          </p:nvSpPr>
          <p:spPr>
            <a:xfrm>
              <a:off x="4407408" y="324612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Consistency Title"/>
            <p:cNvSpPr/>
            <p:nvPr/>
          </p:nvSpPr>
          <p:spPr>
            <a:xfrm>
              <a:off x="4535424" y="331927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Consistency</a:t>
              </a:r>
              <a:endParaRPr lang="en-US" sz="1450" dirty="0"/>
            </a:p>
          </p:txBody>
        </p:sp>
        <p:sp>
          <p:nvSpPr>
            <p:cNvPr id="21" name="Consistency Purpose"/>
            <p:cNvSpPr/>
            <p:nvPr/>
          </p:nvSpPr>
          <p:spPr>
            <a:xfrm>
              <a:off x="4535424" y="355701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Reliability as a subscription candidate</a:t>
              </a:r>
              <a:endParaRPr lang="en-US" sz="1000" dirty="0"/>
            </a:p>
          </p:txBody>
        </p:sp>
        <p:sp>
          <p:nvSpPr>
            <p:cNvPr id="22" name="Consistency Divider"/>
            <p:cNvSpPr/>
            <p:nvPr/>
          </p:nvSpPr>
          <p:spPr>
            <a:xfrm>
              <a:off x="4535424" y="384048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Consistency Definition"/>
            <p:cNvSpPr/>
            <p:nvPr/>
          </p:nvSpPr>
          <p:spPr>
            <a:xfrm>
              <a:off x="4535424" y="390448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Number of months with seller activity across 2023-2024</a:t>
              </a:r>
              <a:endParaRPr lang="en-US" sz="950" dirty="0"/>
            </a:p>
          </p:txBody>
        </p:sp>
      </p:grpSp>
      <p:grpSp>
        <p:nvGrpSpPr>
          <p:cNvPr id="124" name="Signal Card - Category breadth"/>
          <p:cNvGrpSpPr/>
          <p:nvPr/>
        </p:nvGrpSpPr>
        <p:grpSpPr>
          <a:xfrm>
            <a:off x="0" y="8313"/>
            <a:ext cx="12192000" cy="6858000"/>
            <a:chOff x="0" y="0"/>
            <a:chExt cx="12192000" cy="6858000"/>
          </a:xfrm>
        </p:grpSpPr>
        <p:sp>
          <p:nvSpPr>
            <p:cNvPr id="24" name="Category breadth Card"/>
            <p:cNvSpPr/>
            <p:nvPr/>
          </p:nvSpPr>
          <p:spPr>
            <a:xfrm>
              <a:off x="8247888" y="3246120"/>
              <a:ext cx="3401568" cy="1042416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Category breadth Accent"/>
            <p:cNvSpPr/>
            <p:nvPr/>
          </p:nvSpPr>
          <p:spPr>
            <a:xfrm>
              <a:off x="8247888" y="324612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Category breadth Title"/>
            <p:cNvSpPr/>
            <p:nvPr/>
          </p:nvSpPr>
          <p:spPr>
            <a:xfrm>
              <a:off x="8375904" y="331927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Category breadth</a:t>
              </a:r>
              <a:endParaRPr lang="en-US" sz="1450" dirty="0"/>
            </a:p>
          </p:txBody>
        </p:sp>
        <p:sp>
          <p:nvSpPr>
            <p:cNvPr id="27" name="Category breadth Purpose"/>
            <p:cNvSpPr/>
            <p:nvPr/>
          </p:nvSpPr>
          <p:spPr>
            <a:xfrm>
              <a:off x="8375904" y="355701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Fit for professional seller page / bundle value</a:t>
              </a:r>
              <a:endParaRPr lang="en-US" sz="1000" dirty="0"/>
            </a:p>
          </p:txBody>
        </p:sp>
        <p:sp>
          <p:nvSpPr>
            <p:cNvPr id="28" name="Category breadth Divider"/>
            <p:cNvSpPr/>
            <p:nvPr/>
          </p:nvSpPr>
          <p:spPr>
            <a:xfrm>
              <a:off x="8375904" y="384048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Category breadth Definition"/>
            <p:cNvSpPr/>
            <p:nvPr/>
          </p:nvSpPr>
          <p:spPr>
            <a:xfrm>
              <a:off x="8375904" y="390448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Number of categories used across 2023-2024</a:t>
              </a:r>
              <a:endParaRPr lang="en-US" sz="950" dirty="0"/>
            </a:p>
          </p:txBody>
        </p:sp>
      </p:grpSp>
      <p:grpSp>
        <p:nvGrpSpPr>
          <p:cNvPr id="130" name="Signal Card - Recent growth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0" name="Recent growth Card"/>
            <p:cNvSpPr/>
            <p:nvPr/>
          </p:nvSpPr>
          <p:spPr>
            <a:xfrm>
              <a:off x="566928" y="4526280"/>
              <a:ext cx="3401568" cy="1042416"/>
            </a:xfrm>
            <a:prstGeom prst="rect">
              <a:avLst/>
            </a:prstGeom>
            <a:solidFill>
              <a:srgbClr val="171717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ent growth Accent"/>
            <p:cNvSpPr/>
            <p:nvPr/>
          </p:nvSpPr>
          <p:spPr>
            <a:xfrm>
              <a:off x="566928" y="452628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Recent growth Title"/>
            <p:cNvSpPr/>
            <p:nvPr/>
          </p:nvSpPr>
          <p:spPr>
            <a:xfrm>
              <a:off x="694944" y="459943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 dirty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Recent growth</a:t>
              </a:r>
              <a:endParaRPr lang="en-US" sz="1450" dirty="0"/>
            </a:p>
          </p:txBody>
        </p:sp>
        <p:sp>
          <p:nvSpPr>
            <p:cNvPr id="33" name="Recent growth Purpose"/>
            <p:cNvSpPr/>
            <p:nvPr/>
          </p:nvSpPr>
          <p:spPr>
            <a:xfrm>
              <a:off x="694944" y="483717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Momentum</a:t>
              </a:r>
              <a:endParaRPr lang="en-US" sz="1000" dirty="0"/>
            </a:p>
          </p:txBody>
        </p:sp>
        <p:sp>
          <p:nvSpPr>
            <p:cNvPr id="34" name="Recent growth Divider"/>
            <p:cNvSpPr/>
            <p:nvPr/>
          </p:nvSpPr>
          <p:spPr>
            <a:xfrm>
              <a:off x="694944" y="512064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Recent growth Definition"/>
            <p:cNvSpPr/>
            <p:nvPr/>
          </p:nvSpPr>
          <p:spPr>
            <a:xfrm>
              <a:off x="694944" y="518464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Recent paid usage vs prior 6 months, with +1 smoothing</a:t>
              </a:r>
              <a:endParaRPr lang="en-US" sz="950" dirty="0"/>
            </a:p>
          </p:txBody>
        </p:sp>
      </p:grpSp>
      <p:grpSp>
        <p:nvGrpSpPr>
          <p:cNvPr id="136" name="Signal Card - Total fees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6" name="Total fees Card"/>
            <p:cNvSpPr/>
            <p:nvPr/>
          </p:nvSpPr>
          <p:spPr>
            <a:xfrm>
              <a:off x="4407408" y="4526280"/>
              <a:ext cx="3401568" cy="1042416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otal fees Accent"/>
            <p:cNvSpPr/>
            <p:nvPr/>
          </p:nvSpPr>
          <p:spPr>
            <a:xfrm>
              <a:off x="4407408" y="452628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otal fees Title"/>
            <p:cNvSpPr/>
            <p:nvPr/>
          </p:nvSpPr>
          <p:spPr>
            <a:xfrm>
              <a:off x="4535424" y="459943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Total fees</a:t>
              </a:r>
              <a:endParaRPr lang="en-US" sz="1450" dirty="0"/>
            </a:p>
          </p:txBody>
        </p:sp>
        <p:sp>
          <p:nvSpPr>
            <p:cNvPr id="39" name="Total fees Purpose"/>
            <p:cNvSpPr/>
            <p:nvPr/>
          </p:nvSpPr>
          <p:spPr>
            <a:xfrm>
              <a:off x="4535424" y="483717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Historical willingness to pay</a:t>
              </a:r>
              <a:endParaRPr lang="en-US" sz="1000" dirty="0"/>
            </a:p>
          </p:txBody>
        </p:sp>
        <p:sp>
          <p:nvSpPr>
            <p:cNvPr id="40" name="Total fees Divider"/>
            <p:cNvSpPr/>
            <p:nvPr/>
          </p:nvSpPr>
          <p:spPr>
            <a:xfrm>
              <a:off x="4535424" y="512064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otal fees Definition"/>
            <p:cNvSpPr/>
            <p:nvPr/>
          </p:nvSpPr>
          <p:spPr>
            <a:xfrm>
              <a:off x="4535424" y="518464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Total fees paid across 2023-2024</a:t>
              </a:r>
              <a:endParaRPr lang="en-US" sz="950" dirty="0"/>
            </a:p>
          </p:txBody>
        </p:sp>
      </p:grpSp>
      <p:grpSp>
        <p:nvGrpSpPr>
          <p:cNvPr id="142" name="Signal Card - Paid product breadth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2" name="Paid product breadth Card"/>
            <p:cNvSpPr/>
            <p:nvPr/>
          </p:nvSpPr>
          <p:spPr>
            <a:xfrm>
              <a:off x="8247888" y="4526280"/>
              <a:ext cx="3401568" cy="1042416"/>
            </a:xfrm>
            <a:prstGeom prst="rect">
              <a:avLst/>
            </a:prstGeom>
            <a:solidFill>
              <a:srgbClr val="171717"/>
            </a:solidFill>
            <a:ln w="9525">
              <a:solidFill>
                <a:srgbClr val="2A2A2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Paid product breadth Accent"/>
            <p:cNvSpPr/>
            <p:nvPr/>
          </p:nvSpPr>
          <p:spPr>
            <a:xfrm>
              <a:off x="8247888" y="4526280"/>
              <a:ext cx="54864" cy="1042416"/>
            </a:xfrm>
            <a:prstGeom prst="rect">
              <a:avLst/>
            </a:prstGeom>
            <a:solidFill>
              <a:srgbClr val="37AFFF"/>
            </a:solidFill>
            <a:ln w="0"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Paid product breadth Title"/>
            <p:cNvSpPr/>
            <p:nvPr/>
          </p:nvSpPr>
          <p:spPr>
            <a:xfrm>
              <a:off x="8375904" y="4599432"/>
              <a:ext cx="3063240" cy="23774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450" b="1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Paid product breadth</a:t>
              </a:r>
              <a:endParaRPr lang="en-US" sz="1450" dirty="0"/>
            </a:p>
          </p:txBody>
        </p:sp>
        <p:sp>
          <p:nvSpPr>
            <p:cNvPr id="45" name="Paid product breadth Purpose"/>
            <p:cNvSpPr/>
            <p:nvPr/>
          </p:nvSpPr>
          <p:spPr>
            <a:xfrm>
              <a:off x="8375904" y="4837176"/>
              <a:ext cx="3063240" cy="274320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1000" b="1">
                  <a:solidFill>
                    <a:srgbClr val="A7A7A7"/>
                  </a:solidFill>
                  <a:latin typeface="Arial"/>
                  <a:ea typeface="Arial"/>
                  <a:cs typeface="Arial"/>
                </a:rPr>
                <a:t>Familiarity with multiple paid products</a:t>
              </a:r>
              <a:endParaRPr lang="en-US" sz="1000" dirty="0"/>
            </a:p>
          </p:txBody>
        </p:sp>
        <p:sp>
          <p:nvSpPr>
            <p:cNvPr id="46" name="Paid product breadth Divider"/>
            <p:cNvSpPr/>
            <p:nvPr/>
          </p:nvSpPr>
          <p:spPr>
            <a:xfrm>
              <a:off x="8375904" y="5120640"/>
              <a:ext cx="3127248" cy="0"/>
            </a:xfrm>
            <a:prstGeom prst="rect">
              <a:avLst/>
            </a:prstGeom>
            <a:noFill/>
            <a:ln w="6350">
              <a:solidFill>
                <a:srgbClr val="3A3A3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Paid product breadth Definition"/>
            <p:cNvSpPr/>
            <p:nvPr/>
          </p:nvSpPr>
          <p:spPr>
            <a:xfrm>
              <a:off x="8375904" y="5184648"/>
              <a:ext cx="3063240" cy="329184"/>
            </a:xfrm>
            <a:prstGeom prst="rect">
              <a:avLst/>
            </a:prstGeom>
            <a:noFill/>
            <a:ln w="0"/>
          </p:spPr>
          <p:txBody>
            <a:bodyPr lIns="57150" tIns="38100" rIns="57150" bIns="38100" anchor="t"/>
            <a:lstStyle/>
            <a:p>
              <a:pPr algn="l">
                <a:buNone/>
              </a:pPr>
              <a:r>
                <a:rPr lang="en-US" sz="950" b="0">
                  <a:solidFill>
                    <a:srgbClr val="F3F4F6"/>
                  </a:solidFill>
                  <a:latin typeface="Arial"/>
                  <a:ea typeface="Arial"/>
                  <a:cs typeface="Arial"/>
                </a:rPr>
                <a:t>Number of distinct paid marketplace product types used across 2023-2024</a:t>
              </a:r>
              <a:endParaRPr lang="en-US" sz="950" dirty="0"/>
            </a:p>
          </p:txBody>
        </p:sp>
      </p:grpSp>
      <p:sp>
        <p:nvSpPr>
          <p:cNvPr id="2" name="Scale Note">
            <a:extLst>
              <a:ext uri="{FF2B5EF4-FFF2-40B4-BE49-F238E27FC236}">
                <a16:creationId xmlns:a16="http://schemas.microsoft.com/office/drawing/2014/main" id="{84D987C4-8570-D048-F5D6-7587B1B39360}"/>
              </a:ext>
            </a:extLst>
          </p:cNvPr>
          <p:cNvSpPr/>
          <p:nvPr/>
        </p:nvSpPr>
        <p:spPr>
          <a:xfrm>
            <a:off x="566928" y="5732271"/>
            <a:ext cx="7283196" cy="16459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0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900" b="1" dirty="0">
                <a:solidFill>
                  <a:srgbClr val="A7A7A7"/>
                </a:solidFill>
                <a:latin typeface="Arial"/>
                <a:ea typeface="Arial"/>
                <a:cs typeface="Arial"/>
              </a:rPr>
              <a:t>Each signal is on a 0-100 percentile scale; very large raw values improve rank but do not dominate the score.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Outreach Readiness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12</a:t>
            </a:r>
            <a:endParaRPr lang="en-US" sz="900" dirty="0"/>
          </a:p>
        </p:txBody>
      </p:sp>
      <p:pic>
        <p:nvPicPr>
          <p:cNvPr id="11" name="Image 0" descr="/Users/omertal/PycharmProjects/Marketplaats/outputs/manual-20260615-q2-refresh/assets/cell_2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7008" y="1975481"/>
            <a:ext cx="8138160" cy="3543300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4243474C-66DE-79D9-9C84-E5A9E4FA6E74}"/>
              </a:ext>
            </a:extLst>
          </p:cNvPr>
          <p:cNvSpPr/>
          <p:nvPr/>
        </p:nvSpPr>
        <p:spPr>
          <a:xfrm>
            <a:off x="1963266" y="1339219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Profile by Outreach Scoring Method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Outreach Readiness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12</a:t>
            </a:r>
            <a:endParaRPr lang="en-US" sz="900" dirty="0"/>
          </a:p>
        </p:txBody>
      </p:sp>
      <p:pic>
        <p:nvPicPr>
          <p:cNvPr id="9" name="Image 0" descr="/Users/omertal/PycharmProjects/Marketplaats/outputs/manual-20260615-q2-refresh/assets/cell_23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5847" y="2163935"/>
            <a:ext cx="3817620" cy="310896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48932"/>
              </p:ext>
            </p:extLst>
          </p:nvPr>
        </p:nvGraphicFramePr>
        <p:xfrm>
          <a:off x="5870448" y="1298448"/>
          <a:ext cx="5669280" cy="445643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Neither</a:t>
                      </a:r>
                      <a:endParaRPr lang="en-US" sz="10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Group Overlap</a:t>
                      </a:r>
                      <a:endParaRPr lang="en-US" sz="10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Outreach- ready group only</a:t>
                      </a:r>
                      <a:endParaRPr lang="en-US" sz="10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Total-fee group only</a:t>
                      </a:r>
                      <a:endParaRPr lang="en-US" sz="10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2476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Fees per Seller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€18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€1,907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€51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€382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6mo Fees per Seller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€6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€310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€22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€61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Active Months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21.6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Recent Paid Usage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505.8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208.8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Category 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Paid Product Breadth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6mo Paid Action Growth 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+0%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+87%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-17%</a:t>
                      </a:r>
                      <a:endParaRPr lang="en-US" sz="1000" b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150" marR="57150" marT="28575" marB="28575" anchor="ctr">
                    <a:lnL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 7">
            <a:extLst>
              <a:ext uri="{FF2B5EF4-FFF2-40B4-BE49-F238E27FC236}">
                <a16:creationId xmlns:a16="http://schemas.microsoft.com/office/drawing/2014/main" id="{F6C36C44-B6ED-4BE8-46F2-27DF3F2ECFFD}"/>
              </a:ext>
            </a:extLst>
          </p:cNvPr>
          <p:cNvSpPr/>
          <p:nvPr/>
        </p:nvSpPr>
        <p:spPr>
          <a:xfrm>
            <a:off x="821775" y="1445297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Group Selection Summary</a:t>
            </a:r>
            <a:endParaRPr lang="en-US" sz="18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tion Number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>
                <a:solidFill>
                  <a:srgbClr val="37AFFF"/>
                </a:solidFill>
                <a:latin typeface="Arial"/>
                <a:ea typeface="Arial"/>
                <a:cs typeface="Arial"/>
              </a:rPr>
              <a:t>02</a:t>
            </a:r>
            <a:endParaRPr lang="en-US" sz="3600" dirty="0"/>
          </a:p>
        </p:txBody>
      </p:sp>
      <p:sp>
        <p:nvSpPr>
          <p:cNvPr id="4" name="Title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Bundle Choice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Top Divider"/>
          <p:cNvSpPr/>
          <p:nvPr/>
        </p:nvSpPr>
        <p:spPr>
          <a:xfrm>
            <a:off x="457200" y="1160008"/>
            <a:ext cx="11277570" cy="0"/>
          </a:xfrm>
          <a:prstGeom prst="rect">
            <a:avLst/>
          </a:prstGeom>
          <a:noFill/>
          <a:ln w="9525">
            <a:solidFill>
              <a:srgbClr val="3A3A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Intro"/>
          <p:cNvSpPr/>
          <p:nvPr/>
        </p:nvSpPr>
        <p:spPr>
          <a:xfrm>
            <a:off x="566928" y="1353312"/>
            <a:ext cx="10698480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3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3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After selecting the outreach-ready group, use a separate bundle-fit score to suggest which bundle to pitch.</a:t>
            </a:r>
            <a:endParaRPr lang="en-US" sz="1350" dirty="0"/>
          </a:p>
        </p:txBody>
      </p:sp>
      <p:sp>
        <p:nvSpPr>
          <p:cNvPr id="22" name="Used Header"/>
          <p:cNvSpPr/>
          <p:nvPr/>
        </p:nvSpPr>
        <p:spPr>
          <a:xfrm>
            <a:off x="566928" y="2646411"/>
            <a:ext cx="3566160" cy="237744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55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1550" b="1" dirty="0">
                <a:solidFill>
                  <a:srgbClr val="37AFFF"/>
                </a:solidFill>
                <a:latin typeface="Arial"/>
                <a:ea typeface="Arial"/>
                <a:cs typeface="Arial"/>
              </a:rPr>
              <a:t>Used in bundle-fit score</a:t>
            </a:r>
            <a:endParaRPr lang="en-US" sz="1550" dirty="0"/>
          </a:p>
        </p:txBody>
      </p:sp>
      <p:sp>
        <p:nvSpPr>
          <p:cNvPr id="23" name="Used Sub"/>
          <p:cNvSpPr/>
          <p:nvPr/>
        </p:nvSpPr>
        <p:spPr>
          <a:xfrm>
            <a:off x="566928" y="2944368"/>
            <a:ext cx="3474720" cy="16459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5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950" b="1" dirty="0">
                <a:solidFill>
                  <a:srgbClr val="A7A7A7"/>
                </a:solidFill>
                <a:latin typeface="Arial"/>
                <a:ea typeface="Arial"/>
                <a:cs typeface="Arial"/>
              </a:rPr>
              <a:t>directly maps to Plus value</a:t>
            </a:r>
            <a:endParaRPr lang="en-US" sz="950" dirty="0"/>
          </a:p>
        </p:txBody>
      </p:sp>
      <p:sp>
        <p:nvSpPr>
          <p:cNvPr id="24" name="Unused Header"/>
          <p:cNvSpPr/>
          <p:nvPr/>
        </p:nvSpPr>
        <p:spPr>
          <a:xfrm>
            <a:off x="6236208" y="2646411"/>
            <a:ext cx="3840480" cy="237744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550" b="1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1550" b="1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Not used for bundle choice</a:t>
            </a:r>
            <a:endParaRPr lang="en-US" sz="1550" dirty="0"/>
          </a:p>
        </p:txBody>
      </p:sp>
      <p:sp>
        <p:nvSpPr>
          <p:cNvPr id="26" name="Row - Paid visibility usage"/>
          <p:cNvSpPr/>
          <p:nvPr/>
        </p:nvSpPr>
        <p:spPr>
          <a:xfrm>
            <a:off x="566928" y="3182112"/>
            <a:ext cx="5230368" cy="530352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ow Accent - Paid visibility usage"/>
          <p:cNvSpPr/>
          <p:nvPr/>
        </p:nvSpPr>
        <p:spPr>
          <a:xfrm>
            <a:off x="566928" y="3182112"/>
            <a:ext cx="45720" cy="530352"/>
          </a:xfrm>
          <a:prstGeom prst="rect">
            <a:avLst/>
          </a:prstGeom>
          <a:solidFill>
            <a:srgbClr val="37AFFF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28" name="Signal - Paid visibility usage"/>
          <p:cNvSpPr/>
          <p:nvPr/>
        </p:nvSpPr>
        <p:spPr>
          <a:xfrm>
            <a:off x="676656" y="3232404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Paid visibility usage</a:t>
            </a:r>
            <a:endParaRPr lang="en-US" sz="1050" dirty="0"/>
          </a:p>
        </p:txBody>
      </p:sp>
      <p:sp>
        <p:nvSpPr>
          <p:cNvPr id="29" name="Usage - Paid visibility usage"/>
          <p:cNvSpPr/>
          <p:nvPr/>
        </p:nvSpPr>
        <p:spPr>
          <a:xfrm>
            <a:off x="676656" y="3424428"/>
            <a:ext cx="2057400" cy="173736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Count of paid visibility actions*</a:t>
            </a:r>
            <a:endParaRPr lang="en-US" sz="850" dirty="0"/>
          </a:p>
        </p:txBody>
      </p:sp>
      <p:sp>
        <p:nvSpPr>
          <p:cNvPr id="30" name="Reason - Paid visibility usage"/>
          <p:cNvSpPr/>
          <p:nvPr/>
        </p:nvSpPr>
        <p:spPr>
          <a:xfrm>
            <a:off x="2815986" y="3255264"/>
            <a:ext cx="2772095" cy="43891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Direct match to Plus benefits: more visibility and cross-ad promotion.</a:t>
            </a:r>
            <a:endParaRPr lang="en-US" sz="850" dirty="0"/>
          </a:p>
        </p:txBody>
      </p:sp>
      <p:sp>
        <p:nvSpPr>
          <p:cNvPr id="31" name="Row - Paid product breadth"/>
          <p:cNvSpPr/>
          <p:nvPr/>
        </p:nvSpPr>
        <p:spPr>
          <a:xfrm>
            <a:off x="566928" y="3840480"/>
            <a:ext cx="5230368" cy="530352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ow Accent - Paid product breadth"/>
          <p:cNvSpPr/>
          <p:nvPr/>
        </p:nvSpPr>
        <p:spPr>
          <a:xfrm>
            <a:off x="566928" y="3840480"/>
            <a:ext cx="45720" cy="530352"/>
          </a:xfrm>
          <a:prstGeom prst="rect">
            <a:avLst/>
          </a:prstGeom>
          <a:solidFill>
            <a:srgbClr val="37AFFF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33" name="Signal - Paid product breadth"/>
          <p:cNvSpPr/>
          <p:nvPr/>
        </p:nvSpPr>
        <p:spPr>
          <a:xfrm>
            <a:off x="676656" y="3890772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Paid product breadth</a:t>
            </a:r>
            <a:endParaRPr lang="en-US" sz="1050" dirty="0"/>
          </a:p>
        </p:txBody>
      </p:sp>
      <p:sp>
        <p:nvSpPr>
          <p:cNvPr id="34" name="Usage - Paid product breadth"/>
          <p:cNvSpPr/>
          <p:nvPr/>
        </p:nvSpPr>
        <p:spPr>
          <a:xfrm>
            <a:off x="676656" y="4082796"/>
            <a:ext cx="2057400" cy="173736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Count of distinct paid product types</a:t>
            </a:r>
            <a:endParaRPr lang="en-US" sz="850" dirty="0"/>
          </a:p>
        </p:txBody>
      </p:sp>
      <p:sp>
        <p:nvSpPr>
          <p:cNvPr id="35" name="Reason - Paid product breadth"/>
          <p:cNvSpPr/>
          <p:nvPr/>
        </p:nvSpPr>
        <p:spPr>
          <a:xfrm>
            <a:off x="2815986" y="3913632"/>
            <a:ext cx="2772095" cy="43891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Sellers using multiple paid products already understand paid value.</a:t>
            </a:r>
            <a:endParaRPr lang="en-US" sz="850" dirty="0"/>
          </a:p>
        </p:txBody>
      </p:sp>
      <p:sp>
        <p:nvSpPr>
          <p:cNvPr id="36" name="Row - Listing volume"/>
          <p:cNvSpPr/>
          <p:nvPr/>
        </p:nvSpPr>
        <p:spPr>
          <a:xfrm>
            <a:off x="566928" y="4498848"/>
            <a:ext cx="5230368" cy="530352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ow Accent - Listing volume"/>
          <p:cNvSpPr/>
          <p:nvPr/>
        </p:nvSpPr>
        <p:spPr>
          <a:xfrm>
            <a:off x="566928" y="4498848"/>
            <a:ext cx="45720" cy="530352"/>
          </a:xfrm>
          <a:prstGeom prst="rect">
            <a:avLst/>
          </a:prstGeom>
          <a:solidFill>
            <a:srgbClr val="37AFFF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38" name="Signal - Listing volume"/>
          <p:cNvSpPr/>
          <p:nvPr/>
        </p:nvSpPr>
        <p:spPr>
          <a:xfrm>
            <a:off x="676656" y="4549140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Listing volume</a:t>
            </a:r>
            <a:endParaRPr lang="en-US" sz="1050" dirty="0"/>
          </a:p>
        </p:txBody>
      </p:sp>
      <p:sp>
        <p:nvSpPr>
          <p:cNvPr id="39" name="Usage - Listing volume"/>
          <p:cNvSpPr/>
          <p:nvPr/>
        </p:nvSpPr>
        <p:spPr>
          <a:xfrm>
            <a:off x="676656" y="4741164"/>
            <a:ext cx="2057400" cy="173736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Total ad insertions (free + paid)</a:t>
            </a:r>
            <a:endParaRPr lang="en-US" sz="850" dirty="0"/>
          </a:p>
        </p:txBody>
      </p:sp>
      <p:sp>
        <p:nvSpPr>
          <p:cNvPr id="40" name="Reason - Listing volume"/>
          <p:cNvSpPr/>
          <p:nvPr/>
        </p:nvSpPr>
        <p:spPr>
          <a:xfrm>
            <a:off x="2815986" y="4572000"/>
            <a:ext cx="2772095" cy="43891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Direct match to Plus cross-ad value: more ads means more inventory to promote from each listing.</a:t>
            </a:r>
            <a:endParaRPr lang="en-US" sz="850" dirty="0"/>
          </a:p>
        </p:txBody>
      </p:sp>
      <p:sp>
        <p:nvSpPr>
          <p:cNvPr id="41" name="Row - Category breadth"/>
          <p:cNvSpPr/>
          <p:nvPr/>
        </p:nvSpPr>
        <p:spPr>
          <a:xfrm>
            <a:off x="6236208" y="3182112"/>
            <a:ext cx="5321808" cy="365760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ow Accent - Category breadth"/>
          <p:cNvSpPr/>
          <p:nvPr/>
        </p:nvSpPr>
        <p:spPr>
          <a:xfrm>
            <a:off x="6236208" y="3182112"/>
            <a:ext cx="45720" cy="365760"/>
          </a:xfrm>
          <a:prstGeom prst="rect">
            <a:avLst/>
          </a:prstGeom>
          <a:solidFill>
            <a:srgbClr val="555555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43" name="Signal - Category breadth"/>
          <p:cNvSpPr/>
          <p:nvPr/>
        </p:nvSpPr>
        <p:spPr>
          <a:xfrm>
            <a:off x="6345936" y="3232404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Category breadth</a:t>
            </a:r>
            <a:endParaRPr lang="en-US" sz="1050" dirty="0"/>
          </a:p>
        </p:txBody>
      </p:sp>
      <p:sp>
        <p:nvSpPr>
          <p:cNvPr id="45" name="Reason - Category breadth"/>
          <p:cNvSpPr/>
          <p:nvPr/>
        </p:nvSpPr>
        <p:spPr>
          <a:xfrm>
            <a:off x="8524585" y="3255264"/>
            <a:ext cx="2820558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Listing volume is a clearer fit for cross-ad promotion.</a:t>
            </a:r>
            <a:endParaRPr lang="en-US" sz="850" dirty="0"/>
          </a:p>
        </p:txBody>
      </p:sp>
      <p:sp>
        <p:nvSpPr>
          <p:cNvPr id="46" name="Row - Recent paid usage"/>
          <p:cNvSpPr/>
          <p:nvPr/>
        </p:nvSpPr>
        <p:spPr>
          <a:xfrm>
            <a:off x="6236208" y="3630168"/>
            <a:ext cx="5321808" cy="365760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Row Accent - Recent paid usage"/>
          <p:cNvSpPr/>
          <p:nvPr/>
        </p:nvSpPr>
        <p:spPr>
          <a:xfrm>
            <a:off x="6236208" y="3630168"/>
            <a:ext cx="45720" cy="365760"/>
          </a:xfrm>
          <a:prstGeom prst="rect">
            <a:avLst/>
          </a:prstGeom>
          <a:solidFill>
            <a:srgbClr val="555555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48" name="Signal - Recent paid usage"/>
          <p:cNvSpPr/>
          <p:nvPr/>
        </p:nvSpPr>
        <p:spPr>
          <a:xfrm>
            <a:off x="6345936" y="3680460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Recent paid usage</a:t>
            </a:r>
            <a:endParaRPr lang="en-US" sz="1050" dirty="0"/>
          </a:p>
        </p:txBody>
      </p:sp>
      <p:sp>
        <p:nvSpPr>
          <p:cNvPr id="50" name="Reason - Recent paid usage"/>
          <p:cNvSpPr/>
          <p:nvPr/>
        </p:nvSpPr>
        <p:spPr>
          <a:xfrm>
            <a:off x="8524585" y="3703320"/>
            <a:ext cx="2820558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Too broad for bundle choice; the bundle-fit score uses visibility-specific usage instead.</a:t>
            </a:r>
            <a:endParaRPr lang="en-US" sz="850" dirty="0"/>
          </a:p>
        </p:txBody>
      </p:sp>
      <p:sp>
        <p:nvSpPr>
          <p:cNvPr id="51" name="Row - Consistency"/>
          <p:cNvSpPr/>
          <p:nvPr/>
        </p:nvSpPr>
        <p:spPr>
          <a:xfrm>
            <a:off x="6236208" y="4078224"/>
            <a:ext cx="5321808" cy="365760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Row Accent - Consistency"/>
          <p:cNvSpPr/>
          <p:nvPr/>
        </p:nvSpPr>
        <p:spPr>
          <a:xfrm>
            <a:off x="6236208" y="4078224"/>
            <a:ext cx="45720" cy="365760"/>
          </a:xfrm>
          <a:prstGeom prst="rect">
            <a:avLst/>
          </a:prstGeom>
          <a:solidFill>
            <a:srgbClr val="555555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53" name="Signal - Consistency"/>
          <p:cNvSpPr/>
          <p:nvPr/>
        </p:nvSpPr>
        <p:spPr>
          <a:xfrm>
            <a:off x="6345936" y="4128516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Consistency</a:t>
            </a:r>
            <a:endParaRPr lang="en-US" sz="1050" dirty="0"/>
          </a:p>
        </p:txBody>
      </p:sp>
      <p:sp>
        <p:nvSpPr>
          <p:cNvPr id="55" name="Reason - Consistency"/>
          <p:cNvSpPr/>
          <p:nvPr/>
        </p:nvSpPr>
        <p:spPr>
          <a:xfrm>
            <a:off x="8524585" y="4151376"/>
            <a:ext cx="2820558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Does not distinguish Basic vs Plus.</a:t>
            </a:r>
            <a:endParaRPr lang="en-US" sz="850" dirty="0"/>
          </a:p>
        </p:txBody>
      </p:sp>
      <p:sp>
        <p:nvSpPr>
          <p:cNvPr id="56" name="Row - Recent growth"/>
          <p:cNvSpPr/>
          <p:nvPr/>
        </p:nvSpPr>
        <p:spPr>
          <a:xfrm>
            <a:off x="6236208" y="4526280"/>
            <a:ext cx="5321808" cy="365760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7" name="Row Accent - Recent growth"/>
          <p:cNvSpPr/>
          <p:nvPr/>
        </p:nvSpPr>
        <p:spPr>
          <a:xfrm>
            <a:off x="6236208" y="4526280"/>
            <a:ext cx="45720" cy="365760"/>
          </a:xfrm>
          <a:prstGeom prst="rect">
            <a:avLst/>
          </a:prstGeom>
          <a:solidFill>
            <a:srgbClr val="555555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58" name="Signal - Recent growth"/>
          <p:cNvSpPr/>
          <p:nvPr/>
        </p:nvSpPr>
        <p:spPr>
          <a:xfrm>
            <a:off x="6345936" y="4576572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 dirty="0">
                <a:solidFill>
                  <a:srgbClr val="F3F4F6"/>
                </a:solidFill>
                <a:latin typeface="Arial"/>
                <a:ea typeface="Arial"/>
                <a:cs typeface="Arial"/>
              </a:rPr>
              <a:t>Recent growth</a:t>
            </a:r>
            <a:endParaRPr lang="en-US" sz="1050" dirty="0"/>
          </a:p>
        </p:txBody>
      </p:sp>
      <p:sp>
        <p:nvSpPr>
          <p:cNvPr id="60" name="Reason - Recent growth"/>
          <p:cNvSpPr/>
          <p:nvPr/>
        </p:nvSpPr>
        <p:spPr>
          <a:xfrm>
            <a:off x="8524585" y="4599432"/>
            <a:ext cx="2820558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Does not distinguish Basic vs Plus.</a:t>
            </a:r>
            <a:endParaRPr lang="en-US" sz="850" dirty="0"/>
          </a:p>
        </p:txBody>
      </p:sp>
      <p:sp>
        <p:nvSpPr>
          <p:cNvPr id="61" name="Row - Total fees"/>
          <p:cNvSpPr/>
          <p:nvPr/>
        </p:nvSpPr>
        <p:spPr>
          <a:xfrm>
            <a:off x="6236208" y="4974336"/>
            <a:ext cx="5321808" cy="365760"/>
          </a:xfrm>
          <a:prstGeom prst="rect">
            <a:avLst/>
          </a:prstGeom>
          <a:solidFill>
            <a:srgbClr val="0C0C0C"/>
          </a:solidFill>
          <a:ln w="6350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" name="Row Accent - Total fees"/>
          <p:cNvSpPr/>
          <p:nvPr/>
        </p:nvSpPr>
        <p:spPr>
          <a:xfrm>
            <a:off x="6236208" y="4974336"/>
            <a:ext cx="45720" cy="365760"/>
          </a:xfrm>
          <a:prstGeom prst="rect">
            <a:avLst/>
          </a:prstGeom>
          <a:solidFill>
            <a:srgbClr val="555555"/>
          </a:solidFill>
          <a:ln w="0"/>
        </p:spPr>
        <p:txBody>
          <a:bodyPr/>
          <a:lstStyle/>
          <a:p>
            <a:endParaRPr lang="en-US"/>
          </a:p>
        </p:txBody>
      </p:sp>
      <p:sp>
        <p:nvSpPr>
          <p:cNvPr id="63" name="Signal - Total fees"/>
          <p:cNvSpPr/>
          <p:nvPr/>
        </p:nvSpPr>
        <p:spPr>
          <a:xfrm>
            <a:off x="6345936" y="5024628"/>
            <a:ext cx="1600200" cy="155448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105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105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Total fees</a:t>
            </a:r>
            <a:endParaRPr lang="en-US" sz="1050" dirty="0"/>
          </a:p>
        </p:txBody>
      </p:sp>
      <p:sp>
        <p:nvSpPr>
          <p:cNvPr id="65" name="Reason - Total fees"/>
          <p:cNvSpPr/>
          <p:nvPr/>
        </p:nvSpPr>
        <p:spPr>
          <a:xfrm>
            <a:off x="8524585" y="5047488"/>
            <a:ext cx="2820558" cy="27432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85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85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Shows willingness to pay, but would make Plus selection too spend-driven.</a:t>
            </a:r>
            <a:endParaRPr lang="en-US" sz="850" dirty="0"/>
          </a:p>
        </p:txBody>
      </p:sp>
      <p:sp>
        <p:nvSpPr>
          <p:cNvPr id="66" name="Scale Note"/>
          <p:cNvSpPr/>
          <p:nvPr/>
        </p:nvSpPr>
        <p:spPr>
          <a:xfrm>
            <a:off x="566928" y="5149626"/>
            <a:ext cx="5230368" cy="16459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00" b="1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900" b="1" dirty="0">
                <a:solidFill>
                  <a:srgbClr val="A7A7A7"/>
                </a:solidFill>
                <a:latin typeface="Arial"/>
                <a:ea typeface="Arial"/>
                <a:cs typeface="Arial"/>
              </a:rPr>
              <a:t>Each signal is on a 0-100 percentile scale; very large raw values improve rank but do not dominate the score.</a:t>
            </a:r>
            <a:endParaRPr lang="en-US" sz="900" dirty="0"/>
          </a:p>
        </p:txBody>
      </p:sp>
      <p:sp>
        <p:nvSpPr>
          <p:cNvPr id="67" name="Visibility Note"/>
          <p:cNvSpPr/>
          <p:nvPr/>
        </p:nvSpPr>
        <p:spPr>
          <a:xfrm>
            <a:off x="566928" y="5578115"/>
            <a:ext cx="5230368" cy="164592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7A7A7"/>
                </a:solidFill>
                <a:latin typeface="Arial"/>
                <a:ea typeface="Arial"/>
                <a:cs typeface="Arial"/>
              </a:defRPr>
            </a:pPr>
            <a:r>
              <a:rPr lang="en-US" sz="9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* Paid visibility actions: Dagtoppers, Homepage, Paid URL, Ad Upcalls, and Urgency actions.</a:t>
            </a:r>
            <a:endParaRPr lang="en-US" sz="900" dirty="0"/>
          </a:p>
        </p:txBody>
      </p:sp>
      <p:sp>
        <p:nvSpPr>
          <p:cNvPr id="68" name="Bottom Divider"/>
          <p:cNvSpPr/>
          <p:nvPr/>
        </p:nvSpPr>
        <p:spPr>
          <a:xfrm>
            <a:off x="457200" y="6210330"/>
            <a:ext cx="11277570" cy="0"/>
          </a:xfrm>
          <a:prstGeom prst="rect">
            <a:avLst/>
          </a:prstGeom>
          <a:noFill/>
          <a:ln w="9525">
            <a:solidFill>
              <a:srgbClr val="3A3A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Footer Label"/>
          <p:cNvSpPr/>
          <p:nvPr/>
        </p:nvSpPr>
        <p:spPr>
          <a:xfrm>
            <a:off x="457200" y="6286500"/>
            <a:ext cx="7239030" cy="22860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Outreach Prioritization</a:t>
            </a:r>
            <a:endParaRPr lang="en-US" sz="900" dirty="0"/>
          </a:p>
        </p:txBody>
      </p:sp>
      <p:sp>
        <p:nvSpPr>
          <p:cNvPr id="70" name="Page Marker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 w="0"/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10 / 12</a:t>
            </a:r>
            <a:endParaRPr lang="en-US" sz="900" dirty="0"/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CA649E5E-CF4C-870C-B69B-270BED998BCE}"/>
              </a:ext>
            </a:extLst>
          </p:cNvPr>
          <p:cNvSpPr/>
          <p:nvPr/>
        </p:nvSpPr>
        <p:spPr>
          <a:xfrm>
            <a:off x="566928" y="1826316"/>
            <a:ext cx="9043416" cy="78752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simple average of percentile ranks for </a:t>
            </a:r>
            <a:r>
              <a:rPr lang="en-US" sz="1200" b="1" dirty="0">
                <a:solidFill>
                  <a:srgbClr val="4FB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visibility usage</a:t>
            </a:r>
            <a:r>
              <a:rPr lang="en-US" sz="1200" dirty="0">
                <a:solidFill>
                  <a:srgbClr val="4FB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>
                <a:solidFill>
                  <a:srgbClr val="4FB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paid product breadth + listing volume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Plus fits sellers already using visibility products or managing enough listings to benefit from cross-ad promotion.</a:t>
            </a:r>
            <a:endParaRPr lang="en-US" sz="120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Sellers in the top 40% of bundle fit score inside the outreach ready group are targeted for </a:t>
            </a: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</a:t>
            </a:r>
            <a:r>
              <a:rPr lang="en-US" sz="12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rest for </a:t>
            </a:r>
            <a:r>
              <a:rPr lang="en-US" sz="12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D765E1-B54E-67C6-D4BF-EEEAE1038609}"/>
              </a:ext>
            </a:extLst>
          </p:cNvPr>
          <p:cNvSpPr txBox="1"/>
          <p:nvPr/>
        </p:nvSpPr>
        <p:spPr>
          <a:xfrm>
            <a:off x="5458416" y="3156102"/>
            <a:ext cx="457751" cy="107722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700" b="1" dirty="0">
                <a:solidFill>
                  <a:schemeClr val="bg1"/>
                </a:solidFill>
              </a:rPr>
              <a:t>New Signal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7D345-45DE-8BB8-A6A0-7A4DE5E9B646}"/>
              </a:ext>
            </a:extLst>
          </p:cNvPr>
          <p:cNvSpPr txBox="1"/>
          <p:nvPr/>
        </p:nvSpPr>
        <p:spPr>
          <a:xfrm>
            <a:off x="5458417" y="4479134"/>
            <a:ext cx="457751" cy="107722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700" b="1" dirty="0">
                <a:solidFill>
                  <a:schemeClr val="bg1"/>
                </a:solidFill>
              </a:rPr>
              <a:t>New Signal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Bundle Choice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534095"/>
            <a:ext cx="11018520" cy="8004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2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split</a:t>
            </a:r>
            <a:r>
              <a:rPr lang="en-US" sz="12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target Plus for the highest bundle-fit sellers in the outreach ready group; use the top 40% as a practical starting point.</a:t>
            </a:r>
            <a:endParaRPr lang="en-US" sz="122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2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</a:t>
            </a:r>
            <a:r>
              <a:rPr lang="en-US" sz="12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use no fixed 40%; show sellers ranked by bundle fit score and let Sales choose based on capacity.</a:t>
            </a:r>
            <a:endParaRPr lang="en-US" sz="122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22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improvement</a:t>
            </a:r>
            <a:r>
              <a:rPr lang="en-US" sz="12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calibrate this split with response, conversion, and upgrade data after outreach starts.</a:t>
            </a:r>
            <a:endParaRPr lang="en-US" sz="122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228787"/>
              </p:ext>
            </p:extLst>
          </p:nvPr>
        </p:nvGraphicFramePr>
        <p:xfrm>
          <a:off x="566926" y="2542032"/>
          <a:ext cx="3758331" cy="3079830"/>
        </p:xfrm>
        <a:graphic>
          <a:graphicData uri="http://schemas.openxmlformats.org/drawingml/2006/table">
            <a:tbl>
              <a:tblPr/>
              <a:tblGrid>
                <a:gridCol w="198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1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98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b="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Targeted for 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</a:t>
                      </a:r>
                      <a:endParaRPr 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b="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Targeted for 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Selected Sellers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fees per seller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€2,230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€389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paid visibility score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68.9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paid product breadth score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70.7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listing volume score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69.1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bundle fit score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69.6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12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outreach readiness score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77.5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0" dirty="0">
                          <a:solidFill>
                            <a:srgbClr val="F3F4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72.0</a:t>
                      </a:r>
                      <a:endParaRPr lang="en-US" sz="1000" b="0" dirty="0"/>
                    </a:p>
                  </a:txBody>
                  <a:tcPr marL="57150" marR="57150" marT="28575" marB="28575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1" name="Image 0" descr="/Users/omertal/PycharmProjects/Marketplaats/outputs/manual-20260615-q2-refresh/assets/cell_27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1734" y="2748219"/>
            <a:ext cx="6949440" cy="281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1920" y="323880"/>
            <a:ext cx="819120" cy="62865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37AFFF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>
              <a:solidFill>
                <a:srgbClr val="37AFFF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257300" y="323880"/>
            <a:ext cx="9953610" cy="714329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Recommendations</a:t>
            </a:r>
            <a:endParaRPr lang="en-US" sz="3600" dirty="0">
              <a:solidFill>
                <a:srgbClr val="F3F4F6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60008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6210330"/>
            <a:ext cx="1127757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Prioritization</a:t>
            </a:r>
            <a:endParaRPr lang="en-US" sz="900" b="0" dirty="0">
              <a:solidFill>
                <a:srgbClr val="A5A5A5"/>
              </a:solidFill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0" y="6286500"/>
            <a:ext cx="59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6928" y="18105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outreach ready group for the first outreach batch.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66928" y="2331720"/>
            <a:ext cx="10789920" cy="86109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commercial value in the model, but avoids over-indexing on historical spend.</a:t>
            </a:r>
            <a:endParaRPr lang="en-US" sz="145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adds sellers who are active, consistent, multi-category, growing, and already familiar with paid products.</a:t>
            </a:r>
            <a:endParaRPr lang="en-US" sz="145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traits are closer to likely outreach response than fee history alone.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3931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7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Outcome-Based Ranking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6928" y="4370832"/>
            <a:ext cx="10789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initial outreach, supervised learning could replace the manual score.</a:t>
            </a:r>
            <a:endParaRPr lang="en-US" sz="145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on response, conversion, and post-signup value.</a:t>
            </a:r>
            <a:endParaRPr lang="en-US" sz="1450" dirty="0"/>
          </a:p>
          <a:p>
            <a:pPr marL="285750" indent="-285750">
              <a:buClr>
                <a:srgbClr val="4FB3FF"/>
              </a:buClr>
              <a:buFont typeface="Wingdings" pitchFamily="2" charset="2"/>
              <a:buChar char="§"/>
            </a:pPr>
            <a:r>
              <a:rPr lang="en-US" sz="145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ranking explainable for Sales and leadership.</a:t>
            </a:r>
            <a:endParaRPr lang="en-US" sz="14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1DDF34-6AED-1808-0AA8-239A1EE6EC7A}"/>
              </a:ext>
            </a:extLst>
          </p:cNvPr>
          <p:cNvSpPr txBox="1"/>
          <p:nvPr/>
        </p:nvSpPr>
        <p:spPr>
          <a:xfrm>
            <a:off x="457200" y="3157849"/>
            <a:ext cx="85798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seller-level CSV available as </a:t>
            </a:r>
            <a:r>
              <a:rPr lang="en-US" sz="1400" b="1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q2_scored_sellers.csv</a:t>
            </a:r>
            <a:endParaRPr lang="en-US" sz="14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198</TotalTime>
  <Words>1092</Words>
  <Application>Microsoft Macintosh PowerPoint</Application>
  <PresentationFormat>Widescreen</PresentationFormat>
  <Paragraphs>217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Menlo</vt:lpstr>
      <vt:lpstr>Wingdings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Marketplaats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Question 2: Outreach Prioritization</dc:title>
  <dc:subject>SMB bundles Q2 prioritize</dc:subject>
  <dc:creator>Codex</dc:creator>
  <cp:lastModifiedBy>Omer Tal</cp:lastModifiedBy>
  <cp:revision>39</cp:revision>
  <dcterms:created xsi:type="dcterms:W3CDTF">2026-06-15T11:36:56Z</dcterms:created>
  <dcterms:modified xsi:type="dcterms:W3CDTF">2026-06-15T20:21:27Z</dcterms:modified>
</cp:coreProperties>
</file>