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notesMasters/notesMaster2.xml" ContentType="application/vnd.openxmlformats-officedocument.presentationml.notesMaster+xml"/>
  <Override PartName="/ppt/theme/theme3.xml" ContentType="application/vnd.openxmlformats-officedocument.theme+xml"/>
  <Override PartName="/ppt/slideLayouts/slideLayout2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4.xml" ContentType="application/vnd.openxmlformats-officedocument.theme+xml"/>
  <Override PartName="/ppt/slides/slide3.xml" ContentType="application/vnd.openxmlformats-officedocument.presentationml.slide+xml"/>
  <Override PartName="/ppt/comments/modernComment_101_5D540259.xml" ContentType="application/vnd.ms-powerpoint.comments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comments/modernComment_103_67150090.xml" ContentType="application/vnd.ms-powerpoint.comments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comments/modernComment_106_66FA96F5.xml" ContentType="application/vnd.ms-powerpoint.comments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comments/modernComment_107_4490B3C.xml" ContentType="application/vnd.ms-powerpoint.comments+xml"/>
  <Override PartName="/ppt/notesSlides/notesSlide9.xml" ContentType="application/vnd.openxmlformats-officedocument.presentationml.notesSlide+xml"/>
  <Override PartName="/ppt/comments/modernComment_101_5D540260.xml" ContentType="application/vnd.ms-powerpoint.comments+xml"/>
  <Override PartName="/ppt/comments/modernComment_103_67150091.xml" ContentType="application/vnd.ms-powerpoint.comments+xml"/>
  <Override PartName="/ppt/comments/modernComment_106_66FA96F6.xml" ContentType="application/vnd.ms-powerpoint.comments+xml"/>
  <Override PartName="/ppt/comments/modernComment_107_4490B3C1.xml" ContentType="application/vnd.ms-powerpoint.comments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notesMasters/notesMaster3.xml" ContentType="application/vnd.openxmlformats-officedocument.presentationml.notesMaster+xml"/>
  <Override PartName="/ppt/theme/theme5.xml" ContentType="application/vnd.openxmlformats-officedocument.theme+xml"/>
  <Override PartName="/ppt/slideLayouts/slideLayout12.xml" ContentType="application/vnd.openxmlformats-officedocument.presentationml.slideLayout+xml"/>
  <Override PartName="/ppt/slideMasters/slideMaster3.xml" ContentType="application/vnd.openxmlformats-officedocument.presentationml.slideMaster+xml"/>
  <Override PartName="/ppt/slideLayouts/slideLayout8.xml" ContentType="application/vnd.openxmlformats-officedocument.presentationml.slideLayout+xml"/>
  <Override PartName="/ppt/theme/theme6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1.xml" ContentType="application/vnd.openxmlformats-officedocument.presentationml.slide+xml"/>
  <Override PartName="/ppt/comments/modernComment_10C_0.xml" ContentType="application/vnd.ms-powerpoint.comments+xml"/>
  <Override PartName="/ppt/slides/slide12.xml" ContentType="application/vnd.openxmlformats-officedocument.presentationml.slide+xml"/>
  <Default Extension="png" ContentType="image/png"/>
  <Override PartName="/ppt/notesSlides/notesSlide11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7.xml" ContentType="application/vnd.openxmlformats-officedocument.presentationml.slide+xml"/>
  <Override PartName="/ppt/comments/modernComment_108_0.xml" ContentType="application/vnd.ms-powerpoint.comments+xml"/>
  <Override PartName="/ppt/notesSlides/notesSlide16.xml" ContentType="application/vnd.openxmlformats-officedocument.presentationml.notesSlide+xml"/>
  <Override PartName="/ppt/slides/slide18.xml" ContentType="application/vnd.openxmlformats-officedocument.presentationml.slide+xml"/>
  <Override PartName="/ppt/comments/modernComment_10D_0.xml" ContentType="application/vnd.ms-powerpoint.comments+xml"/>
  <Override PartName="/ppt/slides/slide19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0.xml" ContentType="application/vnd.openxmlformats-officedocument.presentationml.slide+xml"/>
  <Override PartName="/ppt/comments/modernComment_10B_0.xml" ContentType="application/vnd.ms-powerpoint.comments+xml"/>
  <Override PartName="/ppt/notesSlides/notesSlide18.xml" ContentType="application/vnd.openxmlformats-officedocument.presentationml.notesSlide+xml"/>
  <Override PartName="/ppt/comments/modernComment_108_1.xml" ContentType="application/vnd.ms-powerpoint.comments+xml"/>
  <Override PartName="/ppt/comments/modernComment_10B_1.xml" ContentType="application/vnd.ms-powerpoint.comments+xml"/>
  <Override PartName="/ppt/comments/modernComment_10C_1.xml" ContentType="application/vnd.ms-powerpoint.comments+xml"/>
  <Override PartName="/ppt/comments/modernComment_10D_1.xml" ContentType="application/vnd.ms-powerpoint.comments+xml"/>
  <Override PartName="/ppt/slides/slide21.xml" ContentType="application/vnd.openxmlformats-officedocument.presentationml.slide+xml"/>
  <Override PartName="/ppt/notesSlides/notesSlide19.xml" ContentType="application/vnd.openxmlformats-officedocument.presentationml.notesSlide+xml"/>
  <Override PartName="/ppt/notesMasters/notesMaster4.xml" ContentType="application/vnd.openxmlformats-officedocument.presentationml.notesMaster+xml"/>
  <Override PartName="/ppt/theme/theme7.xml" ContentType="application/vnd.openxmlformats-officedocument.theme+xml"/>
  <Override PartName="/ppt/slideLayouts/slideLayout15.xml" ContentType="application/vnd.openxmlformats-officedocument.presentationml.slideLayout+xml"/>
  <Override PartName="/ppt/slideMasters/slideMaster4.xml" ContentType="application/vnd.openxmlformats-officedocument.presentationml.slideMaster+xml"/>
  <Override PartName="/ppt/theme/theme8.xml" ContentType="application/vnd.openxmlformats-officedocument.theme+xml"/>
  <Override PartName="/ppt/slides/slide22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3.xml" ContentType="application/vnd.openxmlformats-officedocument.presentationml.slide+xml"/>
  <Override PartName="/ppt/comments/modernComment_102_0.xml" ContentType="application/vnd.ms-powerpoint.comments+xml"/>
  <Override PartName="/ppt/notesSlides/notesSlide21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6.xml" ContentType="application/vnd.openxmlformats-officedocument.presentationml.slide+xml"/>
  <Override PartName="/ppt/comments/modernComment_106_0.xml" ContentType="application/vnd.ms-powerpoint.comments+xml"/>
  <Override PartName="/ppt/notesSlides/notesSlide24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8.xml" ContentType="application/vnd.openxmlformats-officedocument.presentationml.slide+xml"/>
  <Override PartName="/ppt/comments/modernComment_10B_2.xml" ContentType="application/vnd.ms-powerpoint.comments+xml"/>
  <Override PartName="/ppt/notesSlides/notesSlide26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29.xml" ContentType="application/vnd.openxmlformats-officedocument.presentationml.notesSlide+xml"/>
  <Override PartName="/ppt/comments/modernComment_102_1.xml" ContentType="application/vnd.ms-powerpoint.comments+xml"/>
  <Override PartName="/ppt/comments/modernComment_106_1.xml" ContentType="application/vnd.ms-powerpoint.comments+xml"/>
  <Override PartName="/ppt/comments/modernComment_10B_3.xml" ContentType="application/vnd.ms-powerpoint.comments+xml"/>
  <Override PartName="/ppt/slides/slide32.xml" ContentType="application/vnd.openxmlformats-officedocument.presentationml.slide+xml"/>
  <Override PartName="/ppt/slideLayouts/slideLayout16.xml" ContentType="application/vnd.openxmlformats-officedocument.presentationml.slideLayout+xml"/>
  <Override PartName="/ppt/slideMasters/slideMaster5.xml" ContentType="application/vnd.openxmlformats-officedocument.presentationml.slideMaster+xml"/>
  <Override PartName="/ppt/theme/theme9.xml" ContentType="application/vnd.openxmlformats-officedocument.theme+xml"/>
  <Override PartName="/ppt/slides/slide33.xml" ContentType="application/vnd.openxmlformats-officedocument.presentationml.slide+xml"/>
  <Override PartName="/ppt/comments/modernComment_100_0.xml" ContentType="application/vnd.ms-powerpoint.comments+xml"/>
  <Override PartName="/ppt/notesSlides/notesSlide30.xml" ContentType="application/vnd.openxmlformats-officedocument.presentationml.notesSlide+xml"/>
  <Override PartName="/ppt/notesMasters/notesMaster5.xml" ContentType="application/vnd.openxmlformats-officedocument.presentationml.notesMaster+xml"/>
  <Override PartName="/ppt/theme/theme10.xml" ContentType="application/vnd.openxmlformats-officedocument.theme+xml"/>
  <Override PartName="/ppt/slides/slide34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5.xml" ContentType="application/vnd.openxmlformats-officedocument.presentationml.slide+xml"/>
  <Override PartName="/ppt/comments/modernComment_107_0.xml" ContentType="application/vnd.ms-powerpoint.comments+xml"/>
  <Override PartName="/ppt/slides/slide36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7.xml" ContentType="application/vnd.openxmlformats-officedocument.presentationml.slide+xml"/>
  <Override PartName="/ppt/comments/modernComment_103_0.xml" ContentType="application/vnd.ms-powerpoint.comments+xml"/>
  <Override PartName="/ppt/notesSlides/notesSlide33.xml" ContentType="application/vnd.openxmlformats-officedocument.presentationml.notesSlide+xml"/>
  <Override PartName="/ppt/slides/slide38.xml" ContentType="application/vnd.openxmlformats-officedocument.presentationml.slide+xml"/>
  <Override PartName="/ppt/comments/modernComment_104_0.xml" ContentType="application/vnd.ms-powerpoint.comments+xml"/>
  <Override PartName="/ppt/notesSlides/notesSlide34.xml" ContentType="application/vnd.openxmlformats-officedocument.presentationml.notesSlide+xml"/>
  <Override PartName="/ppt/comments/modernComment_100_1.xml" ContentType="application/vnd.ms-powerpoint.comments+xml"/>
  <Override PartName="/ppt/comments/modernComment_103_67150092.xml" ContentType="application/vnd.ms-powerpoint.comments+xml"/>
  <Override PartName="/ppt/comments/modernComment_104_1.xml" ContentType="application/vnd.ms-powerpoint.comments+xml"/>
  <Override PartName="/ppt/comments/modernComment_107_1.xml" ContentType="application/vnd.ms-powerpoint.comments+xml"/>
  <Override PartName="/ppt/slides/slide39.xml" ContentType="application/vnd.openxmlformats-officedocument.presentationml.slide+xml"/>
  <Override PartName="/ppt/slideLayouts/slideLayout17.xml" ContentType="application/vnd.openxmlformats-officedocument.presentationml.slideLayout+xml"/>
  <Override PartName="/ppt/slideMasters/slideMaster6.xml" ContentType="application/vnd.openxmlformats-officedocument.presentationml.slideMaster+xml"/>
  <Override PartName="/ppt/slideMasters/theme/theme2.xml" ContentType="application/vnd.openxmlformats-officedocument.theme+xml"/>
  <Override PartName="/ppt/notesSlides/notesSlide35.xml" ContentType="application/vnd.openxmlformats-officedocument.presentationml.notesSlide+xml"/>
  <Override PartName="/ppt/notesMasters/notesMaster6.xml" ContentType="application/vnd.openxmlformats-officedocument.presentationml.notesMaster+xml"/>
  <Override PartName="/ppt/notesMasters/theme/theme3.xml" ContentType="application/vnd.openxmlformats-officedocument.theme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15BEED1-CB72-B48E-F02F-A910FFABA975}" name="Omer Tal" initials="OT" userId="4873ff6cd3b5db54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73"/>
    <p:restoredTop sz="94658"/>
  </p:normalViewPr>
  <p:slideViewPr>
    <p:cSldViewPr snapToGrid="0">
      <p:cViewPr varScale="1">
        <p:scale>
          <a:sx n="120" d="100"/>
          <a:sy n="120" d="100"/>
        </p:scale>
        <p:origin x="13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microsoft.com/office/2018/10/relationships/authors" Target="authors.xml"/></Relationships>
</file>

<file path=ppt/comments/modernComment_10B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DE1CCA5-542A-E544-AD4E-AA7A7AC4E213}" authorId="{415BEED1-CB72-B48E-F02F-A910FFABA975}" created="2026-06-15T19:48:12.34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7"/>
      <ac:spMk id="11" creationId="{00000000-0000-0000-0000-000000000000}"/>
      <ac:txMk cp="196" len="75">
        <ac:context len="272" hash="1452923450"/>
      </ac:txMk>
    </ac:txMkLst>
    <p188:pos x="6324323" y="743989"/>
    <p188:txBody>
      <a:bodyPr/>
      <a:lstStyle/>
      <a:p>
        <a:r>
          <a:rPr lang="en-US"/>
          <a:t>Remove or rephrase</a:t>
        </a:r>
      </a:p>
    </p188:txBody>
  </p188:cm>
</p188:cmLst>
</file>

<file path=ppt/comments/modernComment_10B_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DE1CCA5-542A-E544-AD4E-AA7A7AC4E213}" authorId="{415BEED1-CB72-B48E-F02F-A910FFABA975}" created="2026-06-15T19:48:12.34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5"/>
      <ac:spMk id="11" creationId="{00000000-0000-0000-0000-000000000000}"/>
      <ac:txMk cp="196" len="75">
        <ac:context len="272" hash="1452923450"/>
      </ac:txMk>
    </ac:txMkLst>
    <p188:pos x="6324323" y="743989"/>
    <p188:txBody>
      <a:bodyPr/>
      <a:lstStyle/>
      <a:p>
        <a:r>
          <a:rPr lang="en-US"/>
          <a:t>Remove or rephrase</a:t>
        </a:r>
      </a:p>
    </p188:txBody>
  </p188:cm>
</p188:cmLst>
</file>

<file path=ppt/comments/modernComment_10B_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41D02F3-DA95-284C-996F-FF48BCCDF6BD}" authorId="{415BEED1-CB72-B48E-F02F-A910FFABA975}" created="2026-06-15T19:56:50.02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7"/>
      <ac:spMk id="13" creationId="{A90C4CDA-20E1-4A66-06B2-6B57882CCD19}"/>
    </ac:deMkLst>
    <p188:txBody>
      <a:bodyPr/>
      <a:lstStyle/>
      <a:p>
        <a:r>
          <a:rPr lang="en-US"/>
          <a:t>Remove</a:t>
        </a:r>
      </a:p>
    </p188:txBody>
  </p188:cm>
</p188:cmLst>
</file>

<file path=ppt/comments/modernComment_10B_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41D02F3-DA95-284C-996F-FF48BCCDF6BD}" authorId="{415BEED1-CB72-B48E-F02F-A910FFABA975}" created="2026-06-15T19:56:50.02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83"/>
      <ac:spMk id="13" creationId="{A90C4CDA-20E1-4A66-06B2-6B57882CCD19}"/>
    </ac:deMkLst>
    <p188:txBody>
      <a:bodyPr/>
      <a:lstStyle/>
      <a:p>
        <a:r>
          <a:rPr lang="en-US"/>
          <a:t>Remove</a:t>
        </a:r>
      </a:p>
    </p188:txBody>
  </p188:cm>
</p188:cmLst>
</file>

<file path=ppt/comments/modernComment_10C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CF9493B-9852-AE4A-82B5-722D2DDECA51}" authorId="{415BEED1-CB72-B48E-F02F-A910FFABA975}" created="2026-06-15T20:15:01.72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8"/>
      <ac:spMk id="30" creationId="{00000000-0000-0000-0000-000000000000}"/>
    </ac:deMkLst>
    <p188:txBody>
      <a:bodyPr/>
      <a:lstStyle/>
      <a:p>
        <a:r>
          <a:rPr lang="en-US"/>
          <a:t>Focus on this</a:t>
        </a:r>
      </a:p>
    </p188:txBody>
  </p188:cm>
</p188:cmLst>
</file>

<file path=ppt/comments/modernComment_10C_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CF9493B-9852-AE4A-82B5-722D2DDECA51}" authorId="{415BEED1-CB72-B48E-F02F-A910FFABA975}" created="2026-06-15T20:15:01.72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6"/>
      <ac:spMk id="30" creationId="{00000000-0000-0000-0000-000000000000}"/>
    </ac:deMkLst>
    <p188:txBody>
      <a:bodyPr/>
      <a:lstStyle/>
      <a:p>
        <a:r>
          <a:rPr lang="en-US"/>
          <a:t>Focus on this</a:t>
        </a:r>
      </a:p>
    </p188:txBody>
  </p188:cm>
</p188:cmLst>
</file>

<file path=ppt/comments/modernComment_10D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BC56E0D-8A77-C94D-B843-CDD9B45B9AAD}" authorId="{415BEED1-CB72-B48E-F02F-A910FFABA975}" created="2026-06-15T19:49:21.11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9"/>
      <ac:spMk id="24" creationId="{00000000-0000-0000-0000-000000000000}"/>
    </ac:deMkLst>
    <p188:txBody>
      <a:bodyPr/>
      <a:lstStyle/>
      <a:p>
        <a:r>
          <a:rPr lang="en-US"/>
          <a:t>Remove</a:t>
        </a:r>
      </a:p>
    </p188:txBody>
  </p188:cm>
</p188:cmLst>
</file>

<file path=ppt/comments/modernComment_10D_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BC56E0D-8A77-C94D-B843-CDD9B45B9AAD}" authorId="{415BEED1-CB72-B48E-F02F-A910FFABA975}" created="2026-06-15T19:49:21.11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3"/>
      <ac:spMk id="24" creationId="{00000000-0000-0000-0000-000000000000}"/>
    </ac:deMkLst>
    <p188:txBody>
      <a:bodyPr/>
      <a:lstStyle/>
      <a:p>
        <a:r>
          <a:rPr lang="en-US"/>
          <a:t>Remove</a:t>
        </a:r>
      </a:p>
    </p188:txBody>
  </p188:cm>
</p188:cmLst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781551D-2049-824D-A2A5-59F8CB8CAE0E}" authorId="{415BEED1-CB72-B48E-F02F-A910FFABA975}" created="2026-06-15T20:01:35.47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8" creationId="{00000000-0000-0000-0000-000000000000}"/>
      <ac:txMk cp="86" len="8">
        <ac:context len="171" hash="1001647102"/>
      </ac:txMk>
    </ac:txMkLst>
    <p188:pos x="8273555" y="291164"/>
    <p188:replyLst>
      <p188:reply id="{80BBFAAB-B82B-3943-B17D-6B5FFD7525CF}" authorId="{415BEED1-CB72-B48E-F02F-A910FFABA975}" created="2026-06-15T20:02:40.039">
        <p188:txBody>
          <a:bodyPr/>
          <a:lstStyle/>
          <a:p>
            <a:r>
              <a:rPr lang="en-US"/>
              <a:t>repetitive</a:t>
            </a:r>
          </a:p>
        </p188:txBody>
      </p188:reply>
    </p188:replyLst>
    <p188:txBody>
      <a:bodyPr/>
      <a:lstStyle/>
      <a:p>
        <a:r>
          <a:rPr lang="en-US"/>
          <a:t>change phrasing</a:t>
        </a:r>
      </a:p>
    </p188:txBody>
  </p188:cm>
  <p188:cm id="{4621D3D1-8D56-824E-83F2-1E10370050AA}" authorId="{415BEED1-CB72-B48E-F02F-A910FFABA975}" created="2026-06-15T20:01:53.74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10" creationId="{00000000-0000-0000-0000-000000000000}"/>
    </ac:deMkLst>
    <p188:txBody>
      <a:bodyPr/>
      <a:lstStyle/>
      <a:p>
        <a:r>
          <a:rPr lang="en-US"/>
          <a:t>increase size</a:t>
        </a:r>
      </a:p>
    </p188:txBody>
  </p188:cm>
</p188:cmLst>
</file>

<file path=ppt/comments/modernComment_100_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781551D-2049-824D-A2A5-59F8CB8CAE0E}" authorId="{415BEED1-CB72-B48E-F02F-A910FFABA975}" created="2026-06-15T20:01:35.47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88"/>
      <ac:spMk id="8" creationId="{00000000-0000-0000-0000-000000000000}"/>
      <ac:txMk cp="86" len="8">
        <ac:context len="171" hash="1001647102"/>
      </ac:txMk>
    </ac:txMkLst>
    <p188:pos x="8273555" y="291164"/>
    <p188:replyLst>
      <p188:reply id="{80BBFAAB-B82B-3943-B17D-6B5FFD7525CF}" authorId="{415BEED1-CB72-B48E-F02F-A910FFABA975}" created="2026-06-15T20:02:40.039">
        <p188:txBody>
          <a:bodyPr/>
          <a:lstStyle/>
          <a:p>
            <a:r>
              <a:rPr lang="en-US"/>
              <a:t>repetitive</a:t>
            </a:r>
          </a:p>
        </p188:txBody>
      </p188:reply>
    </p188:replyLst>
    <p188:txBody>
      <a:bodyPr/>
      <a:lstStyle/>
      <a:p>
        <a:r>
          <a:rPr lang="en-US"/>
          <a:t>change phrasing</a:t>
        </a:r>
      </a:p>
    </p188:txBody>
  </p188:cm>
  <p188:cm id="{4621D3D1-8D56-824E-83F2-1E10370050AA}" authorId="{415BEED1-CB72-B48E-F02F-A910FFABA975}" created="2026-06-15T20:01:53.74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88"/>
      <ac:spMk id="10" creationId="{00000000-0000-0000-0000-000000000000}"/>
    </ac:deMkLst>
    <p188:txBody>
      <a:bodyPr/>
      <a:lstStyle/>
      <a:p>
        <a:r>
          <a:rPr lang="en-US"/>
          <a:t>increase size</a:t>
        </a:r>
      </a:p>
    </p188:txBody>
  </p188:cm>
</p188:cmLst>
</file>

<file path=ppt/comments/modernComment_101_5D54025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EDB1040-B1A8-934B-AD3D-2513803A409B}" authorId="{415BEED1-CB72-B48E-F02F-A910FFABA975}" created="2026-06-15T20:10:53.99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65786713" sldId="257"/>
      <ac:spMk id="46" creationId="{47D1F815-DDE6-4E60-B387-97C475589306}"/>
    </ac:deMkLst>
    <p188:txBody>
      <a:bodyPr/>
      <a:lstStyle/>
      <a:p>
        <a:r>
          <a:rPr lang="en-US"/>
          <a:t>remove</a:t>
        </a:r>
      </a:p>
    </p188:txBody>
  </p188:cm>
  <p188:cm id="{254AA85D-B778-034B-B2D2-D1BC2066CA44}" authorId="{415BEED1-CB72-B48E-F02F-A910FFABA975}" created="2026-06-15T20:11:12.57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65786713" sldId="257"/>
      <ac:spMk id="10" creationId="{2178FA77-A0E9-4651-8A84-AC52DF717621}"/>
    </ac:deMkLst>
    <p188:txBody>
      <a:bodyPr/>
      <a:lstStyle/>
      <a:p>
        <a:r>
          <a:rPr lang="en-US"/>
          <a:t>do not get into details</a:t>
        </a:r>
      </a:p>
    </p188:txBody>
  </p188:cm>
</p188:cmLst>
</file>

<file path=ppt/comments/modernComment_101_5D54026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EDB1040-B1A8-934B-AD3D-2513803A409B}" authorId="{415BEED1-CB72-B48E-F02F-A910FFABA975}" created="2026-06-15T20:10:53.99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65786713" sldId="258"/>
      <ac:spMk id="46" creationId="{47D1F815-DDE6-4E60-B387-97C475589306}"/>
    </ac:deMkLst>
    <p188:txBody>
      <a:bodyPr/>
      <a:lstStyle/>
      <a:p>
        <a:r>
          <a:rPr lang="en-US"/>
          <a:t>remove</a:t>
        </a:r>
      </a:p>
    </p188:txBody>
  </p188:cm>
  <p188:cm id="{254AA85D-B778-034B-B2D2-D1BC2066CA44}" authorId="{415BEED1-CB72-B48E-F02F-A910FFABA975}" created="2026-06-15T20:11:12.57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65786713" sldId="258"/>
      <ac:spMk id="10" creationId="{2178FA77-A0E9-4651-8A84-AC52DF717621}"/>
    </ac:deMkLst>
    <p188:txBody>
      <a:bodyPr/>
      <a:lstStyle/>
      <a:p>
        <a:r>
          <a:rPr lang="en-US"/>
          <a:t>do not get into details</a:t>
        </a:r>
      </a:p>
    </p188:txBody>
  </p188:cm>
</p188:cmLst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B84F299-764A-F143-BE81-B532CE6611A3}" authorId="{415BEED1-CB72-B48E-F02F-A910FFABA975}" created="2026-06-15T19:52:39.82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8"/>
      <ac:spMk id="29" creationId="{A1B36AC2-DD7B-52CC-4B11-0FB1FD870343}"/>
    </ac:deMkLst>
    <p188:txBody>
      <a:bodyPr/>
      <a:lstStyle/>
      <a:p>
        <a:r>
          <a:rPr lang="en-US"/>
          <a:t>Increase size</a:t>
        </a:r>
      </a:p>
    </p188:txBody>
  </p188:cm>
</p188:cmLst>
</file>

<file path=ppt/comments/modernComment_102_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B84F299-764A-F143-BE81-B532CE6611A3}" authorId="{415BEED1-CB72-B48E-F02F-A910FFABA975}" created="2026-06-15T19:52:39.82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8"/>
      <ac:spMk id="29" creationId="{A1B36AC2-DD7B-52CC-4B11-0FB1FD870343}"/>
    </ac:deMkLst>
    <p188:txBody>
      <a:bodyPr/>
      <a:lstStyle/>
      <a:p>
        <a:r>
          <a:rPr lang="en-US"/>
          <a:t>Increase size</a:t>
        </a:r>
      </a:p>
    </p188:txBody>
  </p188:cm>
</p188:cmLst>
</file>

<file path=ppt/comments/modernComment_10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E894092-4E94-5C46-9A2E-8705F2F1AE62}" authorId="{415BEED1-CB72-B48E-F02F-A910FFABA975}" created="2026-06-15T20:07:21.57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9"/>
      <ac:spMk id="27" creationId="{00000000-0000-0000-0000-000000000000}"/>
    </ac:deMkLst>
    <p188:txBody>
      <a:bodyPr/>
      <a:lstStyle/>
      <a:p>
        <a:r>
          <a:rPr lang="en-US"/>
          <a:t>rephrase</a:t>
        </a:r>
      </a:p>
    </p188:txBody>
  </p188:cm>
  <p188:cm id="{8A48312C-DB11-0342-9988-3F272BF9A2C8}" authorId="{415BEED1-CB72-B48E-F02F-A910FFABA975}" created="2026-06-15T20:07:42.65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9"/>
      <ac:spMk id="33" creationId="{00000000-0000-0000-0000-000000000000}"/>
    </ac:deMkLst>
    <p188:txBody>
      <a:bodyPr/>
      <a:lstStyle/>
      <a:p>
        <a:r>
          <a:rPr lang="en-US"/>
          <a:t>rephrase</a:t>
        </a:r>
      </a:p>
    </p188:txBody>
  </p188:cm>
</p188:cmLst>
</file>

<file path=ppt/comments/modernComment_103_6715009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BB568F2-B6FB-764D-A7C3-AD5A6465D937}" authorId="{415BEED1-CB72-B48E-F02F-A910FFABA975}" created="2026-06-15T20:12:44.57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29429648" sldId="259"/>
      <ac:graphicFrameMk id="17" creationId="{00000000-0000-0000-0000-000000000000}"/>
    </ac:deMkLst>
    <p188:txBody>
      <a:bodyPr/>
      <a:lstStyle/>
      <a:p>
        <a:r>
          <a:rPr lang="en-US"/>
          <a:t>reorder: CPC, Invoice amount first</a:t>
        </a:r>
      </a:p>
    </p188:txBody>
  </p188:cm>
</p188:cmLst>
</file>

<file path=ppt/comments/modernComment_103_6715009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BB568F2-B6FB-764D-A7C3-AD5A6465D937}" authorId="{415BEED1-CB72-B48E-F02F-A910FFABA975}" created="2026-06-15T20:12:44.57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29429648" sldId="260"/>
      <ac:graphicFrameMk id="17" creationId="{00000000-0000-0000-0000-000000000000}"/>
    </ac:deMkLst>
    <p188:txBody>
      <a:bodyPr/>
      <a:lstStyle/>
      <a:p>
        <a:r>
          <a:rPr lang="en-US"/>
          <a:t>reorder: CPC, Invoice amount first</a:t>
        </a:r>
      </a:p>
    </p188:txBody>
  </p188:cm>
</p188:cmLst>
</file>

<file path=ppt/comments/modernComment_103_6715009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E894092-4E94-5C46-9A2E-8705F2F1AE62}" authorId="{415BEED1-CB72-B48E-F02F-A910FFABA975}" created="2026-06-15T20:07:21.57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92"/>
      <ac:spMk id="27" creationId="{00000000-0000-0000-0000-000000000000}"/>
    </ac:deMkLst>
    <p188:txBody>
      <a:bodyPr/>
      <a:lstStyle/>
      <a:p>
        <a:r>
          <a:rPr lang="en-US"/>
          <a:t>rephrase</a:t>
        </a:r>
      </a:p>
    </p188:txBody>
  </p188:cm>
  <p188:cm id="{8A48312C-DB11-0342-9988-3F272BF9A2C8}" authorId="{415BEED1-CB72-B48E-F02F-A910FFABA975}" created="2026-06-15T20:07:42.65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92"/>
      <ac:spMk id="33" creationId="{00000000-0000-0000-0000-000000000000}"/>
    </ac:deMkLst>
    <p188:txBody>
      <a:bodyPr/>
      <a:lstStyle/>
      <a:p>
        <a:r>
          <a:rPr lang="en-US"/>
          <a:t>rephrase</a:t>
        </a:r>
      </a:p>
    </p188:txBody>
  </p188:cm>
</p188:cmLst>
</file>

<file path=ppt/comments/modernComment_10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E4E2295-FF4C-E64E-8DF0-BCAB05440C20}" authorId="{415BEED1-CB72-B48E-F02F-A910FFABA975}" created="2026-06-15T20:08:20.86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0"/>
      <ac:spMk id="19" creationId="{00000000-0000-0000-0000-000000000000}"/>
    </ac:deMkLst>
    <p188:txBody>
      <a:bodyPr/>
      <a:lstStyle/>
      <a:p>
        <a:r>
          <a:rPr lang="en-US"/>
          <a:t>increase size</a:t>
        </a:r>
      </a:p>
    </p188:txBody>
  </p188:cm>
  <p188:cm id="{2D7510F2-75F2-3640-B288-1A78C48EA7CE}" authorId="{415BEED1-CB72-B48E-F02F-A910FFABA975}" created="2026-06-15T20:09:13.85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0"/>
      <ac:spMk id="32" creationId="{00000000-0000-0000-0000-000000000000}"/>
    </ac:deMkLst>
    <p188:txBody>
      <a:bodyPr/>
      <a:lstStyle/>
      <a:p>
        <a:r>
          <a:rPr lang="en-US"/>
          <a:t>rephrase</a:t>
        </a:r>
      </a:p>
    </p188:txBody>
  </p188:cm>
</p188:cmLst>
</file>

<file path=ppt/comments/modernComment_104_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E4E2295-FF4C-E64E-8DF0-BCAB05440C20}" authorId="{415BEED1-CB72-B48E-F02F-A910FFABA975}" created="2026-06-15T20:08:20.86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93"/>
      <ac:spMk id="19" creationId="{00000000-0000-0000-0000-000000000000}"/>
    </ac:deMkLst>
    <p188:txBody>
      <a:bodyPr/>
      <a:lstStyle/>
      <a:p>
        <a:r>
          <a:rPr lang="en-US"/>
          <a:t>increase size</a:t>
        </a:r>
      </a:p>
    </p188:txBody>
  </p188:cm>
  <p188:cm id="{2D7510F2-75F2-3640-B288-1A78C48EA7CE}" authorId="{415BEED1-CB72-B48E-F02F-A910FFABA975}" created="2026-06-15T20:09:13.85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93"/>
      <ac:spMk id="32" creationId="{00000000-0000-0000-0000-000000000000}"/>
    </ac:deMkLst>
    <p188:txBody>
      <a:bodyPr/>
      <a:lstStyle/>
      <a:p>
        <a:r>
          <a:rPr lang="en-US"/>
          <a:t>rephrase</a:t>
        </a:r>
      </a:p>
    </p188:txBody>
  </p188:cm>
</p188:cmLst>
</file>

<file path=ppt/comments/modernComment_106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D2EE5E7-B8E8-C34F-8705-6ED94DEE77F9}" authorId="{415BEED1-CB72-B48E-F02F-A910FFABA975}" created="2026-06-15T19:54:25.61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2"/>
      <ac:spMk id="11" creationId="{58492A07-403A-0E9C-FBBA-EBE9C0ACDA9C}"/>
    </ac:deMkLst>
    <p188:txBody>
      <a:bodyPr/>
      <a:lstStyle/>
      <a:p>
        <a:r>
          <a:rPr lang="en-US"/>
          <a:t>remove</a:t>
        </a:r>
      </a:p>
    </p188:txBody>
  </p188:cm>
</p188:cmLst>
</file>

<file path=ppt/comments/modernComment_106_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D2EE5E7-B8E8-C34F-8705-6ED94DEE77F9}" authorId="{415BEED1-CB72-B48E-F02F-A910FFABA975}" created="2026-06-15T19:54:25.61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81"/>
      <ac:spMk id="11" creationId="{58492A07-403A-0E9C-FBBA-EBE9C0ACDA9C}"/>
    </ac:deMkLst>
    <p188:txBody>
      <a:bodyPr/>
      <a:lstStyle/>
      <a:p>
        <a:r>
          <a:rPr lang="en-US"/>
          <a:t>remove</a:t>
        </a:r>
      </a:p>
    </p188:txBody>
  </p188:cm>
</p188:cmLst>
</file>

<file path=ppt/comments/modernComment_106_66FA96F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457C0FB-C6B6-B64D-9351-EF8663339985}" authorId="{415BEED1-CB72-B48E-F02F-A910FFABA975}" created="2026-06-15T19:31:56.213">
    <pc:sldMkLst xmlns:pc="http://schemas.microsoft.com/office/powerpoint/2013/main/command">
      <pc:docMk/>
      <pc:sldMk cId="1727698677" sldId="262"/>
    </pc:sldMkLst>
    <p188:txBody>
      <a:bodyPr/>
      <a:lstStyle/>
      <a:p>
        <a:r>
          <a:rPr lang="en-US"/>
          <a:t>Remove this signal</a:t>
        </a:r>
      </a:p>
    </p188:txBody>
  </p188:cm>
</p188:cmLst>
</file>

<file path=ppt/comments/modernComment_106_66FA96F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457C0FB-C6B6-B64D-9351-EF8663339985}" authorId="{415BEED1-CB72-B48E-F02F-A910FFABA975}" created="2026-06-15T19:31:56.213">
    <pc:sldMkLst xmlns:pc="http://schemas.microsoft.com/office/powerpoint/2013/main/command">
      <pc:docMk/>
      <pc:sldMk cId="1727698677" sldId="263"/>
    </pc:sldMkLst>
    <p188:txBody>
      <a:bodyPr/>
      <a:lstStyle/>
      <a:p>
        <a:r>
          <a:rPr lang="en-US"/>
          <a:t>Remove this signal</a:t>
        </a:r>
      </a:p>
    </p188:txBody>
  </p188:cm>
</p188:cmLst>
</file>

<file path=ppt/comments/modernComment_10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A9F5FE1-42C7-E845-8568-2B426FD2D456}" authorId="{415BEED1-CB72-B48E-F02F-A910FFABA975}" created="2026-06-15T20:05:46.58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3"/>
      <ac:spMk id="21" creationId="{00000000-0000-0000-0000-000000000000}"/>
    </ac:deMkLst>
    <p188:txBody>
      <a:bodyPr/>
      <a:lstStyle/>
      <a:p>
        <a:r>
          <a:rPr lang="en-US"/>
          <a:t>Move into cards</a:t>
        </a:r>
      </a:p>
    </p188:txBody>
  </p188:cm>
</p188:cmLst>
</file>

<file path=ppt/comments/modernComment_107_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A9F5FE1-42C7-E845-8568-2B426FD2D456}" authorId="{415BEED1-CB72-B48E-F02F-A910FFABA975}" created="2026-06-15T20:05:46.58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90"/>
      <ac:spMk id="21" creationId="{00000000-0000-0000-0000-000000000000}"/>
    </ac:deMkLst>
    <p188:txBody>
      <a:bodyPr/>
      <a:lstStyle/>
      <a:p>
        <a:r>
          <a:rPr lang="en-US"/>
          <a:t>Move into cards</a:t>
        </a:r>
      </a:p>
    </p188:txBody>
  </p188:cm>
</p188:cmLst>
</file>

<file path=ppt/comments/modernComment_107_4490B3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C7A623E-11A8-EB4D-A9D4-A9CFC9D399BF}" authorId="{415BEED1-CB72-B48E-F02F-A910FFABA975}" created="2026-06-15T19:33:23.08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1895868" sldId="263"/>
      <ac:graphicFrameMk id="10" creationId="{00000000-0000-0000-0000-000000000000}"/>
      <ac:tblMk/>
      <ac:tcMk rowId="10003" colId="20001"/>
      <ac:txMk cp="0" len="45">
        <ac:context len="46" hash="2602481956"/>
      </ac:txMk>
    </ac:txMkLst>
    <p188:pos x="4442883" y="1454083"/>
    <p188:txBody>
      <a:bodyPr/>
      <a:lstStyle/>
      <a:p>
        <a:r>
          <a:rPr lang="en-US"/>
          <a:t>rephrase</a:t>
        </a:r>
      </a:p>
    </p188:txBody>
  </p188:cm>
  <p188:cm id="{C8FDF3E7-26C1-A548-A8B3-ED9686E3BE31}" authorId="{415BEED1-CB72-B48E-F02F-A910FFABA975}" created="2026-06-15T19:33:49.87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1895868" sldId="263"/>
      <ac:spMk id="12" creationId="{E6D23BF3-2401-4FDA-BDDF-486C1AD3B8B9}"/>
      <ac:txMk cp="0" len="101">
        <ac:context len="102" hash="1162065837"/>
      </ac:txMk>
    </ac:txMkLst>
    <p188:pos x="6525683" y="338600"/>
    <p188:txBody>
      <a:bodyPr/>
      <a:lstStyle/>
      <a:p>
        <a:r>
          <a:rPr lang="en-US"/>
          <a:t>rephrase</a:t>
        </a:r>
      </a:p>
    </p188:txBody>
  </p188:cm>
</p188:cmLst>
</file>

<file path=ppt/comments/modernComment_107_4490B3C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C7A623E-11A8-EB4D-A9D4-A9CFC9D399BF}" authorId="{415BEED1-CB72-B48E-F02F-A910FFABA975}" created="2026-06-15T19:33:23.08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1895868" sldId="264"/>
      <ac:graphicFrameMk id="10" creationId="{00000000-0000-0000-0000-000000000000}"/>
      <ac:tblMk/>
      <ac:tcMk rowId="10003" colId="20001"/>
      <ac:txMk cp="0" len="45">
        <ac:context len="46" hash="2602481956"/>
      </ac:txMk>
    </ac:txMkLst>
    <p188:pos x="4442883" y="1454083"/>
    <p188:txBody>
      <a:bodyPr/>
      <a:lstStyle/>
      <a:p>
        <a:r>
          <a:rPr lang="en-US"/>
          <a:t>rephrase</a:t>
        </a:r>
      </a:p>
    </p188:txBody>
  </p188:cm>
  <p188:cm id="{C8FDF3E7-26C1-A548-A8B3-ED9686E3BE31}" authorId="{415BEED1-CB72-B48E-F02F-A910FFABA975}" created="2026-06-15T19:33:49.87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1895868" sldId="264"/>
      <ac:spMk id="12" creationId="{E6D23BF3-2401-4FDA-BDDF-486C1AD3B8B9}"/>
      <ac:txMk cp="0" len="101">
        <ac:context len="102" hash="1162065837"/>
      </ac:txMk>
    </ac:txMkLst>
    <p188:pos x="6525683" y="338600"/>
    <p188:txBody>
      <a:bodyPr/>
      <a:lstStyle/>
      <a:p>
        <a:r>
          <a:rPr lang="en-US"/>
          <a:t>rephrase</a:t>
        </a:r>
      </a:p>
    </p188:txBody>
  </p188:cm>
</p188:cmLst>
</file>

<file path=ppt/comments/modernComment_108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1F10BF8-CC85-0945-A848-863966AA2DA4}" authorId="{415BEED1-CB72-B48E-F02F-A910FFABA975}" created="2026-06-15T19:43:16.98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4"/>
      <ac:graphicFrameMk id="10" creationId="{00000000-0000-0000-0000-000000000000}"/>
    </ac:deMkLst>
    <p188:txBody>
      <a:bodyPr/>
      <a:lstStyle/>
      <a:p>
        <a:r>
          <a:rPr lang="en-US"/>
          <a:t>Remove</a:t>
        </a:r>
      </a:p>
    </p188:txBody>
  </p188:cm>
</p188:cmLst>
</file>

<file path=ppt/comments/modernComment_108_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1F10BF8-CC85-0945-A848-863966AA2DA4}" authorId="{415BEED1-CB72-B48E-F02F-A910FFABA975}" created="2026-06-15T19:43:16.98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2"/>
      <ac:graphicFrameMk id="10" creationId="{00000000-0000-0000-0000-000000000000}"/>
    </ac:deMkLst>
    <p188:txBody>
      <a:bodyPr/>
      <a:lstStyle/>
      <a:p>
        <a:r>
          <a:rPr lang="en-US"/>
          <a:t>Remove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_rels/notes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_rels/notes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_rels/notes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_rels/notes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notesMasters/_rels/notesMaster6.xml.rels><?xml version='1.0' encoding='UTF-8' standalone='yes'?>
<Relationships xmlns="http://schemas.openxmlformats.org/package/2006/relationships"><Relationship Type="http://schemas.openxmlformats.org/officeDocument/2006/relationships/theme" Target="theme/theme3.xml" Id="Rd95908d107c548e2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Masters/notesMaster2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Masters/notesMaster3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0663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4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3206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5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11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6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2.xml"/></Relationships>
</file>

<file path=ppt/notesSlides/_rels/notesSlide3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2.xml"/></Relationships>
</file>

<file path=ppt/notesSlides/_rels/notesSlide4.xml.rels><?xml version='1.0' encoding='UTF-8' standalone='yes'?>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2.xml"/></Relationships>
</file>

<file path=ppt/notesSlides/_rels/notesSlide5.xml.rels><?xml version='1.0' encoding='UTF-8' standalone='yes'?>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2.xml"/></Relationships>
</file>

<file path=ppt/notesSlides/_rels/notesSlide6.xml.rels><?xml version='1.0' encoding='UTF-8' standalone='yes'?>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2.xml"/></Relationships>
</file>

<file path=ppt/notesSlides/_rels/notesSlide7.xml.rels><?xml version='1.0' encoding='UTF-8' standalone='yes'?>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2.xml"/></Relationships>
</file>

<file path=ppt/notesSlides/_rels/notesSlide8.xml.rels><?xml version='1.0' encoding='UTF-8' standalone='yes'?>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2.xml"/></Relationships>
</file>

<file path=ppt/notesSlides/_rels/notesSlide9.xml.rels><?xml version='1.0' encoding='UTF-8' standalone='yes'?>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2.xml"/></Relationships>
</file>

<file path=ppt/notesSlides/_rels/notesSlide10.xml.rels><?xml version='1.0' encoding='UTF-8' standalone='yes'?>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3.xml"/></Relationships>
</file>

<file path=ppt/notesSlides/_rels/notesSlide11.xml.rels><?xml version='1.0' encoding='UTF-8' standalone='yes'?>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3.xml"/></Relationships>
</file>

<file path=ppt/notesSlides/_rels/notesSlide12.xml.rels><?xml version='1.0' encoding='UTF-8' standalone='yes'?>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3.xml"/></Relationships>
</file>

<file path=ppt/notesSlides/_rels/notesSlide13.xml.rels><?xml version='1.0' encoding='UTF-8' standalone='yes'?>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3.xml"/></Relationships>
</file>

<file path=ppt/notesSlides/_rels/notesSlide14.xml.rels><?xml version='1.0' encoding='UTF-8' standalone='yes'?>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3.xml"/></Relationships>
</file>

<file path=ppt/notesSlides/_rels/notesSlide15.xml.rels><?xml version='1.0' encoding='UTF-8' standalone='yes'?>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3.xml"/></Relationships>
</file>

<file path=ppt/notesSlides/_rels/notesSlide16.xml.rels><?xml version='1.0' encoding='UTF-8' standalone='yes'?>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3.xml"/></Relationships>
</file>

<file path=ppt/notesSlides/_rels/notesSlide17.xml.rels><?xml version='1.0' encoding='UTF-8' standalone='yes'?>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3.xml"/></Relationships>
</file>

<file path=ppt/notesSlides/_rels/notesSlide18.xml.rels><?xml version='1.0' encoding='UTF-8' standalone='yes'?>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3.xml"/></Relationships>
</file>

<file path=ppt/notesSlides/_rels/notesSlide19.xml.rels><?xml version='1.0' encoding='UTF-8' standalone='yes'?>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4.xml"/></Relationships>
</file>

<file path=ppt/notesSlides/_rels/notesSlide20.xml.rels><?xml version='1.0' encoding='UTF-8' standalone='yes'?>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4.xml"/></Relationships>
</file>

<file path=ppt/notesSlides/_rels/notesSlide21.xml.rels><?xml version='1.0' encoding='UTF-8' standalone='yes'?>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4.xml"/></Relationships>
</file>

<file path=ppt/notesSlides/_rels/notesSlide2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4.xml"/></Relationships>
</file>

<file path=ppt/notesSlides/_rels/notesSlide23.xml.rels><?xml version='1.0' encoding='UTF-8' standalone='yes'?>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4.xml"/></Relationships>
</file>

<file path=ppt/notesSlides/_rels/notesSlide24.xml.rels><?xml version='1.0' encoding='UTF-8' standalone='yes'?>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4.xml"/></Relationships>
</file>

<file path=ppt/notesSlides/_rels/notesSlide25.xml.rels><?xml version='1.0' encoding='UTF-8' standalone='yes'?>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4.xml"/></Relationships>
</file>

<file path=ppt/notesSlides/_rels/notesSlide26.xml.rels><?xml version='1.0' encoding='UTF-8' standalone='yes'?>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4.xml"/></Relationships>
</file>

<file path=ppt/notesSlides/_rels/notesSlide27.xml.rels><?xml version='1.0' encoding='UTF-8' standalone='yes'?>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4.xml"/></Relationships>
</file>

<file path=ppt/notesSlides/_rels/notesSlide28.xml.rels><?xml version='1.0' encoding='UTF-8' standalone='yes'?>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4.xml"/></Relationships>
</file>

<file path=ppt/notesSlides/_rels/notesSlide29.xml.rels><?xml version='1.0' encoding='UTF-8' standalone='yes'?>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4.xml"/></Relationships>
</file>

<file path=ppt/notesSlides/_rels/notesSlide30.xml.rels><?xml version='1.0' encoding='UTF-8' standalone='yes'?>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5.xml"/></Relationships>
</file>

<file path=ppt/notesSlides/_rels/notesSlide31.xml.rels><?xml version='1.0' encoding='UTF-8' standalone='yes'?>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5.xml"/></Relationships>
</file>

<file path=ppt/notesSlides/_rels/notesSlide32.xml.rels><?xml version='1.0' encoding='UTF-8' standalone='yes'?>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5.xml"/></Relationships>
</file>

<file path=ppt/notesSlides/_rels/notesSlide33.xml.rels><?xml version='1.0' encoding='UTF-8' standalone='yes'?>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5.xml"/></Relationships>
</file>

<file path=ppt/notesSlides/_rels/notesSlide34.xml.rels><?xml version='1.0' encoding='UTF-8' standalone='yes'?>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5.xml"/></Relationships>
</file>

<file path=ppt/notesSlides/_rels/notesSlide35.xml.rels><?xml version='1.0' encoding='UTF-8' standalone='yes'?>
<Relationships xmlns="http://schemas.openxmlformats.org/package/2006/relationships"><Relationship Type="http://schemas.openxmlformats.org/officeDocument/2006/relationships/slide" Target="../slides/slide39.xml" Id="Re5d896b6c85b4e58"/><Relationship Type="http://schemas.openxmlformats.org/officeDocument/2006/relationships/notesMaster" Target="../notesMasters/notesMaster6.xml" Id="R32c62922e9574328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64343-87FA-54D9-5BE6-37B511EE8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7BEE2F-4F27-3C69-6E57-A1B1FE5007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1FE572-FD21-D2F6-7670-A81980571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54CCA-6375-311E-431A-D42C2EBEC9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9703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6.xml" Id="R2ef0aefe6d844e93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33171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34413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64234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94979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92786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11721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63963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0446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60439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27833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4744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12418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4.xml.rels><?xml version='1.0' encoding='UTF-8' standalone='yes'?>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5.xml"/></Relationships>
</file>

<file path=ppt/slideMasters/_rels/slideMaster5.xml.rels><?xml version='1.0' encoding='UTF-8' standalone='yes'?>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6.xml"/></Relationships>
</file>

<file path=ppt/slideMasters/_rels/slideMaster6.xml.rels><?xml version='1.0' encoding='UTF-8' standalone='yes'?>
<Relationships xmlns="http://schemas.openxmlformats.org/package/2006/relationships"><Relationship Type="http://schemas.openxmlformats.org/officeDocument/2006/relationships/theme" Target="theme/theme2.xml" Id="R9005d07840c64bac"/><Relationship Type="http://schemas.openxmlformats.org/officeDocument/2006/relationships/slideLayout" Target="../slideLayouts/slideLayout17.xml" Id="R26bca5100245442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0705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bca510024544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3" Type="http://schemas.microsoft.com/office/2018/10/relationships/comments" Target="../comments/modernComment_101_5D54025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3" Type="http://schemas.microsoft.com/office/2018/10/relationships/comments" Target="../comments/modernComment_103_6715009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3" Type="http://schemas.microsoft.com/office/2018/10/relationships/comments" Target="../comments/modernComment_106_66FA96F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3" Type="http://schemas.microsoft.com/office/2018/10/relationships/comments" Target="../comments/modernComment_107_4490B3C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2" Type="http://schemas.microsoft.com/office/2018/10/relationships/comments" Target="../comments/modernComment_10C_0.xml"/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3" Type="http://schemas.microsoft.com/office/2018/10/relationships/comments" Target="../comments/modernComment_108_0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2" Type="http://schemas.microsoft.com/office/2018/10/relationships/comments" Target="../comments/modernComment_10D_0.xml"/><Relationship Id="rId1" Type="http://schemas.openxmlformats.org/officeDocument/2006/relationships/slideLayout" Target="../slideLayouts/slideLayout14.xml"/></Relationships>
</file>

<file path=ppt/slides/_rels/slide19.xml.rels><?xml version='1.0' encoding='UTF-8' standalone='yes'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'1.0' encoding='UTF-8' standalone='yes'?>
<Relationships xmlns="http://schemas.openxmlformats.org/package/2006/relationships"><Relationship Id="rId3" Type="http://schemas.microsoft.com/office/2018/10/relationships/comments" Target="../comments/modernComment_10B_0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3.xml.rels><?xml version='1.0' encoding='UTF-8' standalone='yes'?>
<Relationships xmlns="http://schemas.openxmlformats.org/package/2006/relationships"><Relationship Id="rId3" Type="http://schemas.microsoft.com/office/2018/10/relationships/comments" Target="../comments/modernComment_102_0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4.xml.rels><?xml version='1.0' encoding='UTF-8' standalone='yes'?>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5.xml.rels><?xml version='1.0' encoding='UTF-8' standalone='yes'?>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26.xml.rels><?xml version='1.0' encoding='UTF-8' standalone='yes'?>
<Relationships xmlns="http://schemas.openxmlformats.org/package/2006/relationships"><Relationship Id="rId3" Type="http://schemas.microsoft.com/office/2018/10/relationships/comments" Target="../comments/modernComment_106_0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0.png"/></Relationships>
</file>

<file path=ppt/slides/_rels/slide27.xml.rels><?xml version='1.0' encoding='UTF-8' standalone='yes'?>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28.xml.rels><?xml version='1.0' encoding='UTF-8' standalone='yes'?>
<Relationships xmlns="http://schemas.openxmlformats.org/package/2006/relationships"><Relationship Id="rId3" Type="http://schemas.microsoft.com/office/2018/10/relationships/comments" Target="../comments/modernComment_10B_2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29.xml.rels><?xml version='1.0' encoding='UTF-8' standalone='yes'?>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30.xml.rels><?xml version='1.0' encoding='UTF-8' standalone='yes'?>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png"/></Relationships>
</file>

<file path=ppt/slides/_rels/slide31.xml.rels><?xml version='1.0' encoding='UTF-8' standalone='yes'?>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'1.0' encoding='UTF-8' standalone='yes'?>
<Relationships xmlns="http://schemas.openxmlformats.org/package/2006/relationships"><Relationship Id="rId3" Type="http://schemas.microsoft.com/office/2018/10/relationships/comments" Target="../comments/modernComment_100_0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6.xml"/></Relationships>
</file>

<file path=ppt/slides/_rels/slide3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6.xml"/></Relationships>
</file>

<file path=ppt/slides/_rels/slide35.xml.rels><?xml version='1.0' encoding='UTF-8' standalone='yes'?>
<Relationships xmlns="http://schemas.openxmlformats.org/package/2006/relationships"><Relationship Id="rId2" Type="http://schemas.microsoft.com/office/2018/10/relationships/comments" Target="../comments/modernComment_107_0.xml"/><Relationship Id="rId1" Type="http://schemas.openxmlformats.org/officeDocument/2006/relationships/slideLayout" Target="../slideLayouts/slideLayout16.xml"/></Relationships>
</file>

<file path=ppt/slides/_rels/slide36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6.xml"/></Relationships>
</file>

<file path=ppt/slides/_rels/slide37.xml.rels><?xml version='1.0' encoding='UTF-8' standalone='yes'?>
<Relationships xmlns="http://schemas.openxmlformats.org/package/2006/relationships"><Relationship Id="rId3" Type="http://schemas.microsoft.com/office/2018/10/relationships/comments" Target="../comments/modernComment_103_0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6.xml"/></Relationships>
</file>

<file path=ppt/slides/_rels/slide38.xml.rels><?xml version='1.0' encoding='UTF-8' standalone='yes'?>
<Relationships xmlns="http://schemas.openxmlformats.org/package/2006/relationships"><Relationship Id="rId3" Type="http://schemas.microsoft.com/office/2018/10/relationships/comments" Target="../comments/modernComment_104_0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6.xml"/></Relationships>
</file>

<file path=ppt/slides/_rels/slide39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17.xml" Id="R0542abf176334e5b"/><Relationship Type="http://schemas.openxmlformats.org/officeDocument/2006/relationships/notesSlide" Target="../notesSlides/notesSlide35.xml" Id="R3e6d73ded71b437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BB071BF5-761A-4556-9F3B-0C5CE095A7CC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6DEBE8-072F-477A-9844-7F7C6059950D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75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02F684-A616-491F-8077-6CD2F2B79134}"/>
              </a:ext>
            </a:extLst>
          </p:cNvPr>
          <p:cNvSpPr>
            <a:spLocks noGrp="1"/>
          </p:cNvSpPr>
          <p:nvPr/>
        </p:nvSpPr>
        <p:spPr>
          <a:xfrm>
            <a:off x="493776" y="548640"/>
            <a:ext cx="10561320" cy="713232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41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41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SMB Bundle Strategy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40927E-B027-400D-B31B-078BADA40D0D}"/>
              </a:ext>
            </a:extLst>
          </p:cNvPr>
          <p:cNvSpPr>
            <a:spLocks noGrp="1"/>
          </p:cNvSpPr>
          <p:nvPr/>
        </p:nvSpPr>
        <p:spPr>
          <a:xfrm>
            <a:off x="512064" y="1345000"/>
            <a:ext cx="10600000" cy="4572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7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7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Home Assignment for Senior Marketing Analyst role at </a:t>
            </a:r>
            <a:r>
              <a:rPr sz="1700" b="0" dirty="0" err="1">
                <a:solidFill>
                  <a:srgbClr val="A5A5A5"/>
                </a:solidFill>
                <a:latin typeface="Arial"/>
                <a:ea typeface="Arial"/>
                <a:cs typeface="Arial"/>
              </a:rPr>
              <a:t>Marktplaats</a:t>
            </a:r>
            <a:endParaRPr sz="1700" b="0" dirty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1815675A-20BE-458D-8661-1BD3C6B5D0A5}"/>
              </a:ext>
            </a:extLst>
          </p:cNvPr>
          <p:cNvSpPr>
            <a:spLocks noGrp="1"/>
          </p:cNvSpPr>
          <p:nvPr/>
        </p:nvSpPr>
        <p:spPr>
          <a:xfrm>
            <a:off x="514350" y="2476500"/>
            <a:ext cx="1072515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B2D3B7-74AF-47B5-98D9-9CE7B8677A13}"/>
              </a:ext>
            </a:extLst>
          </p:cNvPr>
          <p:cNvSpPr>
            <a:spLocks noGrp="1"/>
          </p:cNvSpPr>
          <p:nvPr/>
        </p:nvSpPr>
        <p:spPr>
          <a:xfrm>
            <a:off x="59055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A884B3-8E88-4E44-BA27-F7BBF3732FF8}"/>
              </a:ext>
            </a:extLst>
          </p:cNvPr>
          <p:cNvSpPr>
            <a:spLocks noGrp="1"/>
          </p:cNvSpPr>
          <p:nvPr/>
        </p:nvSpPr>
        <p:spPr>
          <a:xfrm>
            <a:off x="59055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Identify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D2534-1DE9-463C-AC10-EFF47B62BF0C}"/>
              </a:ext>
            </a:extLst>
          </p:cNvPr>
          <p:cNvSpPr>
            <a:spLocks noGrp="1"/>
          </p:cNvSpPr>
          <p:nvPr/>
        </p:nvSpPr>
        <p:spPr>
          <a:xfrm>
            <a:off x="59055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Find likely SMB sellers using seller behavior and </a:t>
            </a:r>
            <a:r>
              <a:rPr lang="en-US" sz="12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attributes</a:t>
            </a:r>
            <a:endParaRPr sz="1200" b="0" dirty="0">
              <a:solidFill>
                <a:srgbClr val="A5A5A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6D38E9-B9E6-4C46-B738-8EF1E19E41B6}"/>
              </a:ext>
            </a:extLst>
          </p:cNvPr>
          <p:cNvSpPr>
            <a:spLocks noGrp="1"/>
          </p:cNvSpPr>
          <p:nvPr/>
        </p:nvSpPr>
        <p:spPr>
          <a:xfrm>
            <a:off x="339090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28AE2A-61C9-437D-859E-EF98C6A227C3}"/>
              </a:ext>
            </a:extLst>
          </p:cNvPr>
          <p:cNvSpPr>
            <a:spLocks noGrp="1"/>
          </p:cNvSpPr>
          <p:nvPr/>
        </p:nvSpPr>
        <p:spPr>
          <a:xfrm>
            <a:off x="339090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Prioritize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FF63F0-A94C-4DAD-B65C-CD262DD81C46}"/>
              </a:ext>
            </a:extLst>
          </p:cNvPr>
          <p:cNvSpPr>
            <a:spLocks noGrp="1"/>
          </p:cNvSpPr>
          <p:nvPr/>
        </p:nvSpPr>
        <p:spPr>
          <a:xfrm>
            <a:off x="339090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Rank sellers by outreach readiness and bundle fit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427021-BCC1-4F5F-900A-65B9F1C68401}"/>
              </a:ext>
            </a:extLst>
          </p:cNvPr>
          <p:cNvSpPr>
            <a:spLocks noGrp="1"/>
          </p:cNvSpPr>
          <p:nvPr/>
        </p:nvSpPr>
        <p:spPr>
          <a:xfrm>
            <a:off x="619125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7A21B2-9BA6-4F0D-A812-589C470B8522}"/>
              </a:ext>
            </a:extLst>
          </p:cNvPr>
          <p:cNvSpPr>
            <a:spLocks noGrp="1"/>
          </p:cNvSpPr>
          <p:nvPr/>
        </p:nvSpPr>
        <p:spPr>
          <a:xfrm>
            <a:off x="619125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61F744-BCD6-4AD3-B28E-C37F1A29B1B1}"/>
              </a:ext>
            </a:extLst>
          </p:cNvPr>
          <p:cNvSpPr>
            <a:spLocks noGrp="1"/>
          </p:cNvSpPr>
          <p:nvPr/>
        </p:nvSpPr>
        <p:spPr>
          <a:xfrm>
            <a:off x="619125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Track bundle adoption, revenue, and customer quality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4DD1BE-D7B7-4AB2-A51B-3A87F8328BF1}"/>
              </a:ext>
            </a:extLst>
          </p:cNvPr>
          <p:cNvSpPr>
            <a:spLocks noGrp="1"/>
          </p:cNvSpPr>
          <p:nvPr/>
        </p:nvSpPr>
        <p:spPr>
          <a:xfrm>
            <a:off x="899160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158E59-14EB-45A1-9413-A253C841559B}"/>
              </a:ext>
            </a:extLst>
          </p:cNvPr>
          <p:cNvSpPr>
            <a:spLocks noGrp="1"/>
          </p:cNvSpPr>
          <p:nvPr/>
        </p:nvSpPr>
        <p:spPr>
          <a:xfrm>
            <a:off x="899160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628688-FAE7-412B-8A94-7E5256E730B9}"/>
              </a:ext>
            </a:extLst>
          </p:cNvPr>
          <p:cNvSpPr>
            <a:spLocks noGrp="1"/>
          </p:cNvSpPr>
          <p:nvPr/>
        </p:nvSpPr>
        <p:spPr>
          <a:xfrm>
            <a:off x="899160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Use </a:t>
            </a:r>
            <a:r>
              <a:rPr lang="en-US" sz="120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Lifecycle</a:t>
            </a:r>
            <a:r>
              <a:rPr sz="12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 and in-product prompts to grow adoption</a:t>
            </a:r>
          </a:p>
        </p:txBody>
      </p:sp>
      <p:sp>
        <p:nvSpPr>
          <p:cNvPr id="21" name="Meta information">
            <a:extLst>
              <a:ext uri="{FF2B5EF4-FFF2-40B4-BE49-F238E27FC236}">
                <a16:creationId xmlns:a16="http://schemas.microsoft.com/office/drawing/2014/main" id="{2BA5AE30-556F-45E9-9898-18A97F344CFD}"/>
              </a:ext>
            </a:extLst>
          </p:cNvPr>
          <p:cNvSpPr>
            <a:spLocks noGrp="1"/>
          </p:cNvSpPr>
          <p:nvPr/>
        </p:nvSpPr>
        <p:spPr>
          <a:xfrm>
            <a:off x="512064" y="1750000"/>
            <a:ext cx="5000000" cy="56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3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7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Omer Tal</a:t>
            </a:r>
            <a:r>
              <a:rPr lang="en-US" sz="17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, </a:t>
            </a:r>
            <a:r>
              <a:rPr sz="17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June 2026</a:t>
            </a:r>
          </a:p>
        </p:txBody>
      </p:sp>
    </p:spTree>
    <p:extLst>
      <p:ext uri="{BB962C8B-B14F-4D97-AF65-F5344CB8AC3E}">
        <p14:creationId xmlns:p14="http://schemas.microsoft.com/office/powerpoint/2010/main" val="1878440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BB071BF5-761A-4556-9F3B-0C5CE095A7CC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6DEBE8-072F-477A-9844-7F7C6059950D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75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02F684-A616-491F-8077-6CD2F2B79134}"/>
              </a:ext>
            </a:extLst>
          </p:cNvPr>
          <p:cNvSpPr>
            <a:spLocks noGrp="1"/>
          </p:cNvSpPr>
          <p:nvPr/>
        </p:nvSpPr>
        <p:spPr>
          <a:xfrm>
            <a:off x="512064" y="900000"/>
            <a:ext cx="10500000" cy="83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41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7000" b="1" dirty="0">
                <a:solidFill>
                  <a:srgbClr val="FFD426"/>
                </a:solidFill>
                <a:latin typeface="Arial"/>
                <a:ea typeface="Arial"/>
                <a:cs typeface="Arial"/>
              </a:rPr>
              <a:t>01  Identify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40927E-B027-400D-B31B-078BADA40D0D}"/>
              </a:ext>
            </a:extLst>
          </p:cNvPr>
          <p:cNvSpPr>
            <a:spLocks noGrp="1"/>
          </p:cNvSpPr>
          <p:nvPr/>
        </p:nvSpPr>
        <p:spPr>
          <a:xfrm>
            <a:off x="512064" y="2020000"/>
            <a:ext cx="10000000" cy="36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7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2200" b="0" dirty="0">
                <a:solidFill>
                  <a:srgbClr val="A7A7A7"/>
                </a:solidFill>
                <a:latin typeface="Arial"/>
                <a:ea typeface="Arial"/>
                <a:cs typeface="Arial"/>
              </a:rPr>
              <a:t>Find likely SMB sellers using seller behavior and attributes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6D38E9-B9E6-4C46-B738-8EF1E19E41B6}"/>
              </a:ext>
            </a:extLst>
          </p:cNvPr>
          <p:cNvSpPr>
            <a:spLocks noGrp="1"/>
          </p:cNvSpPr>
          <p:nvPr/>
        </p:nvSpPr>
        <p:spPr>
          <a:xfrm>
            <a:off x="609600" y="3090000"/>
            <a:ext cx="3600000" cy="39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  Prioritize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28AE2A-61C9-437D-859E-EF98C6A227C3}"/>
              </a:ext>
            </a:extLst>
          </p:cNvPr>
          <p:cNvSpPr>
            <a:spLocks noGrp="1"/>
          </p:cNvSpPr>
          <p:nvPr/>
        </p:nvSpPr>
        <p:spPr>
          <a:xfrm>
            <a:off x="609600" y="3590000"/>
            <a:ext cx="3600000" cy="39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38D98C"/>
                </a:solidFill>
                <a:latin typeface="Arial"/>
                <a:ea typeface="Arial"/>
                <a:cs typeface="Arial"/>
              </a:rPr>
              <a:t>03  Monitor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427021-BCC1-4F5F-900A-65B9F1C68401}"/>
              </a:ext>
            </a:extLst>
          </p:cNvPr>
          <p:cNvSpPr>
            <a:spLocks noGrp="1"/>
          </p:cNvSpPr>
          <p:nvPr/>
        </p:nvSpPr>
        <p:spPr>
          <a:xfrm>
            <a:off x="609600" y="4090000"/>
            <a:ext cx="3600000" cy="39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  Scale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7A21B2-9BA6-4F0D-A812-589C470B8522}"/>
              </a:ext>
            </a:extLst>
          </p:cNvPr>
          <p:cNvSpPr>
            <a:spLocks noGrp="1"/>
          </p:cNvSpPr>
          <p:nvPr/>
        </p:nvSpPr>
        <p:spPr>
          <a:xfrm>
            <a:off x="10000000" y="6500000"/>
            <a:ext cx="1" cy="1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4DD1BE-D7B7-4AB2-A51B-3A87F8328BF1}"/>
              </a:ext>
            </a:extLst>
          </p:cNvPr>
          <p:cNvSpPr>
            <a:spLocks noGrp="1"/>
          </p:cNvSpPr>
          <p:nvPr/>
        </p:nvSpPr>
        <p:spPr>
          <a:xfrm>
            <a:off x="10000000" y="6500000"/>
            <a:ext cx="1" cy="1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158E59-14EB-45A1-9413-A253C841559B}"/>
              </a:ext>
            </a:extLst>
          </p:cNvPr>
          <p:cNvSpPr>
            <a:spLocks noGrp="1"/>
          </p:cNvSpPr>
          <p:nvPr/>
        </p:nvSpPr>
        <p:spPr>
          <a:xfrm>
            <a:off x="10000000" y="6500000"/>
            <a:ext cx="1" cy="1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01</a:t>
            </a:r>
            <a:r>
              <a:rPr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 / 08</a:t>
            </a:r>
          </a:p>
        </p:txBody>
      </p:sp>
    </p:spTree>
    <p:extLst>
      <p:ext uri="{BB962C8B-B14F-4D97-AF65-F5344CB8AC3E}">
        <p14:creationId xmlns:p14="http://schemas.microsoft.com/office/powerpoint/2010/main" val="1878440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18E998B9-F88E-4699-A13C-0F116878D7DE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518099F-4F90-437E-8EBF-7E40973988EF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 SMB Identification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CC4322F5-8965-4F7E-88FF-C8024590E0E5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AEADAF99-75EE-4B6D-9374-F558920C9DF2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70C0DF54-E1E1-4B31-AE44-37C300A4C506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AB90A983-65B5-4926-8687-4CC0E482D0D9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02 / 08</a:t>
            </a:r>
          </a:p>
        </p:txBody>
      </p:sp>
      <p:sp>
        <p:nvSpPr>
          <p:cNvPr id="9" name="Framing intro">
            <a:extLst>
              <a:ext uri="{FF2B5EF4-FFF2-40B4-BE49-F238E27FC236}">
                <a16:creationId xmlns:a16="http://schemas.microsoft.com/office/drawing/2014/main" id="{9193F9C6-41EE-4080-99E5-19D607DB5747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858500" cy="3619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>
                <a:solidFill>
                  <a:srgbClr val="F3F4F6"/>
                </a:solidFill>
                <a:latin typeface="Arial"/>
                <a:ea typeface="Arial"/>
                <a:cs typeface="Arial"/>
              </a:rPr>
              <a:t>SMB likelihood is inferred from repeated commercial behavior across setup, paid intent, listing activity, category focus, and buyer demand.</a:t>
            </a:r>
          </a:p>
        </p:txBody>
      </p:sp>
      <p:sp>
        <p:nvSpPr>
          <p:cNvPr id="10" name="Signal Map label">
            <a:extLst>
              <a:ext uri="{FF2B5EF4-FFF2-40B4-BE49-F238E27FC236}">
                <a16:creationId xmlns:a16="http://schemas.microsoft.com/office/drawing/2014/main" id="{2178FA77-A0E9-4651-8A84-AC52DF717621}"/>
              </a:ext>
            </a:extLst>
          </p:cNvPr>
          <p:cNvSpPr>
            <a:spLocks noGrp="1"/>
          </p:cNvSpPr>
          <p:nvPr/>
        </p:nvSpPr>
        <p:spPr>
          <a:xfrm>
            <a:off x="609600" y="2206062"/>
            <a:ext cx="238125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 dirty="0">
                <a:solidFill>
                  <a:srgbClr val="FFD426"/>
                </a:solidFill>
                <a:latin typeface="Arial"/>
                <a:ea typeface="Arial"/>
                <a:cs typeface="Arial"/>
              </a:rPr>
              <a:t>Signal Map</a:t>
            </a:r>
          </a:p>
        </p:txBody>
      </p:sp>
      <p:sp>
        <p:nvSpPr>
          <p:cNvPr id="11" name="Business Setup card">
            <a:extLst>
              <a:ext uri="{FF2B5EF4-FFF2-40B4-BE49-F238E27FC236}">
                <a16:creationId xmlns:a16="http://schemas.microsoft.com/office/drawing/2014/main" id="{C7FFC7DF-4E61-4CE4-A6F2-33430D7E3FA1}"/>
              </a:ext>
            </a:extLst>
          </p:cNvPr>
          <p:cNvSpPr>
            <a:spLocks noGrp="1"/>
          </p:cNvSpPr>
          <p:nvPr/>
        </p:nvSpPr>
        <p:spPr>
          <a:xfrm>
            <a:off x="609600" y="2568012"/>
            <a:ext cx="2087880" cy="1466850"/>
          </a:xfrm>
          <a:prstGeom prst="roundRect">
            <a:avLst>
              <a:gd name="adj" fmla="val 7000"/>
            </a:avLst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pPr marL="0" indent="0" algn="l" defTabSz="914400" rtl="0"/>
            <a:endParaRPr/>
          </a:p>
        </p:txBody>
      </p:sp>
      <p:sp>
        <p:nvSpPr>
          <p:cNvPr id="12" name="Business Setup accent">
            <a:extLst>
              <a:ext uri="{FF2B5EF4-FFF2-40B4-BE49-F238E27FC236}">
                <a16:creationId xmlns:a16="http://schemas.microsoft.com/office/drawing/2014/main" id="{8F8E834F-FE5B-4DC9-8932-DFDC03636BDE}"/>
              </a:ext>
            </a:extLst>
          </p:cNvPr>
          <p:cNvSpPr>
            <a:spLocks noGrp="1"/>
          </p:cNvSpPr>
          <p:nvPr/>
        </p:nvSpPr>
        <p:spPr>
          <a:xfrm>
            <a:off x="609600" y="2568012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13" name="Business Setup title">
            <a:extLst>
              <a:ext uri="{FF2B5EF4-FFF2-40B4-BE49-F238E27FC236}">
                <a16:creationId xmlns:a16="http://schemas.microsoft.com/office/drawing/2014/main" id="{7D9E8E70-5B22-4E93-9701-BDB2FB316955}"/>
              </a:ext>
            </a:extLst>
          </p:cNvPr>
          <p:cNvSpPr>
            <a:spLocks noGrp="1"/>
          </p:cNvSpPr>
          <p:nvPr/>
        </p:nvSpPr>
        <p:spPr>
          <a:xfrm>
            <a:off x="762000" y="2758512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Business</a:t>
            </a: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 Markers</a:t>
            </a:r>
          </a:p>
        </p:txBody>
      </p:sp>
      <p:sp>
        <p:nvSpPr>
          <p:cNvPr id="18" name="Paid Usage card">
            <a:extLst>
              <a:ext uri="{FF2B5EF4-FFF2-40B4-BE49-F238E27FC236}">
                <a16:creationId xmlns:a16="http://schemas.microsoft.com/office/drawing/2014/main" id="{A9DCA840-A6C9-4825-B340-E7CC272C1A10}"/>
              </a:ext>
            </a:extLst>
          </p:cNvPr>
          <p:cNvSpPr>
            <a:spLocks noGrp="1"/>
          </p:cNvSpPr>
          <p:nvPr/>
        </p:nvSpPr>
        <p:spPr>
          <a:xfrm>
            <a:off x="2830830" y="2568012"/>
            <a:ext cx="2087880" cy="1466850"/>
          </a:xfrm>
          <a:prstGeom prst="roundRect">
            <a:avLst>
              <a:gd name="adj" fmla="val 7000"/>
            </a:avLst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Paid Usage accent">
            <a:extLst>
              <a:ext uri="{FF2B5EF4-FFF2-40B4-BE49-F238E27FC236}">
                <a16:creationId xmlns:a16="http://schemas.microsoft.com/office/drawing/2014/main" id="{222202EB-5AE5-42B9-82C0-54215292C2FF}"/>
              </a:ext>
            </a:extLst>
          </p:cNvPr>
          <p:cNvSpPr>
            <a:spLocks noGrp="1"/>
          </p:cNvSpPr>
          <p:nvPr/>
        </p:nvSpPr>
        <p:spPr>
          <a:xfrm>
            <a:off x="2830830" y="2568012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Paid Usage title">
            <a:extLst>
              <a:ext uri="{FF2B5EF4-FFF2-40B4-BE49-F238E27FC236}">
                <a16:creationId xmlns:a16="http://schemas.microsoft.com/office/drawing/2014/main" id="{72DD9E6A-2D90-447E-9783-0FC7A11F6365}"/>
              </a:ext>
            </a:extLst>
          </p:cNvPr>
          <p:cNvSpPr>
            <a:spLocks noGrp="1"/>
          </p:cNvSpPr>
          <p:nvPr/>
        </p:nvSpPr>
        <p:spPr>
          <a:xfrm>
            <a:off x="2983230" y="2758512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Paid </a:t>
            </a: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Usage</a:t>
            </a:r>
          </a:p>
        </p:txBody>
      </p:sp>
      <p:sp>
        <p:nvSpPr>
          <p:cNvPr id="25" name="Seller Activity card">
            <a:extLst>
              <a:ext uri="{FF2B5EF4-FFF2-40B4-BE49-F238E27FC236}">
                <a16:creationId xmlns:a16="http://schemas.microsoft.com/office/drawing/2014/main" id="{7987C853-D92F-4CCE-9116-518E7F87387D}"/>
              </a:ext>
            </a:extLst>
          </p:cNvPr>
          <p:cNvSpPr>
            <a:spLocks noGrp="1"/>
          </p:cNvSpPr>
          <p:nvPr/>
        </p:nvSpPr>
        <p:spPr>
          <a:xfrm>
            <a:off x="5052060" y="2568012"/>
            <a:ext cx="2087880" cy="1466850"/>
          </a:xfrm>
          <a:prstGeom prst="roundRect">
            <a:avLst>
              <a:gd name="adj" fmla="val 7000"/>
            </a:avLst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Seller Activity accent">
            <a:extLst>
              <a:ext uri="{FF2B5EF4-FFF2-40B4-BE49-F238E27FC236}">
                <a16:creationId xmlns:a16="http://schemas.microsoft.com/office/drawing/2014/main" id="{3687BD4C-7470-40F1-98B1-0268824BAB61}"/>
              </a:ext>
            </a:extLst>
          </p:cNvPr>
          <p:cNvSpPr>
            <a:spLocks noGrp="1"/>
          </p:cNvSpPr>
          <p:nvPr/>
        </p:nvSpPr>
        <p:spPr>
          <a:xfrm>
            <a:off x="5052060" y="2568012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Seller Activity title">
            <a:extLst>
              <a:ext uri="{FF2B5EF4-FFF2-40B4-BE49-F238E27FC236}">
                <a16:creationId xmlns:a16="http://schemas.microsoft.com/office/drawing/2014/main" id="{FFDD1A22-E70D-454D-8D01-B7C064F06203}"/>
              </a:ext>
            </a:extLst>
          </p:cNvPr>
          <p:cNvSpPr>
            <a:spLocks noGrp="1"/>
          </p:cNvSpPr>
          <p:nvPr/>
        </p:nvSpPr>
        <p:spPr>
          <a:xfrm>
            <a:off x="5204460" y="2758512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Seller Activity</a:t>
            </a:r>
          </a:p>
        </p:txBody>
      </p:sp>
      <p:sp>
        <p:nvSpPr>
          <p:cNvPr id="32" name="Category Focus card">
            <a:extLst>
              <a:ext uri="{FF2B5EF4-FFF2-40B4-BE49-F238E27FC236}">
                <a16:creationId xmlns:a16="http://schemas.microsoft.com/office/drawing/2014/main" id="{D71119D6-85B8-4430-A6E9-786092D0560B}"/>
              </a:ext>
            </a:extLst>
          </p:cNvPr>
          <p:cNvSpPr>
            <a:spLocks noGrp="1"/>
          </p:cNvSpPr>
          <p:nvPr/>
        </p:nvSpPr>
        <p:spPr>
          <a:xfrm>
            <a:off x="7273290" y="2568012"/>
            <a:ext cx="2087880" cy="1466850"/>
          </a:xfrm>
          <a:prstGeom prst="roundRect">
            <a:avLst>
              <a:gd name="adj" fmla="val 7000"/>
            </a:avLst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Category Focus accent">
            <a:extLst>
              <a:ext uri="{FF2B5EF4-FFF2-40B4-BE49-F238E27FC236}">
                <a16:creationId xmlns:a16="http://schemas.microsoft.com/office/drawing/2014/main" id="{2E0A62FB-C9A0-4046-BEBC-07C6A8EEC3A6}"/>
              </a:ext>
            </a:extLst>
          </p:cNvPr>
          <p:cNvSpPr>
            <a:spLocks noGrp="1"/>
          </p:cNvSpPr>
          <p:nvPr/>
        </p:nvSpPr>
        <p:spPr>
          <a:xfrm>
            <a:off x="7273290" y="2568012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Category Focus title">
            <a:extLst>
              <a:ext uri="{FF2B5EF4-FFF2-40B4-BE49-F238E27FC236}">
                <a16:creationId xmlns:a16="http://schemas.microsoft.com/office/drawing/2014/main" id="{928DC57C-FE56-4CCB-90DA-5D3CC59B5756}"/>
              </a:ext>
            </a:extLst>
          </p:cNvPr>
          <p:cNvSpPr>
            <a:spLocks noGrp="1"/>
          </p:cNvSpPr>
          <p:nvPr/>
        </p:nvSpPr>
        <p:spPr>
          <a:xfrm>
            <a:off x="7425690" y="2758512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Category</a:t>
            </a: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 Focus</a:t>
            </a:r>
          </a:p>
        </p:txBody>
      </p:sp>
      <p:sp>
        <p:nvSpPr>
          <p:cNvPr id="39" name="Buyer Demand card">
            <a:extLst>
              <a:ext uri="{FF2B5EF4-FFF2-40B4-BE49-F238E27FC236}">
                <a16:creationId xmlns:a16="http://schemas.microsoft.com/office/drawing/2014/main" id="{9664A2EA-0669-4FE7-831D-A0CC724AC0E5}"/>
              </a:ext>
            </a:extLst>
          </p:cNvPr>
          <p:cNvSpPr>
            <a:spLocks noGrp="1"/>
          </p:cNvSpPr>
          <p:nvPr/>
        </p:nvSpPr>
        <p:spPr>
          <a:xfrm>
            <a:off x="9494520" y="2568012"/>
            <a:ext cx="2087880" cy="1466850"/>
          </a:xfrm>
          <a:prstGeom prst="roundRect">
            <a:avLst>
              <a:gd name="adj" fmla="val 7000"/>
            </a:avLst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Buyer Demand accent">
            <a:extLst>
              <a:ext uri="{FF2B5EF4-FFF2-40B4-BE49-F238E27FC236}">
                <a16:creationId xmlns:a16="http://schemas.microsoft.com/office/drawing/2014/main" id="{254B3EC9-675A-4691-AF61-ED63169A3219}"/>
              </a:ext>
            </a:extLst>
          </p:cNvPr>
          <p:cNvSpPr>
            <a:spLocks noGrp="1"/>
          </p:cNvSpPr>
          <p:nvPr/>
        </p:nvSpPr>
        <p:spPr>
          <a:xfrm>
            <a:off x="9494520" y="2568012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Buyer Demand title">
            <a:extLst>
              <a:ext uri="{FF2B5EF4-FFF2-40B4-BE49-F238E27FC236}">
                <a16:creationId xmlns:a16="http://schemas.microsoft.com/office/drawing/2014/main" id="{F7C8B1E1-852F-4C6C-83A5-EB56C896C9E0}"/>
              </a:ext>
            </a:extLst>
          </p:cNvPr>
          <p:cNvSpPr>
            <a:spLocks noGrp="1"/>
          </p:cNvSpPr>
          <p:nvPr/>
        </p:nvSpPr>
        <p:spPr>
          <a:xfrm>
            <a:off x="9646920" y="2758512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Buyer </a:t>
            </a: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Demand</a:t>
            </a:r>
          </a:p>
        </p:txBody>
      </p:sp>
      <p:sp>
        <p:nvSpPr>
          <p:cNvPr id="46" name="Scoring Flow label">
            <a:extLst>
              <a:ext uri="{FF2B5EF4-FFF2-40B4-BE49-F238E27FC236}">
                <a16:creationId xmlns:a16="http://schemas.microsoft.com/office/drawing/2014/main" id="{47D1F815-DDE6-4E60-B387-97C475589306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247650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 dirty="0">
                <a:solidFill>
                  <a:srgbClr val="FFD426"/>
                </a:solidFill>
                <a:latin typeface="Arial"/>
                <a:ea typeface="Arial"/>
                <a:cs typeface="Arial"/>
              </a:rPr>
              <a:t>Scoring Flow</a:t>
            </a:r>
          </a:p>
        </p:txBody>
      </p:sp>
      <p:sp>
        <p:nvSpPr>
          <p:cNvPr id="47" name="Raw seller data flow node">
            <a:extLst>
              <a:ext uri="{FF2B5EF4-FFF2-40B4-BE49-F238E27FC236}">
                <a16:creationId xmlns:a16="http://schemas.microsoft.com/office/drawing/2014/main" id="{228E9DF1-5F1B-4E06-8A4C-6A9D6C33C93F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2286000" cy="685800"/>
          </a:xfrm>
          <a:prstGeom prst="roundRect">
            <a:avLst/>
          </a:prstGeom>
          <a:solidFill>
            <a:srgbClr val="0A0A0A"/>
          </a:solidFill>
          <a:ln w="9525">
            <a:solidFill>
              <a:srgbClr val="2D2D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Raw seller data flow title">
            <a:extLst>
              <a:ext uri="{FF2B5EF4-FFF2-40B4-BE49-F238E27FC236}">
                <a16:creationId xmlns:a16="http://schemas.microsoft.com/office/drawing/2014/main" id="{FF9E5EFA-46E4-483C-A6BB-AE380FEFF886}"/>
              </a:ext>
            </a:extLst>
          </p:cNvPr>
          <p:cNvSpPr>
            <a:spLocks noGrp="1"/>
          </p:cNvSpPr>
          <p:nvPr/>
        </p:nvSpPr>
        <p:spPr>
          <a:xfrm>
            <a:off x="781050" y="4895850"/>
            <a:ext cx="19431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Raw seller data</a:t>
            </a:r>
          </a:p>
        </p:txBody>
      </p:sp>
      <p:sp>
        <p:nvSpPr>
          <p:cNvPr id="49" name="Raw seller data flow sub">
            <a:extLst>
              <a:ext uri="{FF2B5EF4-FFF2-40B4-BE49-F238E27FC236}">
                <a16:creationId xmlns:a16="http://schemas.microsoft.com/office/drawing/2014/main" id="{02C0D121-F20E-4F14-94E4-E0106269114C}"/>
              </a:ext>
            </a:extLst>
          </p:cNvPr>
          <p:cNvSpPr>
            <a:spLocks noGrp="1"/>
          </p:cNvSpPr>
          <p:nvPr/>
        </p:nvSpPr>
        <p:spPr>
          <a:xfrm>
            <a:off x="781050" y="5162550"/>
            <a:ext cx="1943100" cy="2095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schemas and columns</a:t>
            </a:r>
          </a:p>
        </p:txBody>
      </p:sp>
      <p:sp>
        <p:nvSpPr>
          <p:cNvPr id="50" name="Scoring flow arrow">
            <a:extLst>
              <a:ext uri="{FF2B5EF4-FFF2-40B4-BE49-F238E27FC236}">
                <a16:creationId xmlns:a16="http://schemas.microsoft.com/office/drawing/2014/main" id="{3210E315-A08C-47C2-881C-A1F7D60DCD59}"/>
              </a:ext>
            </a:extLst>
          </p:cNvPr>
          <p:cNvSpPr>
            <a:spLocks noGrp="1"/>
          </p:cNvSpPr>
          <p:nvPr/>
        </p:nvSpPr>
        <p:spPr>
          <a:xfrm>
            <a:off x="3057525" y="5029200"/>
            <a:ext cx="190500" cy="152400"/>
          </a:xfrm>
          <a:prstGeom prst="chevron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51" name="Seller-level signals flow node">
            <a:extLst>
              <a:ext uri="{FF2B5EF4-FFF2-40B4-BE49-F238E27FC236}">
                <a16:creationId xmlns:a16="http://schemas.microsoft.com/office/drawing/2014/main" id="{F5E6095A-6A9C-49F3-A97B-339B96C4F048}"/>
              </a:ext>
            </a:extLst>
          </p:cNvPr>
          <p:cNvSpPr>
            <a:spLocks noGrp="1"/>
          </p:cNvSpPr>
          <p:nvPr/>
        </p:nvSpPr>
        <p:spPr>
          <a:xfrm>
            <a:off x="3419475" y="4762500"/>
            <a:ext cx="2286000" cy="685800"/>
          </a:xfrm>
          <a:prstGeom prst="roundRect">
            <a:avLst/>
          </a:prstGeom>
          <a:solidFill>
            <a:srgbClr val="0A0A0A"/>
          </a:solidFill>
          <a:ln w="9525">
            <a:solidFill>
              <a:srgbClr val="2D2D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Seller-level signals flow title">
            <a:extLst>
              <a:ext uri="{FF2B5EF4-FFF2-40B4-BE49-F238E27FC236}">
                <a16:creationId xmlns:a16="http://schemas.microsoft.com/office/drawing/2014/main" id="{B64306AD-2C64-4117-940F-62837FE5EF2C}"/>
              </a:ext>
            </a:extLst>
          </p:cNvPr>
          <p:cNvSpPr>
            <a:spLocks noGrp="1"/>
          </p:cNvSpPr>
          <p:nvPr/>
        </p:nvSpPr>
        <p:spPr>
          <a:xfrm>
            <a:off x="3590925" y="4895850"/>
            <a:ext cx="19431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Seller-level signals</a:t>
            </a:r>
          </a:p>
        </p:txBody>
      </p:sp>
      <p:sp>
        <p:nvSpPr>
          <p:cNvPr id="53" name="Seller-level signals flow sub">
            <a:extLst>
              <a:ext uri="{FF2B5EF4-FFF2-40B4-BE49-F238E27FC236}">
                <a16:creationId xmlns:a16="http://schemas.microsoft.com/office/drawing/2014/main" id="{8C30BFA1-5952-479F-B5E3-391E5874D34F}"/>
              </a:ext>
            </a:extLst>
          </p:cNvPr>
          <p:cNvSpPr>
            <a:spLocks noGrp="1"/>
          </p:cNvSpPr>
          <p:nvPr/>
        </p:nvSpPr>
        <p:spPr>
          <a:xfrm>
            <a:off x="3590925" y="5162550"/>
            <a:ext cx="1943100" cy="2095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one row per seller</a:t>
            </a:r>
          </a:p>
        </p:txBody>
      </p:sp>
      <p:sp>
        <p:nvSpPr>
          <p:cNvPr id="54" name="Scoring flow arrow">
            <a:extLst>
              <a:ext uri="{FF2B5EF4-FFF2-40B4-BE49-F238E27FC236}">
                <a16:creationId xmlns:a16="http://schemas.microsoft.com/office/drawing/2014/main" id="{197806AB-87A7-448B-9F2C-9E7C1B1153B5}"/>
              </a:ext>
            </a:extLst>
          </p:cNvPr>
          <p:cNvSpPr>
            <a:spLocks noGrp="1"/>
          </p:cNvSpPr>
          <p:nvPr/>
        </p:nvSpPr>
        <p:spPr>
          <a:xfrm>
            <a:off x="5867400" y="5029200"/>
            <a:ext cx="190500" cy="152400"/>
          </a:xfrm>
          <a:prstGeom prst="chevron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Weighted score flow node">
            <a:extLst>
              <a:ext uri="{FF2B5EF4-FFF2-40B4-BE49-F238E27FC236}">
                <a16:creationId xmlns:a16="http://schemas.microsoft.com/office/drawing/2014/main" id="{8521D761-1E4B-439E-BE41-C720C69E78B3}"/>
              </a:ext>
            </a:extLst>
          </p:cNvPr>
          <p:cNvSpPr>
            <a:spLocks noGrp="1"/>
          </p:cNvSpPr>
          <p:nvPr/>
        </p:nvSpPr>
        <p:spPr>
          <a:xfrm>
            <a:off x="6229350" y="4762500"/>
            <a:ext cx="2286000" cy="685800"/>
          </a:xfrm>
          <a:prstGeom prst="roundRect">
            <a:avLst/>
          </a:prstGeom>
          <a:solidFill>
            <a:srgbClr val="0A0A0A"/>
          </a:solidFill>
          <a:ln w="9525">
            <a:solidFill>
              <a:srgbClr val="2D2D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Weighted score flow title">
            <a:extLst>
              <a:ext uri="{FF2B5EF4-FFF2-40B4-BE49-F238E27FC236}">
                <a16:creationId xmlns:a16="http://schemas.microsoft.com/office/drawing/2014/main" id="{4D8BBBFF-0C25-4B66-8FB2-3D1F31EFAEF6}"/>
              </a:ext>
            </a:extLst>
          </p:cNvPr>
          <p:cNvSpPr>
            <a:spLocks noGrp="1"/>
          </p:cNvSpPr>
          <p:nvPr/>
        </p:nvSpPr>
        <p:spPr>
          <a:xfrm>
            <a:off x="6400800" y="4895850"/>
            <a:ext cx="19431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Weighted score</a:t>
            </a:r>
          </a:p>
        </p:txBody>
      </p:sp>
      <p:sp>
        <p:nvSpPr>
          <p:cNvPr id="57" name="Weighted score flow sub">
            <a:extLst>
              <a:ext uri="{FF2B5EF4-FFF2-40B4-BE49-F238E27FC236}">
                <a16:creationId xmlns:a16="http://schemas.microsoft.com/office/drawing/2014/main" id="{14CA54AA-B2C8-4629-8C0F-B16CD5CA3561}"/>
              </a:ext>
            </a:extLst>
          </p:cNvPr>
          <p:cNvSpPr>
            <a:spLocks noGrp="1"/>
          </p:cNvSpPr>
          <p:nvPr/>
        </p:nvSpPr>
        <p:spPr>
          <a:xfrm>
            <a:off x="6400800" y="5162550"/>
            <a:ext cx="1943100" cy="2095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evidence strength</a:t>
            </a:r>
          </a:p>
        </p:txBody>
      </p:sp>
      <p:sp>
        <p:nvSpPr>
          <p:cNvPr id="58" name="Scoring flow arrow">
            <a:extLst>
              <a:ext uri="{FF2B5EF4-FFF2-40B4-BE49-F238E27FC236}">
                <a16:creationId xmlns:a16="http://schemas.microsoft.com/office/drawing/2014/main" id="{DBB14361-6641-466D-BC24-AD870E154D01}"/>
              </a:ext>
            </a:extLst>
          </p:cNvPr>
          <p:cNvSpPr>
            <a:spLocks noGrp="1"/>
          </p:cNvSpPr>
          <p:nvPr/>
        </p:nvSpPr>
        <p:spPr>
          <a:xfrm>
            <a:off x="8677275" y="5029200"/>
            <a:ext cx="190500" cy="152400"/>
          </a:xfrm>
          <a:prstGeom prst="chevron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9" name="Ranked SMB list flow node">
            <a:extLst>
              <a:ext uri="{FF2B5EF4-FFF2-40B4-BE49-F238E27FC236}">
                <a16:creationId xmlns:a16="http://schemas.microsoft.com/office/drawing/2014/main" id="{0CAD2441-D62F-43BD-8563-74BEBDAA21D3}"/>
              </a:ext>
            </a:extLst>
          </p:cNvPr>
          <p:cNvSpPr>
            <a:spLocks noGrp="1"/>
          </p:cNvSpPr>
          <p:nvPr/>
        </p:nvSpPr>
        <p:spPr>
          <a:xfrm>
            <a:off x="9039225" y="4762500"/>
            <a:ext cx="2286000" cy="685800"/>
          </a:xfrm>
          <a:prstGeom prst="roundRect">
            <a:avLst/>
          </a:prstGeom>
          <a:solidFill>
            <a:srgbClr val="0A0A0A"/>
          </a:solidFill>
          <a:ln w="9525">
            <a:solidFill>
              <a:srgbClr val="2D2D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Ranked SMB list flow title">
            <a:extLst>
              <a:ext uri="{FF2B5EF4-FFF2-40B4-BE49-F238E27FC236}">
                <a16:creationId xmlns:a16="http://schemas.microsoft.com/office/drawing/2014/main" id="{5474439C-A5FC-456C-A261-876B2BD3B570}"/>
              </a:ext>
            </a:extLst>
          </p:cNvPr>
          <p:cNvSpPr>
            <a:spLocks noGrp="1"/>
          </p:cNvSpPr>
          <p:nvPr/>
        </p:nvSpPr>
        <p:spPr>
          <a:xfrm>
            <a:off x="9210675" y="4895850"/>
            <a:ext cx="19431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Ranked SMB list</a:t>
            </a:r>
          </a:p>
        </p:txBody>
      </p:sp>
      <p:sp>
        <p:nvSpPr>
          <p:cNvPr id="61" name="Ranked SMB list flow sub">
            <a:extLst>
              <a:ext uri="{FF2B5EF4-FFF2-40B4-BE49-F238E27FC236}">
                <a16:creationId xmlns:a16="http://schemas.microsoft.com/office/drawing/2014/main" id="{CE7F21BB-EACA-4F03-8B7C-53AC29E6E3F3}"/>
              </a:ext>
            </a:extLst>
          </p:cNvPr>
          <p:cNvSpPr>
            <a:spLocks noGrp="1"/>
          </p:cNvSpPr>
          <p:nvPr/>
        </p:nvSpPr>
        <p:spPr>
          <a:xfrm>
            <a:off x="9210675" y="5162550"/>
            <a:ext cx="1943100" cy="2095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prioritized outreach</a:t>
            </a:r>
          </a:p>
        </p:txBody>
      </p:sp>
      <p:sp>
        <p:nvSpPr>
          <p:cNvPr id="62" name="Business Markers list"/>
          <p:cNvSpPr>
            <a:spLocks noGrp="1"/>
          </p:cNvSpPr>
          <p:nvPr/>
        </p:nvSpPr>
        <p:spPr>
          <a:xfrm>
            <a:off x="609600" y="3149037"/>
            <a:ext cx="1913350" cy="7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marL="361950" indent="-285750" algn="l">
              <a:buClr>
                <a:srgbClr val="FFD525"/>
              </a:buClr>
              <a:buFont typeface="Wingdings" pitchFamily="2" charset="2"/>
              <a:buChar char="§"/>
            </a:pPr>
            <a:r>
              <a:rPr sz="13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Corporate bank flag</a:t>
            </a:r>
          </a:p>
          <a:p>
            <a:pPr marL="361950" indent="-285750" algn="l">
              <a:buClr>
                <a:srgbClr val="FFD525"/>
              </a:buClr>
              <a:buFont typeface="Wingdings" pitchFamily="2" charset="2"/>
              <a:buChar char="§"/>
            </a:pPr>
            <a:r>
              <a:rPr sz="13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External URL</a:t>
            </a:r>
          </a:p>
        </p:txBody>
      </p:sp>
      <p:sp>
        <p:nvSpPr>
          <p:cNvPr id="63" name="Paid Usage list"/>
          <p:cNvSpPr>
            <a:spLocks noGrp="1"/>
          </p:cNvSpPr>
          <p:nvPr/>
        </p:nvSpPr>
        <p:spPr>
          <a:xfrm>
            <a:off x="2830830" y="3149037"/>
            <a:ext cx="1780000" cy="7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marL="361950" indent="-285750" algn="l">
              <a:buClr>
                <a:srgbClr val="FFD426"/>
              </a:buClr>
              <a:buFont typeface="Wingdings" pitchFamily="2" charset="2"/>
              <a:buChar char="§"/>
            </a:pPr>
            <a:r>
              <a:rPr sz="13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Paid features</a:t>
            </a:r>
          </a:p>
          <a:p>
            <a:pPr marL="361950" indent="-285750" algn="l">
              <a:buClr>
                <a:srgbClr val="FFD426"/>
              </a:buClr>
              <a:buFont typeface="Wingdings" pitchFamily="2" charset="2"/>
              <a:buChar char="§"/>
            </a:pPr>
            <a:r>
              <a:rPr sz="13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Pro CPC, invoices</a:t>
            </a:r>
          </a:p>
        </p:txBody>
      </p:sp>
      <p:sp>
        <p:nvSpPr>
          <p:cNvPr id="64" name="Seller Activity list"/>
          <p:cNvSpPr>
            <a:spLocks noGrp="1"/>
          </p:cNvSpPr>
          <p:nvPr/>
        </p:nvSpPr>
        <p:spPr>
          <a:xfrm>
            <a:off x="5052060" y="3149037"/>
            <a:ext cx="1973580" cy="7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marL="361950" indent="-285750" algn="l">
              <a:buClr>
                <a:srgbClr val="FFD426"/>
              </a:buClr>
              <a:buFont typeface="Wingdings" pitchFamily="2" charset="2"/>
              <a:buChar char="§"/>
            </a:pPr>
            <a:r>
              <a:rPr sz="13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Listing volume</a:t>
            </a:r>
          </a:p>
          <a:p>
            <a:pPr marL="361950" indent="-285750" algn="l">
              <a:buClr>
                <a:srgbClr val="FFD426"/>
              </a:buClr>
              <a:buFont typeface="Wingdings" pitchFamily="2" charset="2"/>
              <a:buChar char="§"/>
            </a:pPr>
            <a:r>
              <a:rPr sz="13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Active and recent listings</a:t>
            </a:r>
          </a:p>
        </p:txBody>
      </p:sp>
      <p:sp>
        <p:nvSpPr>
          <p:cNvPr id="65" name="Category Focus list"/>
          <p:cNvSpPr>
            <a:spLocks noGrp="1"/>
          </p:cNvSpPr>
          <p:nvPr/>
        </p:nvSpPr>
        <p:spPr>
          <a:xfrm>
            <a:off x="7273290" y="3149037"/>
            <a:ext cx="1973580" cy="8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marL="361950" indent="-285750" algn="l">
              <a:buClr>
                <a:srgbClr val="FFD426"/>
              </a:buClr>
              <a:buFont typeface="Wingdings" pitchFamily="2" charset="2"/>
              <a:buChar char="§"/>
            </a:pPr>
            <a:r>
              <a:rPr sz="13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Repeated category</a:t>
            </a:r>
          </a:p>
          <a:p>
            <a:pPr marL="361950" indent="-285750" algn="l">
              <a:buClr>
                <a:srgbClr val="FFD426"/>
              </a:buClr>
              <a:buFont typeface="Wingdings" pitchFamily="2" charset="2"/>
              <a:buChar char="§"/>
            </a:pPr>
            <a:r>
              <a:rPr sz="13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Category-specific thresholds</a:t>
            </a:r>
          </a:p>
        </p:txBody>
      </p:sp>
      <p:sp>
        <p:nvSpPr>
          <p:cNvPr id="66" name="Buyer Demand list"/>
          <p:cNvSpPr>
            <a:spLocks noGrp="1"/>
          </p:cNvSpPr>
          <p:nvPr/>
        </p:nvSpPr>
        <p:spPr>
          <a:xfrm>
            <a:off x="9494520" y="3149037"/>
            <a:ext cx="1780000" cy="8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 marL="361950" indent="-285750" algn="l">
              <a:buClr>
                <a:srgbClr val="FFD426"/>
              </a:buClr>
              <a:buFont typeface="Wingdings" pitchFamily="2" charset="2"/>
              <a:buChar char="§"/>
            </a:pPr>
            <a:r>
              <a:rPr sz="13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Engaged ads</a:t>
            </a:r>
          </a:p>
          <a:p>
            <a:pPr marL="361950" indent="-285750" algn="l">
              <a:buClr>
                <a:srgbClr val="FFD426"/>
              </a:buClr>
              <a:buFont typeface="Wingdings" pitchFamily="2" charset="2"/>
              <a:buChar char="§"/>
            </a:pPr>
            <a:r>
              <a:rPr sz="13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Unique buyers, engagement rate</a:t>
            </a:r>
          </a:p>
        </p:txBody>
      </p:sp>
    </p:spTree>
    <p:extLst>
      <p:ext uri="{BB962C8B-B14F-4D97-AF65-F5344CB8AC3E}">
        <p14:creationId xmlns:p14="http://schemas.microsoft.com/office/powerpoint/2010/main" val="156578671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0CEAE930-5301-4774-ABA1-02002F98C03E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AA1CAF1D-EB3E-4CD4-967E-466BCDC4C985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1.1 Direct Business Markers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26AC3365-CB81-4893-A420-65F4D3EF53ED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A2385A8-C632-4294-88C4-17E1952BA75F}"/>
              </a:ext>
            </a:extLst>
          </p:cNvPr>
          <p:cNvSpPr>
            <a:spLocks noGrp="1"/>
          </p:cNvSpPr>
          <p:nvPr/>
        </p:nvSpPr>
        <p:spPr>
          <a:xfrm>
            <a:off x="552450" y="129335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fields that directly indicate business setup or off-platform commercial presence.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EDED27C2-FF28-428A-8934-60AD80247794}"/>
              </a:ext>
            </a:extLst>
          </p:cNvPr>
          <p:cNvSpPr>
            <a:spLocks noGrp="1"/>
          </p:cNvSpPr>
          <p:nvPr/>
        </p:nvSpPr>
        <p:spPr>
          <a:xfrm>
            <a:off x="552450" y="175055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3">
            <a:extLst>
              <a:ext uri="{FF2B5EF4-FFF2-40B4-BE49-F238E27FC236}">
                <a16:creationId xmlns:a16="http://schemas.microsoft.com/office/drawing/2014/main" id="{48CF030B-5D63-4E67-9A1B-5919D7E3A05D}"/>
              </a:ext>
            </a:extLst>
          </p:cNvPr>
          <p:cNvSpPr>
            <a:spLocks noGrp="1"/>
          </p:cNvSpPr>
          <p:nvPr/>
        </p:nvSpPr>
        <p:spPr>
          <a:xfrm>
            <a:off x="552450" y="205535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latest corporate bank flag; external URL usage over last 12 months.</a:t>
            </a:r>
          </a:p>
        </p:txBody>
      </p:sp>
      <p:graphicFrame>
        <p:nvGraphicFramePr>
          <p:cNvPr id="17" name="Markdown table"/>
          <p:cNvGraphicFramePr/>
          <p:nvPr/>
        </p:nvGraphicFramePr>
        <p:xfrm>
          <a:off x="552450" y="2436350"/>
          <a:ext cx="10668000" cy="1543050"/>
        </p:xfrm>
        <a:graphic>
          <a:graphicData uri="http://schemas.openxmlformats.org/drawingml/2006/table">
            <a:tbl>
              <a:tblPr firstRow="1" bandRow="1"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Corporate bank account flag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Bank account is corporate y/n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Direct business setup signal.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External URL attached across multiple ads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External URL attached to the ad y/n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Suggests off-platform business presence or lead routing.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F979B996-8DCD-494C-BF52-0536522BAA31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B29B22D7-D482-42FB-801B-FC85377B8E30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21EC1E3C-6D24-4932-AB58-9BC30A3BD023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03 / 08</a:t>
            </a:r>
          </a:p>
        </p:txBody>
      </p:sp>
    </p:spTree>
    <p:extLst>
      <p:ext uri="{BB962C8B-B14F-4D97-AF65-F5344CB8AC3E}">
        <p14:creationId xmlns:p14="http://schemas.microsoft.com/office/powerpoint/2010/main" val="1916688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A5491187-5023-4563-B15F-E22B5415E511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90E82C8D-68CA-4AF1-A6C5-3575F9902EA3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1.2 Paid Usage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BD590048-ADFE-4D4D-854A-AF2F5009CF1F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1AA6361-D415-4993-BB8E-C52B2FAF69B2}"/>
              </a:ext>
            </a:extLst>
          </p:cNvPr>
          <p:cNvSpPr>
            <a:spLocks noGrp="1"/>
          </p:cNvSpPr>
          <p:nvPr/>
        </p:nvSpPr>
        <p:spPr>
          <a:xfrm>
            <a:off x="552450" y="129335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sellers who repeatedly pay for visibility, Pro traffic, or invoiced services are more likely to be commercial sellers.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FB9F94FB-5A6F-48E3-8DC8-7175DBA46A40}"/>
              </a:ext>
            </a:extLst>
          </p:cNvPr>
          <p:cNvSpPr>
            <a:spLocks noGrp="1"/>
          </p:cNvSpPr>
          <p:nvPr/>
        </p:nvSpPr>
        <p:spPr>
          <a:xfrm>
            <a:off x="552450" y="175055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4">
            <a:extLst>
              <a:ext uri="{FF2B5EF4-FFF2-40B4-BE49-F238E27FC236}">
                <a16:creationId xmlns:a16="http://schemas.microsoft.com/office/drawing/2014/main" id="{980F3764-2D0C-4BEC-A844-77EDA35D9A4D}"/>
              </a:ext>
            </a:extLst>
          </p:cNvPr>
          <p:cNvSpPr>
            <a:spLocks noGrp="1"/>
          </p:cNvSpPr>
          <p:nvPr/>
        </p:nvSpPr>
        <p:spPr>
          <a:xfrm>
            <a:off x="552450" y="205535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last 12 months.</a:t>
            </a:r>
          </a:p>
        </p:txBody>
      </p:sp>
      <p:graphicFrame>
        <p:nvGraphicFramePr>
          <p:cNvPr id="17" name="Markdown table"/>
          <p:cNvGraphicFramePr/>
          <p:nvPr>
            <p:extLst>
              <p:ext uri="{D42A27DB-BD31-4B8C-83A1-F6EECF244321}">
                <p14:modId xmlns:p14="http://schemas.microsoft.com/office/powerpoint/2010/main" val="143331012"/>
              </p:ext>
            </p:extLst>
          </p:nvPr>
        </p:nvGraphicFramePr>
        <p:xfrm>
          <a:off x="552450" y="2417300"/>
          <a:ext cx="10668000" cy="3171825"/>
        </p:xfrm>
        <a:graphic>
          <a:graphicData uri="http://schemas.openxmlformats.org/drawingml/2006/table">
            <a:tbl>
              <a:tblPr firstRow="1" bandRow="1"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Paid feature usage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Feature type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repeated use of paid visibility products.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Paid feature spend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Feature fee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Measures willingness to pay for visibility.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Paid listing fees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Insertion fee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paid listing behavior outside feature purchases.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Pro CPC usage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CPC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id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Indicates performance-oriented selling.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Pro paid traffic scale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CPC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Daily number of clicks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Estimates the scale of paid Pro traffic.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Invoice months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Invoice month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recurring billing, not just one-off payments.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dirty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Invoice amount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Total invoice amount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dirty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scale of invoiced spend.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1CE9DD1D-FF7E-4BF3-B8DD-6B617FCF53BE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278E4C69-9D37-4210-9692-12507B1CFF21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B98A34DC-964B-4F21-AA3B-54391E24405A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04 / 08</a:t>
            </a:r>
          </a:p>
        </p:txBody>
      </p:sp>
    </p:spTree>
    <p:extLst>
      <p:ext uri="{BB962C8B-B14F-4D97-AF65-F5344CB8AC3E}">
        <p14:creationId xmlns:p14="http://schemas.microsoft.com/office/powerpoint/2010/main" val="172942964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2885FD2D-6490-4A4A-8911-0BBD6A4ED82A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26A923C2-205A-4847-9A5D-22344A5A4223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1.3 General Seller Activity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49C4A7F2-2AA4-46A1-8DA1-50E5B6695CBF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9EBE14A1-DBB6-4368-AD13-622AEFD5B5E8}"/>
              </a:ext>
            </a:extLst>
          </p:cNvPr>
          <p:cNvSpPr>
            <a:spLocks noGrp="1"/>
          </p:cNvSpPr>
          <p:nvPr/>
        </p:nvSpPr>
        <p:spPr>
          <a:xfrm>
            <a:off x="552450" y="129335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sellers that repeatedly list and stay active look more business-like than one-off sellers.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2B23EAEF-5CAF-40FC-9586-633CE222C193}"/>
              </a:ext>
            </a:extLst>
          </p:cNvPr>
          <p:cNvSpPr>
            <a:spLocks noGrp="1"/>
          </p:cNvSpPr>
          <p:nvPr/>
        </p:nvSpPr>
        <p:spPr>
          <a:xfrm>
            <a:off x="552450" y="175055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5">
            <a:extLst>
              <a:ext uri="{FF2B5EF4-FFF2-40B4-BE49-F238E27FC236}">
                <a16:creationId xmlns:a16="http://schemas.microsoft.com/office/drawing/2014/main" id="{89BB2F44-812F-4DF2-AFD8-CD3DD0C9144C}"/>
              </a:ext>
            </a:extLst>
          </p:cNvPr>
          <p:cNvSpPr>
            <a:spLocks noGrp="1"/>
          </p:cNvSpPr>
          <p:nvPr/>
        </p:nvSpPr>
        <p:spPr>
          <a:xfrm>
            <a:off x="552450" y="205535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last 12 months; recent listing activity uses last 3 months.</a:t>
            </a:r>
          </a:p>
        </p:txBody>
      </p:sp>
      <p:graphicFrame>
        <p:nvGraphicFramePr>
          <p:cNvPr id="17" name="Markdown table"/>
          <p:cNvGraphicFramePr/>
          <p:nvPr/>
        </p:nvGraphicFramePr>
        <p:xfrm>
          <a:off x="552450" y="2455400"/>
          <a:ext cx="10668000" cy="2095500"/>
        </p:xfrm>
        <a:graphic>
          <a:graphicData uri="http://schemas.openxmlformats.org/drawingml/2006/table">
            <a:tbl>
              <a:tblPr firstRow="1" bandRow="1"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Ads in last 12 months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User id</a:t>
                      </a:r>
                      <a:r>
                        <a:rPr sz="115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id</a:t>
                      </a:r>
                      <a:r>
                        <a:rPr sz="115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seller volume.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Active months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persistence.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Max concurrent live ads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  <a:r>
                        <a:rPr sz="115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end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maintained inventory.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Recent listing activity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Keeps outreach focused on reachable sellers.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2C60C842-C9F8-4D2D-AE6F-8E93141C5DDC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0E730CD1-A1F3-416B-A9D7-79C06145A852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3546D82A-DB31-4ACC-ABF0-40822BEAC437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05 / 08</a:t>
            </a:r>
          </a:p>
        </p:txBody>
      </p:sp>
    </p:spTree>
    <p:extLst>
      <p:ext uri="{BB962C8B-B14F-4D97-AF65-F5344CB8AC3E}">
        <p14:creationId xmlns:p14="http://schemas.microsoft.com/office/powerpoint/2010/main" val="1248114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9B99C13B-D96C-4CE3-A99D-EEC47E04FC52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F418B9B4-1E2F-4CC1-B49D-5F6E73EACFA5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1.4 Category Specialization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389B6C05-0CB8-47D9-807C-9FB880C49BFF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Divider">
            <a:extLst>
              <a:ext uri="{FF2B5EF4-FFF2-40B4-BE49-F238E27FC236}">
                <a16:creationId xmlns:a16="http://schemas.microsoft.com/office/drawing/2014/main" id="{DAE51419-1FE7-4CE0-922B-B1D781F0F39A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156E590D-3E7B-43ED-86D8-86950CA69CF0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D948341B-6D56-43D2-9783-B62A329B3143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06 / 08</a:t>
            </a:r>
          </a:p>
        </p:txBody>
      </p:sp>
      <p:sp>
        <p:nvSpPr>
          <p:cNvPr id="16" name="Combined signal">
            <a:extLst>
              <a:ext uri="{FF2B5EF4-FFF2-40B4-BE49-F238E27FC236}">
                <a16:creationId xmlns:a16="http://schemas.microsoft.com/office/drawing/2014/main" id="{D83D076D-E780-418E-AF42-7556841364D6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Signal: SMBs often show repeated supply within the same category or subcategory.</a:t>
            </a:r>
          </a:p>
        </p:txBody>
      </p:sp>
      <p:sp>
        <p:nvSpPr>
          <p:cNvPr id="17" name="Potential Metrics">
            <a:extLst>
              <a:ext uri="{FF2B5EF4-FFF2-40B4-BE49-F238E27FC236}">
                <a16:creationId xmlns:a16="http://schemas.microsoft.com/office/drawing/2014/main" id="{803860D4-8BEE-4C49-A0F7-6B5EC0893A07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238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8" name="Scoring window">
            <a:extLst>
              <a:ext uri="{FF2B5EF4-FFF2-40B4-BE49-F238E27FC236}">
                <a16:creationId xmlns:a16="http://schemas.microsoft.com/office/drawing/2014/main" id="{71E17E3F-18A3-4169-9218-018DB913F7F4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Scoring window: last 12 months; use main category and specific subcategory.</a:t>
            </a:r>
          </a:p>
        </p:txBody>
      </p:sp>
      <p:graphicFrame>
        <p:nvGraphicFramePr>
          <p:cNvPr id="19" name="Potential Metrics table"/>
          <p:cNvGraphicFramePr/>
          <p:nvPr>
            <p:extLst>
              <p:ext uri="{D42A27DB-BD31-4B8C-83A1-F6EECF244321}">
                <p14:modId xmlns:p14="http://schemas.microsoft.com/office/powerpoint/2010/main" val="2713399914"/>
              </p:ext>
            </p:extLst>
          </p:nvPr>
        </p:nvGraphicFramePr>
        <p:xfrm>
          <a:off x="609600" y="2399549"/>
          <a:ext cx="10972800" cy="762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dirty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Category-adjusted repeated listings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category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Repeated listings are more meaningful in some categories than others.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4" name="Business-prone examples label">
            <a:extLst>
              <a:ext uri="{FF2B5EF4-FFF2-40B4-BE49-F238E27FC236}">
                <a16:creationId xmlns:a16="http://schemas.microsoft.com/office/drawing/2014/main" id="{659BC4DA-48DD-4F7A-AAA1-C8016FE1E228}"/>
              </a:ext>
            </a:extLst>
          </p:cNvPr>
          <p:cNvSpPr>
            <a:spLocks noGrp="1"/>
          </p:cNvSpPr>
          <p:nvPr/>
        </p:nvSpPr>
        <p:spPr>
          <a:xfrm>
            <a:off x="609600" y="3756958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 b="1" dirty="0">
                <a:solidFill>
                  <a:srgbClr val="FFD426"/>
                </a:solidFill>
                <a:latin typeface="Arial"/>
                <a:ea typeface="Arial"/>
                <a:cs typeface="Arial"/>
              </a:rPr>
              <a:t>Threshold Examples</a:t>
            </a:r>
          </a:p>
        </p:txBody>
      </p:sp>
      <p:sp>
        <p:nvSpPr>
          <p:cNvPr id="35" name="Example item divider">
            <a:extLst>
              <a:ext uri="{FF2B5EF4-FFF2-40B4-BE49-F238E27FC236}">
                <a16:creationId xmlns:a16="http://schemas.microsoft.com/office/drawing/2014/main" id="{0746B772-4448-42AF-815E-C2D7BD502F99}"/>
              </a:ext>
            </a:extLst>
          </p:cNvPr>
          <p:cNvSpPr>
            <a:spLocks noGrp="1"/>
          </p:cNvSpPr>
          <p:nvPr/>
        </p:nvSpPr>
        <p:spPr>
          <a:xfrm>
            <a:off x="609600" y="3995083"/>
            <a:ext cx="529590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pPr marL="0" indent="0" algn="l" defTabSz="914400" rtl="0"/>
            <a:endParaRPr/>
          </a:p>
        </p:txBody>
      </p:sp>
      <p:sp>
        <p:nvSpPr>
          <p:cNvPr id="36" name="Example categories">
            <a:extLst>
              <a:ext uri="{FF2B5EF4-FFF2-40B4-BE49-F238E27FC236}">
                <a16:creationId xmlns:a16="http://schemas.microsoft.com/office/drawing/2014/main" id="{9B73CDFC-1992-4118-968A-20482CD149D3}"/>
              </a:ext>
            </a:extLst>
          </p:cNvPr>
          <p:cNvSpPr>
            <a:spLocks noGrp="1"/>
          </p:cNvSpPr>
          <p:nvPr/>
        </p:nvSpPr>
        <p:spPr>
          <a:xfrm>
            <a:off x="609600" y="4080808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High-value / dealer-like</a:t>
            </a:r>
            <a:r>
              <a:rPr sz="10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: Cars; Motorcycles; Caravans and Camping; Water Sports and Boats; Car Parts</a:t>
            </a:r>
          </a:p>
        </p:txBody>
      </p:sp>
      <p:sp>
        <p:nvSpPr>
          <p:cNvPr id="37" name="Example why">
            <a:extLst>
              <a:ext uri="{FF2B5EF4-FFF2-40B4-BE49-F238E27FC236}">
                <a16:creationId xmlns:a16="http://schemas.microsoft.com/office/drawing/2014/main" id="{1E0A8FA6-A458-42C1-80BA-A4B07BDF1EF7}"/>
              </a:ext>
            </a:extLst>
          </p:cNvPr>
          <p:cNvSpPr>
            <a:spLocks noGrp="1"/>
          </p:cNvSpPr>
          <p:nvPr/>
        </p:nvSpPr>
        <p:spPr>
          <a:xfrm>
            <a:off x="609600" y="4499908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Lower threshold: a few listings can already suggest commercial supply.</a:t>
            </a:r>
          </a:p>
        </p:txBody>
      </p:sp>
      <p:sp>
        <p:nvSpPr>
          <p:cNvPr id="38" name="Example item divider">
            <a:extLst>
              <a:ext uri="{FF2B5EF4-FFF2-40B4-BE49-F238E27FC236}">
                <a16:creationId xmlns:a16="http://schemas.microsoft.com/office/drawing/2014/main" id="{2246B849-9CAA-4CDA-9731-69F8CD0A2366}"/>
              </a:ext>
            </a:extLst>
          </p:cNvPr>
          <p:cNvSpPr>
            <a:spLocks noGrp="1"/>
          </p:cNvSpPr>
          <p:nvPr/>
        </p:nvSpPr>
        <p:spPr>
          <a:xfrm>
            <a:off x="6504300" y="3995083"/>
            <a:ext cx="529590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Example categories">
            <a:extLst>
              <a:ext uri="{FF2B5EF4-FFF2-40B4-BE49-F238E27FC236}">
                <a16:creationId xmlns:a16="http://schemas.microsoft.com/office/drawing/2014/main" id="{05E1252A-3BA3-47D5-A31B-89A38C20CC26}"/>
              </a:ext>
            </a:extLst>
          </p:cNvPr>
          <p:cNvSpPr>
            <a:spLocks noGrp="1"/>
          </p:cNvSpPr>
          <p:nvPr/>
        </p:nvSpPr>
        <p:spPr>
          <a:xfrm>
            <a:off x="6504300" y="4080808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Service / business</a:t>
            </a:r>
            <a:r>
              <a:rPr sz="10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: Business Goods; Services and Tradespeople; Jobs</a:t>
            </a:r>
          </a:p>
        </p:txBody>
      </p:sp>
      <p:sp>
        <p:nvSpPr>
          <p:cNvPr id="40" name="Example why">
            <a:extLst>
              <a:ext uri="{FF2B5EF4-FFF2-40B4-BE49-F238E27FC236}">
                <a16:creationId xmlns:a16="http://schemas.microsoft.com/office/drawing/2014/main" id="{68867B21-8782-4DF8-8880-22929423EB02}"/>
              </a:ext>
            </a:extLst>
          </p:cNvPr>
          <p:cNvSpPr>
            <a:spLocks noGrp="1"/>
          </p:cNvSpPr>
          <p:nvPr/>
        </p:nvSpPr>
        <p:spPr>
          <a:xfrm>
            <a:off x="6504300" y="4499908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Lower threshold: the category itself is closer to business activity.</a:t>
            </a:r>
          </a:p>
        </p:txBody>
      </p:sp>
      <p:sp>
        <p:nvSpPr>
          <p:cNvPr id="41" name="Example item divider">
            <a:extLst>
              <a:ext uri="{FF2B5EF4-FFF2-40B4-BE49-F238E27FC236}">
                <a16:creationId xmlns:a16="http://schemas.microsoft.com/office/drawing/2014/main" id="{46290ABC-8BFD-49DD-91E3-CB896903A01E}"/>
              </a:ext>
            </a:extLst>
          </p:cNvPr>
          <p:cNvSpPr>
            <a:spLocks noGrp="1"/>
          </p:cNvSpPr>
          <p:nvPr/>
        </p:nvSpPr>
        <p:spPr>
          <a:xfrm>
            <a:off x="609600" y="4899958"/>
            <a:ext cx="529590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Example categories">
            <a:extLst>
              <a:ext uri="{FF2B5EF4-FFF2-40B4-BE49-F238E27FC236}">
                <a16:creationId xmlns:a16="http://schemas.microsoft.com/office/drawing/2014/main" id="{81EB442F-FC8F-40E9-8077-ABF9D2585C70}"/>
              </a:ext>
            </a:extLst>
          </p:cNvPr>
          <p:cNvSpPr>
            <a:spLocks noGrp="1"/>
          </p:cNvSpPr>
          <p:nvPr/>
        </p:nvSpPr>
        <p:spPr>
          <a:xfrm>
            <a:off x="609600" y="4985683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Consumer resale</a:t>
            </a:r>
            <a:r>
              <a:rPr sz="10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: Clothing - Women; Clothing - Men; Books; Children and Babies; CDs and DVDs; Games</a:t>
            </a:r>
          </a:p>
        </p:txBody>
      </p:sp>
      <p:sp>
        <p:nvSpPr>
          <p:cNvPr id="43" name="Example why">
            <a:extLst>
              <a:ext uri="{FF2B5EF4-FFF2-40B4-BE49-F238E27FC236}">
                <a16:creationId xmlns:a16="http://schemas.microsoft.com/office/drawing/2014/main" id="{F4F683C7-B8B2-495B-9A05-8AE2430F2B8D}"/>
              </a:ext>
            </a:extLst>
          </p:cNvPr>
          <p:cNvSpPr>
            <a:spLocks noGrp="1"/>
          </p:cNvSpPr>
          <p:nvPr/>
        </p:nvSpPr>
        <p:spPr>
          <a:xfrm>
            <a:off x="609600" y="5404783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Higher threshold: several listings can still be normal household selling.</a:t>
            </a:r>
          </a:p>
        </p:txBody>
      </p:sp>
      <p:sp>
        <p:nvSpPr>
          <p:cNvPr id="44" name="Example item divider">
            <a:extLst>
              <a:ext uri="{FF2B5EF4-FFF2-40B4-BE49-F238E27FC236}">
                <a16:creationId xmlns:a16="http://schemas.microsoft.com/office/drawing/2014/main" id="{270BFA4F-4A2C-451F-878F-365194EE9BFD}"/>
              </a:ext>
            </a:extLst>
          </p:cNvPr>
          <p:cNvSpPr>
            <a:spLocks noGrp="1"/>
          </p:cNvSpPr>
          <p:nvPr/>
        </p:nvSpPr>
        <p:spPr>
          <a:xfrm>
            <a:off x="6504300" y="4899958"/>
            <a:ext cx="529590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Example categories">
            <a:extLst>
              <a:ext uri="{FF2B5EF4-FFF2-40B4-BE49-F238E27FC236}">
                <a16:creationId xmlns:a16="http://schemas.microsoft.com/office/drawing/2014/main" id="{E7993DFD-C6D0-4236-B790-67BBBC329E2F}"/>
              </a:ext>
            </a:extLst>
          </p:cNvPr>
          <p:cNvSpPr>
            <a:spLocks noGrp="1"/>
          </p:cNvSpPr>
          <p:nvPr/>
        </p:nvSpPr>
        <p:spPr>
          <a:xfrm>
            <a:off x="6504300" y="4985683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Broad / mixed</a:t>
            </a:r>
            <a:r>
              <a:rPr sz="10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: Miscellaneous; Home and Furnishings; Garden and Terrace; Hobby and Leisure; Collectibles</a:t>
            </a:r>
          </a:p>
        </p:txBody>
      </p:sp>
      <p:sp>
        <p:nvSpPr>
          <p:cNvPr id="46" name="Example why">
            <a:extLst>
              <a:ext uri="{FF2B5EF4-FFF2-40B4-BE49-F238E27FC236}">
                <a16:creationId xmlns:a16="http://schemas.microsoft.com/office/drawing/2014/main" id="{0B46B18E-296E-4763-8294-A758936DF528}"/>
              </a:ext>
            </a:extLst>
          </p:cNvPr>
          <p:cNvSpPr>
            <a:spLocks noGrp="1"/>
          </p:cNvSpPr>
          <p:nvPr/>
        </p:nvSpPr>
        <p:spPr>
          <a:xfrm>
            <a:off x="6504300" y="5404783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Higher threshold or require another signal, because category alone is noisy.</a:t>
            </a:r>
          </a:p>
        </p:txBody>
      </p:sp>
    </p:spTree>
    <p:extLst>
      <p:ext uri="{BB962C8B-B14F-4D97-AF65-F5344CB8AC3E}">
        <p14:creationId xmlns:p14="http://schemas.microsoft.com/office/powerpoint/2010/main" val="1630150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5414E398-5733-42FA-8AC9-FC62CDB977B9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DE2E1750-0D53-4C0A-BB1F-EF6A1964D320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1.5 Buyer Engagement Aggregated by Seller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AEE9124F-090B-4330-B9FD-FAE6A37179C9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A9B93241-B93A-4329-848E-A0BD9E6D06D9}"/>
              </a:ext>
            </a:extLst>
          </p:cNvPr>
          <p:cNvSpPr>
            <a:spLocks noGrp="1"/>
          </p:cNvSpPr>
          <p:nvPr/>
        </p:nvSpPr>
        <p:spPr>
          <a:xfrm>
            <a:off x="552450" y="135050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one popular ad can be consumer behavior; repeated buyer engagement across ads is more SMB-like.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AAF42F91-6AF8-4C15-9DFE-17C07405BD39}"/>
              </a:ext>
            </a:extLst>
          </p:cNvPr>
          <p:cNvSpPr>
            <a:spLocks noGrp="1"/>
          </p:cNvSpPr>
          <p:nvPr/>
        </p:nvSpPr>
        <p:spPr>
          <a:xfrm>
            <a:off x="552450" y="180770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8">
            <a:extLst>
              <a:ext uri="{FF2B5EF4-FFF2-40B4-BE49-F238E27FC236}">
                <a16:creationId xmlns:a16="http://schemas.microsoft.com/office/drawing/2014/main" id="{B15F7C54-BBAF-4A68-BDD9-4FF118D5B67C}"/>
              </a:ext>
            </a:extLst>
          </p:cNvPr>
          <p:cNvSpPr>
            <a:spLocks noGrp="1"/>
          </p:cNvSpPr>
          <p:nvPr/>
        </p:nvSpPr>
        <p:spPr>
          <a:xfrm>
            <a:off x="552450" y="211250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last 12 months.</a:t>
            </a:r>
          </a:p>
        </p:txBody>
      </p:sp>
      <p:graphicFrame>
        <p:nvGraphicFramePr>
          <p:cNvPr id="17" name="Markdown table"/>
          <p:cNvGraphicFramePr/>
          <p:nvPr/>
        </p:nvGraphicFramePr>
        <p:xfrm>
          <a:off x="552450" y="2512550"/>
          <a:ext cx="10668000" cy="2266950"/>
        </p:xfrm>
        <a:graphic>
          <a:graphicData uri="http://schemas.openxmlformats.org/drawingml/2006/table">
            <a:tbl>
              <a:tblPr firstRow="1" bandRow="1"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Engaged ads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id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Page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Click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Avoids one-ad outliers.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Unique engaged buyers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Buyer id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Seller id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breadth of demand.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Months with engagement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Message date/time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traffic event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persistence.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Engagement rate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Page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Click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Daily number of impressions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Controls for exposure where possible.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7CBC6613-0781-4FB9-A474-55B89B3CA6AD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27C6DD7B-FB62-4ABD-94B6-CEDCD886BE39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CD743CBF-B06C-403D-9331-19C0D2447ABB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07 / 08</a:t>
            </a:r>
          </a:p>
        </p:txBody>
      </p:sp>
    </p:spTree>
    <p:extLst>
      <p:ext uri="{BB962C8B-B14F-4D97-AF65-F5344CB8AC3E}">
        <p14:creationId xmlns:p14="http://schemas.microsoft.com/office/powerpoint/2010/main" val="172769867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E2CE1683-9E40-4D07-87A3-22BA7CDF3CEB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4EC25269-EC06-4828-9F65-9C767AB2ADF9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2. Decision Mechanism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5931F5EC-748C-44F2-90BF-B901A4E640CE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1948D8CD-7361-47CC-8A55-5903E8F82972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9AF36372-913A-415C-BB8A-017E7ACEABD4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9B2FDA74-6E7C-4F43-9C11-84AD58D74CE2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08 / 08</a:t>
            </a:r>
          </a:p>
        </p:txBody>
      </p:sp>
      <p:sp>
        <p:nvSpPr>
          <p:cNvPr id="9" name="Decision intro">
            <a:extLst>
              <a:ext uri="{FF2B5EF4-FFF2-40B4-BE49-F238E27FC236}">
                <a16:creationId xmlns:a16="http://schemas.microsoft.com/office/drawing/2014/main" id="{F6CED2D7-DFE5-4124-AA43-331D6EFC69FF}"/>
              </a:ext>
            </a:extLst>
          </p:cNvPr>
          <p:cNvSpPr>
            <a:spLocks noGrp="1"/>
          </p:cNvSpPr>
          <p:nvPr/>
        </p:nvSpPr>
        <p:spPr>
          <a:xfrm>
            <a:off x="552450" y="1388600"/>
            <a:ext cx="10287000" cy="4762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Create a ranked seller list by scoring each seller-level SMB signal based on strength; categories organize the signals, but the final score is built from the signals themselves.</a:t>
            </a:r>
          </a:p>
        </p:txBody>
      </p:sp>
      <p:graphicFrame>
        <p:nvGraphicFramePr>
          <p:cNvPr id="10" name="SMB score table"/>
          <p:cNvGraphicFramePr/>
          <p:nvPr/>
        </p:nvGraphicFramePr>
        <p:xfrm>
          <a:off x="552450" y="2017250"/>
          <a:ext cx="10287000" cy="1652303"/>
        </p:xfrm>
        <a:graphic>
          <a:graphicData uri="http://schemas.openxmlformats.org/drawingml/2006/table">
            <a:tbl>
              <a:tblPr firstRow="1" bandRow="1"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Weight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General Rule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Example Signals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Highest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Direct evidence of business setup.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Corporate bank account flag.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5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Clear paid selling behavior.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Recurring invoice months, Pro CPC usage, paid feature spend.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6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Lower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dirty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SMB-like behavior that is useful but noisier.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dirty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High listing volume, repeated listings in the same category, business-prone categories, buyer engagement across ads.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Decision output">
            <a:extLst>
              <a:ext uri="{FF2B5EF4-FFF2-40B4-BE49-F238E27FC236}">
                <a16:creationId xmlns:a16="http://schemas.microsoft.com/office/drawing/2014/main" id="{E6D23BF3-2401-4FDA-BDDF-486C1AD3B8B9}"/>
              </a:ext>
            </a:extLst>
          </p:cNvPr>
          <p:cNvSpPr>
            <a:spLocks noGrp="1"/>
          </p:cNvSpPr>
          <p:nvPr/>
        </p:nvSpPr>
        <p:spPr>
          <a:xfrm>
            <a:off x="552450" y="4284200"/>
            <a:ext cx="10287000" cy="3429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100" b="0" dirty="0">
                <a:solidFill>
                  <a:srgbClr val="F3F4F6"/>
                </a:solidFill>
                <a:latin typeface="Arial"/>
                <a:ea typeface="Arial"/>
                <a:cs typeface="Arial"/>
              </a:rPr>
              <a:t>Output: ranked sellers with </a:t>
            </a:r>
            <a:r>
              <a:rPr sz="1100" b="0" dirty="0" err="1">
                <a:solidFill>
                  <a:srgbClr val="F3F4F6"/>
                </a:solidFill>
                <a:latin typeface="Arial"/>
                <a:ea typeface="Arial"/>
                <a:cs typeface="Arial"/>
              </a:rPr>
              <a:t>user_id</a:t>
            </a:r>
            <a:r>
              <a:rPr sz="1100" b="0" dirty="0">
                <a:solidFill>
                  <a:srgbClr val="F3F4F6"/>
                </a:solidFill>
                <a:latin typeface="Arial"/>
                <a:ea typeface="Arial"/>
                <a:cs typeface="Arial"/>
              </a:rPr>
              <a:t>, </a:t>
            </a:r>
            <a:r>
              <a:rPr sz="1100" b="0" dirty="0" err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smb_score</a:t>
            </a:r>
            <a:r>
              <a:rPr sz="1100" b="0" dirty="0">
                <a:solidFill>
                  <a:srgbClr val="F3F4F6"/>
                </a:solidFill>
                <a:latin typeface="Arial"/>
                <a:ea typeface="Arial"/>
                <a:cs typeface="Arial"/>
              </a:rPr>
              <a:t>, confidence tier, top reasons, and recommended action.</a:t>
            </a:r>
          </a:p>
        </p:txBody>
      </p:sp>
      <p:sp>
        <p:nvSpPr>
          <p:cNvPr id="13" name="Supervised Model Scoring note">
            <a:extLst>
              <a:ext uri="{FF2B5EF4-FFF2-40B4-BE49-F238E27FC236}">
                <a16:creationId xmlns:a16="http://schemas.microsoft.com/office/drawing/2014/main" id="{E0643B7A-414D-476C-83BE-E2D75EF508D7}"/>
              </a:ext>
            </a:extLst>
          </p:cNvPr>
          <p:cNvSpPr>
            <a:spLocks noGrp="1"/>
          </p:cNvSpPr>
          <p:nvPr/>
        </p:nvSpPr>
        <p:spPr>
          <a:xfrm>
            <a:off x="552450" y="4703300"/>
            <a:ext cx="10287000" cy="90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wrap="square" lIns="57150" tIns="38100" rIns="57150" bIns="38100" anchor="t"/>
          <a:lstStyle/>
          <a:p>
            <a:pPr marL="0" indent="0">
              <a:buNone/>
              <a:defRPr sz="1100"/>
            </a:pPr>
            <a:r>
              <a:rPr sz="15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Supervised Model Scoring</a:t>
            </a:r>
            <a:br/>
            <a:br/>
            <a:r>
              <a:rPr sz="1100">
                <a:solidFill>
                  <a:srgbClr val="F7F7F2"/>
                </a:solidFill>
                <a:latin typeface="Arial"/>
                <a:ea typeface="Arial"/>
                <a:cs typeface="Arial"/>
              </a:rPr>
              <a:t>If true SMB labels become available, replace manual weights with a supervised model using the same seller-level features. Keep the output explainable so stakeholders can see why each seller was prioritized.</a:t>
            </a:r>
          </a:p>
        </p:txBody>
      </p:sp>
    </p:spTree>
    <p:extLst>
      <p:ext uri="{BB962C8B-B14F-4D97-AF65-F5344CB8AC3E}">
        <p14:creationId xmlns:p14="http://schemas.microsoft.com/office/powerpoint/2010/main" val="718958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09630" y="900135"/>
            <a:ext cx="3600450" cy="3895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D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Identify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12064" y="1645920"/>
            <a:ext cx="10499964" cy="8300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7000" b="1" dirty="0">
                <a:solidFill>
                  <a:srgbClr val="37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Prioritize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512064" y="279806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A7A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sellers by outreach readiness and bundle fit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9630" y="4096512"/>
            <a:ext cx="3600450" cy="3895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38D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Monitor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09630" y="4590288"/>
            <a:ext cx="3600450" cy="3895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Scale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6210330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ction Number"/>
          <p:cNvSpPr/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</a:t>
            </a:r>
            <a:endParaRPr sz="3600"/>
          </a:p>
        </p:txBody>
      </p:sp>
      <p:sp>
        <p:nvSpPr>
          <p:cNvPr id="4" name="Title"/>
          <p:cNvSpPr/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F3F4F6"/>
                </a:solidFill>
                <a:latin typeface="Arial"/>
                <a:ea typeface="Arial"/>
                <a:cs typeface="Arial"/>
              </a:rPr>
              <a:t>1. Framin</a:t>
            </a:r>
            <a:r>
              <a:rPr lang="en-US" sz="3600" b="1" dirty="0">
                <a:solidFill>
                  <a:srgbClr val="F3F4F6"/>
                </a:solidFill>
                <a:latin typeface="Arial"/>
                <a:ea typeface="Arial"/>
                <a:cs typeface="Arial"/>
              </a:rPr>
              <a:t>g</a:t>
            </a:r>
            <a:endParaRPr sz="3600" dirty="0"/>
          </a:p>
        </p:txBody>
      </p:sp>
      <p:sp>
        <p:nvSpPr>
          <p:cNvPr id="5" name="Top Divider"/>
          <p:cNvSpPr/>
          <p:nvPr/>
        </p:nvSpPr>
        <p:spPr>
          <a:xfrm>
            <a:off x="457200" y="1160008"/>
            <a:ext cx="11277570" cy="0"/>
          </a:xfrm>
          <a:prstGeom prst="rect">
            <a:avLst/>
          </a:prstGeom>
          <a:noFill/>
          <a:ln w="9525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grpSp>
        <p:nvGrpSpPr>
          <p:cNvPr id="49" name="Metric Rail"/>
          <p:cNvGrpSpPr/>
          <p:nvPr/>
        </p:nvGrpSpPr>
        <p:grpSpPr>
          <a:xfrm>
            <a:off x="566928" y="1417320"/>
            <a:ext cx="10707624" cy="868680"/>
            <a:chOff x="566928" y="1417320"/>
            <a:chExt cx="10707624" cy="868680"/>
          </a:xfrm>
        </p:grpSpPr>
        <p:sp>
          <p:nvSpPr>
            <p:cNvPr id="6" name="Metric Card 1"/>
            <p:cNvSpPr/>
            <p:nvPr/>
          </p:nvSpPr>
          <p:spPr>
            <a:xfrm>
              <a:off x="566928" y="1417320"/>
              <a:ext cx="2423160" cy="868680"/>
            </a:xfrm>
            <a:prstGeom prst="roundRect">
              <a:avLst/>
            </a:prstGeom>
            <a:solidFill>
              <a:srgbClr val="0D0D0D"/>
            </a:solidFill>
            <a:ln w="9525">
              <a:solidFill>
                <a:srgbClr val="2A2A2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Metric Value 1"/>
            <p:cNvSpPr/>
            <p:nvPr/>
          </p:nvSpPr>
          <p:spPr>
            <a:xfrm>
              <a:off x="658368" y="1481328"/>
              <a:ext cx="2148840" cy="384048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3100" b="1">
                  <a:solidFill>
                    <a:srgbClr val="37AFFF"/>
                  </a:solidFill>
                  <a:latin typeface="Arial"/>
                  <a:ea typeface="Arial"/>
                  <a:cs typeface="Arial"/>
                </a:defRPr>
              </a:pPr>
              <a:r>
                <a:rPr sz="3100" b="1">
                  <a:solidFill>
                    <a:srgbClr val="37AFFF"/>
                  </a:solidFill>
                  <a:latin typeface="Arial"/>
                  <a:ea typeface="Arial"/>
                  <a:cs typeface="Arial"/>
                </a:rPr>
                <a:t>3,840</a:t>
              </a:r>
              <a:endParaRPr sz="3100"/>
            </a:p>
          </p:txBody>
        </p:sp>
        <p:sp>
          <p:nvSpPr>
            <p:cNvPr id="8" name="Metric Label 1"/>
            <p:cNvSpPr/>
            <p:nvPr/>
          </p:nvSpPr>
          <p:spPr>
            <a:xfrm>
              <a:off x="658368" y="1965960"/>
              <a:ext cx="2148840" cy="228600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1200" b="1">
                  <a:solidFill>
                    <a:srgbClr val="A7A7A7"/>
                  </a:solidFill>
                  <a:latin typeface="Arial"/>
                  <a:ea typeface="Arial"/>
                  <a:cs typeface="Arial"/>
                </a:defRPr>
              </a:pPr>
              <a:r>
                <a:rPr sz="1200" b="1">
                  <a:solidFill>
                    <a:srgbClr val="A7A7A7"/>
                  </a:solidFill>
                  <a:latin typeface="Arial"/>
                  <a:ea typeface="Arial"/>
                  <a:cs typeface="Arial"/>
                </a:rPr>
                <a:t>sample sellers</a:t>
              </a:r>
              <a:endParaRPr sz="1200"/>
            </a:p>
          </p:txBody>
        </p:sp>
        <p:sp>
          <p:nvSpPr>
            <p:cNvPr id="9" name="Metric Card 2"/>
            <p:cNvSpPr/>
            <p:nvPr/>
          </p:nvSpPr>
          <p:spPr>
            <a:xfrm>
              <a:off x="3328416" y="1417320"/>
              <a:ext cx="2423160" cy="868680"/>
            </a:xfrm>
            <a:prstGeom prst="roundRect">
              <a:avLst/>
            </a:prstGeom>
            <a:solidFill>
              <a:srgbClr val="0D0D0D"/>
            </a:solidFill>
            <a:ln w="9525">
              <a:solidFill>
                <a:srgbClr val="2A2A2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Metric Value 2"/>
            <p:cNvSpPr/>
            <p:nvPr/>
          </p:nvSpPr>
          <p:spPr>
            <a:xfrm>
              <a:off x="3419856" y="1481328"/>
              <a:ext cx="2148840" cy="384048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3100" b="1">
                  <a:solidFill>
                    <a:srgbClr val="37AFFF"/>
                  </a:solidFill>
                  <a:latin typeface="Arial"/>
                  <a:ea typeface="Arial"/>
                  <a:cs typeface="Arial"/>
                </a:defRPr>
              </a:pPr>
              <a:r>
                <a:rPr sz="3100" b="1">
                  <a:solidFill>
                    <a:srgbClr val="37AFFF"/>
                  </a:solidFill>
                  <a:latin typeface="Arial"/>
                  <a:ea typeface="Arial"/>
                  <a:cs typeface="Arial"/>
                </a:rPr>
                <a:t>83%</a:t>
              </a:r>
              <a:endParaRPr sz="3100"/>
            </a:p>
          </p:txBody>
        </p:sp>
        <p:sp>
          <p:nvSpPr>
            <p:cNvPr id="11" name="Metric Label 2"/>
            <p:cNvSpPr/>
            <p:nvPr/>
          </p:nvSpPr>
          <p:spPr>
            <a:xfrm>
              <a:off x="3419856" y="1965960"/>
              <a:ext cx="2148840" cy="228600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1200" b="1">
                  <a:solidFill>
                    <a:srgbClr val="A7A7A7"/>
                  </a:solidFill>
                  <a:latin typeface="Arial"/>
                  <a:ea typeface="Arial"/>
                  <a:cs typeface="Arial"/>
                </a:defRPr>
              </a:pPr>
              <a:r>
                <a:rPr sz="1200" b="1">
                  <a:solidFill>
                    <a:srgbClr val="A7A7A7"/>
                  </a:solidFill>
                  <a:latin typeface="Arial"/>
                  <a:ea typeface="Arial"/>
                  <a:cs typeface="Arial"/>
                </a:rPr>
                <a:t>likely SMBs</a:t>
              </a:r>
              <a:endParaRPr sz="1200"/>
            </a:p>
          </p:txBody>
        </p:sp>
        <p:sp>
          <p:nvSpPr>
            <p:cNvPr id="12" name="Metric Card 3"/>
            <p:cNvSpPr/>
            <p:nvPr/>
          </p:nvSpPr>
          <p:spPr>
            <a:xfrm>
              <a:off x="6089904" y="1417320"/>
              <a:ext cx="2423160" cy="868680"/>
            </a:xfrm>
            <a:prstGeom prst="roundRect">
              <a:avLst/>
            </a:prstGeom>
            <a:solidFill>
              <a:srgbClr val="0D0D0D"/>
            </a:solidFill>
            <a:ln w="9525">
              <a:solidFill>
                <a:srgbClr val="2A2A2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Metric Value 3"/>
            <p:cNvSpPr/>
            <p:nvPr/>
          </p:nvSpPr>
          <p:spPr>
            <a:xfrm>
              <a:off x="6181344" y="1481328"/>
              <a:ext cx="2148840" cy="384048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3100" b="1">
                  <a:solidFill>
                    <a:srgbClr val="37AFFF"/>
                  </a:solidFill>
                  <a:latin typeface="Arial"/>
                  <a:ea typeface="Arial"/>
                  <a:cs typeface="Arial"/>
                </a:defRPr>
              </a:pPr>
              <a:r>
                <a:rPr sz="3100" b="1">
                  <a:solidFill>
                    <a:srgbClr val="37AFFF"/>
                  </a:solidFill>
                  <a:latin typeface="Arial"/>
                  <a:ea typeface="Arial"/>
                  <a:cs typeface="Arial"/>
                </a:rPr>
                <a:t>960</a:t>
              </a:r>
              <a:endParaRPr sz="3100"/>
            </a:p>
          </p:txBody>
        </p:sp>
        <p:sp>
          <p:nvSpPr>
            <p:cNvPr id="14" name="Metric Label 3"/>
            <p:cNvSpPr/>
            <p:nvPr/>
          </p:nvSpPr>
          <p:spPr>
            <a:xfrm>
              <a:off x="6181344" y="1965960"/>
              <a:ext cx="2148840" cy="228600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1200" b="1">
                  <a:solidFill>
                    <a:srgbClr val="A7A7A7"/>
                  </a:solidFill>
                  <a:latin typeface="Arial"/>
                  <a:ea typeface="Arial"/>
                  <a:cs typeface="Arial"/>
                </a:defRPr>
              </a:pPr>
              <a:r>
                <a:rPr sz="1200" b="1">
                  <a:solidFill>
                    <a:srgbClr val="A7A7A7"/>
                  </a:solidFill>
                  <a:latin typeface="Arial"/>
                  <a:ea typeface="Arial"/>
                  <a:cs typeface="Arial"/>
                </a:rPr>
                <a:t>first-batch target</a:t>
              </a:r>
              <a:endParaRPr sz="1200"/>
            </a:p>
          </p:txBody>
        </p:sp>
        <p:sp>
          <p:nvSpPr>
            <p:cNvPr id="15" name="Metric Card 4"/>
            <p:cNvSpPr/>
            <p:nvPr/>
          </p:nvSpPr>
          <p:spPr>
            <a:xfrm>
              <a:off x="8851392" y="1417320"/>
              <a:ext cx="2423160" cy="868680"/>
            </a:xfrm>
            <a:prstGeom prst="roundRect">
              <a:avLst/>
            </a:prstGeom>
            <a:solidFill>
              <a:srgbClr val="0D0D0D"/>
            </a:solidFill>
            <a:ln w="9525">
              <a:solidFill>
                <a:srgbClr val="2A2A2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Metric Value 4"/>
            <p:cNvSpPr/>
            <p:nvPr/>
          </p:nvSpPr>
          <p:spPr>
            <a:xfrm>
              <a:off x="8942832" y="1481328"/>
              <a:ext cx="2148840" cy="384048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3100" b="1">
                  <a:solidFill>
                    <a:srgbClr val="37AFFF"/>
                  </a:solidFill>
                  <a:latin typeface="Arial"/>
                  <a:ea typeface="Arial"/>
                  <a:cs typeface="Arial"/>
                </a:defRPr>
              </a:pPr>
              <a:r>
                <a:rPr sz="3100" b="1">
                  <a:solidFill>
                    <a:srgbClr val="37AFFF"/>
                  </a:solidFill>
                  <a:latin typeface="Arial"/>
                  <a:ea typeface="Arial"/>
                  <a:cs typeface="Arial"/>
                </a:rPr>
                <a:t>25%</a:t>
              </a:r>
              <a:endParaRPr sz="3100"/>
            </a:p>
          </p:txBody>
        </p:sp>
        <p:sp>
          <p:nvSpPr>
            <p:cNvPr id="17" name="Metric Label 4"/>
            <p:cNvSpPr/>
            <p:nvPr/>
          </p:nvSpPr>
          <p:spPr>
            <a:xfrm>
              <a:off x="8942832" y="1965960"/>
              <a:ext cx="2148840" cy="228600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1200" b="1">
                  <a:solidFill>
                    <a:srgbClr val="A7A7A7"/>
                  </a:solidFill>
                  <a:latin typeface="Arial"/>
                  <a:ea typeface="Arial"/>
                  <a:cs typeface="Arial"/>
                </a:defRPr>
              </a:pPr>
              <a:r>
                <a:rPr sz="1200" b="1">
                  <a:solidFill>
                    <a:srgbClr val="A7A7A7"/>
                  </a:solidFill>
                  <a:latin typeface="Arial"/>
                  <a:ea typeface="Arial"/>
                  <a:cs typeface="Arial"/>
                </a:rPr>
                <a:t>of sample prioritized</a:t>
              </a:r>
              <a:endParaRPr sz="1200"/>
            </a:p>
          </p:txBody>
        </p:sp>
      </p:grpSp>
      <p:grpSp>
        <p:nvGrpSpPr>
          <p:cNvPr id="47" name="Basic Bundle Card"/>
          <p:cNvGrpSpPr/>
          <p:nvPr/>
        </p:nvGrpSpPr>
        <p:grpSpPr>
          <a:xfrm>
            <a:off x="566928" y="2686081"/>
            <a:ext cx="5074920" cy="1785335"/>
            <a:chOff x="566928" y="2606040"/>
            <a:chExt cx="5074920" cy="1920240"/>
          </a:xfrm>
        </p:grpSpPr>
        <p:sp>
          <p:nvSpPr>
            <p:cNvPr id="18" name="Basic Card"/>
            <p:cNvSpPr/>
            <p:nvPr/>
          </p:nvSpPr>
          <p:spPr>
            <a:xfrm>
              <a:off x="566928" y="2606040"/>
              <a:ext cx="5074920" cy="1920240"/>
            </a:xfrm>
            <a:prstGeom prst="rect">
              <a:avLst/>
            </a:prstGeom>
            <a:solidFill>
              <a:srgbClr val="111111"/>
            </a:solidFill>
            <a:ln w="9525">
              <a:solidFill>
                <a:srgbClr val="2A2A2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Basic Accent"/>
            <p:cNvSpPr/>
            <p:nvPr/>
          </p:nvSpPr>
          <p:spPr>
            <a:xfrm>
              <a:off x="566928" y="2606040"/>
              <a:ext cx="54864" cy="1920240"/>
            </a:xfrm>
            <a:prstGeom prst="rect">
              <a:avLst/>
            </a:prstGeom>
            <a:solidFill>
              <a:srgbClr val="37AFFF"/>
            </a:solidFill>
            <a:ln w="0">
              <a:solidFill>
                <a:srgbClr val="37AFFF">
                  <a:alpha val="0"/>
                </a:srgbClr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Basic Title"/>
            <p:cNvSpPr/>
            <p:nvPr/>
          </p:nvSpPr>
          <p:spPr>
            <a:xfrm>
              <a:off x="768096" y="2761488"/>
              <a:ext cx="1554480" cy="384048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2850" b="1">
                  <a:solidFill>
                    <a:srgbClr val="37AFFF"/>
                  </a:solidFill>
                  <a:latin typeface="Arial"/>
                  <a:ea typeface="Arial"/>
                  <a:cs typeface="Arial"/>
                </a:defRPr>
              </a:pPr>
              <a:r>
                <a:rPr sz="2850" b="1">
                  <a:solidFill>
                    <a:srgbClr val="37AFFF"/>
                  </a:solidFill>
                  <a:latin typeface="Arial"/>
                  <a:ea typeface="Arial"/>
                  <a:cs typeface="Arial"/>
                </a:rPr>
                <a:t>Basic</a:t>
              </a:r>
              <a:endParaRPr sz="2850"/>
            </a:p>
          </p:txBody>
        </p:sp>
        <p:sp>
          <p:nvSpPr>
            <p:cNvPr id="21" name="Basic Badge"/>
            <p:cNvSpPr/>
            <p:nvPr/>
          </p:nvSpPr>
          <p:spPr>
            <a:xfrm>
              <a:off x="3872088" y="2816352"/>
              <a:ext cx="1449719" cy="301752"/>
            </a:xfrm>
            <a:prstGeom prst="roundRect">
              <a:avLst/>
            </a:prstGeom>
            <a:solidFill>
              <a:srgbClr val="050505"/>
            </a:solidFill>
            <a:ln w="9525">
              <a:solidFill>
                <a:srgbClr val="37AF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Basic Badge Text"/>
            <p:cNvSpPr/>
            <p:nvPr/>
          </p:nvSpPr>
          <p:spPr>
            <a:xfrm>
              <a:off x="3968044" y="2848356"/>
              <a:ext cx="1262324" cy="164592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1050" b="1">
                  <a:solidFill>
                    <a:srgbClr val="F3F4F6"/>
                  </a:solidFill>
                  <a:latin typeface="Arial"/>
                  <a:ea typeface="Arial"/>
                  <a:cs typeface="Arial"/>
                </a:defRPr>
              </a:pPr>
              <a:r>
                <a:rPr sz="1050" b="1" dirty="0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professional trust</a:t>
              </a:r>
              <a:endParaRPr sz="1050" dirty="0"/>
            </a:p>
          </p:txBody>
        </p:sp>
        <p:sp>
          <p:nvSpPr>
            <p:cNvPr id="23" name="Basic Body"/>
            <p:cNvSpPr/>
            <p:nvPr/>
          </p:nvSpPr>
          <p:spPr>
            <a:xfrm>
              <a:off x="768096" y="3509531"/>
              <a:ext cx="4498848" cy="713232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1750" b="0">
                  <a:solidFill>
                    <a:srgbClr val="F3F4F6"/>
                  </a:solidFill>
                  <a:latin typeface="Arial"/>
                  <a:ea typeface="Arial"/>
                  <a:cs typeface="Arial"/>
                </a:defRPr>
              </a:pPr>
              <a:r>
                <a:rPr sz="1400" b="0" dirty="0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Verified seller icon, professional seller page, and extra pictures for more visibility.</a:t>
              </a:r>
              <a:endParaRPr sz="1400" b="0" dirty="0"/>
            </a:p>
          </p:txBody>
        </p:sp>
      </p:grpSp>
      <p:grpSp>
        <p:nvGrpSpPr>
          <p:cNvPr id="48" name="Plus Bundle Card"/>
          <p:cNvGrpSpPr/>
          <p:nvPr/>
        </p:nvGrpSpPr>
        <p:grpSpPr>
          <a:xfrm>
            <a:off x="6236208" y="2686081"/>
            <a:ext cx="5074920" cy="1785335"/>
            <a:chOff x="6236208" y="2606040"/>
            <a:chExt cx="5074920" cy="1920240"/>
          </a:xfrm>
        </p:grpSpPr>
        <p:sp>
          <p:nvSpPr>
            <p:cNvPr id="24" name="Plus Card"/>
            <p:cNvSpPr/>
            <p:nvPr/>
          </p:nvSpPr>
          <p:spPr>
            <a:xfrm>
              <a:off x="6236208" y="2606040"/>
              <a:ext cx="5074920" cy="1920240"/>
            </a:xfrm>
            <a:prstGeom prst="rect">
              <a:avLst/>
            </a:prstGeom>
            <a:solidFill>
              <a:srgbClr val="111111"/>
            </a:solidFill>
            <a:ln w="9525">
              <a:solidFill>
                <a:srgbClr val="2A2A2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Plus Accent"/>
            <p:cNvSpPr/>
            <p:nvPr/>
          </p:nvSpPr>
          <p:spPr>
            <a:xfrm>
              <a:off x="6236208" y="2606040"/>
              <a:ext cx="54864" cy="1920240"/>
            </a:xfrm>
            <a:prstGeom prst="rect">
              <a:avLst/>
            </a:prstGeom>
            <a:solidFill>
              <a:srgbClr val="37AFFF"/>
            </a:solidFill>
            <a:ln w="0">
              <a:solidFill>
                <a:srgbClr val="37AFFF">
                  <a:alpha val="0"/>
                </a:srgbClr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Plus Title"/>
            <p:cNvSpPr/>
            <p:nvPr/>
          </p:nvSpPr>
          <p:spPr>
            <a:xfrm>
              <a:off x="6437376" y="2761488"/>
              <a:ext cx="1554480" cy="384048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2850" b="1">
                  <a:solidFill>
                    <a:srgbClr val="37AFFF"/>
                  </a:solidFill>
                  <a:latin typeface="Arial"/>
                  <a:ea typeface="Arial"/>
                  <a:cs typeface="Arial"/>
                </a:defRPr>
              </a:pPr>
              <a:r>
                <a:rPr sz="2850" b="1">
                  <a:solidFill>
                    <a:srgbClr val="37AFFF"/>
                  </a:solidFill>
                  <a:latin typeface="Arial"/>
                  <a:ea typeface="Arial"/>
                  <a:cs typeface="Arial"/>
                </a:rPr>
                <a:t>Plus</a:t>
              </a:r>
              <a:endParaRPr sz="2850"/>
            </a:p>
          </p:txBody>
        </p:sp>
        <p:sp>
          <p:nvSpPr>
            <p:cNvPr id="27" name="Plus Badge"/>
            <p:cNvSpPr/>
            <p:nvPr/>
          </p:nvSpPr>
          <p:spPr>
            <a:xfrm>
              <a:off x="8193024" y="2816351"/>
              <a:ext cx="2798064" cy="445039"/>
            </a:xfrm>
            <a:prstGeom prst="roundRect">
              <a:avLst/>
            </a:prstGeom>
            <a:solidFill>
              <a:srgbClr val="050505"/>
            </a:solidFill>
            <a:ln w="9525">
              <a:solidFill>
                <a:srgbClr val="37AF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Plus Badge Text"/>
            <p:cNvSpPr/>
            <p:nvPr/>
          </p:nvSpPr>
          <p:spPr>
            <a:xfrm>
              <a:off x="8330184" y="2848356"/>
              <a:ext cx="2569464" cy="164592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>
                <a:defRPr sz="1050" b="1">
                  <a:solidFill>
                    <a:srgbClr val="F3F4F6"/>
                  </a:solidFill>
                  <a:latin typeface="Arial"/>
                  <a:ea typeface="Arial"/>
                  <a:cs typeface="Arial"/>
                </a:defRPr>
              </a:pPr>
              <a:r>
                <a:rPr lang="en-US" sz="1050" b="1" dirty="0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professional trust +</a:t>
              </a:r>
            </a:p>
            <a:p>
              <a:pPr>
                <a:defRPr sz="1050" b="1">
                  <a:solidFill>
                    <a:srgbClr val="F3F4F6"/>
                  </a:solidFill>
                  <a:latin typeface="Arial"/>
                  <a:ea typeface="Arial"/>
                  <a:cs typeface="Arial"/>
                </a:defRPr>
              </a:pPr>
              <a:r>
                <a:rPr sz="1050" b="1" dirty="0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attention + cross-promotion</a:t>
              </a:r>
              <a:endParaRPr sz="1050" dirty="0"/>
            </a:p>
          </p:txBody>
        </p:sp>
        <p:sp>
          <p:nvSpPr>
            <p:cNvPr id="29" name="Plus Body"/>
            <p:cNvSpPr/>
            <p:nvPr/>
          </p:nvSpPr>
          <p:spPr>
            <a:xfrm>
              <a:off x="6437376" y="3509531"/>
              <a:ext cx="4498848" cy="713232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1750" b="0">
                  <a:solidFill>
                    <a:srgbClr val="F3F4F6"/>
                  </a:solidFill>
                  <a:latin typeface="Arial"/>
                  <a:ea typeface="Arial"/>
                  <a:cs typeface="Arial"/>
                </a:defRPr>
              </a:pPr>
              <a:r>
                <a:rPr sz="1400" b="0" dirty="0">
                  <a:solidFill>
                    <a:srgbClr val="F3F4F6"/>
                  </a:solidFill>
                  <a:ea typeface="Arial"/>
                  <a:cs typeface="Arial"/>
                </a:rPr>
                <a:t>Everything in Basic, plus visibility stickers and links from every ad to the seller's other ads.</a:t>
              </a:r>
              <a:endParaRPr sz="1400" b="0" dirty="0"/>
            </a:p>
          </p:txBody>
        </p:sp>
      </p:grpSp>
      <p:grpSp>
        <p:nvGrpSpPr>
          <p:cNvPr id="50" name="Approach Strip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0" name="Approach Strip"/>
            <p:cNvSpPr/>
            <p:nvPr/>
          </p:nvSpPr>
          <p:spPr>
            <a:xfrm>
              <a:off x="566928" y="4892040"/>
              <a:ext cx="11018520" cy="777240"/>
            </a:xfrm>
            <a:prstGeom prst="roundRect">
              <a:avLst/>
            </a:prstGeom>
            <a:solidFill>
              <a:srgbClr val="0B0B0B"/>
            </a:solidFill>
            <a:ln w="9525">
              <a:solidFill>
                <a:srgbClr val="2A2A2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Approach Label"/>
            <p:cNvSpPr/>
            <p:nvPr/>
          </p:nvSpPr>
          <p:spPr>
            <a:xfrm>
              <a:off x="713232" y="5047488"/>
              <a:ext cx="1097280" cy="274320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1650" b="1">
                  <a:solidFill>
                    <a:srgbClr val="37AFFF"/>
                  </a:solidFill>
                  <a:latin typeface="Arial"/>
                  <a:ea typeface="Arial"/>
                  <a:cs typeface="Arial"/>
                </a:defRPr>
              </a:pPr>
              <a:r>
                <a:rPr sz="1650" b="1">
                  <a:solidFill>
                    <a:srgbClr val="37AFFF"/>
                  </a:solidFill>
                  <a:latin typeface="Arial"/>
                  <a:ea typeface="Arial"/>
                  <a:cs typeface="Arial"/>
                </a:rPr>
                <a:t>Approach</a:t>
              </a:r>
              <a:endParaRPr sz="1650"/>
            </a:p>
          </p:txBody>
        </p:sp>
        <p:sp>
          <p:nvSpPr>
            <p:cNvPr id="32" name="Approach Text"/>
            <p:cNvSpPr/>
            <p:nvPr/>
          </p:nvSpPr>
          <p:spPr>
            <a:xfrm>
              <a:off x="1828800" y="5047488"/>
              <a:ext cx="9052560" cy="274320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  <a:defRPr sz="1650" b="1">
                  <a:solidFill>
                    <a:srgbClr val="F3F4F6"/>
                  </a:solidFill>
                  <a:latin typeface="Arial"/>
                  <a:ea typeface="Arial"/>
                  <a:cs typeface="Arial"/>
                </a:defRPr>
              </a:pPr>
              <a:r>
                <a:rPr sz="1650" dirty="0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Review activity, fees, and anomalies; then build a broader outreach readiness score.</a:t>
              </a:r>
              <a:endParaRPr sz="1650" dirty="0"/>
            </a:p>
          </p:txBody>
        </p:sp>
      </p:grpSp>
      <p:sp>
        <p:nvSpPr>
          <p:cNvPr id="44" name="Bottom Divider"/>
          <p:cNvSpPr/>
          <p:nvPr/>
        </p:nvSpPr>
        <p:spPr>
          <a:xfrm>
            <a:off x="457200" y="6210330"/>
            <a:ext cx="11277570" cy="0"/>
          </a:xfrm>
          <a:prstGeom prst="rect">
            <a:avLst/>
          </a:prstGeom>
          <a:noFill/>
          <a:ln w="9525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Footer Label"/>
          <p:cNvSpPr/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  <a:endParaRPr sz="900" b="0" dirty="0">
              <a:solidFill>
                <a:srgbClr val="A5A5A5"/>
              </a:solidFill>
              <a:latin typeface="Arial"/>
            </a:endParaRPr>
          </a:p>
        </p:txBody>
      </p:sp>
      <p:sp>
        <p:nvSpPr>
          <p:cNvPr id="46" name="Page Marker"/>
          <p:cNvSpPr/>
          <p:nvPr/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02 / 12</a:t>
            </a:r>
            <a:endParaRPr sz="9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37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>
              <a:solidFill>
                <a:srgbClr val="37A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Data Snapshot</a:t>
            </a:r>
            <a:endParaRPr lang="en-US" sz="3600" dirty="0">
              <a:solidFill>
                <a:srgbClr val="F3F4F6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6210330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Outreach Prioritization</a:t>
            </a:r>
            <a:endParaRPr lang="en-US" sz="900" b="0" dirty="0">
              <a:solidFill>
                <a:srgbClr val="A5A5A5"/>
              </a:solidFill>
              <a:latin typeface="Arial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12</a:t>
            </a:r>
            <a:endParaRPr lang="en-US" sz="900" dirty="0"/>
          </a:p>
        </p:txBody>
      </p:sp>
      <p:pic>
        <p:nvPicPr>
          <p:cNvPr id="9" name="Image 0" descr="/Users/omertal/PycharmProjects/Marketplaats/outputs/manual-20260615-q2-refresh/assets/cell_1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09822" y="1325879"/>
            <a:ext cx="5895961" cy="470961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2927" y="1684006"/>
            <a:ext cx="4160520" cy="90269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is strong: no missing values, duplicate seller-month-category rows, or negative metrics.</a:t>
            </a:r>
            <a:endParaRPr lang="en-US" sz="12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BB87519-4260-BEAD-7FB3-39618BDA98CA}"/>
              </a:ext>
            </a:extLst>
          </p:cNvPr>
          <p:cNvSpPr/>
          <p:nvPr/>
        </p:nvSpPr>
        <p:spPr>
          <a:xfrm>
            <a:off x="682927" y="2880199"/>
            <a:ext cx="4226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7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Overview</a:t>
            </a:r>
            <a:endParaRPr lang="en-US" sz="18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03870BB8-745D-3407-8E36-A6856B7FBCE5}"/>
              </a:ext>
            </a:extLst>
          </p:cNvPr>
          <p:cNvSpPr/>
          <p:nvPr/>
        </p:nvSpPr>
        <p:spPr>
          <a:xfrm>
            <a:off x="682927" y="3398343"/>
            <a:ext cx="4160520" cy="19786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 2023 has a visible spike, partly driven by seller </a:t>
            </a:r>
            <a:r>
              <a:rPr lang="en-US" sz="1200" dirty="0">
                <a:solidFill>
                  <a:srgbClr val="4FB3F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65950787</a:t>
            </a:r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</a:t>
            </a:r>
            <a:r>
              <a:rPr lang="en-US" sz="1200" dirty="0">
                <a:solidFill>
                  <a:srgbClr val="4FB3F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Auto-</a:t>
            </a:r>
            <a:r>
              <a:rPr lang="en-US" sz="1200" dirty="0" err="1">
                <a:solidFill>
                  <a:srgbClr val="4FB3F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onderdelen</a:t>
            </a:r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explains most extreme November fee spike.</a:t>
            </a:r>
            <a:endParaRPr lang="en-US" sz="1200" dirty="0"/>
          </a:p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excluding that seller, November remains elevated in ads and fees. The remaining lift is broader across sellers/categories, not another single obvious anomaly.</a:t>
            </a:r>
          </a:p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endParaRPr lang="en-US" sz="1200" dirty="0"/>
          </a:p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37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>
              <a:solidFill>
                <a:srgbClr val="37A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Data Snapshot</a:t>
            </a:r>
            <a:endParaRPr lang="en-US" sz="3600" dirty="0">
              <a:solidFill>
                <a:srgbClr val="F3F4F6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6210330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Outreach Prioritization</a:t>
            </a:r>
            <a:endParaRPr lang="en-US" sz="900" b="0" dirty="0">
              <a:solidFill>
                <a:srgbClr val="A5A5A5"/>
              </a:solidFill>
              <a:latin typeface="Arial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1389888"/>
            <a:ext cx="388620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endParaRPr lang="en-US" sz="1480" dirty="0"/>
          </a:p>
        </p:txBody>
      </p:sp>
      <p:pic>
        <p:nvPicPr>
          <p:cNvPr id="11" name="Image 0" descr="/Users/omertal/PycharmProjects/Marketplaats/outputs/manual-20260615-q2-refresh/assets/cell_15.png">
            <a:extLst>
              <a:ext uri="{FF2B5EF4-FFF2-40B4-BE49-F238E27FC236}">
                <a16:creationId xmlns:a16="http://schemas.microsoft.com/office/drawing/2014/main" id="{DF505DD6-05DC-7E85-C690-DBFDF27357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01352" y="3618891"/>
            <a:ext cx="6812280" cy="237529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39C13FC-DB28-C6B4-4BEC-222495F201AB}"/>
              </a:ext>
            </a:extLst>
          </p:cNvPr>
          <p:cNvGrpSpPr/>
          <p:nvPr/>
        </p:nvGrpSpPr>
        <p:grpSpPr>
          <a:xfrm>
            <a:off x="3252836" y="1219475"/>
            <a:ext cx="4909312" cy="2389632"/>
            <a:chOff x="3252836" y="1219475"/>
            <a:chExt cx="4909312" cy="2389632"/>
          </a:xfrm>
        </p:grpSpPr>
        <p:pic>
          <p:nvPicPr>
            <p:cNvPr id="10" name="Image 0" descr="/Users/omertal/PycharmProjects/Marketplaats/outputs/manual-20260615-q2-refresh/assets/cell_11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3252836" y="1219475"/>
              <a:ext cx="4909312" cy="2389632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D50AC65-64C4-2993-C5DB-43EC7977CE48}"/>
                </a:ext>
              </a:extLst>
            </p:cNvPr>
            <p:cNvSpPr/>
            <p:nvPr/>
          </p:nvSpPr>
          <p:spPr>
            <a:xfrm>
              <a:off x="6683363" y="3135993"/>
              <a:ext cx="1055511" cy="4120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37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>
              <a:solidFill>
                <a:srgbClr val="37A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Outreach Prioritization</a:t>
            </a:r>
            <a:endParaRPr lang="en-US" sz="3600" dirty="0">
              <a:solidFill>
                <a:srgbClr val="F3F4F6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6210330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Outreach Prioritization</a:t>
            </a:r>
            <a:endParaRPr lang="en-US" sz="900" b="0" dirty="0">
              <a:solidFill>
                <a:srgbClr val="A5A5A5"/>
              </a:solidFill>
              <a:latin typeface="Arial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5216" y="270990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7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by total fees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85216" y="3394440"/>
            <a:ext cx="4624606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dirty="0">
                <a:solidFill>
                  <a:srgbClr val="F3F4F6"/>
                </a:solidFill>
                <a:latin typeface="Arial" pitchFamily="34" charset="0"/>
                <a:cs typeface="Arial" pitchFamily="34" charset="-120"/>
              </a:rPr>
              <a:t>Ranking sellers by total fees is as a baseline initial prioritization approach: </a:t>
            </a:r>
            <a:r>
              <a:rPr lang="en-US" sz="1900" dirty="0">
                <a:solidFill>
                  <a:srgbClr val="F3F4F6"/>
                </a:solidFill>
                <a:latin typeface="Arial" pitchFamily="34" charset="0"/>
                <a:cs typeface="Arial" pitchFamily="34" charset="-120"/>
              </a:rPr>
              <a:t>target</a:t>
            </a:r>
            <a:r>
              <a:rPr lang="en-US" dirty="0">
                <a:solidFill>
                  <a:srgbClr val="F3F4F6"/>
                </a:solidFill>
                <a:latin typeface="Arial" pitchFamily="34" charset="0"/>
                <a:cs typeface="Arial" pitchFamily="34" charset="-120"/>
              </a:rPr>
              <a:t> sellers with the strongest historical willingness to pay.</a:t>
            </a:r>
          </a:p>
        </p:txBody>
      </p:sp>
      <p:sp>
        <p:nvSpPr>
          <p:cNvPr id="11" name="Text 9"/>
          <p:cNvSpPr/>
          <p:nvPr/>
        </p:nvSpPr>
        <p:spPr>
          <a:xfrm>
            <a:off x="585216" y="1631809"/>
            <a:ext cx="4624606" cy="76707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activity is highly skewed: a small group drives much of the volume and fees.</a:t>
            </a:r>
            <a:endParaRPr lang="en-US" sz="1650" dirty="0">
              <a:solidFill>
                <a:srgbClr val="F3F4F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buClr>
                <a:srgbClr val="4FB3FF"/>
              </a:buClr>
            </a:pPr>
            <a:endParaRPr lang="en-US" sz="1650" dirty="0"/>
          </a:p>
        </p:txBody>
      </p:sp>
      <p:pic>
        <p:nvPicPr>
          <p:cNvPr id="12" name="Image 0" descr="/Users/omertal/PycharmProjects/Marketplaats/outputs/manual-20260615-q2-refresh/assets/cell_1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40881" y="1651977"/>
            <a:ext cx="6200150" cy="38456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37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>
              <a:solidFill>
                <a:srgbClr val="37A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Outreach Readiness</a:t>
            </a:r>
            <a:endParaRPr lang="en-US" sz="3600" dirty="0">
              <a:solidFill>
                <a:srgbClr val="F3F4F6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6210330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Outreach Prioritization</a:t>
            </a:r>
            <a:endParaRPr lang="en-US" sz="900" b="0" dirty="0">
              <a:solidFill>
                <a:srgbClr val="A5A5A5"/>
              </a:solidFill>
              <a:latin typeface="Arial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" y="1473476"/>
            <a:ext cx="10972800" cy="95416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rank outreach readiness, not just historical spend.</a:t>
            </a:r>
          </a:p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the first outreach batch should prioritize sellers who are both commercially valuable and likely to see value in a bundle.</a:t>
            </a:r>
            <a:endParaRPr lang="en-US" sz="1200" dirty="0"/>
          </a:p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convert each signal to a seller percentile rank, then take a </a:t>
            </a:r>
            <a:r>
              <a:rPr lang="en-US" sz="1200" b="1" dirty="0">
                <a:solidFill>
                  <a:srgbClr val="4F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average</a:t>
            </a:r>
            <a:r>
              <a:rPr lang="en-US" sz="1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six scores.</a:t>
            </a:r>
            <a:endParaRPr lang="en-US" sz="1200" dirty="0"/>
          </a:p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sellers in the top 25% of Outreach-Readiness score are the outreach-ready group.</a:t>
            </a:r>
          </a:p>
          <a:p>
            <a:pPr>
              <a:buClr>
                <a:srgbClr val="4FB3FF"/>
              </a:buClr>
            </a:pPr>
            <a:endParaRPr lang="en-US" sz="1200" dirty="0"/>
          </a:p>
        </p:txBody>
      </p:sp>
      <p:sp>
        <p:nvSpPr>
          <p:cNvPr id="10" name="Signal Cards Heading"/>
          <p:cNvSpPr/>
          <p:nvPr/>
        </p:nvSpPr>
        <p:spPr>
          <a:xfrm>
            <a:off x="566928" y="2616463"/>
            <a:ext cx="6583680" cy="292608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</a:pPr>
            <a:r>
              <a:rPr lang="en-US" sz="1800" b="1" dirty="0">
                <a:solidFill>
                  <a:srgbClr val="37AFFF"/>
                </a:solidFill>
                <a:latin typeface="Arial"/>
                <a:ea typeface="Arial"/>
                <a:cs typeface="Arial"/>
              </a:rPr>
              <a:t>Signals used in the outreach-readiness score</a:t>
            </a:r>
            <a:endParaRPr lang="en-US" sz="1800" dirty="0"/>
          </a:p>
        </p:txBody>
      </p:sp>
      <p:grpSp>
        <p:nvGrpSpPr>
          <p:cNvPr id="112" name="Signal Card - Recent paid usage"/>
          <p:cNvGrpSpPr/>
          <p:nvPr/>
        </p:nvGrpSpPr>
        <p:grpSpPr>
          <a:xfrm>
            <a:off x="0" y="8313"/>
            <a:ext cx="12192000" cy="6858000"/>
            <a:chOff x="0" y="0"/>
            <a:chExt cx="12192000" cy="6858000"/>
          </a:xfrm>
        </p:grpSpPr>
        <p:sp>
          <p:nvSpPr>
            <p:cNvPr id="12" name="Recent paid usage Card"/>
            <p:cNvSpPr/>
            <p:nvPr/>
          </p:nvSpPr>
          <p:spPr>
            <a:xfrm>
              <a:off x="566928" y="3246120"/>
              <a:ext cx="3401568" cy="1042416"/>
            </a:xfrm>
            <a:prstGeom prst="rect">
              <a:avLst/>
            </a:prstGeom>
            <a:solidFill>
              <a:srgbClr val="111111"/>
            </a:solidFill>
            <a:ln w="9525">
              <a:solidFill>
                <a:srgbClr val="2A2A2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Recent paid usage Accent"/>
            <p:cNvSpPr/>
            <p:nvPr/>
          </p:nvSpPr>
          <p:spPr>
            <a:xfrm>
              <a:off x="566928" y="3246120"/>
              <a:ext cx="54864" cy="1042416"/>
            </a:xfrm>
            <a:prstGeom prst="rect">
              <a:avLst/>
            </a:prstGeom>
            <a:solidFill>
              <a:srgbClr val="37AFFF"/>
            </a:solidFill>
            <a:ln w="0"/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Recent paid usage Title"/>
            <p:cNvSpPr/>
            <p:nvPr/>
          </p:nvSpPr>
          <p:spPr>
            <a:xfrm>
              <a:off x="694944" y="3319272"/>
              <a:ext cx="3063240" cy="237744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</a:pPr>
              <a:r>
                <a:rPr lang="en-US" sz="1450" b="1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Recent paid usage</a:t>
              </a:r>
              <a:endParaRPr lang="en-US" sz="1450" dirty="0"/>
            </a:p>
          </p:txBody>
        </p:sp>
        <p:sp>
          <p:nvSpPr>
            <p:cNvPr id="15" name="Recent paid usage Purpose"/>
            <p:cNvSpPr/>
            <p:nvPr/>
          </p:nvSpPr>
          <p:spPr>
            <a:xfrm>
              <a:off x="694944" y="3557016"/>
              <a:ext cx="3063240" cy="274320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</a:pPr>
              <a:r>
                <a:rPr lang="en-US" sz="1000" b="1">
                  <a:solidFill>
                    <a:srgbClr val="A7A7A7"/>
                  </a:solidFill>
                  <a:latin typeface="Arial"/>
                  <a:ea typeface="Arial"/>
                  <a:cs typeface="Arial"/>
                </a:rPr>
                <a:t>Current paid-product need / activity</a:t>
              </a:r>
              <a:endParaRPr lang="en-US" sz="1000" dirty="0"/>
            </a:p>
          </p:txBody>
        </p:sp>
        <p:sp>
          <p:nvSpPr>
            <p:cNvPr id="16" name="Recent paid usage Divider"/>
            <p:cNvSpPr/>
            <p:nvPr/>
          </p:nvSpPr>
          <p:spPr>
            <a:xfrm>
              <a:off x="694944" y="3840480"/>
              <a:ext cx="3127248" cy="0"/>
            </a:xfrm>
            <a:prstGeom prst="rect">
              <a:avLst/>
            </a:prstGeom>
            <a:noFill/>
            <a:ln w="6350">
              <a:solidFill>
                <a:srgbClr val="3A3A3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ent paid usage Definition"/>
            <p:cNvSpPr/>
            <p:nvPr/>
          </p:nvSpPr>
          <p:spPr>
            <a:xfrm>
              <a:off x="694944" y="3904488"/>
              <a:ext cx="3063240" cy="329184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</a:pPr>
              <a:r>
                <a:rPr lang="en-US" sz="950" b="0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Paid marketplace actions in the last 6 months</a:t>
              </a:r>
              <a:endParaRPr lang="en-US" sz="950" dirty="0"/>
            </a:p>
          </p:txBody>
        </p:sp>
      </p:grpSp>
      <p:grpSp>
        <p:nvGrpSpPr>
          <p:cNvPr id="118" name="Signal Card - Consistency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8" name="Consistency Card"/>
            <p:cNvSpPr/>
            <p:nvPr/>
          </p:nvSpPr>
          <p:spPr>
            <a:xfrm>
              <a:off x="4407408" y="3246120"/>
              <a:ext cx="3401568" cy="1042416"/>
            </a:xfrm>
            <a:prstGeom prst="rect">
              <a:avLst/>
            </a:prstGeom>
            <a:solidFill>
              <a:srgbClr val="171717"/>
            </a:solidFill>
            <a:ln w="9525">
              <a:solidFill>
                <a:srgbClr val="2A2A2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Consistency Accent"/>
            <p:cNvSpPr/>
            <p:nvPr/>
          </p:nvSpPr>
          <p:spPr>
            <a:xfrm>
              <a:off x="4407408" y="3246120"/>
              <a:ext cx="54864" cy="1042416"/>
            </a:xfrm>
            <a:prstGeom prst="rect">
              <a:avLst/>
            </a:prstGeom>
            <a:solidFill>
              <a:srgbClr val="37AFFF"/>
            </a:solidFill>
            <a:ln w="0"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Consistency Title"/>
            <p:cNvSpPr/>
            <p:nvPr/>
          </p:nvSpPr>
          <p:spPr>
            <a:xfrm>
              <a:off x="4535424" y="3319272"/>
              <a:ext cx="3063240" cy="237744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</a:pPr>
              <a:r>
                <a:rPr lang="en-US" sz="1450" b="1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Consistency</a:t>
              </a:r>
              <a:endParaRPr lang="en-US" sz="1450" dirty="0"/>
            </a:p>
          </p:txBody>
        </p:sp>
        <p:sp>
          <p:nvSpPr>
            <p:cNvPr id="21" name="Consistency Purpose"/>
            <p:cNvSpPr/>
            <p:nvPr/>
          </p:nvSpPr>
          <p:spPr>
            <a:xfrm>
              <a:off x="4535424" y="3557016"/>
              <a:ext cx="3063240" cy="274320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</a:pPr>
              <a:r>
                <a:rPr lang="en-US" sz="1000" b="1">
                  <a:solidFill>
                    <a:srgbClr val="A7A7A7"/>
                  </a:solidFill>
                  <a:latin typeface="Arial"/>
                  <a:ea typeface="Arial"/>
                  <a:cs typeface="Arial"/>
                </a:rPr>
                <a:t>Reliability as a subscription candidate</a:t>
              </a:r>
              <a:endParaRPr lang="en-US" sz="1000" dirty="0"/>
            </a:p>
          </p:txBody>
        </p:sp>
        <p:sp>
          <p:nvSpPr>
            <p:cNvPr id="22" name="Consistency Divider"/>
            <p:cNvSpPr/>
            <p:nvPr/>
          </p:nvSpPr>
          <p:spPr>
            <a:xfrm>
              <a:off x="4535424" y="3840480"/>
              <a:ext cx="3127248" cy="0"/>
            </a:xfrm>
            <a:prstGeom prst="rect">
              <a:avLst/>
            </a:prstGeom>
            <a:noFill/>
            <a:ln w="6350">
              <a:solidFill>
                <a:srgbClr val="3A3A3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Consistency Definition"/>
            <p:cNvSpPr/>
            <p:nvPr/>
          </p:nvSpPr>
          <p:spPr>
            <a:xfrm>
              <a:off x="4535424" y="3904488"/>
              <a:ext cx="3063240" cy="329184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</a:pPr>
              <a:r>
                <a:rPr lang="en-US" sz="950" b="0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Number of months with seller activity across 2023-2024</a:t>
              </a:r>
              <a:endParaRPr lang="en-US" sz="950" dirty="0"/>
            </a:p>
          </p:txBody>
        </p:sp>
      </p:grpSp>
      <p:grpSp>
        <p:nvGrpSpPr>
          <p:cNvPr id="124" name="Signal Card - Category breadth"/>
          <p:cNvGrpSpPr/>
          <p:nvPr/>
        </p:nvGrpSpPr>
        <p:grpSpPr>
          <a:xfrm>
            <a:off x="0" y="8313"/>
            <a:ext cx="12192000" cy="6858000"/>
            <a:chOff x="0" y="0"/>
            <a:chExt cx="12192000" cy="6858000"/>
          </a:xfrm>
        </p:grpSpPr>
        <p:sp>
          <p:nvSpPr>
            <p:cNvPr id="24" name="Category breadth Card"/>
            <p:cNvSpPr/>
            <p:nvPr/>
          </p:nvSpPr>
          <p:spPr>
            <a:xfrm>
              <a:off x="8247888" y="3246120"/>
              <a:ext cx="3401568" cy="1042416"/>
            </a:xfrm>
            <a:prstGeom prst="rect">
              <a:avLst/>
            </a:prstGeom>
            <a:solidFill>
              <a:srgbClr val="111111"/>
            </a:solidFill>
            <a:ln w="9525">
              <a:solidFill>
                <a:srgbClr val="2A2A2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Category breadth Accent"/>
            <p:cNvSpPr/>
            <p:nvPr/>
          </p:nvSpPr>
          <p:spPr>
            <a:xfrm>
              <a:off x="8247888" y="3246120"/>
              <a:ext cx="54864" cy="1042416"/>
            </a:xfrm>
            <a:prstGeom prst="rect">
              <a:avLst/>
            </a:prstGeom>
            <a:solidFill>
              <a:srgbClr val="37AFFF"/>
            </a:solidFill>
            <a:ln w="0"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Category breadth Title"/>
            <p:cNvSpPr/>
            <p:nvPr/>
          </p:nvSpPr>
          <p:spPr>
            <a:xfrm>
              <a:off x="8375904" y="3319272"/>
              <a:ext cx="3063240" cy="237744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</a:pPr>
              <a:r>
                <a:rPr lang="en-US" sz="1450" b="1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Category breadth</a:t>
              </a:r>
              <a:endParaRPr lang="en-US" sz="1450" dirty="0"/>
            </a:p>
          </p:txBody>
        </p:sp>
        <p:sp>
          <p:nvSpPr>
            <p:cNvPr id="27" name="Category breadth Purpose"/>
            <p:cNvSpPr/>
            <p:nvPr/>
          </p:nvSpPr>
          <p:spPr>
            <a:xfrm>
              <a:off x="8375904" y="3557016"/>
              <a:ext cx="3063240" cy="274320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</a:pPr>
              <a:r>
                <a:rPr lang="en-US" sz="1000" b="1">
                  <a:solidFill>
                    <a:srgbClr val="A7A7A7"/>
                  </a:solidFill>
                  <a:latin typeface="Arial"/>
                  <a:ea typeface="Arial"/>
                  <a:cs typeface="Arial"/>
                </a:rPr>
                <a:t>Fit for professional seller page / bundle value</a:t>
              </a:r>
              <a:endParaRPr lang="en-US" sz="1000" dirty="0"/>
            </a:p>
          </p:txBody>
        </p:sp>
        <p:sp>
          <p:nvSpPr>
            <p:cNvPr id="28" name="Category breadth Divider"/>
            <p:cNvSpPr/>
            <p:nvPr/>
          </p:nvSpPr>
          <p:spPr>
            <a:xfrm>
              <a:off x="8375904" y="3840480"/>
              <a:ext cx="3127248" cy="0"/>
            </a:xfrm>
            <a:prstGeom prst="rect">
              <a:avLst/>
            </a:prstGeom>
            <a:noFill/>
            <a:ln w="6350">
              <a:solidFill>
                <a:srgbClr val="3A3A3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Category breadth Definition"/>
            <p:cNvSpPr/>
            <p:nvPr/>
          </p:nvSpPr>
          <p:spPr>
            <a:xfrm>
              <a:off x="8375904" y="3904488"/>
              <a:ext cx="3063240" cy="329184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</a:pPr>
              <a:r>
                <a:rPr lang="en-US" sz="950" b="0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Number of categories used across 2023-2024</a:t>
              </a:r>
              <a:endParaRPr lang="en-US" sz="950" dirty="0"/>
            </a:p>
          </p:txBody>
        </p:sp>
      </p:grpSp>
      <p:grpSp>
        <p:nvGrpSpPr>
          <p:cNvPr id="130" name="Signal Card - Recent growth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0" name="Recent growth Card"/>
            <p:cNvSpPr/>
            <p:nvPr/>
          </p:nvSpPr>
          <p:spPr>
            <a:xfrm>
              <a:off x="566928" y="4526280"/>
              <a:ext cx="3401568" cy="1042416"/>
            </a:xfrm>
            <a:prstGeom prst="rect">
              <a:avLst/>
            </a:prstGeom>
            <a:solidFill>
              <a:srgbClr val="171717"/>
            </a:solidFill>
            <a:ln w="9525">
              <a:solidFill>
                <a:srgbClr val="2A2A2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Recent growth Accent"/>
            <p:cNvSpPr/>
            <p:nvPr/>
          </p:nvSpPr>
          <p:spPr>
            <a:xfrm>
              <a:off x="566928" y="4526280"/>
              <a:ext cx="54864" cy="1042416"/>
            </a:xfrm>
            <a:prstGeom prst="rect">
              <a:avLst/>
            </a:prstGeom>
            <a:solidFill>
              <a:srgbClr val="37AFFF"/>
            </a:solidFill>
            <a:ln w="0"/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Recent growth Title"/>
            <p:cNvSpPr/>
            <p:nvPr/>
          </p:nvSpPr>
          <p:spPr>
            <a:xfrm>
              <a:off x="694944" y="4599432"/>
              <a:ext cx="3063240" cy="237744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</a:pPr>
              <a:r>
                <a:rPr lang="en-US" sz="1450" b="1" dirty="0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Recent growth</a:t>
              </a:r>
              <a:endParaRPr lang="en-US" sz="1450" dirty="0"/>
            </a:p>
          </p:txBody>
        </p:sp>
        <p:sp>
          <p:nvSpPr>
            <p:cNvPr id="33" name="Recent growth Purpose"/>
            <p:cNvSpPr/>
            <p:nvPr/>
          </p:nvSpPr>
          <p:spPr>
            <a:xfrm>
              <a:off x="694944" y="4837176"/>
              <a:ext cx="3063240" cy="274320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</a:pPr>
              <a:r>
                <a:rPr lang="en-US" sz="1000" b="1">
                  <a:solidFill>
                    <a:srgbClr val="A7A7A7"/>
                  </a:solidFill>
                  <a:latin typeface="Arial"/>
                  <a:ea typeface="Arial"/>
                  <a:cs typeface="Arial"/>
                </a:rPr>
                <a:t>Momentum</a:t>
              </a:r>
              <a:endParaRPr lang="en-US" sz="1000" dirty="0"/>
            </a:p>
          </p:txBody>
        </p:sp>
        <p:sp>
          <p:nvSpPr>
            <p:cNvPr id="34" name="Recent growth Divider"/>
            <p:cNvSpPr/>
            <p:nvPr/>
          </p:nvSpPr>
          <p:spPr>
            <a:xfrm>
              <a:off x="694944" y="5120640"/>
              <a:ext cx="3127248" cy="0"/>
            </a:xfrm>
            <a:prstGeom prst="rect">
              <a:avLst/>
            </a:prstGeom>
            <a:noFill/>
            <a:ln w="6350">
              <a:solidFill>
                <a:srgbClr val="3A3A3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Recent growth Definition"/>
            <p:cNvSpPr/>
            <p:nvPr/>
          </p:nvSpPr>
          <p:spPr>
            <a:xfrm>
              <a:off x="694944" y="5184648"/>
              <a:ext cx="3063240" cy="329184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</a:pPr>
              <a:r>
                <a:rPr lang="en-US" sz="950" b="0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Recent paid usage vs prior 6 months, with +1 smoothing</a:t>
              </a:r>
              <a:endParaRPr lang="en-US" sz="950" dirty="0"/>
            </a:p>
          </p:txBody>
        </p:sp>
      </p:grpSp>
      <p:grpSp>
        <p:nvGrpSpPr>
          <p:cNvPr id="136" name="Signal Card - Total fees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6" name="Total fees Card"/>
            <p:cNvSpPr/>
            <p:nvPr/>
          </p:nvSpPr>
          <p:spPr>
            <a:xfrm>
              <a:off x="4407408" y="4526280"/>
              <a:ext cx="3401568" cy="1042416"/>
            </a:xfrm>
            <a:prstGeom prst="rect">
              <a:avLst/>
            </a:prstGeom>
            <a:solidFill>
              <a:srgbClr val="111111"/>
            </a:solidFill>
            <a:ln w="9525">
              <a:solidFill>
                <a:srgbClr val="2A2A2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otal fees Accent"/>
            <p:cNvSpPr/>
            <p:nvPr/>
          </p:nvSpPr>
          <p:spPr>
            <a:xfrm>
              <a:off x="4407408" y="4526280"/>
              <a:ext cx="54864" cy="1042416"/>
            </a:xfrm>
            <a:prstGeom prst="rect">
              <a:avLst/>
            </a:prstGeom>
            <a:solidFill>
              <a:srgbClr val="37AFFF"/>
            </a:solidFill>
            <a:ln w="0"/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otal fees Title"/>
            <p:cNvSpPr/>
            <p:nvPr/>
          </p:nvSpPr>
          <p:spPr>
            <a:xfrm>
              <a:off x="4535424" y="4599432"/>
              <a:ext cx="3063240" cy="237744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</a:pPr>
              <a:r>
                <a:rPr lang="en-US" sz="1450" b="1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Total fees</a:t>
              </a:r>
              <a:endParaRPr lang="en-US" sz="1450" dirty="0"/>
            </a:p>
          </p:txBody>
        </p:sp>
        <p:sp>
          <p:nvSpPr>
            <p:cNvPr id="39" name="Total fees Purpose"/>
            <p:cNvSpPr/>
            <p:nvPr/>
          </p:nvSpPr>
          <p:spPr>
            <a:xfrm>
              <a:off x="4535424" y="4837176"/>
              <a:ext cx="3063240" cy="274320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</a:pPr>
              <a:r>
                <a:rPr lang="en-US" sz="1000" b="1">
                  <a:solidFill>
                    <a:srgbClr val="A7A7A7"/>
                  </a:solidFill>
                  <a:latin typeface="Arial"/>
                  <a:ea typeface="Arial"/>
                  <a:cs typeface="Arial"/>
                </a:rPr>
                <a:t>Historical willingness to pay</a:t>
              </a:r>
              <a:endParaRPr lang="en-US" sz="1000" dirty="0"/>
            </a:p>
          </p:txBody>
        </p:sp>
        <p:sp>
          <p:nvSpPr>
            <p:cNvPr id="40" name="Total fees Divider"/>
            <p:cNvSpPr/>
            <p:nvPr/>
          </p:nvSpPr>
          <p:spPr>
            <a:xfrm>
              <a:off x="4535424" y="5120640"/>
              <a:ext cx="3127248" cy="0"/>
            </a:xfrm>
            <a:prstGeom prst="rect">
              <a:avLst/>
            </a:prstGeom>
            <a:noFill/>
            <a:ln w="6350">
              <a:solidFill>
                <a:srgbClr val="3A3A3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otal fees Definition"/>
            <p:cNvSpPr/>
            <p:nvPr/>
          </p:nvSpPr>
          <p:spPr>
            <a:xfrm>
              <a:off x="4535424" y="5184648"/>
              <a:ext cx="3063240" cy="329184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</a:pPr>
              <a:r>
                <a:rPr lang="en-US" sz="950" b="0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Total fees paid across 2023-2024</a:t>
              </a:r>
              <a:endParaRPr lang="en-US" sz="950" dirty="0"/>
            </a:p>
          </p:txBody>
        </p:sp>
      </p:grpSp>
      <p:grpSp>
        <p:nvGrpSpPr>
          <p:cNvPr id="142" name="Signal Card - Paid product breadth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2" name="Paid product breadth Card"/>
            <p:cNvSpPr/>
            <p:nvPr/>
          </p:nvSpPr>
          <p:spPr>
            <a:xfrm>
              <a:off x="8247888" y="4526280"/>
              <a:ext cx="3401568" cy="1042416"/>
            </a:xfrm>
            <a:prstGeom prst="rect">
              <a:avLst/>
            </a:prstGeom>
            <a:solidFill>
              <a:srgbClr val="171717"/>
            </a:solidFill>
            <a:ln w="9525">
              <a:solidFill>
                <a:srgbClr val="2A2A2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Paid product breadth Accent"/>
            <p:cNvSpPr/>
            <p:nvPr/>
          </p:nvSpPr>
          <p:spPr>
            <a:xfrm>
              <a:off x="8247888" y="4526280"/>
              <a:ext cx="54864" cy="1042416"/>
            </a:xfrm>
            <a:prstGeom prst="rect">
              <a:avLst/>
            </a:prstGeom>
            <a:solidFill>
              <a:srgbClr val="37AFFF"/>
            </a:solidFill>
            <a:ln w="0"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Paid product breadth Title"/>
            <p:cNvSpPr/>
            <p:nvPr/>
          </p:nvSpPr>
          <p:spPr>
            <a:xfrm>
              <a:off x="8375904" y="4599432"/>
              <a:ext cx="3063240" cy="237744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</a:pPr>
              <a:r>
                <a:rPr lang="en-US" sz="1450" b="1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Paid product breadth</a:t>
              </a:r>
              <a:endParaRPr lang="en-US" sz="1450" dirty="0"/>
            </a:p>
          </p:txBody>
        </p:sp>
        <p:sp>
          <p:nvSpPr>
            <p:cNvPr id="45" name="Paid product breadth Purpose"/>
            <p:cNvSpPr/>
            <p:nvPr/>
          </p:nvSpPr>
          <p:spPr>
            <a:xfrm>
              <a:off x="8375904" y="4837176"/>
              <a:ext cx="3063240" cy="274320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</a:pPr>
              <a:r>
                <a:rPr lang="en-US" sz="1000" b="1">
                  <a:solidFill>
                    <a:srgbClr val="A7A7A7"/>
                  </a:solidFill>
                  <a:latin typeface="Arial"/>
                  <a:ea typeface="Arial"/>
                  <a:cs typeface="Arial"/>
                </a:rPr>
                <a:t>Familiarity with multiple paid products</a:t>
              </a:r>
              <a:endParaRPr lang="en-US" sz="1000" dirty="0"/>
            </a:p>
          </p:txBody>
        </p:sp>
        <p:sp>
          <p:nvSpPr>
            <p:cNvPr id="46" name="Paid product breadth Divider"/>
            <p:cNvSpPr/>
            <p:nvPr/>
          </p:nvSpPr>
          <p:spPr>
            <a:xfrm>
              <a:off x="8375904" y="5120640"/>
              <a:ext cx="3127248" cy="0"/>
            </a:xfrm>
            <a:prstGeom prst="rect">
              <a:avLst/>
            </a:prstGeom>
            <a:noFill/>
            <a:ln w="6350">
              <a:solidFill>
                <a:srgbClr val="3A3A3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Paid product breadth Definition"/>
            <p:cNvSpPr/>
            <p:nvPr/>
          </p:nvSpPr>
          <p:spPr>
            <a:xfrm>
              <a:off x="8375904" y="5184648"/>
              <a:ext cx="3063240" cy="329184"/>
            </a:xfrm>
            <a:prstGeom prst="rect">
              <a:avLst/>
            </a:prstGeom>
            <a:noFill/>
            <a:ln w="0"/>
          </p:spPr>
          <p:txBody>
            <a:bodyPr lIns="57150" tIns="38100" rIns="57150" bIns="38100" anchor="t"/>
            <a:lstStyle/>
            <a:p>
              <a:pPr algn="l">
                <a:buNone/>
              </a:pPr>
              <a:r>
                <a:rPr lang="en-US" sz="950" b="0">
                  <a:solidFill>
                    <a:srgbClr val="F3F4F6"/>
                  </a:solidFill>
                  <a:latin typeface="Arial"/>
                  <a:ea typeface="Arial"/>
                  <a:cs typeface="Arial"/>
                </a:rPr>
                <a:t>Number of distinct paid marketplace product types used across 2023-2024</a:t>
              </a:r>
              <a:endParaRPr lang="en-US" sz="950" dirty="0"/>
            </a:p>
          </p:txBody>
        </p:sp>
      </p:grpSp>
      <p:sp>
        <p:nvSpPr>
          <p:cNvPr id="2" name="Scale Note">
            <a:extLst>
              <a:ext uri="{FF2B5EF4-FFF2-40B4-BE49-F238E27FC236}">
                <a16:creationId xmlns:a16="http://schemas.microsoft.com/office/drawing/2014/main" id="{84D987C4-8570-D048-F5D6-7587B1B39360}"/>
              </a:ext>
            </a:extLst>
          </p:cNvPr>
          <p:cNvSpPr/>
          <p:nvPr/>
        </p:nvSpPr>
        <p:spPr>
          <a:xfrm>
            <a:off x="566928" y="5732271"/>
            <a:ext cx="7283196" cy="164592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900" b="1">
                <a:solidFill>
                  <a:srgbClr val="A7A7A7"/>
                </a:solidFill>
                <a:latin typeface="Arial"/>
                <a:ea typeface="Arial"/>
                <a:cs typeface="Arial"/>
              </a:defRPr>
            </a:pPr>
            <a:r>
              <a:rPr lang="en-US" sz="900" b="1" dirty="0">
                <a:solidFill>
                  <a:srgbClr val="A7A7A7"/>
                </a:solidFill>
                <a:latin typeface="Arial"/>
                <a:ea typeface="Arial"/>
                <a:cs typeface="Arial"/>
              </a:rPr>
              <a:t>Each signal is on a 0-100 percentile scale; very large raw values improve rank but do not dominate the score.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37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>
              <a:solidFill>
                <a:srgbClr val="37A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Outreach Readiness</a:t>
            </a:r>
            <a:endParaRPr lang="en-US" sz="3600" dirty="0">
              <a:solidFill>
                <a:srgbClr val="F3F4F6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6210330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Outreach Prioritization</a:t>
            </a:r>
            <a:endParaRPr lang="en-US" sz="900" b="0" dirty="0">
              <a:solidFill>
                <a:srgbClr val="A5A5A5"/>
              </a:solidFill>
              <a:latin typeface="Arial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12</a:t>
            </a:r>
            <a:endParaRPr lang="en-US" sz="900" dirty="0"/>
          </a:p>
        </p:txBody>
      </p:sp>
      <p:pic>
        <p:nvPicPr>
          <p:cNvPr id="11" name="Image 0" descr="/Users/omertal/PycharmProjects/Marketplaats/outputs/manual-20260615-q2-refresh/assets/cell_2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07008" y="1975481"/>
            <a:ext cx="8138160" cy="3543300"/>
          </a:xfrm>
          <a:prstGeom prst="rect">
            <a:avLst/>
          </a:prstGeom>
        </p:spPr>
      </p:pic>
      <p:sp>
        <p:nvSpPr>
          <p:cNvPr id="9" name="Text 7">
            <a:extLst>
              <a:ext uri="{FF2B5EF4-FFF2-40B4-BE49-F238E27FC236}">
                <a16:creationId xmlns:a16="http://schemas.microsoft.com/office/drawing/2014/main" id="{4243474C-66DE-79D9-9C84-E5A9E4FA6E74}"/>
              </a:ext>
            </a:extLst>
          </p:cNvPr>
          <p:cNvSpPr/>
          <p:nvPr/>
        </p:nvSpPr>
        <p:spPr>
          <a:xfrm>
            <a:off x="1963266" y="1339219"/>
            <a:ext cx="4226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7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Profile by Outreach Scoring Method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37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>
              <a:solidFill>
                <a:srgbClr val="37A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Outreach Readiness</a:t>
            </a:r>
            <a:endParaRPr lang="en-US" sz="3600" dirty="0">
              <a:solidFill>
                <a:srgbClr val="F3F4F6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6210330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Outreach Prioritization</a:t>
            </a:r>
            <a:endParaRPr lang="en-US" sz="900" b="0" dirty="0">
              <a:solidFill>
                <a:srgbClr val="A5A5A5"/>
              </a:solidFill>
              <a:latin typeface="Arial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12</a:t>
            </a:r>
            <a:endParaRPr lang="en-US" sz="900" dirty="0"/>
          </a:p>
        </p:txBody>
      </p:sp>
      <p:pic>
        <p:nvPicPr>
          <p:cNvPr id="9" name="Image 0" descr="/Users/omertal/PycharmProjects/Marketplaats/outputs/manual-20260615-q2-refresh/assets/cell_23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5847" y="2163935"/>
            <a:ext cx="3817620" cy="310896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0748932"/>
              </p:ext>
            </p:extLst>
          </p:nvPr>
        </p:nvGraphicFramePr>
        <p:xfrm>
          <a:off x="5870448" y="1298448"/>
          <a:ext cx="5669280" cy="445643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2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Neither</a:t>
                      </a:r>
                      <a:endParaRPr lang="en-US" sz="10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 Overlap</a:t>
                      </a:r>
                      <a:endParaRPr lang="en-US" sz="10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Outreach- ready group only</a:t>
                      </a:r>
                      <a:endParaRPr lang="en-US" sz="10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Total-fee group only</a:t>
                      </a:r>
                      <a:endParaRPr lang="en-US" sz="1000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2476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556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404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404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Fees per Seller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€18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€1,907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€51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€382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6mo Fees per Seller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€6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€310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€22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€61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Active Months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21.6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17.3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Recent Paid Usage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505.8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208.8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19.2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Category Count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9.1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13.4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Paid Product Breadth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6mo Paid Action Growth 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+0%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+12%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+87%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-17%</a:t>
                      </a:r>
                      <a:endParaRPr lang="en-US" sz="1000" b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150" marR="57150" marT="28575" marB="28575" anchor="ctr">
                    <a:lnL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 7">
            <a:extLst>
              <a:ext uri="{FF2B5EF4-FFF2-40B4-BE49-F238E27FC236}">
                <a16:creationId xmlns:a16="http://schemas.microsoft.com/office/drawing/2014/main" id="{F6C36C44-B6ED-4BE8-46F2-27DF3F2ECFFD}"/>
              </a:ext>
            </a:extLst>
          </p:cNvPr>
          <p:cNvSpPr/>
          <p:nvPr/>
        </p:nvSpPr>
        <p:spPr>
          <a:xfrm>
            <a:off x="821775" y="1445297"/>
            <a:ext cx="4226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7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Group Selection Summary</a:t>
            </a:r>
            <a:endParaRPr lang="en-US" sz="18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ction Number"/>
          <p:cNvSpPr/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</a:t>
            </a:r>
            <a:endParaRPr lang="en-US" sz="3600" dirty="0"/>
          </a:p>
        </p:txBody>
      </p:sp>
      <p:sp>
        <p:nvSpPr>
          <p:cNvPr id="4" name="Title"/>
          <p:cNvSpPr/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Bundle Choice</a:t>
            </a:r>
            <a:endParaRPr lang="en-US" sz="3600" dirty="0">
              <a:solidFill>
                <a:srgbClr val="F3F4F6"/>
              </a:solidFill>
            </a:endParaRPr>
          </a:p>
        </p:txBody>
      </p:sp>
      <p:sp>
        <p:nvSpPr>
          <p:cNvPr id="5" name="Top Divider"/>
          <p:cNvSpPr/>
          <p:nvPr/>
        </p:nvSpPr>
        <p:spPr>
          <a:xfrm>
            <a:off x="457200" y="1160008"/>
            <a:ext cx="11277570" cy="0"/>
          </a:xfrm>
          <a:prstGeom prst="rect">
            <a:avLst/>
          </a:prstGeom>
          <a:noFill/>
          <a:ln w="9525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Intro"/>
          <p:cNvSpPr/>
          <p:nvPr/>
        </p:nvSpPr>
        <p:spPr>
          <a:xfrm>
            <a:off x="566928" y="1353312"/>
            <a:ext cx="10698480" cy="27432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3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13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After selecting the outreach-ready group, use a separate bundle-fit score to suggest which bundle to pitch.</a:t>
            </a:r>
            <a:endParaRPr lang="en-US" sz="1350" dirty="0"/>
          </a:p>
        </p:txBody>
      </p:sp>
      <p:sp>
        <p:nvSpPr>
          <p:cNvPr id="22" name="Used Header"/>
          <p:cNvSpPr/>
          <p:nvPr/>
        </p:nvSpPr>
        <p:spPr>
          <a:xfrm>
            <a:off x="566928" y="2646411"/>
            <a:ext cx="3566160" cy="237744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55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lang="en-US" sz="1550" b="1" dirty="0">
                <a:solidFill>
                  <a:srgbClr val="37AFFF"/>
                </a:solidFill>
                <a:latin typeface="Arial"/>
                <a:ea typeface="Arial"/>
                <a:cs typeface="Arial"/>
              </a:rPr>
              <a:t>Used in bundle-fit score</a:t>
            </a:r>
            <a:endParaRPr lang="en-US" sz="1550" dirty="0"/>
          </a:p>
        </p:txBody>
      </p:sp>
      <p:sp>
        <p:nvSpPr>
          <p:cNvPr id="23" name="Used Sub"/>
          <p:cNvSpPr/>
          <p:nvPr/>
        </p:nvSpPr>
        <p:spPr>
          <a:xfrm>
            <a:off x="566928" y="2944368"/>
            <a:ext cx="3474720" cy="164592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950" b="1">
                <a:solidFill>
                  <a:srgbClr val="A7A7A7"/>
                </a:solidFill>
                <a:latin typeface="Arial"/>
                <a:ea typeface="Arial"/>
                <a:cs typeface="Arial"/>
              </a:defRPr>
            </a:pPr>
            <a:r>
              <a:rPr lang="en-US" sz="950" b="1" dirty="0">
                <a:solidFill>
                  <a:srgbClr val="A7A7A7"/>
                </a:solidFill>
                <a:latin typeface="Arial"/>
                <a:ea typeface="Arial"/>
                <a:cs typeface="Arial"/>
              </a:rPr>
              <a:t>directly maps to Plus value</a:t>
            </a:r>
            <a:endParaRPr lang="en-US" sz="950" dirty="0"/>
          </a:p>
        </p:txBody>
      </p:sp>
      <p:sp>
        <p:nvSpPr>
          <p:cNvPr id="24" name="Unused Header"/>
          <p:cNvSpPr/>
          <p:nvPr/>
        </p:nvSpPr>
        <p:spPr>
          <a:xfrm>
            <a:off x="6236208" y="2646411"/>
            <a:ext cx="3840480" cy="237744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55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1550" b="1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Not used for bundle choice</a:t>
            </a:r>
            <a:endParaRPr lang="en-US" sz="1550" dirty="0"/>
          </a:p>
        </p:txBody>
      </p:sp>
      <p:sp>
        <p:nvSpPr>
          <p:cNvPr id="26" name="Row - Paid visibility usage"/>
          <p:cNvSpPr/>
          <p:nvPr/>
        </p:nvSpPr>
        <p:spPr>
          <a:xfrm>
            <a:off x="566928" y="3182112"/>
            <a:ext cx="5230368" cy="530352"/>
          </a:xfrm>
          <a:prstGeom prst="rect">
            <a:avLst/>
          </a:prstGeom>
          <a:solidFill>
            <a:srgbClr val="0C0C0C"/>
          </a:solidFill>
          <a:ln w="6350">
            <a:solidFill>
              <a:srgbClr val="242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Row Accent - Paid visibility usage"/>
          <p:cNvSpPr/>
          <p:nvPr/>
        </p:nvSpPr>
        <p:spPr>
          <a:xfrm>
            <a:off x="566928" y="3182112"/>
            <a:ext cx="45720" cy="530352"/>
          </a:xfrm>
          <a:prstGeom prst="rect">
            <a:avLst/>
          </a:prstGeom>
          <a:solidFill>
            <a:srgbClr val="37AFFF"/>
          </a:solidFill>
          <a:ln w="0"/>
        </p:spPr>
        <p:txBody>
          <a:bodyPr/>
          <a:lstStyle/>
          <a:p>
            <a:endParaRPr lang="en-US"/>
          </a:p>
        </p:txBody>
      </p:sp>
      <p:sp>
        <p:nvSpPr>
          <p:cNvPr id="28" name="Signal - Paid visibility usage"/>
          <p:cNvSpPr/>
          <p:nvPr/>
        </p:nvSpPr>
        <p:spPr>
          <a:xfrm>
            <a:off x="676656" y="3232404"/>
            <a:ext cx="1600200" cy="155448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0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10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Paid visibility usage</a:t>
            </a:r>
            <a:endParaRPr lang="en-US" sz="1050" dirty="0"/>
          </a:p>
        </p:txBody>
      </p:sp>
      <p:sp>
        <p:nvSpPr>
          <p:cNvPr id="29" name="Usage - Paid visibility usage"/>
          <p:cNvSpPr/>
          <p:nvPr/>
        </p:nvSpPr>
        <p:spPr>
          <a:xfrm>
            <a:off x="676656" y="3424428"/>
            <a:ext cx="2057400" cy="173736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1">
                <a:solidFill>
                  <a:srgbClr val="A7A7A7"/>
                </a:solidFill>
                <a:latin typeface="Arial"/>
                <a:ea typeface="Arial"/>
                <a:cs typeface="Arial"/>
              </a:defRPr>
            </a:pPr>
            <a:r>
              <a:rPr lang="en-US"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Count of paid visibility actions*</a:t>
            </a:r>
            <a:endParaRPr lang="en-US" sz="850" dirty="0"/>
          </a:p>
        </p:txBody>
      </p:sp>
      <p:sp>
        <p:nvSpPr>
          <p:cNvPr id="30" name="Reason - Paid visibility usage"/>
          <p:cNvSpPr/>
          <p:nvPr/>
        </p:nvSpPr>
        <p:spPr>
          <a:xfrm>
            <a:off x="2815986" y="3255264"/>
            <a:ext cx="2772095" cy="438912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85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Direct match to Plus benefits: more visibility and cross-ad promotion.</a:t>
            </a:r>
            <a:endParaRPr lang="en-US" sz="850" dirty="0"/>
          </a:p>
        </p:txBody>
      </p:sp>
      <p:sp>
        <p:nvSpPr>
          <p:cNvPr id="31" name="Row - Paid product breadth"/>
          <p:cNvSpPr/>
          <p:nvPr/>
        </p:nvSpPr>
        <p:spPr>
          <a:xfrm>
            <a:off x="566928" y="3840480"/>
            <a:ext cx="5230368" cy="530352"/>
          </a:xfrm>
          <a:prstGeom prst="rect">
            <a:avLst/>
          </a:prstGeom>
          <a:solidFill>
            <a:srgbClr val="0C0C0C"/>
          </a:solidFill>
          <a:ln w="6350">
            <a:solidFill>
              <a:srgbClr val="242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Row Accent - Paid product breadth"/>
          <p:cNvSpPr/>
          <p:nvPr/>
        </p:nvSpPr>
        <p:spPr>
          <a:xfrm>
            <a:off x="566928" y="3840480"/>
            <a:ext cx="45720" cy="530352"/>
          </a:xfrm>
          <a:prstGeom prst="rect">
            <a:avLst/>
          </a:prstGeom>
          <a:solidFill>
            <a:srgbClr val="37AFFF"/>
          </a:solidFill>
          <a:ln w="0"/>
        </p:spPr>
        <p:txBody>
          <a:bodyPr/>
          <a:lstStyle/>
          <a:p>
            <a:endParaRPr lang="en-US"/>
          </a:p>
        </p:txBody>
      </p:sp>
      <p:sp>
        <p:nvSpPr>
          <p:cNvPr id="33" name="Signal - Paid product breadth"/>
          <p:cNvSpPr/>
          <p:nvPr/>
        </p:nvSpPr>
        <p:spPr>
          <a:xfrm>
            <a:off x="676656" y="3890772"/>
            <a:ext cx="1600200" cy="155448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0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10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Paid product breadth</a:t>
            </a:r>
            <a:endParaRPr lang="en-US" sz="1050" dirty="0"/>
          </a:p>
        </p:txBody>
      </p:sp>
      <p:sp>
        <p:nvSpPr>
          <p:cNvPr id="34" name="Usage - Paid product breadth"/>
          <p:cNvSpPr/>
          <p:nvPr/>
        </p:nvSpPr>
        <p:spPr>
          <a:xfrm>
            <a:off x="676656" y="4082796"/>
            <a:ext cx="2057400" cy="173736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1">
                <a:solidFill>
                  <a:srgbClr val="A7A7A7"/>
                </a:solidFill>
                <a:latin typeface="Arial"/>
                <a:ea typeface="Arial"/>
                <a:cs typeface="Arial"/>
              </a:defRPr>
            </a:pPr>
            <a:r>
              <a:rPr lang="en-US"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Count of distinct paid product types</a:t>
            </a:r>
            <a:endParaRPr lang="en-US" sz="850" dirty="0"/>
          </a:p>
        </p:txBody>
      </p:sp>
      <p:sp>
        <p:nvSpPr>
          <p:cNvPr id="35" name="Reason - Paid product breadth"/>
          <p:cNvSpPr/>
          <p:nvPr/>
        </p:nvSpPr>
        <p:spPr>
          <a:xfrm>
            <a:off x="2815986" y="3913632"/>
            <a:ext cx="2772095" cy="438912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85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Sellers using multiple paid products already understand paid value.</a:t>
            </a:r>
            <a:endParaRPr lang="en-US" sz="850" dirty="0"/>
          </a:p>
        </p:txBody>
      </p:sp>
      <p:sp>
        <p:nvSpPr>
          <p:cNvPr id="36" name="Row - Listing volume"/>
          <p:cNvSpPr/>
          <p:nvPr/>
        </p:nvSpPr>
        <p:spPr>
          <a:xfrm>
            <a:off x="566928" y="4498848"/>
            <a:ext cx="5230368" cy="530352"/>
          </a:xfrm>
          <a:prstGeom prst="rect">
            <a:avLst/>
          </a:prstGeom>
          <a:solidFill>
            <a:srgbClr val="0C0C0C"/>
          </a:solidFill>
          <a:ln w="6350">
            <a:solidFill>
              <a:srgbClr val="242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Row Accent - Listing volume"/>
          <p:cNvSpPr/>
          <p:nvPr/>
        </p:nvSpPr>
        <p:spPr>
          <a:xfrm>
            <a:off x="566928" y="4498848"/>
            <a:ext cx="45720" cy="530352"/>
          </a:xfrm>
          <a:prstGeom prst="rect">
            <a:avLst/>
          </a:prstGeom>
          <a:solidFill>
            <a:srgbClr val="37AFFF"/>
          </a:solidFill>
          <a:ln w="0"/>
        </p:spPr>
        <p:txBody>
          <a:bodyPr/>
          <a:lstStyle/>
          <a:p>
            <a:endParaRPr lang="en-US"/>
          </a:p>
        </p:txBody>
      </p:sp>
      <p:sp>
        <p:nvSpPr>
          <p:cNvPr id="38" name="Signal - Listing volume"/>
          <p:cNvSpPr/>
          <p:nvPr/>
        </p:nvSpPr>
        <p:spPr>
          <a:xfrm>
            <a:off x="676656" y="4549140"/>
            <a:ext cx="1600200" cy="155448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0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10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Listing volume</a:t>
            </a:r>
            <a:endParaRPr lang="en-US" sz="1050" dirty="0"/>
          </a:p>
        </p:txBody>
      </p:sp>
      <p:sp>
        <p:nvSpPr>
          <p:cNvPr id="39" name="Usage - Listing volume"/>
          <p:cNvSpPr/>
          <p:nvPr/>
        </p:nvSpPr>
        <p:spPr>
          <a:xfrm>
            <a:off x="676656" y="4741164"/>
            <a:ext cx="2057400" cy="173736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1">
                <a:solidFill>
                  <a:srgbClr val="A7A7A7"/>
                </a:solidFill>
                <a:latin typeface="Arial"/>
                <a:ea typeface="Arial"/>
                <a:cs typeface="Arial"/>
              </a:defRPr>
            </a:pPr>
            <a:r>
              <a:rPr lang="en-US"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Total ad insertions (free + paid)</a:t>
            </a:r>
            <a:endParaRPr lang="en-US" sz="850" dirty="0"/>
          </a:p>
        </p:txBody>
      </p:sp>
      <p:sp>
        <p:nvSpPr>
          <p:cNvPr id="40" name="Reason - Listing volume"/>
          <p:cNvSpPr/>
          <p:nvPr/>
        </p:nvSpPr>
        <p:spPr>
          <a:xfrm>
            <a:off x="2815986" y="4572000"/>
            <a:ext cx="2772095" cy="438912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85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Direct match to Plus cross-ad value: more ads means more inventory to promote from each listing.</a:t>
            </a:r>
            <a:endParaRPr lang="en-US" sz="850" dirty="0"/>
          </a:p>
        </p:txBody>
      </p:sp>
      <p:sp>
        <p:nvSpPr>
          <p:cNvPr id="41" name="Row - Category breadth"/>
          <p:cNvSpPr/>
          <p:nvPr/>
        </p:nvSpPr>
        <p:spPr>
          <a:xfrm>
            <a:off x="6236208" y="3182112"/>
            <a:ext cx="5321808" cy="365760"/>
          </a:xfrm>
          <a:prstGeom prst="rect">
            <a:avLst/>
          </a:prstGeom>
          <a:solidFill>
            <a:srgbClr val="0C0C0C"/>
          </a:solidFill>
          <a:ln w="6350">
            <a:solidFill>
              <a:srgbClr val="242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Row Accent - Category breadth"/>
          <p:cNvSpPr/>
          <p:nvPr/>
        </p:nvSpPr>
        <p:spPr>
          <a:xfrm>
            <a:off x="6236208" y="3182112"/>
            <a:ext cx="45720" cy="365760"/>
          </a:xfrm>
          <a:prstGeom prst="rect">
            <a:avLst/>
          </a:prstGeom>
          <a:solidFill>
            <a:srgbClr val="555555"/>
          </a:solidFill>
          <a:ln w="0"/>
        </p:spPr>
        <p:txBody>
          <a:bodyPr/>
          <a:lstStyle/>
          <a:p>
            <a:endParaRPr lang="en-US"/>
          </a:p>
        </p:txBody>
      </p:sp>
      <p:sp>
        <p:nvSpPr>
          <p:cNvPr id="43" name="Signal - Category breadth"/>
          <p:cNvSpPr/>
          <p:nvPr/>
        </p:nvSpPr>
        <p:spPr>
          <a:xfrm>
            <a:off x="6345936" y="3232404"/>
            <a:ext cx="1600200" cy="155448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0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10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Category breadth</a:t>
            </a:r>
            <a:endParaRPr lang="en-US" sz="1050" dirty="0"/>
          </a:p>
        </p:txBody>
      </p:sp>
      <p:sp>
        <p:nvSpPr>
          <p:cNvPr id="45" name="Reason - Category breadth"/>
          <p:cNvSpPr/>
          <p:nvPr/>
        </p:nvSpPr>
        <p:spPr>
          <a:xfrm>
            <a:off x="8524585" y="3255264"/>
            <a:ext cx="2820558" cy="27432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85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Listing volume is a clearer fit for cross-ad promotion.</a:t>
            </a:r>
            <a:endParaRPr lang="en-US" sz="850" dirty="0"/>
          </a:p>
        </p:txBody>
      </p:sp>
      <p:sp>
        <p:nvSpPr>
          <p:cNvPr id="46" name="Row - Recent paid usage"/>
          <p:cNvSpPr/>
          <p:nvPr/>
        </p:nvSpPr>
        <p:spPr>
          <a:xfrm>
            <a:off x="6236208" y="3630168"/>
            <a:ext cx="5321808" cy="365760"/>
          </a:xfrm>
          <a:prstGeom prst="rect">
            <a:avLst/>
          </a:prstGeom>
          <a:solidFill>
            <a:srgbClr val="0C0C0C"/>
          </a:solidFill>
          <a:ln w="6350">
            <a:solidFill>
              <a:srgbClr val="242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" name="Row Accent - Recent paid usage"/>
          <p:cNvSpPr/>
          <p:nvPr/>
        </p:nvSpPr>
        <p:spPr>
          <a:xfrm>
            <a:off x="6236208" y="3630168"/>
            <a:ext cx="45720" cy="365760"/>
          </a:xfrm>
          <a:prstGeom prst="rect">
            <a:avLst/>
          </a:prstGeom>
          <a:solidFill>
            <a:srgbClr val="555555"/>
          </a:solidFill>
          <a:ln w="0"/>
        </p:spPr>
        <p:txBody>
          <a:bodyPr/>
          <a:lstStyle/>
          <a:p>
            <a:endParaRPr lang="en-US"/>
          </a:p>
        </p:txBody>
      </p:sp>
      <p:sp>
        <p:nvSpPr>
          <p:cNvPr id="48" name="Signal - Recent paid usage"/>
          <p:cNvSpPr/>
          <p:nvPr/>
        </p:nvSpPr>
        <p:spPr>
          <a:xfrm>
            <a:off x="6345936" y="3680460"/>
            <a:ext cx="1600200" cy="155448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0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10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Recent paid usage</a:t>
            </a:r>
            <a:endParaRPr lang="en-US" sz="1050" dirty="0"/>
          </a:p>
        </p:txBody>
      </p:sp>
      <p:sp>
        <p:nvSpPr>
          <p:cNvPr id="50" name="Reason - Recent paid usage"/>
          <p:cNvSpPr/>
          <p:nvPr/>
        </p:nvSpPr>
        <p:spPr>
          <a:xfrm>
            <a:off x="8524585" y="3703320"/>
            <a:ext cx="2820558" cy="27432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85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Too broad for bundle choice; the bundle-fit score uses visibility-specific usage instead.</a:t>
            </a:r>
            <a:endParaRPr lang="en-US" sz="850" dirty="0"/>
          </a:p>
        </p:txBody>
      </p:sp>
      <p:sp>
        <p:nvSpPr>
          <p:cNvPr id="51" name="Row - Consistency"/>
          <p:cNvSpPr/>
          <p:nvPr/>
        </p:nvSpPr>
        <p:spPr>
          <a:xfrm>
            <a:off x="6236208" y="4078224"/>
            <a:ext cx="5321808" cy="365760"/>
          </a:xfrm>
          <a:prstGeom prst="rect">
            <a:avLst/>
          </a:prstGeom>
          <a:solidFill>
            <a:srgbClr val="0C0C0C"/>
          </a:solidFill>
          <a:ln w="6350">
            <a:solidFill>
              <a:srgbClr val="242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Row Accent - Consistency"/>
          <p:cNvSpPr/>
          <p:nvPr/>
        </p:nvSpPr>
        <p:spPr>
          <a:xfrm>
            <a:off x="6236208" y="4078224"/>
            <a:ext cx="45720" cy="365760"/>
          </a:xfrm>
          <a:prstGeom prst="rect">
            <a:avLst/>
          </a:prstGeom>
          <a:solidFill>
            <a:srgbClr val="555555"/>
          </a:solidFill>
          <a:ln w="0"/>
        </p:spPr>
        <p:txBody>
          <a:bodyPr/>
          <a:lstStyle/>
          <a:p>
            <a:endParaRPr lang="en-US"/>
          </a:p>
        </p:txBody>
      </p:sp>
      <p:sp>
        <p:nvSpPr>
          <p:cNvPr id="53" name="Signal - Consistency"/>
          <p:cNvSpPr/>
          <p:nvPr/>
        </p:nvSpPr>
        <p:spPr>
          <a:xfrm>
            <a:off x="6345936" y="4128516"/>
            <a:ext cx="1600200" cy="155448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0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10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Consistency</a:t>
            </a:r>
            <a:endParaRPr lang="en-US" sz="1050" dirty="0"/>
          </a:p>
        </p:txBody>
      </p:sp>
      <p:sp>
        <p:nvSpPr>
          <p:cNvPr id="55" name="Reason - Consistency"/>
          <p:cNvSpPr/>
          <p:nvPr/>
        </p:nvSpPr>
        <p:spPr>
          <a:xfrm>
            <a:off x="8524585" y="4151376"/>
            <a:ext cx="2820558" cy="27432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85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Does not distinguish Basic vs Plus.</a:t>
            </a:r>
            <a:endParaRPr lang="en-US" sz="850" dirty="0"/>
          </a:p>
        </p:txBody>
      </p:sp>
      <p:sp>
        <p:nvSpPr>
          <p:cNvPr id="56" name="Row - Recent growth"/>
          <p:cNvSpPr/>
          <p:nvPr/>
        </p:nvSpPr>
        <p:spPr>
          <a:xfrm>
            <a:off x="6236208" y="4526280"/>
            <a:ext cx="5321808" cy="365760"/>
          </a:xfrm>
          <a:prstGeom prst="rect">
            <a:avLst/>
          </a:prstGeom>
          <a:solidFill>
            <a:srgbClr val="0C0C0C"/>
          </a:solidFill>
          <a:ln w="6350">
            <a:solidFill>
              <a:srgbClr val="242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7" name="Row Accent - Recent growth"/>
          <p:cNvSpPr/>
          <p:nvPr/>
        </p:nvSpPr>
        <p:spPr>
          <a:xfrm>
            <a:off x="6236208" y="4526280"/>
            <a:ext cx="45720" cy="365760"/>
          </a:xfrm>
          <a:prstGeom prst="rect">
            <a:avLst/>
          </a:prstGeom>
          <a:solidFill>
            <a:srgbClr val="555555"/>
          </a:solidFill>
          <a:ln w="0"/>
        </p:spPr>
        <p:txBody>
          <a:bodyPr/>
          <a:lstStyle/>
          <a:p>
            <a:endParaRPr lang="en-US"/>
          </a:p>
        </p:txBody>
      </p:sp>
      <p:sp>
        <p:nvSpPr>
          <p:cNvPr id="58" name="Signal - Recent growth"/>
          <p:cNvSpPr/>
          <p:nvPr/>
        </p:nvSpPr>
        <p:spPr>
          <a:xfrm>
            <a:off x="6345936" y="4576572"/>
            <a:ext cx="1600200" cy="155448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0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1050" b="1" dirty="0">
                <a:solidFill>
                  <a:srgbClr val="F3F4F6"/>
                </a:solidFill>
                <a:latin typeface="Arial"/>
                <a:ea typeface="Arial"/>
                <a:cs typeface="Arial"/>
              </a:rPr>
              <a:t>Recent growth</a:t>
            </a:r>
            <a:endParaRPr lang="en-US" sz="1050" dirty="0"/>
          </a:p>
        </p:txBody>
      </p:sp>
      <p:sp>
        <p:nvSpPr>
          <p:cNvPr id="60" name="Reason - Recent growth"/>
          <p:cNvSpPr/>
          <p:nvPr/>
        </p:nvSpPr>
        <p:spPr>
          <a:xfrm>
            <a:off x="8524585" y="4599432"/>
            <a:ext cx="2820558" cy="27432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85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Does not distinguish Basic vs Plus.</a:t>
            </a:r>
            <a:endParaRPr lang="en-US" sz="850" dirty="0"/>
          </a:p>
        </p:txBody>
      </p:sp>
      <p:sp>
        <p:nvSpPr>
          <p:cNvPr id="61" name="Row - Total fees"/>
          <p:cNvSpPr/>
          <p:nvPr/>
        </p:nvSpPr>
        <p:spPr>
          <a:xfrm>
            <a:off x="6236208" y="4974336"/>
            <a:ext cx="5321808" cy="365760"/>
          </a:xfrm>
          <a:prstGeom prst="rect">
            <a:avLst/>
          </a:prstGeom>
          <a:solidFill>
            <a:srgbClr val="0C0C0C"/>
          </a:solidFill>
          <a:ln w="6350">
            <a:solidFill>
              <a:srgbClr val="242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Row Accent - Total fees"/>
          <p:cNvSpPr/>
          <p:nvPr/>
        </p:nvSpPr>
        <p:spPr>
          <a:xfrm>
            <a:off x="6236208" y="4974336"/>
            <a:ext cx="45720" cy="365760"/>
          </a:xfrm>
          <a:prstGeom prst="rect">
            <a:avLst/>
          </a:prstGeom>
          <a:solidFill>
            <a:srgbClr val="555555"/>
          </a:solidFill>
          <a:ln w="0"/>
        </p:spPr>
        <p:txBody>
          <a:bodyPr/>
          <a:lstStyle/>
          <a:p>
            <a:endParaRPr lang="en-US"/>
          </a:p>
        </p:txBody>
      </p:sp>
      <p:sp>
        <p:nvSpPr>
          <p:cNvPr id="63" name="Signal - Total fees"/>
          <p:cNvSpPr/>
          <p:nvPr/>
        </p:nvSpPr>
        <p:spPr>
          <a:xfrm>
            <a:off x="6345936" y="5024628"/>
            <a:ext cx="1600200" cy="155448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105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105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Total fees</a:t>
            </a:r>
            <a:endParaRPr lang="en-US" sz="1050" dirty="0"/>
          </a:p>
        </p:txBody>
      </p:sp>
      <p:sp>
        <p:nvSpPr>
          <p:cNvPr id="65" name="Reason - Total fees"/>
          <p:cNvSpPr/>
          <p:nvPr/>
        </p:nvSpPr>
        <p:spPr>
          <a:xfrm>
            <a:off x="8524585" y="5047488"/>
            <a:ext cx="2820558" cy="27432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85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85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Shows willingness to pay, but would make Plus selection too spend-driven.</a:t>
            </a:r>
            <a:endParaRPr lang="en-US" sz="850" dirty="0"/>
          </a:p>
        </p:txBody>
      </p:sp>
      <p:sp>
        <p:nvSpPr>
          <p:cNvPr id="66" name="Scale Note"/>
          <p:cNvSpPr/>
          <p:nvPr/>
        </p:nvSpPr>
        <p:spPr>
          <a:xfrm>
            <a:off x="566928" y="5149626"/>
            <a:ext cx="5230368" cy="164592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900" b="1">
                <a:solidFill>
                  <a:srgbClr val="A7A7A7"/>
                </a:solidFill>
                <a:latin typeface="Arial"/>
                <a:ea typeface="Arial"/>
                <a:cs typeface="Arial"/>
              </a:defRPr>
            </a:pPr>
            <a:r>
              <a:rPr lang="en-US" sz="900" b="1" dirty="0">
                <a:solidFill>
                  <a:srgbClr val="A7A7A7"/>
                </a:solidFill>
                <a:latin typeface="Arial"/>
                <a:ea typeface="Arial"/>
                <a:cs typeface="Arial"/>
              </a:rPr>
              <a:t>Each signal is on a 0-100 percentile scale; very large raw values improve rank but do not dominate the score.</a:t>
            </a:r>
            <a:endParaRPr lang="en-US" sz="900" dirty="0"/>
          </a:p>
        </p:txBody>
      </p:sp>
      <p:sp>
        <p:nvSpPr>
          <p:cNvPr id="67" name="Visibility Note"/>
          <p:cNvSpPr/>
          <p:nvPr/>
        </p:nvSpPr>
        <p:spPr>
          <a:xfrm>
            <a:off x="566928" y="5578115"/>
            <a:ext cx="5230368" cy="164592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7A7A7"/>
                </a:solidFill>
                <a:latin typeface="Arial"/>
                <a:ea typeface="Arial"/>
                <a:cs typeface="Arial"/>
              </a:defRPr>
            </a:pPr>
            <a:r>
              <a:rPr lang="en-US" sz="9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* Paid visibility actions: Dagtoppers, Homepage, Paid URL, Ad Upcalls, and Urgency actions.</a:t>
            </a:r>
            <a:endParaRPr lang="en-US" sz="900" dirty="0"/>
          </a:p>
        </p:txBody>
      </p:sp>
      <p:sp>
        <p:nvSpPr>
          <p:cNvPr id="68" name="Bottom Divider"/>
          <p:cNvSpPr/>
          <p:nvPr/>
        </p:nvSpPr>
        <p:spPr>
          <a:xfrm>
            <a:off x="457200" y="6210330"/>
            <a:ext cx="11277570" cy="0"/>
          </a:xfrm>
          <a:prstGeom prst="rect">
            <a:avLst/>
          </a:prstGeom>
          <a:noFill/>
          <a:ln w="9525">
            <a:solidFill>
              <a:srgbClr val="3A3A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9" name="Footer Label"/>
          <p:cNvSpPr/>
          <p:nvPr/>
        </p:nvSpPr>
        <p:spPr>
          <a:xfrm>
            <a:off x="457200" y="6286500"/>
            <a:ext cx="7239030" cy="22860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  <a:endParaRPr lang="en-US" sz="900" dirty="0"/>
          </a:p>
        </p:txBody>
      </p:sp>
      <p:sp>
        <p:nvSpPr>
          <p:cNvPr id="70" name="Page Marker"/>
          <p:cNvSpPr/>
          <p:nvPr/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  <a:ln w="0"/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10 / 12</a:t>
            </a:r>
            <a:endParaRPr lang="en-US" sz="900" dirty="0"/>
          </a:p>
        </p:txBody>
      </p:sp>
      <p:sp>
        <p:nvSpPr>
          <p:cNvPr id="74" name="Text 7">
            <a:extLst>
              <a:ext uri="{FF2B5EF4-FFF2-40B4-BE49-F238E27FC236}">
                <a16:creationId xmlns:a16="http://schemas.microsoft.com/office/drawing/2014/main" id="{CA649E5E-CF4C-870C-B69B-270BED998BCE}"/>
              </a:ext>
            </a:extLst>
          </p:cNvPr>
          <p:cNvSpPr/>
          <p:nvPr/>
        </p:nvSpPr>
        <p:spPr>
          <a:xfrm>
            <a:off x="566928" y="1826316"/>
            <a:ext cx="9043416" cy="7875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simple average of percentile ranks for </a:t>
            </a:r>
            <a:r>
              <a:rPr lang="en-US" sz="1200" b="1" dirty="0">
                <a:solidFill>
                  <a:srgbClr val="4F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visibility usage</a:t>
            </a:r>
            <a:r>
              <a:rPr lang="en-US" sz="1200" dirty="0">
                <a:solidFill>
                  <a:srgbClr val="4F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>
                <a:solidFill>
                  <a:srgbClr val="4FB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paid product breadth + listing volume</a:t>
            </a:r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Plus fits sellers already using visibility products or managing enough listings to benefit from cross-ad promotion.</a:t>
            </a:r>
            <a:endParaRPr lang="en-US" sz="1200" dirty="0"/>
          </a:p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Sellers in the top 40% of bundle fit score inside the outreach ready group are targeted for </a:t>
            </a:r>
            <a:r>
              <a:rPr lang="en-US" sz="1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</a:t>
            </a:r>
            <a:r>
              <a:rPr lang="en-US" sz="1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 rest for </a:t>
            </a:r>
            <a:r>
              <a:rPr lang="en-US" sz="1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D765E1-B54E-67C6-D4BF-EEEAE1038609}"/>
              </a:ext>
            </a:extLst>
          </p:cNvPr>
          <p:cNvSpPr txBox="1"/>
          <p:nvPr/>
        </p:nvSpPr>
        <p:spPr>
          <a:xfrm>
            <a:off x="5458416" y="3156102"/>
            <a:ext cx="457751" cy="107722"/>
          </a:xfrm>
          <a:prstGeom prst="rect">
            <a:avLst/>
          </a:prstGeom>
          <a:solidFill>
            <a:srgbClr val="A8A8A8"/>
          </a:solidFill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700" b="1" dirty="0">
                <a:solidFill>
                  <a:schemeClr val="bg1"/>
                </a:solidFill>
              </a:rPr>
              <a:t>New Signal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27D345-45DE-8BB8-A6A0-7A4DE5E9B646}"/>
              </a:ext>
            </a:extLst>
          </p:cNvPr>
          <p:cNvSpPr txBox="1"/>
          <p:nvPr/>
        </p:nvSpPr>
        <p:spPr>
          <a:xfrm>
            <a:off x="5458417" y="4479134"/>
            <a:ext cx="457751" cy="107722"/>
          </a:xfrm>
          <a:prstGeom prst="rect">
            <a:avLst/>
          </a:prstGeom>
          <a:solidFill>
            <a:srgbClr val="A8A8A8"/>
          </a:solidFill>
          <a:ln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700" b="1" dirty="0">
                <a:solidFill>
                  <a:schemeClr val="bg1"/>
                </a:solidFill>
              </a:rPr>
              <a:t>New Signal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37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>
              <a:solidFill>
                <a:srgbClr val="37A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Bundle Choice</a:t>
            </a:r>
            <a:endParaRPr lang="en-US" sz="3600" dirty="0">
              <a:solidFill>
                <a:srgbClr val="F3F4F6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6210330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Outreach Prioritization</a:t>
            </a:r>
            <a:endParaRPr lang="en-US" sz="900" b="0" dirty="0">
              <a:solidFill>
                <a:srgbClr val="A5A5A5"/>
              </a:solidFill>
              <a:latin typeface="Arial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1534095"/>
            <a:ext cx="11018520" cy="8004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22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split</a:t>
            </a:r>
            <a:r>
              <a:rPr lang="en-US" sz="122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target Plus for the highest bundle-fit sellers in the outreach ready group; use the top 40% as a practical starting point.</a:t>
            </a:r>
            <a:endParaRPr lang="en-US" sz="1220" dirty="0"/>
          </a:p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22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</a:t>
            </a:r>
            <a:r>
              <a:rPr lang="en-US" sz="122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use no fixed 40%; show sellers ranked by bundle fit score and let Sales choose based on capacity.</a:t>
            </a:r>
            <a:endParaRPr lang="en-US" sz="1220" dirty="0"/>
          </a:p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22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improvement</a:t>
            </a:r>
            <a:r>
              <a:rPr lang="en-US" sz="122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calibrate this split with response, conversion, and upgrade data after outreach starts.</a:t>
            </a:r>
            <a:endParaRPr lang="en-US" sz="122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2228787"/>
              </p:ext>
            </p:extLst>
          </p:nvPr>
        </p:nvGraphicFramePr>
        <p:xfrm>
          <a:off x="566926" y="2542032"/>
          <a:ext cx="3758331" cy="3079830"/>
        </p:xfrm>
        <a:graphic>
          <a:graphicData uri="http://schemas.openxmlformats.org/drawingml/2006/table">
            <a:tbl>
              <a:tblPr/>
              <a:tblGrid>
                <a:gridCol w="1988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5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98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Targeted for 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Plus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Targeted for 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Selected Sellers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384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576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fees per seller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€2,230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€389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paid visibility score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89.6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68.9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paid product breadth score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87.6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70.7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listing volume score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85.6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69.1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bundle fit score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87.6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69.6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outreach readiness score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77.5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0" dirty="0">
                          <a:solidFill>
                            <a:srgbClr val="F3F4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72.0</a:t>
                      </a:r>
                      <a:endParaRPr lang="en-US" sz="1000" b="0" dirty="0"/>
                    </a:p>
                  </a:txBody>
                  <a:tcPr marL="57150" marR="57150" marT="28575" marB="28575" anchor="ctr">
                    <a:lnL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1" name="Image 0" descr="/Users/omertal/PycharmProjects/Marketplaats/outputs/manual-20260615-q2-refresh/assets/cell_2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91734" y="2748219"/>
            <a:ext cx="6949440" cy="28143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1920" y="323880"/>
            <a:ext cx="819120" cy="628650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37AFFF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37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>
              <a:solidFill>
                <a:srgbClr val="37AF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257300" y="323880"/>
            <a:ext cx="9953610" cy="714329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 Recommendations</a:t>
            </a:r>
            <a:endParaRPr lang="en-US" sz="3600" dirty="0">
              <a:solidFill>
                <a:srgbClr val="F3F4F6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60008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6210330"/>
            <a:ext cx="1127757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Outreach Prioritization</a:t>
            </a:r>
            <a:endParaRPr lang="en-US" sz="900" b="0" dirty="0">
              <a:solidFill>
                <a:srgbClr val="A5A5A5"/>
              </a:solidFill>
              <a:latin typeface="Arial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144250" y="6286500"/>
            <a:ext cx="59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1371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7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66928" y="18105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outreach ready group for the first outreach batch.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66928" y="2331720"/>
            <a:ext cx="10789920" cy="86109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45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keeps commercial value in the model, but avoids over-indexing on historical spend.</a:t>
            </a:r>
            <a:endParaRPr lang="en-US" sz="1450" dirty="0"/>
          </a:p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45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adds sellers who are active, consistent, multi-category, growing, and already familiar with paid products.</a:t>
            </a:r>
            <a:endParaRPr lang="en-US" sz="1450" dirty="0"/>
          </a:p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45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traits are closer to likely outreach response than fee history alone.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" y="3931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7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Outcome-Based Ranking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6928" y="4370832"/>
            <a:ext cx="107899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45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initial outreach, supervised learning could replace the manual score.</a:t>
            </a:r>
            <a:endParaRPr lang="en-US" sz="1450" dirty="0"/>
          </a:p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45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 response, conversion, and post-signup value.</a:t>
            </a:r>
            <a:endParaRPr lang="en-US" sz="1450" dirty="0"/>
          </a:p>
          <a:p>
            <a:pPr marL="285750" indent="-285750">
              <a:buClr>
                <a:srgbClr val="4FB3FF"/>
              </a:buClr>
              <a:buFont typeface="Wingdings" pitchFamily="2" charset="2"/>
              <a:buChar char="§"/>
            </a:pPr>
            <a:r>
              <a:rPr lang="en-US" sz="145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ranking explainable for Sales and leadership.</a:t>
            </a:r>
            <a:endParaRPr lang="en-US" sz="14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1DDF34-6AED-1808-0AA8-239A1EE6EC7A}"/>
              </a:ext>
            </a:extLst>
          </p:cNvPr>
          <p:cNvSpPr txBox="1"/>
          <p:nvPr/>
        </p:nvSpPr>
        <p:spPr>
          <a:xfrm>
            <a:off x="457200" y="3157849"/>
            <a:ext cx="85798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7A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seller-level CSV available as </a:t>
            </a:r>
            <a:r>
              <a:rPr lang="en-US" sz="1400" b="1" dirty="0">
                <a:solidFill>
                  <a:srgbClr val="A7A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q2_scored_sellers.csv</a:t>
            </a:r>
            <a:endParaRPr lang="en-US" sz="14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899770"/>
            <a:ext cx="3600907" cy="389534"/>
          </a:xfrm>
          <a:prstGeom prst="rect">
            <a:avLst/>
          </a:prstGeom>
          <a:noFill/>
          <a:ln/>
        </p:spPr>
        <p:txBody>
          <a:bodyPr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D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Identify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33272" y="92354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905" y="1399946"/>
            <a:ext cx="3600907" cy="389534"/>
          </a:xfrm>
          <a:prstGeom prst="rect">
            <a:avLst/>
          </a:prstGeom>
          <a:noFill/>
          <a:ln/>
        </p:spPr>
        <p:txBody>
          <a:bodyPr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FB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Prioritize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33272" y="14356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12064" y="2257654"/>
            <a:ext cx="10500055" cy="829361"/>
          </a:xfrm>
          <a:prstGeom prst="rect">
            <a:avLst/>
          </a:prstGeom>
          <a:noFill/>
          <a:ln/>
        </p:spPr>
        <p:txBody>
          <a:bodyPr lIns="0" tIns="0" rIns="0" bIns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7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Monitor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240280" y="2852928"/>
            <a:ext cx="4480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12064" y="3377794"/>
            <a:ext cx="9999878" cy="360274"/>
          </a:xfrm>
          <a:prstGeom prst="rect">
            <a:avLst/>
          </a:prstGeom>
          <a:noFill/>
          <a:ln/>
        </p:spPr>
        <p:txBody>
          <a:bodyPr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2200" b="0" dirty="0">
                <a:solidFill>
                  <a:srgbClr val="A7A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bundle adoption, revenue, and customer quality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4590288"/>
            <a:ext cx="3600907" cy="389534"/>
          </a:xfrm>
          <a:prstGeom prst="rect">
            <a:avLst/>
          </a:prstGeom>
          <a:noFill/>
          <a:ln/>
        </p:spPr>
        <p:txBody>
          <a:bodyPr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7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Scale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33272" y="48920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146536" y="6291072"/>
            <a:ext cx="590702" cy="228600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 algn="r">
              <a:buNone/>
            </a:pPr>
            <a:r>
              <a:rPr lang="en-US" sz="900" b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12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Dashboard Framing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Bundle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13232" y="1444752"/>
            <a:ext cx="10378440" cy="142646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2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monitor whether SMB Bundles are gaining traction, converting to paid usage, and creating measurable value.</a:t>
            </a:r>
            <a:endParaRPr lang="en-US" sz="1220" dirty="0"/>
          </a:p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2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controls such as filters and breakdown dimensions for deep-dive.</a:t>
            </a:r>
            <a:endParaRPr lang="en-US" sz="1220" dirty="0"/>
          </a:p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2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data enrichments:</a:t>
            </a:r>
          </a:p>
          <a:p>
            <a:pPr marL="749200" lvl="1" indent="-220000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2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revenue and seller-outcome data to assess impact</a:t>
            </a:r>
          </a:p>
          <a:p>
            <a:pPr marL="749200" lvl="1" indent="-220000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20" dirty="0">
                <a:solidFill>
                  <a:srgbClr val="A8A8A8"/>
                </a:solidFill>
                <a:latin typeface="Arial" pitchFamily="34" charset="0"/>
                <a:cs typeface="Arial" pitchFamily="34" charset="-120"/>
              </a:rPr>
              <a:t>SMB likelihood, Outreach readiness, and various seller activity dataset for detailed segmentation</a:t>
            </a:r>
            <a:endParaRPr lang="en-US" sz="122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157B41A-A5C7-7B4E-FAA6-71A4C0656DCA}"/>
              </a:ext>
            </a:extLst>
          </p:cNvPr>
          <p:cNvSpPr/>
          <p:nvPr/>
        </p:nvSpPr>
        <p:spPr>
          <a:xfrm>
            <a:off x="658368" y="3048714"/>
            <a:ext cx="4226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Structure: Three Dashboard Views</a:t>
            </a:r>
            <a:endParaRPr lang="en-US" sz="1800" dirty="0">
              <a:solidFill>
                <a:srgbClr val="3DDC97"/>
              </a:solidFill>
            </a:endParaRPr>
          </a:p>
        </p:txBody>
      </p:sp>
      <p:sp>
        <p:nvSpPr>
          <p:cNvPr id="11" name="Dashboard Card Background 1"/>
          <p:cNvSpPr/>
          <p:nvPr/>
        </p:nvSpPr>
        <p:spPr>
          <a:xfrm>
            <a:off x="658368" y="3505914"/>
            <a:ext cx="3401568" cy="1795208"/>
          </a:xfrm>
          <a:prstGeom prst="rect">
            <a:avLst/>
          </a:prstGeom>
          <a:solidFill>
            <a:srgbClr val="111111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Dashboard Card Header 1"/>
          <p:cNvSpPr/>
          <p:nvPr/>
        </p:nvSpPr>
        <p:spPr>
          <a:xfrm>
            <a:off x="658368" y="3505914"/>
            <a:ext cx="3401568" cy="420624"/>
          </a:xfrm>
          <a:prstGeom prst="rect">
            <a:avLst/>
          </a:prstGeom>
          <a:solidFill>
            <a:srgbClr val="171717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Dashboard Card Accent 1"/>
          <p:cNvSpPr/>
          <p:nvPr/>
        </p:nvSpPr>
        <p:spPr>
          <a:xfrm>
            <a:off x="658368" y="3505914"/>
            <a:ext cx="64008" cy="1795208"/>
          </a:xfrm>
          <a:prstGeom prst="rect">
            <a:avLst/>
          </a:prstGeom>
          <a:solidFill>
            <a:srgbClr val="3DDC97"/>
          </a:solidFill>
          <a:ln w="9525">
            <a:solidFill>
              <a:srgbClr val="3DDC9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Dashboard Card Text 1"/>
          <p:cNvSpPr txBox="1"/>
          <p:nvPr/>
        </p:nvSpPr>
        <p:spPr>
          <a:xfrm>
            <a:off x="841248" y="3615642"/>
            <a:ext cx="3072384" cy="159757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l"/>
            <a:r>
              <a:rPr lang="en-US" sz="1580" b="1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Sales Overview</a:t>
            </a:r>
          </a:p>
          <a:p>
            <a:pPr algn="l"/>
            <a:endParaRPr lang="en-US" sz="1580" dirty="0">
              <a:solidFill>
                <a:srgbClr val="F2F2F2"/>
              </a:solidFill>
            </a:endParaRPr>
          </a:p>
          <a:p>
            <a:pPr algn="l"/>
            <a:r>
              <a:rPr lang="en-US" sz="920" b="1" dirty="0">
                <a:solidFill>
                  <a:srgbClr val="3DDC97"/>
                </a:solidFill>
                <a:latin typeface="Arial"/>
                <a:ea typeface="Arial"/>
                <a:cs typeface="Arial"/>
              </a:rPr>
              <a:t>Goal</a:t>
            </a:r>
            <a:endParaRPr lang="en-US" sz="920" dirty="0">
              <a:solidFill>
                <a:srgbClr val="3DDC97"/>
              </a:solidFill>
            </a:endParaRPr>
          </a:p>
          <a:p>
            <a:pPr algn="l"/>
            <a:r>
              <a:rPr lang="en-US" sz="1160" b="1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Track launch traction and monetized adoption</a:t>
            </a:r>
            <a:endParaRPr lang="en-US" sz="1160" dirty="0">
              <a:solidFill>
                <a:srgbClr val="F2F2F2"/>
              </a:solidFill>
            </a:endParaRPr>
          </a:p>
          <a:p>
            <a:pPr algn="l"/>
            <a:endParaRPr lang="en-US" sz="920" b="1" dirty="0">
              <a:solidFill>
                <a:srgbClr val="3DDC97"/>
              </a:solidFill>
              <a:latin typeface="Arial"/>
              <a:ea typeface="Arial"/>
              <a:cs typeface="Arial"/>
            </a:endParaRPr>
          </a:p>
          <a:p>
            <a:pPr algn="l"/>
            <a:r>
              <a:rPr lang="en-US" sz="920" b="1" dirty="0">
                <a:solidFill>
                  <a:srgbClr val="3DDC97"/>
                </a:solidFill>
                <a:latin typeface="Arial"/>
                <a:ea typeface="Arial"/>
                <a:cs typeface="Arial"/>
              </a:rPr>
              <a:t>Main question</a:t>
            </a:r>
            <a:endParaRPr lang="en-US" sz="920" dirty="0">
              <a:solidFill>
                <a:srgbClr val="3DDC97"/>
              </a:solidFill>
            </a:endParaRPr>
          </a:p>
          <a:p>
            <a:pPr algn="l"/>
            <a:r>
              <a:rPr lang="en-US" sz="1120" b="1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Are bundles gaining commercial traction?</a:t>
            </a:r>
            <a:endParaRPr lang="en-US" sz="1120" dirty="0">
              <a:solidFill>
                <a:srgbClr val="F2F2F2"/>
              </a:solidFill>
            </a:endParaRPr>
          </a:p>
        </p:txBody>
      </p:sp>
      <p:sp>
        <p:nvSpPr>
          <p:cNvPr id="15" name="Dashboard Card Background 2"/>
          <p:cNvSpPr/>
          <p:nvPr/>
        </p:nvSpPr>
        <p:spPr>
          <a:xfrm>
            <a:off x="4315968" y="3505914"/>
            <a:ext cx="3401568" cy="1795208"/>
          </a:xfrm>
          <a:prstGeom prst="rect">
            <a:avLst/>
          </a:prstGeom>
          <a:solidFill>
            <a:srgbClr val="111111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Dashboard Card Header 2"/>
          <p:cNvSpPr/>
          <p:nvPr/>
        </p:nvSpPr>
        <p:spPr>
          <a:xfrm>
            <a:off x="4315968" y="3505914"/>
            <a:ext cx="3401568" cy="420624"/>
          </a:xfrm>
          <a:prstGeom prst="rect">
            <a:avLst/>
          </a:prstGeom>
          <a:solidFill>
            <a:srgbClr val="171717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Dashboard Card Accent 2"/>
          <p:cNvSpPr/>
          <p:nvPr/>
        </p:nvSpPr>
        <p:spPr>
          <a:xfrm>
            <a:off x="4315968" y="3505914"/>
            <a:ext cx="64008" cy="1795208"/>
          </a:xfrm>
          <a:prstGeom prst="rect">
            <a:avLst/>
          </a:prstGeom>
          <a:solidFill>
            <a:srgbClr val="3DDC97"/>
          </a:solidFill>
          <a:ln w="9525">
            <a:solidFill>
              <a:srgbClr val="3DDC9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Dashboard Card Text 2"/>
          <p:cNvSpPr txBox="1"/>
          <p:nvPr/>
        </p:nvSpPr>
        <p:spPr>
          <a:xfrm>
            <a:off x="4498848" y="3615642"/>
            <a:ext cx="3072384" cy="159757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l"/>
            <a:r>
              <a:rPr lang="en-US" sz="1580" b="1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Customer Quality</a:t>
            </a:r>
            <a:endParaRPr lang="en-US" sz="1580" dirty="0">
              <a:solidFill>
                <a:srgbClr val="F2F2F2"/>
              </a:solidFill>
            </a:endParaRPr>
          </a:p>
          <a:p>
            <a:pPr algn="l"/>
            <a:endParaRPr lang="en-US" sz="920" b="1" dirty="0">
              <a:solidFill>
                <a:srgbClr val="3DDC97"/>
              </a:solidFill>
              <a:latin typeface="Arial"/>
              <a:ea typeface="Arial"/>
              <a:cs typeface="Arial"/>
            </a:endParaRPr>
          </a:p>
          <a:p>
            <a:pPr algn="l"/>
            <a:r>
              <a:rPr lang="en-US" sz="920" b="1" dirty="0">
                <a:solidFill>
                  <a:srgbClr val="3DDC97"/>
                </a:solidFill>
                <a:latin typeface="Arial"/>
                <a:ea typeface="Arial"/>
                <a:cs typeface="Arial"/>
              </a:rPr>
              <a:t>Goal</a:t>
            </a:r>
            <a:endParaRPr lang="en-US" sz="920" dirty="0">
              <a:solidFill>
                <a:srgbClr val="3DDC97"/>
              </a:solidFill>
            </a:endParaRPr>
          </a:p>
          <a:p>
            <a:pPr algn="l"/>
            <a:r>
              <a:rPr lang="en-US" sz="1160" b="1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Monitor conversion, retention, and segment differences</a:t>
            </a:r>
          </a:p>
          <a:p>
            <a:pPr algn="l"/>
            <a:endParaRPr lang="en-US" sz="1160" dirty="0">
              <a:solidFill>
                <a:srgbClr val="F2F2F2"/>
              </a:solidFill>
            </a:endParaRPr>
          </a:p>
          <a:p>
            <a:pPr algn="l"/>
            <a:r>
              <a:rPr lang="en-US" sz="920" b="1" dirty="0">
                <a:solidFill>
                  <a:srgbClr val="3DDC97"/>
                </a:solidFill>
                <a:latin typeface="Arial"/>
                <a:ea typeface="Arial"/>
                <a:cs typeface="Arial"/>
              </a:rPr>
              <a:t>Main question</a:t>
            </a:r>
            <a:endParaRPr lang="en-US" sz="920" dirty="0">
              <a:solidFill>
                <a:srgbClr val="3DDC97"/>
              </a:solidFill>
            </a:endParaRPr>
          </a:p>
          <a:p>
            <a:pPr algn="l"/>
            <a:r>
              <a:rPr lang="en-US" sz="1120" b="1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Are registrations becoming retained paid customers?</a:t>
            </a:r>
            <a:endParaRPr lang="en-US" sz="1120" dirty="0">
              <a:solidFill>
                <a:srgbClr val="F2F2F2"/>
              </a:solidFill>
            </a:endParaRPr>
          </a:p>
        </p:txBody>
      </p:sp>
      <p:sp>
        <p:nvSpPr>
          <p:cNvPr id="19" name="Dashboard Card Background 3"/>
          <p:cNvSpPr/>
          <p:nvPr/>
        </p:nvSpPr>
        <p:spPr>
          <a:xfrm>
            <a:off x="7973568" y="3505914"/>
            <a:ext cx="3401568" cy="1795208"/>
          </a:xfrm>
          <a:prstGeom prst="rect">
            <a:avLst/>
          </a:prstGeom>
          <a:solidFill>
            <a:srgbClr val="111111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Dashboard Card Header 3"/>
          <p:cNvSpPr/>
          <p:nvPr/>
        </p:nvSpPr>
        <p:spPr>
          <a:xfrm>
            <a:off x="7973568" y="3505914"/>
            <a:ext cx="3401568" cy="420624"/>
          </a:xfrm>
          <a:prstGeom prst="rect">
            <a:avLst/>
          </a:prstGeom>
          <a:solidFill>
            <a:srgbClr val="171717"/>
          </a:solidFill>
          <a:ln w="9525">
            <a:solidFill>
              <a:srgbClr val="2A2A2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Dashboard Card Accent 3"/>
          <p:cNvSpPr/>
          <p:nvPr/>
        </p:nvSpPr>
        <p:spPr>
          <a:xfrm>
            <a:off x="7973568" y="3505914"/>
            <a:ext cx="64008" cy="1795208"/>
          </a:xfrm>
          <a:prstGeom prst="rect">
            <a:avLst/>
          </a:prstGeom>
          <a:solidFill>
            <a:srgbClr val="3DDC97"/>
          </a:solidFill>
          <a:ln w="9525">
            <a:solidFill>
              <a:srgbClr val="3DDC9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Dashboard Card Text 3"/>
          <p:cNvSpPr txBox="1"/>
          <p:nvPr/>
        </p:nvSpPr>
        <p:spPr>
          <a:xfrm>
            <a:off x="8156448" y="3615642"/>
            <a:ext cx="3072384" cy="159757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l"/>
            <a:r>
              <a:rPr lang="en-US" sz="1580" b="1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Business Impact</a:t>
            </a:r>
            <a:endParaRPr lang="en-US" sz="1580" dirty="0">
              <a:solidFill>
                <a:srgbClr val="F2F2F2"/>
              </a:solidFill>
            </a:endParaRPr>
          </a:p>
          <a:p>
            <a:pPr algn="l"/>
            <a:endParaRPr lang="en-US" sz="920" b="1" dirty="0">
              <a:solidFill>
                <a:srgbClr val="3DDC97"/>
              </a:solidFill>
              <a:latin typeface="Arial"/>
              <a:ea typeface="Arial"/>
              <a:cs typeface="Arial"/>
            </a:endParaRPr>
          </a:p>
          <a:p>
            <a:pPr algn="l"/>
            <a:r>
              <a:rPr lang="en-US" sz="920" b="1" dirty="0">
                <a:solidFill>
                  <a:srgbClr val="3DDC97"/>
                </a:solidFill>
                <a:latin typeface="Arial"/>
                <a:ea typeface="Arial"/>
                <a:cs typeface="Arial"/>
              </a:rPr>
              <a:t>Goal</a:t>
            </a:r>
            <a:endParaRPr lang="en-US" sz="920" dirty="0">
              <a:solidFill>
                <a:srgbClr val="3DDC97"/>
              </a:solidFill>
            </a:endParaRPr>
          </a:p>
          <a:p>
            <a:pPr algn="l"/>
            <a:r>
              <a:rPr lang="en-US" sz="1160" b="1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Quantify value for Marktplaats and sellers</a:t>
            </a:r>
            <a:endParaRPr lang="en-US" sz="1160" dirty="0">
              <a:solidFill>
                <a:srgbClr val="F2F2F2"/>
              </a:solidFill>
            </a:endParaRPr>
          </a:p>
          <a:p>
            <a:pPr algn="l"/>
            <a:endParaRPr lang="en-US" sz="920" b="1" dirty="0">
              <a:solidFill>
                <a:srgbClr val="3DDC97"/>
              </a:solidFill>
              <a:latin typeface="Arial"/>
              <a:ea typeface="Arial"/>
              <a:cs typeface="Arial"/>
            </a:endParaRPr>
          </a:p>
          <a:p>
            <a:pPr algn="l"/>
            <a:r>
              <a:rPr lang="en-US" sz="920" b="1" dirty="0">
                <a:solidFill>
                  <a:srgbClr val="3DDC97"/>
                </a:solidFill>
                <a:latin typeface="Arial"/>
                <a:ea typeface="Arial"/>
                <a:cs typeface="Arial"/>
              </a:rPr>
              <a:t>Main question</a:t>
            </a:r>
            <a:endParaRPr lang="en-US" sz="920" dirty="0">
              <a:solidFill>
                <a:srgbClr val="3DDC97"/>
              </a:solidFill>
            </a:endParaRPr>
          </a:p>
          <a:p>
            <a:pPr algn="l"/>
            <a:r>
              <a:rPr lang="en-US" sz="1120" b="1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Are bundles creating measurable value?</a:t>
            </a:r>
            <a:endParaRPr lang="en-US" sz="1120" dirty="0">
              <a:solidFill>
                <a:srgbClr val="F2F2F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Sales 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193656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Bundle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16</a:t>
            </a:r>
            <a:endParaRPr lang="en-US" sz="75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F1AA4C55-897C-E486-30E1-7CC79E3B2262}"/>
              </a:ext>
            </a:extLst>
          </p:cNvPr>
          <p:cNvSpPr/>
          <p:nvPr/>
        </p:nvSpPr>
        <p:spPr>
          <a:xfrm>
            <a:off x="713232" y="2465401"/>
            <a:ext cx="10332720" cy="320035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latest headline readout?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0B1B998A-0D92-C82C-22E5-E59587629547}"/>
              </a:ext>
            </a:extLst>
          </p:cNvPr>
          <p:cNvSpPr/>
          <p:nvPr/>
        </p:nvSpPr>
        <p:spPr>
          <a:xfrm>
            <a:off x="685800" y="3004892"/>
            <a:ext cx="3246120" cy="822960"/>
          </a:xfrm>
          <a:prstGeom prst="rect">
            <a:avLst/>
          </a:prstGeom>
          <a:solidFill>
            <a:srgbClr val="121212"/>
          </a:solidFill>
          <a:ln w="762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13">
            <a:extLst>
              <a:ext uri="{FF2B5EF4-FFF2-40B4-BE49-F238E27FC236}">
                <a16:creationId xmlns:a16="http://schemas.microsoft.com/office/drawing/2014/main" id="{F0FBC6D7-CDC2-10D3-715E-1BB9DC3F3D2F}"/>
              </a:ext>
            </a:extLst>
          </p:cNvPr>
          <p:cNvSpPr/>
          <p:nvPr/>
        </p:nvSpPr>
        <p:spPr>
          <a:xfrm>
            <a:off x="685800" y="3004892"/>
            <a:ext cx="3246120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C35B6179-AACE-BD6F-9523-6370C8F0F73A}"/>
              </a:ext>
            </a:extLst>
          </p:cNvPr>
          <p:cNvSpPr/>
          <p:nvPr/>
        </p:nvSpPr>
        <p:spPr>
          <a:xfrm>
            <a:off x="813816" y="3187772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2025-04-29</a:t>
            </a:r>
            <a:endParaRPr lang="en-US" sz="1620" dirty="0"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E83338F3-8A09-4622-72FE-0F09C16E79B9}"/>
              </a:ext>
            </a:extLst>
          </p:cNvPr>
          <p:cNvSpPr/>
          <p:nvPr/>
        </p:nvSpPr>
        <p:spPr>
          <a:xfrm>
            <a:off x="813816" y="3516956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date</a:t>
            </a:r>
            <a:endParaRPr lang="en-US" sz="820" dirty="0"/>
          </a:p>
        </p:txBody>
      </p:sp>
      <p:sp>
        <p:nvSpPr>
          <p:cNvPr id="14" name="Shape 16">
            <a:extLst>
              <a:ext uri="{FF2B5EF4-FFF2-40B4-BE49-F238E27FC236}">
                <a16:creationId xmlns:a16="http://schemas.microsoft.com/office/drawing/2014/main" id="{2495EE56-9E33-219F-E644-73947C8D84CA}"/>
              </a:ext>
            </a:extLst>
          </p:cNvPr>
          <p:cNvSpPr/>
          <p:nvPr/>
        </p:nvSpPr>
        <p:spPr>
          <a:xfrm>
            <a:off x="4389120" y="3004892"/>
            <a:ext cx="3246120" cy="822960"/>
          </a:xfrm>
          <a:prstGeom prst="rect">
            <a:avLst/>
          </a:prstGeom>
          <a:solidFill>
            <a:srgbClr val="121212"/>
          </a:solidFill>
          <a:ln w="762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7">
            <a:extLst>
              <a:ext uri="{FF2B5EF4-FFF2-40B4-BE49-F238E27FC236}">
                <a16:creationId xmlns:a16="http://schemas.microsoft.com/office/drawing/2014/main" id="{BA20CD5D-96C4-11A3-2522-DB759D8D769A}"/>
              </a:ext>
            </a:extLst>
          </p:cNvPr>
          <p:cNvSpPr/>
          <p:nvPr/>
        </p:nvSpPr>
        <p:spPr>
          <a:xfrm>
            <a:off x="4389120" y="3004892"/>
            <a:ext cx="3246120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E92F90E2-5031-97FE-EB2F-553CB0B4F51A}"/>
              </a:ext>
            </a:extLst>
          </p:cNvPr>
          <p:cNvSpPr/>
          <p:nvPr/>
        </p:nvSpPr>
        <p:spPr>
          <a:xfrm>
            <a:off x="4517136" y="3187772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2,709 (+0% w/w)</a:t>
            </a:r>
            <a:endParaRPr lang="en-US" sz="1620" dirty="0"/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A4485A5A-0068-34BB-AAEC-D237C1C349B7}"/>
              </a:ext>
            </a:extLst>
          </p:cNvPr>
          <p:cNvSpPr/>
          <p:nvPr/>
        </p:nvSpPr>
        <p:spPr>
          <a:xfrm>
            <a:off x="4517136" y="3516956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paid bundles</a:t>
            </a:r>
            <a:endParaRPr lang="en-US" sz="820" dirty="0"/>
          </a:p>
        </p:txBody>
      </p:sp>
      <p:sp>
        <p:nvSpPr>
          <p:cNvPr id="18" name="Shape 20">
            <a:extLst>
              <a:ext uri="{FF2B5EF4-FFF2-40B4-BE49-F238E27FC236}">
                <a16:creationId xmlns:a16="http://schemas.microsoft.com/office/drawing/2014/main" id="{E8D8C2EB-B52A-DFFA-973A-DA8CF0E43B2E}"/>
              </a:ext>
            </a:extLst>
          </p:cNvPr>
          <p:cNvSpPr/>
          <p:nvPr/>
        </p:nvSpPr>
        <p:spPr>
          <a:xfrm>
            <a:off x="8092440" y="3004892"/>
            <a:ext cx="3246120" cy="822960"/>
          </a:xfrm>
          <a:prstGeom prst="rect">
            <a:avLst/>
          </a:prstGeom>
          <a:solidFill>
            <a:srgbClr val="121212"/>
          </a:solidFill>
          <a:ln w="762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21">
            <a:extLst>
              <a:ext uri="{FF2B5EF4-FFF2-40B4-BE49-F238E27FC236}">
                <a16:creationId xmlns:a16="http://schemas.microsoft.com/office/drawing/2014/main" id="{CF162971-27EE-C838-5AF6-9EA8FB901361}"/>
              </a:ext>
            </a:extLst>
          </p:cNvPr>
          <p:cNvSpPr/>
          <p:nvPr/>
        </p:nvSpPr>
        <p:spPr>
          <a:xfrm>
            <a:off x="8092440" y="3004892"/>
            <a:ext cx="3246120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22">
            <a:extLst>
              <a:ext uri="{FF2B5EF4-FFF2-40B4-BE49-F238E27FC236}">
                <a16:creationId xmlns:a16="http://schemas.microsoft.com/office/drawing/2014/main" id="{F8602653-2773-72C8-9182-F99647EC3033}"/>
              </a:ext>
            </a:extLst>
          </p:cNvPr>
          <p:cNvSpPr/>
          <p:nvPr/>
        </p:nvSpPr>
        <p:spPr>
          <a:xfrm>
            <a:off x="8220456" y="3187772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(+0% w/w)</a:t>
            </a:r>
            <a:endParaRPr lang="en-US" sz="1620" dirty="0"/>
          </a:p>
        </p:txBody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8F6A79B8-933C-9B1C-D67D-FDF3218B4F79}"/>
              </a:ext>
            </a:extLst>
          </p:cNvPr>
          <p:cNvSpPr/>
          <p:nvPr/>
        </p:nvSpPr>
        <p:spPr>
          <a:xfrm>
            <a:off x="8220456" y="3516956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trial bundles</a:t>
            </a:r>
            <a:endParaRPr lang="en-US" sz="820" dirty="0"/>
          </a:p>
        </p:txBody>
      </p:sp>
      <p:sp>
        <p:nvSpPr>
          <p:cNvPr id="22" name="Shape 24">
            <a:extLst>
              <a:ext uri="{FF2B5EF4-FFF2-40B4-BE49-F238E27FC236}">
                <a16:creationId xmlns:a16="http://schemas.microsoft.com/office/drawing/2014/main" id="{87AAA9F5-7048-69FE-0136-1CEB2A5576AC}"/>
              </a:ext>
            </a:extLst>
          </p:cNvPr>
          <p:cNvSpPr/>
          <p:nvPr/>
        </p:nvSpPr>
        <p:spPr>
          <a:xfrm>
            <a:off x="685800" y="4083884"/>
            <a:ext cx="3246120" cy="822960"/>
          </a:xfrm>
          <a:prstGeom prst="rect">
            <a:avLst/>
          </a:prstGeom>
          <a:solidFill>
            <a:srgbClr val="121212"/>
          </a:solidFill>
          <a:ln w="762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5">
            <a:extLst>
              <a:ext uri="{FF2B5EF4-FFF2-40B4-BE49-F238E27FC236}">
                <a16:creationId xmlns:a16="http://schemas.microsoft.com/office/drawing/2014/main" id="{41B56EDB-1C32-5A67-F18B-71DCA26C624F}"/>
              </a:ext>
            </a:extLst>
          </p:cNvPr>
          <p:cNvSpPr/>
          <p:nvPr/>
        </p:nvSpPr>
        <p:spPr>
          <a:xfrm>
            <a:off x="685800" y="4083884"/>
            <a:ext cx="3246120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6">
            <a:extLst>
              <a:ext uri="{FF2B5EF4-FFF2-40B4-BE49-F238E27FC236}">
                <a16:creationId xmlns:a16="http://schemas.microsoft.com/office/drawing/2014/main" id="{E00D1E40-2ACC-8D27-0854-2E741812B355}"/>
              </a:ext>
            </a:extLst>
          </p:cNvPr>
          <p:cNvSpPr/>
          <p:nvPr/>
        </p:nvSpPr>
        <p:spPr>
          <a:xfrm>
            <a:off x="813816" y="4266764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(+156% vs prior 4wk)</a:t>
            </a:r>
            <a:endParaRPr lang="en-US" sz="1620" dirty="0"/>
          </a:p>
        </p:txBody>
      </p:sp>
      <p:sp>
        <p:nvSpPr>
          <p:cNvPr id="25" name="Text 27">
            <a:extLst>
              <a:ext uri="{FF2B5EF4-FFF2-40B4-BE49-F238E27FC236}">
                <a16:creationId xmlns:a16="http://schemas.microsoft.com/office/drawing/2014/main" id="{D0602E78-9123-E509-A44D-635478E78DFC}"/>
              </a:ext>
            </a:extLst>
          </p:cNvPr>
          <p:cNvSpPr/>
          <p:nvPr/>
        </p:nvSpPr>
        <p:spPr>
          <a:xfrm>
            <a:off x="813816" y="4595948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registration in 4wk</a:t>
            </a:r>
            <a:endParaRPr lang="en-US" sz="820" dirty="0"/>
          </a:p>
        </p:txBody>
      </p:sp>
      <p:sp>
        <p:nvSpPr>
          <p:cNvPr id="26" name="Shape 28">
            <a:extLst>
              <a:ext uri="{FF2B5EF4-FFF2-40B4-BE49-F238E27FC236}">
                <a16:creationId xmlns:a16="http://schemas.microsoft.com/office/drawing/2014/main" id="{4A9DA027-9F43-37E4-CD56-8BAD890AE15D}"/>
              </a:ext>
            </a:extLst>
          </p:cNvPr>
          <p:cNvSpPr/>
          <p:nvPr/>
        </p:nvSpPr>
        <p:spPr>
          <a:xfrm>
            <a:off x="4389120" y="4083884"/>
            <a:ext cx="3246120" cy="822960"/>
          </a:xfrm>
          <a:prstGeom prst="rect">
            <a:avLst/>
          </a:prstGeom>
          <a:solidFill>
            <a:srgbClr val="121212"/>
          </a:solidFill>
          <a:ln w="762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9">
            <a:extLst>
              <a:ext uri="{FF2B5EF4-FFF2-40B4-BE49-F238E27FC236}">
                <a16:creationId xmlns:a16="http://schemas.microsoft.com/office/drawing/2014/main" id="{90A8EF38-54B4-3B5A-5D0F-8BBE8AC4EDC0}"/>
              </a:ext>
            </a:extLst>
          </p:cNvPr>
          <p:cNvSpPr/>
          <p:nvPr/>
        </p:nvSpPr>
        <p:spPr>
          <a:xfrm>
            <a:off x="4389120" y="4083884"/>
            <a:ext cx="3246120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30">
            <a:extLst>
              <a:ext uri="{FF2B5EF4-FFF2-40B4-BE49-F238E27FC236}">
                <a16:creationId xmlns:a16="http://schemas.microsoft.com/office/drawing/2014/main" id="{5A3BF420-1CEF-DBE1-0C5D-A4B8D4C04422}"/>
              </a:ext>
            </a:extLst>
          </p:cNvPr>
          <p:cNvSpPr/>
          <p:nvPr/>
        </p:nvSpPr>
        <p:spPr>
          <a:xfrm>
            <a:off x="4517136" y="4266764"/>
            <a:ext cx="2944368" cy="237744"/>
          </a:xfrm>
          <a:prstGeom prst="rect">
            <a:avLst/>
          </a:prstGeom>
          <a:noFill/>
          <a:ln/>
        </p:spPr>
        <p:txBody>
          <a:bodyPr lIns="0" tIns="0" rIns="0" bIns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40.9% (+0.1pp w/w)</a:t>
            </a:r>
            <a:endParaRPr lang="en-US" sz="1620" dirty="0"/>
          </a:p>
        </p:txBody>
      </p:sp>
      <p:sp>
        <p:nvSpPr>
          <p:cNvPr id="29" name="Text 31">
            <a:extLst>
              <a:ext uri="{FF2B5EF4-FFF2-40B4-BE49-F238E27FC236}">
                <a16:creationId xmlns:a16="http://schemas.microsoft.com/office/drawing/2014/main" id="{A1B36AC2-DD7B-52CC-4B11-0FB1FD870343}"/>
              </a:ext>
            </a:extLst>
          </p:cNvPr>
          <p:cNvSpPr/>
          <p:nvPr/>
        </p:nvSpPr>
        <p:spPr>
          <a:xfrm>
            <a:off x="4517136" y="4595948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share of active paid bundles</a:t>
            </a:r>
            <a:endParaRPr lang="en-US" sz="820" dirty="0"/>
          </a:p>
        </p:txBody>
      </p:sp>
      <p:sp>
        <p:nvSpPr>
          <p:cNvPr id="30" name="Shape 32">
            <a:extLst>
              <a:ext uri="{FF2B5EF4-FFF2-40B4-BE49-F238E27FC236}">
                <a16:creationId xmlns:a16="http://schemas.microsoft.com/office/drawing/2014/main" id="{8A3EB60E-EF41-EFDF-211E-526BDAC44B28}"/>
              </a:ext>
            </a:extLst>
          </p:cNvPr>
          <p:cNvSpPr/>
          <p:nvPr/>
        </p:nvSpPr>
        <p:spPr>
          <a:xfrm>
            <a:off x="8092440" y="4083884"/>
            <a:ext cx="3246120" cy="822960"/>
          </a:xfrm>
          <a:prstGeom prst="rect">
            <a:avLst/>
          </a:prstGeom>
          <a:solidFill>
            <a:srgbClr val="121212"/>
          </a:solidFill>
          <a:ln w="762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33">
            <a:extLst>
              <a:ext uri="{FF2B5EF4-FFF2-40B4-BE49-F238E27FC236}">
                <a16:creationId xmlns:a16="http://schemas.microsoft.com/office/drawing/2014/main" id="{7ADE43E9-A3E2-3F76-3607-16A5C334F2D3}"/>
              </a:ext>
            </a:extLst>
          </p:cNvPr>
          <p:cNvSpPr/>
          <p:nvPr/>
        </p:nvSpPr>
        <p:spPr>
          <a:xfrm>
            <a:off x="8092440" y="4083884"/>
            <a:ext cx="3246120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4">
            <a:extLst>
              <a:ext uri="{FF2B5EF4-FFF2-40B4-BE49-F238E27FC236}">
                <a16:creationId xmlns:a16="http://schemas.microsoft.com/office/drawing/2014/main" id="{213645EE-733D-B030-9D50-6AF388D9521E}"/>
              </a:ext>
            </a:extLst>
          </p:cNvPr>
          <p:cNvSpPr/>
          <p:nvPr/>
        </p:nvSpPr>
        <p:spPr>
          <a:xfrm>
            <a:off x="8220456" y="4266764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€88,373 (+0% vs prior 4wk)</a:t>
            </a:r>
            <a:endParaRPr lang="en-US" sz="1620" dirty="0"/>
          </a:p>
        </p:txBody>
      </p:sp>
      <p:sp>
        <p:nvSpPr>
          <p:cNvPr id="33" name="Text 35">
            <a:extLst>
              <a:ext uri="{FF2B5EF4-FFF2-40B4-BE49-F238E27FC236}">
                <a16:creationId xmlns:a16="http://schemas.microsoft.com/office/drawing/2014/main" id="{C0AEFDED-4714-8C71-92CE-D2C0323C4AAB}"/>
              </a:ext>
            </a:extLst>
          </p:cNvPr>
          <p:cNvSpPr/>
          <p:nvPr/>
        </p:nvSpPr>
        <p:spPr>
          <a:xfrm>
            <a:off x="8220456" y="4595948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Modeled revenue in 4wk</a:t>
            </a:r>
            <a:endParaRPr lang="en-US" sz="820" dirty="0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9E83545F-8161-3F4E-4497-E6EF9BDF1AB7}"/>
              </a:ext>
            </a:extLst>
          </p:cNvPr>
          <p:cNvSpPr/>
          <p:nvPr/>
        </p:nvSpPr>
        <p:spPr>
          <a:xfrm>
            <a:off x="771753" y="1889329"/>
            <a:ext cx="4226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Snapshot</a:t>
            </a:r>
            <a:endParaRPr lang="en-US" sz="1800" dirty="0">
              <a:solidFill>
                <a:srgbClr val="3DDC97"/>
              </a:solidFill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r>
              <a:rPr lang="en-US" sz="36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Sales 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Bundle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13232" y="1865037"/>
            <a:ext cx="10378440" cy="695619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launch demand growing, stable, or fading?</a:t>
            </a:r>
            <a:endParaRPr lang="en-US" sz="1200" b="1" dirty="0">
              <a:solidFill>
                <a:schemeClr val="bg1"/>
              </a:solidFill>
            </a:endParaRPr>
          </a:p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Caveat: registrations = trial starts, not paid subscriptions start.</a:t>
            </a:r>
            <a:endParaRPr lang="en-US" sz="1200" dirty="0"/>
          </a:p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Controls: date range, customer type (SYI/Pro), bundle type.</a:t>
            </a:r>
            <a:endParaRPr lang="en-US" sz="1200" dirty="0"/>
          </a:p>
        </p:txBody>
      </p:sp>
      <p:pic>
        <p:nvPicPr>
          <p:cNvPr id="16" name="Image 0" descr="/Users/omertal/PycharmProjects/Marketplaats/outputs/019ec668-313f-7a42-b45f-b7e468004534/presentations/q3-verbatim-refresh/assets/weekly_new_registr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3" y="2697145"/>
            <a:ext cx="7635240" cy="3200400"/>
          </a:xfrm>
          <a:prstGeom prst="rect">
            <a:avLst/>
          </a:prstGeom>
        </p:spPr>
      </p:pic>
      <p:sp>
        <p:nvSpPr>
          <p:cNvPr id="8" name="Text 7">
            <a:extLst>
              <a:ext uri="{FF2B5EF4-FFF2-40B4-BE49-F238E27FC236}">
                <a16:creationId xmlns:a16="http://schemas.microsoft.com/office/drawing/2014/main" id="{B6868E87-5826-9A5F-B86F-E312696514EE}"/>
              </a:ext>
            </a:extLst>
          </p:cNvPr>
          <p:cNvSpPr/>
          <p:nvPr/>
        </p:nvSpPr>
        <p:spPr>
          <a:xfrm>
            <a:off x="771753" y="1369772"/>
            <a:ext cx="4226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Registrations Trend</a:t>
            </a:r>
            <a:endParaRPr lang="en-US" sz="1800" dirty="0">
              <a:solidFill>
                <a:srgbClr val="3DDC97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r>
              <a:rPr lang="en-US" sz="36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Sales 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Bundle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13232" y="1922724"/>
            <a:ext cx="10378440" cy="569409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bundle base turning into paid adoption?</a:t>
            </a:r>
            <a:endParaRPr lang="en-US" sz="1200" b="1" dirty="0">
              <a:solidFill>
                <a:schemeClr val="bg1"/>
              </a:solidFill>
            </a:endParaRPr>
          </a:p>
          <a:p>
            <a:pPr marL="292000" indent="-220000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Controls: date range, customer type (SYI/Pro), , bundle.</a:t>
            </a:r>
            <a:endParaRPr lang="en-US" sz="1200" dirty="0"/>
          </a:p>
        </p:txBody>
      </p:sp>
      <p:pic>
        <p:nvPicPr>
          <p:cNvPr id="16" name="Image 0" descr="/Users/omertal/PycharmProjects/Marketplaats/outputs/019ec668-313f-7a42-b45f-b7e468004534/presentations/q3-verbatim-refresh/assets/active_bund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3" y="2638436"/>
            <a:ext cx="7738110" cy="3200400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0F9658F8-8548-26DF-6B8C-5704492E8516}"/>
              </a:ext>
            </a:extLst>
          </p:cNvPr>
          <p:cNvSpPr/>
          <p:nvPr/>
        </p:nvSpPr>
        <p:spPr>
          <a:xfrm>
            <a:off x="771753" y="1369772"/>
            <a:ext cx="4226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Bundles Trend</a:t>
            </a:r>
            <a:endParaRPr lang="en-US" sz="1800" dirty="0">
              <a:solidFill>
                <a:srgbClr val="3DDC97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r>
              <a:rPr lang="en-US" sz="36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Sales 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Bundle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13232" y="1895520"/>
            <a:ext cx="10378440" cy="54321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paid base shifting toward Plus?</a:t>
            </a:r>
            <a:endParaRPr lang="en-US" sz="1200" b="1" dirty="0">
              <a:solidFill>
                <a:schemeClr val="bg1"/>
              </a:solidFill>
            </a:endParaRPr>
          </a:p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Controls: date range and customer type.</a:t>
            </a:r>
            <a:endParaRPr lang="en-US" sz="1200" dirty="0"/>
          </a:p>
        </p:txBody>
      </p:sp>
      <p:pic>
        <p:nvPicPr>
          <p:cNvPr id="14" name="Image 0" descr="/Users/omertal/PycharmProjects/Marketplaats/outputs/019ec668-313f-7a42-b45f-b7e468004534/presentations/q3-verbatim-refresh/assets/plus_sh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3" y="2581320"/>
            <a:ext cx="6000001" cy="3337560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58492A07-403A-0E9C-FBBA-EBE9C0ACDA9C}"/>
              </a:ext>
            </a:extLst>
          </p:cNvPr>
          <p:cNvSpPr/>
          <p:nvPr/>
        </p:nvSpPr>
        <p:spPr>
          <a:xfrm>
            <a:off x="771753" y="1432898"/>
            <a:ext cx="4226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Share Trend</a:t>
            </a:r>
            <a:endParaRPr lang="en-US" sz="1800" dirty="0">
              <a:solidFill>
                <a:srgbClr val="3DDC97"/>
              </a:solidFill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Customer Quality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Bundle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16</a:t>
            </a:r>
            <a:endParaRPr lang="en-US" sz="75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F7BB1421-DDB5-9E85-3D1C-FD586F742C58}"/>
              </a:ext>
            </a:extLst>
          </p:cNvPr>
          <p:cNvSpPr/>
          <p:nvPr/>
        </p:nvSpPr>
        <p:spPr>
          <a:xfrm>
            <a:off x="771753" y="1953222"/>
            <a:ext cx="5390148" cy="46817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cohorts stay active paid after trial and later billing cycles?</a:t>
            </a:r>
            <a:endParaRPr lang="en-US" sz="1200" b="1" dirty="0">
              <a:solidFill>
                <a:schemeClr val="bg1"/>
              </a:solidFill>
            </a:endParaRPr>
          </a:p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Caveat: blank cells are immature checkpoints, not zero conversion.</a:t>
            </a:r>
            <a:endParaRPr lang="en-US" sz="1200" dirty="0"/>
          </a:p>
        </p:txBody>
      </p:sp>
      <p:pic>
        <p:nvPicPr>
          <p:cNvPr id="10" name="Image 0" descr="/Users/omertal/PycharmProjects/Marketplaats/outputs/019ec668-313f-7a42-b45f-b7e468004534/presentations/q3-cohort-heatmap-png/assets/cohort_heatmap.png">
            <a:extLst>
              <a:ext uri="{FF2B5EF4-FFF2-40B4-BE49-F238E27FC236}">
                <a16:creationId xmlns:a16="http://schemas.microsoft.com/office/drawing/2014/main" id="{5043DC03-D2C3-15AC-EA01-812389B22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632227"/>
            <a:ext cx="6986016" cy="3145536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506444A7-9A74-279D-60CE-0E3F27417A54}"/>
              </a:ext>
            </a:extLst>
          </p:cNvPr>
          <p:cNvSpPr/>
          <p:nvPr/>
        </p:nvSpPr>
        <p:spPr>
          <a:xfrm>
            <a:off x="835829" y="1453273"/>
            <a:ext cx="4226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Health</a:t>
            </a:r>
            <a:endParaRPr lang="en-US" sz="1800" dirty="0">
              <a:solidFill>
                <a:srgbClr val="3DDC97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26464" y="320040"/>
            <a:ext cx="9784080" cy="713232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r>
              <a:rPr lang="en-US" sz="36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Customer Quality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Bundle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16</a:t>
            </a:r>
            <a:endParaRPr lang="en-US" sz="750" dirty="0"/>
          </a:p>
        </p:txBody>
      </p:sp>
      <p:graphicFrame>
        <p:nvGraphicFramePr>
          <p:cNvPr id="11" name="Native Segment Enrichment Opportunity Table">
            <a:extLst>
              <a:ext uri="{FF2B5EF4-FFF2-40B4-BE49-F238E27FC236}">
                <a16:creationId xmlns:a16="http://schemas.microsoft.com/office/drawing/2014/main" id="{16D02375-431C-5A18-B25E-FBA2D93FAE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4106848"/>
              </p:ext>
            </p:extLst>
          </p:nvPr>
        </p:nvGraphicFramePr>
        <p:xfrm>
          <a:off x="6975742" y="2286000"/>
          <a:ext cx="4541521" cy="2008430"/>
        </p:xfrm>
        <a:graphic>
          <a:graphicData uri="http://schemas.openxmlformats.org/drawingml/2006/table">
            <a:tbl>
              <a:tblPr firstRow="1" bandRow="1"/>
              <a:tblGrid>
                <a:gridCol w="1628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2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5289"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</a:rPr>
                        <a:t>Potential merge</a:t>
                      </a:r>
                      <a:endParaRPr lang="en-US" sz="900" dirty="0">
                        <a:solidFill>
                          <a:srgbClr val="F2F2F2"/>
                        </a:solidFill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</a:rPr>
                        <a:t>Why it helps</a:t>
                      </a:r>
                      <a:endParaRPr lang="en-US" sz="900" dirty="0">
                        <a:solidFill>
                          <a:srgbClr val="F2F2F2"/>
                        </a:solidFill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101"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SMB likelihood score</a:t>
                      </a:r>
                      <a:endParaRPr lang="en-US" sz="900" b="1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Separates likely business sellers from lighter consumer-like sellers.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101"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Outreach readiness score</a:t>
                      </a:r>
                      <a:endParaRPr lang="en-US" sz="900" b="1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Shows whether sales-prioritized sellers convert and retain better.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101"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Historical spend tier</a:t>
                      </a:r>
                      <a:endParaRPr lang="en-US" sz="900" b="1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Distinguishes high and low-spend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101"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Seller size / activity tier</a:t>
                      </a:r>
                      <a:endParaRPr lang="en-US" sz="900" b="1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Identifies whether bundles work better for large or small sellers.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101"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Outreach batch / channel</a:t>
                      </a:r>
                      <a:endParaRPr lang="en-US" sz="900" b="1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Connects launch execution to registration and paid conversion quality.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Text 7">
            <a:extLst>
              <a:ext uri="{FF2B5EF4-FFF2-40B4-BE49-F238E27FC236}">
                <a16:creationId xmlns:a16="http://schemas.microsoft.com/office/drawing/2014/main" id="{E511A023-960A-587F-CD6E-7395818DC30D}"/>
              </a:ext>
            </a:extLst>
          </p:cNvPr>
          <p:cNvSpPr/>
          <p:nvPr/>
        </p:nvSpPr>
        <p:spPr>
          <a:xfrm>
            <a:off x="7290365" y="1694688"/>
            <a:ext cx="4226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Segmentation Merge</a:t>
            </a:r>
            <a:endParaRPr lang="en-US" sz="1800" dirty="0">
              <a:solidFill>
                <a:srgbClr val="3DDC97"/>
              </a:solidFill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A90C4CDA-20E1-4A66-06B2-6B57882CCD19}"/>
              </a:ext>
            </a:extLst>
          </p:cNvPr>
          <p:cNvSpPr/>
          <p:nvPr/>
        </p:nvSpPr>
        <p:spPr>
          <a:xfrm>
            <a:off x="1279031" y="1694688"/>
            <a:ext cx="4226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 Health Snapshot</a:t>
            </a:r>
            <a:endParaRPr lang="en-US" sz="1800" dirty="0">
              <a:solidFill>
                <a:srgbClr val="3DDC97"/>
              </a:solidFill>
            </a:endParaRPr>
          </a:p>
        </p:txBody>
      </p:sp>
      <p:graphicFrame>
        <p:nvGraphicFramePr>
          <p:cNvPr id="14" name="Native Segmentation Health Snapshot Table"/>
          <p:cNvGraphicFramePr/>
          <p:nvPr>
            <p:extLst>
              <p:ext uri="{D42A27DB-BD31-4B8C-83A1-F6EECF244321}">
                <p14:modId xmlns:p14="http://schemas.microsoft.com/office/powerpoint/2010/main" val="3171993652"/>
              </p:ext>
            </p:extLst>
          </p:nvPr>
        </p:nvGraphicFramePr>
        <p:xfrm>
          <a:off x="588578" y="2286000"/>
          <a:ext cx="6082245" cy="1691640"/>
        </p:xfrm>
        <a:graphic>
          <a:graphicData uri="http://schemas.openxmlformats.org/drawingml/2006/table">
            <a:tbl>
              <a:tblPr firstRow="1" bandRow="1"/>
              <a:tblGrid>
                <a:gridCol w="9983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47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15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20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77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34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43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</a:rPr>
                        <a:t>Segment dimension</a:t>
                      </a:r>
                      <a:endParaRPr lang="en-US" sz="900" dirty="0">
                        <a:solidFill>
                          <a:srgbClr val="F2F2F2"/>
                        </a:solidFill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</a:rPr>
                        <a:t>Segment value</a:t>
                      </a:r>
                      <a:endParaRPr lang="en-US" sz="900" dirty="0">
                        <a:solidFill>
                          <a:srgbClr val="F2F2F2"/>
                        </a:solidFill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dirty="0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</a:rPr>
                        <a:t>Registrations</a:t>
                      </a:r>
                      <a:endParaRPr lang="en-US" sz="900" dirty="0">
                        <a:solidFill>
                          <a:srgbClr val="F2F2F2"/>
                        </a:solidFill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dirty="0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</a:rPr>
                        <a:t>Paid conversion at 28d</a:t>
                      </a:r>
                      <a:endParaRPr lang="en-US" sz="900" dirty="0">
                        <a:solidFill>
                          <a:srgbClr val="F2F2F2"/>
                        </a:solidFill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dirty="0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</a:rPr>
                        <a:t>% Plus of active paid bundles</a:t>
                      </a:r>
                      <a:endParaRPr lang="en-US" sz="900" dirty="0">
                        <a:solidFill>
                          <a:srgbClr val="F2F2F2"/>
                        </a:solidFill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dirty="0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</a:rPr>
                        <a:t>Active paid bundles</a:t>
                      </a:r>
                      <a:endParaRPr lang="en-US" sz="900" dirty="0">
                        <a:solidFill>
                          <a:srgbClr val="F2F2F2"/>
                        </a:solidFill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dirty="0">
                          <a:solidFill>
                            <a:srgbClr val="F2F2F2"/>
                          </a:solidFill>
                          <a:latin typeface="Arial"/>
                          <a:ea typeface="Arial"/>
                          <a:cs typeface="Arial"/>
                        </a:rPr>
                        <a:t>Current no-bundle share</a:t>
                      </a:r>
                      <a:endParaRPr lang="en-US" sz="900" dirty="0">
                        <a:solidFill>
                          <a:srgbClr val="F2F2F2"/>
                        </a:solidFill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Customer type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SYI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3,137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89.1%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40.9%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2,093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33.3%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Customer type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Pro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939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89.5%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40.7%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616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34.4%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First bundle type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Basic-first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2,791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89.4%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25.5%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1,845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33.9%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First bundle type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Plus-first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1,285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88.7%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73.6%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864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solidFill>
                            <a:srgbClr val="D8D8D8"/>
                          </a:solidFill>
                          <a:latin typeface="Arial"/>
                          <a:ea typeface="Arial"/>
                          <a:cs typeface="Arial"/>
                        </a:rPr>
                        <a:t>32.8%</a:t>
                      </a:r>
                      <a:endParaRPr lang="en-US" sz="900" dirty="0">
                        <a:solidFill>
                          <a:srgbClr val="D8D8D8"/>
                        </a:solidFill>
                      </a:endParaRPr>
                    </a:p>
                  </a:txBody>
                  <a:tcPr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F45063-ADD3-E4C1-9025-57F8E991C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05BCBA3-485D-0558-7581-02CD4A1946AD}"/>
              </a:ext>
            </a:extLst>
          </p:cNvPr>
          <p:cNvSpPr/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16E0E7D-5FCB-B0B3-C8A3-E5665E907814}"/>
              </a:ext>
            </a:extLst>
          </p:cNvPr>
          <p:cNvSpPr/>
          <p:nvPr/>
        </p:nvSpPr>
        <p:spPr>
          <a:xfrm>
            <a:off x="1426464" y="320040"/>
            <a:ext cx="9784080" cy="713232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r>
              <a:rPr lang="en-US" sz="36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Customer Quality</a:t>
            </a:r>
            <a:endParaRPr lang="en-US" sz="3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FCF010D-5742-E6DD-7CAC-8B81CAAF9623}"/>
              </a:ext>
            </a:extLst>
          </p:cNvPr>
          <p:cNvSpPr/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9F38785-A7A0-008C-F42E-02F57BCCE287}"/>
              </a:ext>
            </a:extLst>
          </p:cNvPr>
          <p:cNvSpPr/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BA9E207-5DBF-DF91-B077-A025146CB8D3}"/>
              </a:ext>
            </a:extLst>
          </p:cNvPr>
          <p:cNvSpPr/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Bundle Dashboard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29D9A72-3C4F-04BE-543A-9DEABE220422}"/>
              </a:ext>
            </a:extLst>
          </p:cNvPr>
          <p:cNvSpPr/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16</a:t>
            </a:r>
            <a:endParaRPr lang="en-US" sz="7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861B29F-6FBF-D771-CD5F-1B6C231F8C58}"/>
              </a:ext>
            </a:extLst>
          </p:cNvPr>
          <p:cNvSpPr/>
          <p:nvPr/>
        </p:nvSpPr>
        <p:spPr>
          <a:xfrm>
            <a:off x="713232" y="2078918"/>
            <a:ext cx="10332720" cy="741633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292000" indent="-220000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segments changed sharply in the last 4 weeks? </a:t>
            </a:r>
            <a:r>
              <a:rPr lang="en-US" sz="12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 where follow-up is most urgent.</a:t>
            </a:r>
            <a:endParaRPr lang="en-US" sz="1200" b="1" dirty="0">
              <a:solidFill>
                <a:schemeClr val="bg1"/>
              </a:solidFill>
            </a:endParaRPr>
          </a:p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Controls: displayed metrics can be dynamically selected, as well as comparison time window.</a:t>
            </a:r>
          </a:p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Caveat: dummy data. </a:t>
            </a:r>
            <a:endParaRPr lang="en-US" sz="1200" dirty="0"/>
          </a:p>
        </p:txBody>
      </p:sp>
      <p:pic>
        <p:nvPicPr>
          <p:cNvPr id="8" name="Image 0" descr="/Users/omertal/PycharmProjects/Marketplaats/outputs/019ec668-313f-7a42-b45f-b7e468004534/presentations/q3-verbatim-refresh/assets/segment_change_alerts.png">
            <a:extLst>
              <a:ext uri="{FF2B5EF4-FFF2-40B4-BE49-F238E27FC236}">
                <a16:creationId xmlns:a16="http://schemas.microsoft.com/office/drawing/2014/main" id="{25AFA8D2-BB0F-35EA-55A9-731200317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3" y="3082448"/>
            <a:ext cx="5760720" cy="2692400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BFB4888C-4C22-D83C-3207-DB830EBE601B}"/>
              </a:ext>
            </a:extLst>
          </p:cNvPr>
          <p:cNvSpPr/>
          <p:nvPr/>
        </p:nvSpPr>
        <p:spPr>
          <a:xfrm>
            <a:off x="771753" y="1586073"/>
            <a:ext cx="4226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Change Alerts</a:t>
            </a:r>
            <a:endParaRPr lang="en-US" sz="1800" dirty="0">
              <a:solidFill>
                <a:srgbClr val="3DDC9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64499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Business Impact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7356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Bundle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77240" y="1627632"/>
            <a:ext cx="9966960" cy="813354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4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bundles creating measurable value for Marktplaats and sellers?</a:t>
            </a:r>
            <a:endParaRPr lang="en-US" sz="1400" b="1" dirty="0"/>
          </a:p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4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data supports: modeled paid revenue and bundle revenue mix.</a:t>
            </a:r>
            <a:endParaRPr lang="en-US" sz="1400" dirty="0">
              <a:solidFill>
                <a:srgbClr val="A8A8A8"/>
              </a:solidFill>
            </a:endParaRPr>
          </a:p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4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missing: actual invoiced revenue and seller outcome data.</a:t>
            </a:r>
            <a:endParaRPr lang="en-US" sz="1400" dirty="0">
              <a:solidFill>
                <a:srgbClr val="A8A8A8"/>
              </a:solidFill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D0B213D9-F323-42EE-7B73-B36DCDBEE3C9}"/>
              </a:ext>
            </a:extLst>
          </p:cNvPr>
          <p:cNvSpPr/>
          <p:nvPr/>
        </p:nvSpPr>
        <p:spPr>
          <a:xfrm>
            <a:off x="4158843" y="2649474"/>
            <a:ext cx="6277571" cy="541721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paid adoption translating into subscription revenue?</a:t>
            </a:r>
            <a:endParaRPr lang="en-US" sz="1200" b="1" dirty="0">
              <a:solidFill>
                <a:schemeClr val="bg1"/>
              </a:solidFill>
            </a:endParaRPr>
          </a:p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Caveat: modeled from intervals and list prices; not invoiced or incremental revenue.</a:t>
            </a:r>
            <a:endParaRPr lang="en-US" sz="1200" dirty="0"/>
          </a:p>
        </p:txBody>
      </p:sp>
      <p:pic>
        <p:nvPicPr>
          <p:cNvPr id="10" name="Image 0" descr="/Users/omertal/PycharmProjects/Marketplaats/outputs/019ec668-313f-7a42-b45f-b7e468004534/presentations/q3-verbatim-refresh/assets/modeled_paid_revenue.png">
            <a:extLst>
              <a:ext uri="{FF2B5EF4-FFF2-40B4-BE49-F238E27FC236}">
                <a16:creationId xmlns:a16="http://schemas.microsoft.com/office/drawing/2014/main" id="{4B2ADD72-2B2B-8A40-706E-C5CD58764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3" y="3251626"/>
            <a:ext cx="6774180" cy="2720340"/>
          </a:xfrm>
          <a:prstGeom prst="rect">
            <a:avLst/>
          </a:prstGeom>
        </p:spPr>
      </p:pic>
      <p:pic>
        <p:nvPicPr>
          <p:cNvPr id="11" name="Image 1" descr="/Users/omertal/PycharmProjects/Marketplaats/outputs/019ec668-313f-7a42-b45f-b7e468004534/presentations/q3-verbatim-refresh/assets/latest_revenue_by_bundle.png">
            <a:extLst>
              <a:ext uri="{FF2B5EF4-FFF2-40B4-BE49-F238E27FC236}">
                <a16:creationId xmlns:a16="http://schemas.microsoft.com/office/drawing/2014/main" id="{43D5609A-95FC-D5C4-18C0-2C8803DD05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8545" y="3288707"/>
            <a:ext cx="3202940" cy="1840865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DE05CE03-24EE-389B-775A-73B47F056831}"/>
              </a:ext>
            </a:extLst>
          </p:cNvPr>
          <p:cNvSpPr/>
          <p:nvPr/>
        </p:nvSpPr>
        <p:spPr>
          <a:xfrm>
            <a:off x="953774" y="2604863"/>
            <a:ext cx="4226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DDC97"/>
                </a:solidFill>
                <a:latin typeface="Arial" pitchFamily="34" charset="0"/>
                <a:cs typeface="Arial" pitchFamily="34" charset="-120"/>
              </a:rPr>
              <a:t>Modeled Bundle Revenue</a:t>
            </a:r>
            <a:endParaRPr lang="en-US" sz="1800" dirty="0">
              <a:solidFill>
                <a:srgbClr val="3DDC97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102" y="323698"/>
            <a:ext cx="819302" cy="629107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26464" y="323698"/>
            <a:ext cx="9784080" cy="714146"/>
          </a:xfrm>
          <a:prstGeom prst="rect">
            <a:avLst/>
          </a:prstGeom>
          <a:noFill/>
          <a:ln/>
        </p:spPr>
        <p:txBody>
          <a:bodyPr lIns="57150" tIns="38100" rIns="57150" bIns="38100" anchor="t"/>
          <a:lstStyle/>
          <a:p>
            <a:r>
              <a:rPr lang="en-US" sz="36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Business Impact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199632"/>
            <a:ext cx="11274552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2064" y="63459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Bundle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927080" y="6345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13232" y="1873513"/>
            <a:ext cx="5577104" cy="86868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bundles help sellers generate more leads?</a:t>
            </a:r>
            <a:endParaRPr lang="en-US" sz="1200" b="1" dirty="0">
              <a:solidFill>
                <a:schemeClr val="bg1"/>
              </a:solidFill>
            </a:endParaRPr>
          </a:p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Controls: breakdown by bundle type, </a:t>
            </a:r>
          </a:p>
          <a:p>
            <a:pPr marL="292000" indent="-220000" algn="l">
              <a:buClr>
                <a:srgbClr val="3DDC97"/>
              </a:buClr>
              <a:buSzPct val="80000"/>
              <a:buFont typeface="Arial"/>
              <a:buChar char="■"/>
              <a:defRPr>
                <a:solidFill>
                  <a:srgbClr val="3DDC97"/>
                </a:solidFill>
              </a:defRPr>
            </a:pPr>
            <a:r>
              <a:rPr lang="en-US" sz="12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Caveat: dummy data, requires seller-level lead data</a:t>
            </a:r>
            <a:endParaRPr lang="en-US" sz="1200" dirty="0"/>
          </a:p>
        </p:txBody>
      </p:sp>
      <p:pic>
        <p:nvPicPr>
          <p:cNvPr id="14" name="Image 0" descr="/Users/omertal/PycharmProjects/Marketplaats/outputs/019ec668-313f-7a42-b45f-b7e468004534/presentations/q3-verbatim-refresh/assets/seller_leads_upl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3" y="2632936"/>
            <a:ext cx="5109210" cy="3223260"/>
          </a:xfrm>
          <a:prstGeom prst="rect">
            <a:avLst/>
          </a:prstGeom>
        </p:spPr>
      </p:pic>
      <p:sp>
        <p:nvSpPr>
          <p:cNvPr id="8" name="Text 7">
            <a:extLst>
              <a:ext uri="{FF2B5EF4-FFF2-40B4-BE49-F238E27FC236}">
                <a16:creationId xmlns:a16="http://schemas.microsoft.com/office/drawing/2014/main" id="{6C844CF1-7CFA-C0E8-8EBA-570160ED3754}"/>
              </a:ext>
            </a:extLst>
          </p:cNvPr>
          <p:cNvSpPr/>
          <p:nvPr/>
        </p:nvSpPr>
        <p:spPr>
          <a:xfrm>
            <a:off x="953774" y="1376285"/>
            <a:ext cx="4226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DDC97"/>
                </a:solidFill>
                <a:latin typeface="Arial" pitchFamily="34" charset="0"/>
                <a:cs typeface="Arial" pitchFamily="34" charset="-120"/>
              </a:rPr>
              <a:t>Seller Outcome Uplift</a:t>
            </a:r>
            <a:endParaRPr lang="en-US" sz="1800" dirty="0">
              <a:solidFill>
                <a:srgbClr val="3DDC97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 01 Inactive"/>
          <p:cNvSpPr/>
          <p:nvPr/>
        </p:nvSpPr>
        <p:spPr>
          <a:xfrm>
            <a:off x="609600" y="900112"/>
            <a:ext cx="3600450" cy="389572"/>
          </a:xfrm>
          <a:noFill/>
          <a:ln>
            <a:noFill/>
          </a:ln>
        </p:spPr>
        <p:txBody>
          <a:bodyPr lIns="0" tIns="0" rIns="0" bIns="0" anchor="t"/>
          <a:lstStyle/>
          <a:p>
            <a:r>
              <a:rPr sz="19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  Identify</a:t>
            </a:r>
          </a:p>
        </p:txBody>
      </p:sp>
      <p:sp>
        <p:nvSpPr>
          <p:cNvPr id="5" name="Section 02 Inactive"/>
          <p:cNvSpPr/>
          <p:nvPr/>
        </p:nvSpPr>
        <p:spPr>
          <a:xfrm>
            <a:off x="609600" y="1400175"/>
            <a:ext cx="3600450" cy="389572"/>
          </a:xfrm>
          <a:noFill/>
          <a:ln>
            <a:noFill/>
          </a:ln>
        </p:spPr>
        <p:txBody>
          <a:bodyPr lIns="0" tIns="0" rIns="0" bIns="0" anchor="t"/>
          <a:lstStyle/>
          <a:p>
            <a:r>
              <a:rPr sz="19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  Prioritize</a:t>
            </a:r>
          </a:p>
        </p:txBody>
      </p:sp>
      <p:sp>
        <p:nvSpPr>
          <p:cNvPr id="6" name="Section 04 Subtitle"/>
          <p:cNvSpPr/>
          <p:nvPr/>
        </p:nvSpPr>
        <p:spPr>
          <a:xfrm>
            <a:off x="512445" y="3960000"/>
            <a:ext cx="10000298" cy="450000"/>
          </a:xfrm>
          <a:noFill/>
          <a:ln>
            <a:noFill/>
          </a:ln>
        </p:spPr>
        <p:txBody>
          <a:bodyPr lIns="0" tIns="0" rIns="0" bIns="0" anchor="t"/>
          <a:lstStyle/>
          <a:p>
            <a:r>
              <a:rPr lang="en-US" sz="2200" dirty="0">
                <a:solidFill>
                  <a:srgbClr val="A7A7A7"/>
                </a:solidFill>
                <a:latin typeface="Arial"/>
                <a:ea typeface="Arial"/>
                <a:cs typeface="Arial"/>
              </a:rPr>
              <a:t>Use Lifecycle and in-product prompts to grow adoption</a:t>
            </a:r>
            <a:endParaRPr sz="2200" dirty="0">
              <a:solidFill>
                <a:srgbClr val="A7A7A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ection 03 Inactive"/>
          <p:cNvSpPr/>
          <p:nvPr/>
        </p:nvSpPr>
        <p:spPr>
          <a:xfrm>
            <a:off x="609600" y="1900238"/>
            <a:ext cx="3600450" cy="389572"/>
          </a:xfrm>
          <a:noFill/>
          <a:ln>
            <a:noFill/>
          </a:ln>
        </p:spPr>
        <p:txBody>
          <a:bodyPr lIns="0" tIns="0" rIns="0" bIns="0" anchor="t"/>
          <a:lstStyle/>
          <a:p>
            <a:r>
              <a:rPr sz="1900" b="1">
                <a:solidFill>
                  <a:srgbClr val="38D98C"/>
                </a:solidFill>
                <a:latin typeface="Arial"/>
                <a:ea typeface="Arial"/>
                <a:cs typeface="Arial"/>
              </a:rPr>
              <a:t>03  Monitor</a:t>
            </a:r>
          </a:p>
        </p:txBody>
      </p:sp>
      <p:sp>
        <p:nvSpPr>
          <p:cNvPr id="8" name="Section 04 Active"/>
          <p:cNvSpPr/>
          <p:nvPr/>
        </p:nvSpPr>
        <p:spPr>
          <a:xfrm>
            <a:off x="512445" y="2840000"/>
            <a:ext cx="10500360" cy="829628"/>
          </a:xfrm>
          <a:noFill/>
          <a:ln>
            <a:noFill/>
          </a:ln>
        </p:spPr>
        <p:txBody>
          <a:bodyPr lIns="0" tIns="0" rIns="0" bIns="0" anchor="t"/>
          <a:lstStyle/>
          <a:p>
            <a:r>
              <a:rPr sz="70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   Scale</a:t>
            </a:r>
          </a:p>
        </p:txBody>
      </p:sp>
      <p:sp>
        <p:nvSpPr>
          <p:cNvPr id="9" name="Bottom Separator"/>
          <p:cNvSpPr/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242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Q4 preview page marker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01 / 07</a:t>
            </a:r>
          </a:p>
        </p:txBody>
      </p:sp>
    </p:spTree>
    <p:extLst>
      <p:ext uri="{BB962C8B-B14F-4D97-AF65-F5344CB8AC3E}">
        <p14:creationId xmlns:p14="http://schemas.microsoft.com/office/powerpoint/2010/main" val="12646834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Campaign Objective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Campaign Proposal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02 / 07</a:t>
            </a:r>
          </a:p>
        </p:txBody>
      </p:sp>
      <p:sp>
        <p:nvSpPr>
          <p:cNvPr id="8" name="Text 6"/>
          <p:cNvSpPr/>
          <p:nvPr/>
        </p:nvSpPr>
        <p:spPr>
          <a:xfrm>
            <a:off x="621792" y="14173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SMB bundles to active sellers with a high SMB likelihood score, then sequence outreach by readiness so the strongest candidates receive the first conversion push.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2148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Campaign Objective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1792" y="254203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285750" indent="-285750">
              <a:buClr>
                <a:srgbClr val="FF785A"/>
              </a:buClr>
              <a:buSzPct val="100000"/>
              <a:buFont typeface="Wingdings" pitchFamily="2" charset="2"/>
              <a:buChar char="§"/>
            </a:pPr>
            <a:r>
              <a:rPr sz="1350" dirty="0">
                <a:solidFill>
                  <a:srgbClr val="D9D9D9"/>
                </a:solidFill>
              </a:rPr>
              <a:t>Promote SMB bundles to active sellers with a high SMB likelihood score (from question #1).</a:t>
            </a:r>
          </a:p>
          <a:p>
            <a:pPr marL="285750" indent="-285750">
              <a:buClr>
                <a:srgbClr val="FF785A"/>
              </a:buClr>
              <a:buSzPct val="100000"/>
              <a:buFont typeface="Wingdings" pitchFamily="2" charset="2"/>
              <a:buChar char="§"/>
            </a:pPr>
            <a:r>
              <a:rPr sz="1350" dirty="0">
                <a:solidFill>
                  <a:srgbClr val="D9D9D9"/>
                </a:solidFill>
              </a:rPr>
              <a:t>Start with sellers who also have a high readiness score (from question #2), then expand to broader seller groups.</a:t>
            </a:r>
          </a:p>
        </p:txBody>
      </p:sp>
      <p:sp>
        <p:nvSpPr>
          <p:cNvPr id="11" name="Text 9"/>
          <p:cNvSpPr/>
          <p:nvPr/>
        </p:nvSpPr>
        <p:spPr>
          <a:xfrm>
            <a:off x="6492239" y="2148840"/>
            <a:ext cx="33049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Future Campaigns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2542032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>
              <a:buClr>
                <a:srgbClr val="FF785A"/>
              </a:buClr>
              <a:buSzPct val="100000"/>
              <a:buFont typeface="Wingdings" pitchFamily="2" charset="2"/>
              <a:buChar char="§"/>
            </a:pPr>
            <a:r>
              <a:rPr sz="1350">
                <a:solidFill>
                  <a:srgbClr val="D9D9D9"/>
                </a:solidFill>
              </a:rPr>
              <a:t>Reactivation campaign for SMB sellers with declining performance.</a:t>
            </a:r>
          </a:p>
          <a:p>
            <a:pPr marL="285750" indent="-285750">
              <a:buClr>
                <a:srgbClr val="FF785A"/>
              </a:buClr>
              <a:buSzPct val="100000"/>
              <a:buFont typeface="Wingdings" pitchFamily="2" charset="2"/>
              <a:buChar char="§"/>
            </a:pPr>
            <a:r>
              <a:rPr sz="1350">
                <a:solidFill>
                  <a:srgbClr val="D9D9D9"/>
                </a:solidFill>
              </a:rPr>
              <a:t>Upsell campaign from Basic to Plus.</a:t>
            </a:r>
          </a:p>
        </p:txBody>
      </p:sp>
      <p:sp>
        <p:nvSpPr>
          <p:cNvPr id="13" name="Text 11"/>
          <p:cNvSpPr/>
          <p:nvPr/>
        </p:nvSpPr>
        <p:spPr>
          <a:xfrm>
            <a:off x="621792" y="3794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Flow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" y="4251960"/>
            <a:ext cx="2148840" cy="676656"/>
          </a:xfrm>
          <a:prstGeom prst="roundRect">
            <a:avLst>
              <a:gd name="adj" fmla="val 10811"/>
            </a:avLst>
          </a:prstGeom>
          <a:solidFill>
            <a:srgbClr val="0A0A0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6384" y="4389120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SMB likelihood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6384" y="464515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business signal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71800" y="4507992"/>
            <a:ext cx="201168" cy="164592"/>
          </a:xfrm>
          <a:prstGeom prst="chevron">
            <a:avLst/>
          </a:prstGeom>
          <a:solidFill>
            <a:srgbClr val="FF785A"/>
          </a:solidFill>
          <a:ln w="12700">
            <a:solidFill>
              <a:srgbClr val="FF78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401568" y="4251960"/>
            <a:ext cx="2148840" cy="676656"/>
          </a:xfrm>
          <a:prstGeom prst="roundRect">
            <a:avLst>
              <a:gd name="adj" fmla="val 10811"/>
            </a:avLst>
          </a:prstGeom>
          <a:solidFill>
            <a:srgbClr val="0A0A0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66160" y="4389120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readiness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66160" y="464515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first-wave priority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751576" y="4507992"/>
            <a:ext cx="201168" cy="164592"/>
          </a:xfrm>
          <a:prstGeom prst="chevron">
            <a:avLst/>
          </a:prstGeom>
          <a:solidFill>
            <a:srgbClr val="FF785A"/>
          </a:solidFill>
          <a:ln w="12700">
            <a:solidFill>
              <a:srgbClr val="FF78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81344" y="4251960"/>
            <a:ext cx="2148840" cy="676656"/>
          </a:xfrm>
          <a:prstGeom prst="roundRect">
            <a:avLst>
              <a:gd name="adj" fmla="val 10811"/>
            </a:avLst>
          </a:prstGeom>
          <a:solidFill>
            <a:srgbClr val="0A0A0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45936" y="4389120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Broader expansion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45936" y="464515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+ Tier 3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531352" y="4507992"/>
            <a:ext cx="201168" cy="164592"/>
          </a:xfrm>
          <a:prstGeom prst="chevron">
            <a:avLst/>
          </a:prstGeom>
          <a:solidFill>
            <a:srgbClr val="FF785A"/>
          </a:solidFill>
          <a:ln w="12700">
            <a:solidFill>
              <a:srgbClr val="FF78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961120" y="4251960"/>
            <a:ext cx="2148840" cy="676656"/>
          </a:xfrm>
          <a:prstGeom prst="roundRect">
            <a:avLst>
              <a:gd name="adj" fmla="val 10811"/>
            </a:avLst>
          </a:prstGeom>
          <a:solidFill>
            <a:srgbClr val="0A0A0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25712" y="4389120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impact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25712" y="464515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holdout-based KPIs</a:t>
            </a:r>
            <a:endParaRPr lang="en-US" sz="105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Target Audience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Campaign Proposal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03 / 07</a:t>
            </a:r>
          </a:p>
        </p:txBody>
      </p:sp>
      <p:sp>
        <p:nvSpPr>
          <p:cNvPr id="8" name="Text 6"/>
          <p:cNvSpPr/>
          <p:nvPr/>
        </p:nvSpPr>
        <p:spPr>
          <a:xfrm>
            <a:off x="621792" y="1371599"/>
            <a:ext cx="10561320" cy="1117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audience: </a:t>
            </a:r>
            <a:r>
              <a:rPr lang="en-US" sz="142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sellers without a bundle.</a:t>
            </a:r>
            <a:endParaRPr lang="en-US" sz="1420" dirty="0">
              <a:solidFill>
                <a:srgbClr val="F3F4F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42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SMB-likelihood and Outreach-Readiness scores to narrow the audience focus.</a:t>
            </a:r>
          </a:p>
          <a:p>
            <a:pPr marL="0" indent="0">
              <a:buNone/>
            </a:pPr>
            <a:endParaRPr lang="en-US" sz="1420" dirty="0">
              <a:solidFill>
                <a:srgbClr val="F3F4F6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420" dirty="0">
                <a:solidFill>
                  <a:srgbClr val="F3F4F6"/>
                </a:solidFill>
                <a:latin typeface="Arial" pitchFamily="34" charset="0"/>
                <a:cs typeface="Arial" pitchFamily="34" charset="-120"/>
              </a:rPr>
              <a:t>Start with Tier 1; scale to other tiers if successful.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621792" y="2713598"/>
            <a:ext cx="27432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7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Segments</a:t>
            </a:r>
            <a:endParaRPr lang="en-US" sz="1800" dirty="0"/>
          </a:p>
        </p:txBody>
      </p:sp>
      <p:graphicFrame>
        <p:nvGraphicFramePr>
          <p:cNvPr id="27" name="Audience segmen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746758"/>
              </p:ext>
            </p:extLst>
          </p:nvPr>
        </p:nvGraphicFramePr>
        <p:xfrm>
          <a:off x="621792" y="3120502"/>
          <a:ext cx="8626711" cy="1891788"/>
        </p:xfrm>
        <a:graphic>
          <a:graphicData uri="http://schemas.openxmlformats.org/drawingml/2006/table">
            <a:tbl>
              <a:tblPr/>
              <a:tblGrid>
                <a:gridCol w="1146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6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60" b="1" dirty="0">
                          <a:solidFill>
                            <a:srgbClr val="F2F2F2"/>
                          </a:solidFill>
                        </a:rPr>
                        <a:t>Segment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60" b="1" dirty="0">
                          <a:solidFill>
                            <a:srgbClr val="F2F2F2"/>
                          </a:solidFill>
                        </a:rPr>
                        <a:t>Audience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60" b="1">
                          <a:solidFill>
                            <a:srgbClr val="F2F2F2"/>
                          </a:solidFill>
                        </a:rPr>
                        <a:t>Campaign role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0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Tier 1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 dirty="0">
                          <a:solidFill>
                            <a:srgbClr val="D9D9D9"/>
                          </a:solidFill>
                        </a:rPr>
                        <a:t>High SMB likelihood + high readiness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Direct conversion push: upgrade now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0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Tier 2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High SMB likelihood + medium readiness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Education and nurture: explain bundle benefits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254877"/>
                  </a:ext>
                </a:extLst>
              </a:tr>
              <a:tr h="3700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Tier 3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Medium SMB likelihood + medium/low readiness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Light-touch awareness and interest validation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815287"/>
                  </a:ext>
                </a:extLst>
              </a:tr>
              <a:tr h="3700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Excluded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 dirty="0">
                          <a:solidFill>
                            <a:srgbClr val="D9D9D9"/>
                          </a:solidFill>
                        </a:rPr>
                        <a:t>Low SMB likelihood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 dirty="0">
                          <a:solidFill>
                            <a:srgbClr val="D9D9D9"/>
                          </a:solidFill>
                        </a:rPr>
                        <a:t>Avoid intrusive promotion to likely consumers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1034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Channels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Campaign Proposal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04 / 07</a:t>
            </a:r>
          </a:p>
        </p:txBody>
      </p:sp>
      <p:sp>
        <p:nvSpPr>
          <p:cNvPr id="8" name="Channels intro"/>
          <p:cNvSpPr/>
          <p:nvPr/>
        </p:nvSpPr>
        <p:spPr>
          <a:xfrm>
            <a:off x="621792" y="1417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two complementary channels: lifecycle CRM for behavior-triggered outreach and in-platform prompts for high-intent seller moments.</a:t>
            </a:r>
            <a:endParaRPr lang="en-US" sz="1500" dirty="0"/>
          </a:p>
        </p:txBody>
      </p:sp>
      <p:sp>
        <p:nvSpPr>
          <p:cNvPr id="9" name="Channel mix label"/>
          <p:cNvSpPr/>
          <p:nvPr/>
        </p:nvSpPr>
        <p:spPr>
          <a:xfrm>
            <a:off x="621792" y="2148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Mix</a:t>
            </a:r>
            <a:endParaRPr lang="en-US" sz="1800" dirty="0"/>
          </a:p>
        </p:txBody>
      </p:sp>
      <p:sp>
        <p:nvSpPr>
          <p:cNvPr id="10" name="Lifecycle CRM card"/>
          <p:cNvSpPr/>
          <p:nvPr/>
        </p:nvSpPr>
        <p:spPr>
          <a:xfrm>
            <a:off x="621792" y="2606040"/>
            <a:ext cx="5029200" cy="1828800"/>
          </a:xfrm>
          <a:custGeom>
            <a:avLst/>
            <a:gdLst/>
            <a:ahLst/>
            <a:cxnLst/>
            <a:rect l="0" t="0" r="0" b="0"/>
            <a:pathLst>
              <a:path w="5029200" h="1828800">
                <a:moveTo>
                  <a:pt x="0" y="0"/>
                </a:moveTo>
                <a:lnTo>
                  <a:pt x="5029200" y="0"/>
                </a:lnTo>
                <a:lnTo>
                  <a:pt x="5029200" y="1693800"/>
                </a:lnTo>
                <a:cubicBezTo>
                  <a:pt x="5029200" y="1768360"/>
                  <a:pt x="4968760" y="1828800"/>
                  <a:pt x="4894200" y="1828800"/>
                </a:cubicBezTo>
                <a:lnTo>
                  <a:pt x="135000" y="1828800"/>
                </a:lnTo>
                <a:cubicBezTo>
                  <a:pt x="60440" y="1828800"/>
                  <a:pt x="0" y="1768360"/>
                  <a:pt x="0" y="1693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0E0E0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ifecycle CRM accent"/>
          <p:cNvSpPr/>
          <p:nvPr/>
        </p:nvSpPr>
        <p:spPr>
          <a:xfrm>
            <a:off x="621792" y="2606040"/>
            <a:ext cx="5029200" cy="38100"/>
          </a:xfrm>
          <a:prstGeom prst="rect">
            <a:avLst/>
          </a:prstGeom>
          <a:solidFill>
            <a:srgbClr val="FF785A"/>
          </a:solidFill>
          <a:ln w="12700">
            <a:solidFill>
              <a:srgbClr val="FF78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Lifecycle CRM title"/>
          <p:cNvSpPr/>
          <p:nvPr/>
        </p:nvSpPr>
        <p:spPr>
          <a:xfrm>
            <a:off x="804672" y="282549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CRM</a:t>
            </a:r>
            <a:endParaRPr lang="en-US" sz="1700" dirty="0"/>
          </a:p>
        </p:txBody>
      </p:sp>
      <p:sp>
        <p:nvSpPr>
          <p:cNvPr id="13" name="Lifecycle CRM body"/>
          <p:cNvSpPr/>
          <p:nvPr/>
        </p:nvSpPr>
        <p:spPr>
          <a:xfrm>
            <a:off x="804672" y="326440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/ CRM journeys triggered by seller behavior, such as repeated listing, paid-feature use, competitive-category activity.</a:t>
            </a:r>
            <a:endParaRPr lang="en-US" sz="1250" dirty="0"/>
          </a:p>
        </p:txBody>
      </p:sp>
      <p:sp>
        <p:nvSpPr>
          <p:cNvPr id="15" name="In-platform Prompts card"/>
          <p:cNvSpPr/>
          <p:nvPr/>
        </p:nvSpPr>
        <p:spPr>
          <a:xfrm>
            <a:off x="6291072" y="2606040"/>
            <a:ext cx="5029200" cy="1828800"/>
          </a:xfrm>
          <a:custGeom>
            <a:avLst/>
            <a:gdLst/>
            <a:ahLst/>
            <a:cxnLst/>
            <a:rect l="0" t="0" r="0" b="0"/>
            <a:pathLst>
              <a:path w="5029200" h="1828800">
                <a:moveTo>
                  <a:pt x="0" y="0"/>
                </a:moveTo>
                <a:lnTo>
                  <a:pt x="5029200" y="0"/>
                </a:lnTo>
                <a:lnTo>
                  <a:pt x="5029200" y="1693800"/>
                </a:lnTo>
                <a:cubicBezTo>
                  <a:pt x="5029200" y="1768360"/>
                  <a:pt x="4968760" y="1828800"/>
                  <a:pt x="4894200" y="1828800"/>
                </a:cubicBezTo>
                <a:lnTo>
                  <a:pt x="135000" y="1828800"/>
                </a:lnTo>
                <a:cubicBezTo>
                  <a:pt x="60440" y="1828800"/>
                  <a:pt x="0" y="1768360"/>
                  <a:pt x="0" y="1693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0E0E0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In-platform Prompts accent"/>
          <p:cNvSpPr/>
          <p:nvPr/>
        </p:nvSpPr>
        <p:spPr>
          <a:xfrm>
            <a:off x="6291072" y="2606040"/>
            <a:ext cx="5029200" cy="38100"/>
          </a:xfrm>
          <a:prstGeom prst="rect">
            <a:avLst/>
          </a:prstGeom>
          <a:solidFill>
            <a:srgbClr val="FF785A"/>
          </a:solidFill>
          <a:ln w="12700">
            <a:solidFill>
              <a:srgbClr val="FF78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In-platform Prompts title"/>
          <p:cNvSpPr/>
          <p:nvPr/>
        </p:nvSpPr>
        <p:spPr>
          <a:xfrm>
            <a:off x="6473952" y="282549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In-platform Prompts</a:t>
            </a:r>
            <a:endParaRPr lang="en-US" sz="1700" dirty="0"/>
          </a:p>
        </p:txBody>
      </p:sp>
      <p:sp>
        <p:nvSpPr>
          <p:cNvPr id="18" name="In-platform Prompts body"/>
          <p:cNvSpPr/>
          <p:nvPr/>
        </p:nvSpPr>
        <p:spPr>
          <a:xfrm>
            <a:off x="6473952" y="326440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in high-intent seller surfaces: seller dashboard, listing creation, listing management, and paid-feature purchase flows.</a:t>
            </a:r>
            <a:endParaRPr lang="en-US" sz="1250" dirty="0"/>
          </a:p>
        </p:txBody>
      </p:sp>
      <p:sp>
        <p:nvSpPr>
          <p:cNvPr id="20" name="How channels work label"/>
          <p:cNvSpPr/>
          <p:nvPr/>
        </p:nvSpPr>
        <p:spPr>
          <a:xfrm>
            <a:off x="621792" y="4892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They Work Together</a:t>
            </a:r>
            <a:endParaRPr lang="en-US" sz="1800" dirty="0"/>
          </a:p>
        </p:txBody>
      </p:sp>
      <p:sp>
        <p:nvSpPr>
          <p:cNvPr id="21" name="How channels work body"/>
          <p:cNvSpPr/>
          <p:nvPr/>
        </p:nvSpPr>
        <p:spPr>
          <a:xfrm>
            <a:off x="621792" y="5273040"/>
            <a:ext cx="1021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creates the targeted outreach path; in-platform prompts reinforce the message at the moment of seller intent.</a:t>
            </a:r>
            <a:endParaRPr lang="en-US" sz="135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 Lifecycle CRM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Campaign Proposal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05 / 07</a:t>
            </a:r>
          </a:p>
        </p:txBody>
      </p:sp>
      <p:sp>
        <p:nvSpPr>
          <p:cNvPr id="8" name="Text 6"/>
          <p:cNvSpPr/>
          <p:nvPr/>
        </p:nvSpPr>
        <p:spPr>
          <a:xfrm>
            <a:off x="621792" y="137160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email / CRM journeys triggered by seller behavior.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1840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7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of Triggers</a:t>
            </a:r>
            <a:endParaRPr lang="en-US" sz="1800" dirty="0"/>
          </a:p>
        </p:txBody>
      </p:sp>
      <p:sp>
        <p:nvSpPr>
          <p:cNvPr id="10" name="2x2 card 1"/>
          <p:cNvSpPr/>
          <p:nvPr/>
        </p:nvSpPr>
        <p:spPr>
          <a:xfrm>
            <a:off x="628650" y="22479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2x2 card accent 1"/>
          <p:cNvSpPr/>
          <p:nvPr/>
        </p:nvSpPr>
        <p:spPr>
          <a:xfrm>
            <a:off x="628650" y="22479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2x2 card label 1"/>
          <p:cNvSpPr/>
          <p:nvPr/>
        </p:nvSpPr>
        <p:spPr>
          <a:xfrm>
            <a:off x="858650" y="2492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13" name="2x2 card title 1"/>
          <p:cNvSpPr/>
          <p:nvPr/>
        </p:nvSpPr>
        <p:spPr>
          <a:xfrm>
            <a:off x="858650" y="27129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Seller lists repeatedly</a:t>
            </a:r>
          </a:p>
        </p:txBody>
      </p:sp>
      <p:sp>
        <p:nvSpPr>
          <p:cNvPr id="14" name="2x2 card body label 1"/>
          <p:cNvSpPr/>
          <p:nvPr/>
        </p:nvSpPr>
        <p:spPr>
          <a:xfrm>
            <a:off x="858650" y="3177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15" name="2x2 card body 1"/>
          <p:cNvSpPr/>
          <p:nvPr/>
        </p:nvSpPr>
        <p:spPr>
          <a:xfrm>
            <a:off x="858650" y="33879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Promote bundle when commercial intent is high</a:t>
            </a:r>
          </a:p>
        </p:txBody>
      </p:sp>
      <p:sp>
        <p:nvSpPr>
          <p:cNvPr id="16" name="2x2 card 2"/>
          <p:cNvSpPr/>
          <p:nvPr/>
        </p:nvSpPr>
        <p:spPr>
          <a:xfrm>
            <a:off x="6210300" y="22479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2x2 card accent 2"/>
          <p:cNvSpPr/>
          <p:nvPr/>
        </p:nvSpPr>
        <p:spPr>
          <a:xfrm>
            <a:off x="6210300" y="22479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2x2 card label 2"/>
          <p:cNvSpPr/>
          <p:nvPr/>
        </p:nvSpPr>
        <p:spPr>
          <a:xfrm>
            <a:off x="6440300" y="2492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19" name="2x2 card title 2"/>
          <p:cNvSpPr/>
          <p:nvPr/>
        </p:nvSpPr>
        <p:spPr>
          <a:xfrm>
            <a:off x="6440300" y="27129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Seller uses paid features</a:t>
            </a:r>
          </a:p>
        </p:txBody>
      </p:sp>
      <p:sp>
        <p:nvSpPr>
          <p:cNvPr id="20" name="2x2 card body label 2"/>
          <p:cNvSpPr/>
          <p:nvPr/>
        </p:nvSpPr>
        <p:spPr>
          <a:xfrm>
            <a:off x="6440300" y="3177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21" name="2x2 card body 2"/>
          <p:cNvSpPr/>
          <p:nvPr/>
        </p:nvSpPr>
        <p:spPr>
          <a:xfrm>
            <a:off x="6440300" y="33879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Position bundle as a structured visibility product</a:t>
            </a:r>
          </a:p>
        </p:txBody>
      </p:sp>
      <p:sp>
        <p:nvSpPr>
          <p:cNvPr id="22" name="2x2 card 3"/>
          <p:cNvSpPr/>
          <p:nvPr/>
        </p:nvSpPr>
        <p:spPr>
          <a:xfrm>
            <a:off x="628650" y="41148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2x2 card accent 3"/>
          <p:cNvSpPr/>
          <p:nvPr/>
        </p:nvSpPr>
        <p:spPr>
          <a:xfrm>
            <a:off x="628650" y="41148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2x2 card label 3"/>
          <p:cNvSpPr/>
          <p:nvPr/>
        </p:nvSpPr>
        <p:spPr>
          <a:xfrm>
            <a:off x="858650" y="4359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25" name="2x2 card title 3"/>
          <p:cNvSpPr/>
          <p:nvPr/>
        </p:nvSpPr>
        <p:spPr>
          <a:xfrm>
            <a:off x="858650" y="45798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Seller operates in competitive category</a:t>
            </a:r>
          </a:p>
        </p:txBody>
      </p:sp>
      <p:sp>
        <p:nvSpPr>
          <p:cNvPr id="26" name="2x2 card body label 3"/>
          <p:cNvSpPr/>
          <p:nvPr/>
        </p:nvSpPr>
        <p:spPr>
          <a:xfrm>
            <a:off x="858650" y="5044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27" name="2x2 card body 3"/>
          <p:cNvSpPr/>
          <p:nvPr/>
        </p:nvSpPr>
        <p:spPr>
          <a:xfrm>
            <a:off x="858650" y="52548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Promote differentiation benefit</a:t>
            </a:r>
          </a:p>
        </p:txBody>
      </p:sp>
      <p:sp>
        <p:nvSpPr>
          <p:cNvPr id="28" name="2x2 card 4"/>
          <p:cNvSpPr/>
          <p:nvPr/>
        </p:nvSpPr>
        <p:spPr>
          <a:xfrm>
            <a:off x="6210300" y="41148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2x2 card accent 4"/>
          <p:cNvSpPr/>
          <p:nvPr/>
        </p:nvSpPr>
        <p:spPr>
          <a:xfrm>
            <a:off x="6210300" y="41148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2x2 card label 4"/>
          <p:cNvSpPr/>
          <p:nvPr/>
        </p:nvSpPr>
        <p:spPr>
          <a:xfrm>
            <a:off x="6440300" y="4359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31" name="2x2 card title 4"/>
          <p:cNvSpPr/>
          <p:nvPr/>
        </p:nvSpPr>
        <p:spPr>
          <a:xfrm>
            <a:off x="6440300" y="45798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450" b="1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Seller receives buyer interest but has no bundle</a:t>
            </a:r>
          </a:p>
        </p:txBody>
      </p:sp>
      <p:sp>
        <p:nvSpPr>
          <p:cNvPr id="32" name="2x2 card body label 4"/>
          <p:cNvSpPr/>
          <p:nvPr/>
        </p:nvSpPr>
        <p:spPr>
          <a:xfrm>
            <a:off x="6440300" y="5044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33" name="2x2 card body 4"/>
          <p:cNvSpPr/>
          <p:nvPr/>
        </p:nvSpPr>
        <p:spPr>
          <a:xfrm>
            <a:off x="6440300" y="52548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Promote visibility/professionalization as next step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In-platform Prompts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Campaign Proposal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06 / 07</a:t>
            </a:r>
          </a:p>
        </p:txBody>
      </p:sp>
      <p:sp>
        <p:nvSpPr>
          <p:cNvPr id="8" name="Text 6"/>
          <p:cNvSpPr/>
          <p:nvPr/>
        </p:nvSpPr>
        <p:spPr>
          <a:xfrm>
            <a:off x="621792" y="137160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prompts in high-intent seller surfaces.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1840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7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Surfaces</a:t>
            </a:r>
            <a:endParaRPr lang="en-US" sz="1800" dirty="0"/>
          </a:p>
        </p:txBody>
      </p:sp>
      <p:sp>
        <p:nvSpPr>
          <p:cNvPr id="10" name="2x2 card 1"/>
          <p:cNvSpPr/>
          <p:nvPr/>
        </p:nvSpPr>
        <p:spPr>
          <a:xfrm>
            <a:off x="628650" y="22479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2x2 card accent 1"/>
          <p:cNvSpPr/>
          <p:nvPr/>
        </p:nvSpPr>
        <p:spPr>
          <a:xfrm>
            <a:off x="628650" y="22479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2x2 card label 1"/>
          <p:cNvSpPr/>
          <p:nvPr/>
        </p:nvSpPr>
        <p:spPr>
          <a:xfrm>
            <a:off x="858650" y="2492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13" name="2x2 card title 1"/>
          <p:cNvSpPr/>
          <p:nvPr/>
        </p:nvSpPr>
        <p:spPr>
          <a:xfrm>
            <a:off x="858650" y="27129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Seller dashboard</a:t>
            </a:r>
          </a:p>
        </p:txBody>
      </p:sp>
      <p:sp>
        <p:nvSpPr>
          <p:cNvPr id="14" name="2x2 card body label 1"/>
          <p:cNvSpPr/>
          <p:nvPr/>
        </p:nvSpPr>
        <p:spPr>
          <a:xfrm>
            <a:off x="858650" y="3177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Why this moment works</a:t>
            </a:r>
          </a:p>
        </p:txBody>
      </p:sp>
      <p:sp>
        <p:nvSpPr>
          <p:cNvPr id="15" name="2x2 card body 1"/>
          <p:cNvSpPr/>
          <p:nvPr/>
        </p:nvSpPr>
        <p:spPr>
          <a:xfrm>
            <a:off x="858650" y="33879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Natural moment to link bundles to better performance</a:t>
            </a:r>
          </a:p>
        </p:txBody>
      </p:sp>
      <p:sp>
        <p:nvSpPr>
          <p:cNvPr id="16" name="2x2 card 2"/>
          <p:cNvSpPr/>
          <p:nvPr/>
        </p:nvSpPr>
        <p:spPr>
          <a:xfrm>
            <a:off x="6210300" y="22479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2x2 card accent 2"/>
          <p:cNvSpPr/>
          <p:nvPr/>
        </p:nvSpPr>
        <p:spPr>
          <a:xfrm>
            <a:off x="6210300" y="22479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2x2 card label 2"/>
          <p:cNvSpPr/>
          <p:nvPr/>
        </p:nvSpPr>
        <p:spPr>
          <a:xfrm>
            <a:off x="6440300" y="2492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19" name="2x2 card title 2"/>
          <p:cNvSpPr/>
          <p:nvPr/>
        </p:nvSpPr>
        <p:spPr>
          <a:xfrm>
            <a:off x="6440300" y="27129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Listing creation flow</a:t>
            </a:r>
          </a:p>
        </p:txBody>
      </p:sp>
      <p:sp>
        <p:nvSpPr>
          <p:cNvPr id="20" name="2x2 card body label 2"/>
          <p:cNvSpPr/>
          <p:nvPr/>
        </p:nvSpPr>
        <p:spPr>
          <a:xfrm>
            <a:off x="6440300" y="3177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Why this moment works</a:t>
            </a:r>
          </a:p>
        </p:txBody>
      </p:sp>
      <p:sp>
        <p:nvSpPr>
          <p:cNvPr id="21" name="2x2 card body 2"/>
          <p:cNvSpPr/>
          <p:nvPr/>
        </p:nvSpPr>
        <p:spPr>
          <a:xfrm>
            <a:off x="6440300" y="33879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Bundle can improve listings from day one</a:t>
            </a:r>
          </a:p>
        </p:txBody>
      </p:sp>
      <p:sp>
        <p:nvSpPr>
          <p:cNvPr id="22" name="2x2 card 3"/>
          <p:cNvSpPr/>
          <p:nvPr/>
        </p:nvSpPr>
        <p:spPr>
          <a:xfrm>
            <a:off x="628650" y="41148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2x2 card accent 3"/>
          <p:cNvSpPr/>
          <p:nvPr/>
        </p:nvSpPr>
        <p:spPr>
          <a:xfrm>
            <a:off x="628650" y="41148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2x2 card label 3"/>
          <p:cNvSpPr/>
          <p:nvPr/>
        </p:nvSpPr>
        <p:spPr>
          <a:xfrm>
            <a:off x="858650" y="4359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25" name="2x2 card title 3"/>
          <p:cNvSpPr/>
          <p:nvPr/>
        </p:nvSpPr>
        <p:spPr>
          <a:xfrm>
            <a:off x="858650" y="45798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Listing management page</a:t>
            </a:r>
          </a:p>
        </p:txBody>
      </p:sp>
      <p:sp>
        <p:nvSpPr>
          <p:cNvPr id="26" name="2x2 card body label 3"/>
          <p:cNvSpPr/>
          <p:nvPr/>
        </p:nvSpPr>
        <p:spPr>
          <a:xfrm>
            <a:off x="858650" y="5044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Why this moment works</a:t>
            </a:r>
          </a:p>
        </p:txBody>
      </p:sp>
      <p:sp>
        <p:nvSpPr>
          <p:cNvPr id="27" name="2x2 card body 3"/>
          <p:cNvSpPr/>
          <p:nvPr/>
        </p:nvSpPr>
        <p:spPr>
          <a:xfrm>
            <a:off x="858650" y="52548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250" b="0" dirty="0">
                <a:solidFill>
                  <a:srgbClr val="D9D9D9"/>
                </a:solidFill>
                <a:latin typeface="Arial"/>
                <a:ea typeface="Arial"/>
                <a:cs typeface="Arial"/>
              </a:rPr>
              <a:t>Bundle is a broader upgrade than one-off ad fixes</a:t>
            </a:r>
          </a:p>
        </p:txBody>
      </p:sp>
      <p:sp>
        <p:nvSpPr>
          <p:cNvPr id="28" name="2x2 card 4"/>
          <p:cNvSpPr/>
          <p:nvPr/>
        </p:nvSpPr>
        <p:spPr>
          <a:xfrm>
            <a:off x="6210300" y="41148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2x2 card accent 4"/>
          <p:cNvSpPr/>
          <p:nvPr/>
        </p:nvSpPr>
        <p:spPr>
          <a:xfrm>
            <a:off x="6210300" y="41148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2x2 card label 4"/>
          <p:cNvSpPr/>
          <p:nvPr/>
        </p:nvSpPr>
        <p:spPr>
          <a:xfrm>
            <a:off x="6440300" y="4359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31" name="2x2 card title 4"/>
          <p:cNvSpPr/>
          <p:nvPr/>
        </p:nvSpPr>
        <p:spPr>
          <a:xfrm>
            <a:off x="6440300" y="45798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Paid-feature purchase flow</a:t>
            </a:r>
          </a:p>
        </p:txBody>
      </p:sp>
      <p:sp>
        <p:nvSpPr>
          <p:cNvPr id="32" name="2x2 card body label 4"/>
          <p:cNvSpPr/>
          <p:nvPr/>
        </p:nvSpPr>
        <p:spPr>
          <a:xfrm>
            <a:off x="6440300" y="5044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Why this moment works</a:t>
            </a:r>
          </a:p>
        </p:txBody>
      </p:sp>
      <p:sp>
        <p:nvSpPr>
          <p:cNvPr id="33" name="2x2 card body 4"/>
          <p:cNvSpPr/>
          <p:nvPr/>
        </p:nvSpPr>
        <p:spPr>
          <a:xfrm>
            <a:off x="6440300" y="52548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250" b="0" dirty="0">
                <a:solidFill>
                  <a:srgbClr val="D9D9D9"/>
                </a:solidFill>
                <a:latin typeface="Arial"/>
                <a:ea typeface="Arial"/>
                <a:cs typeface="Arial"/>
              </a:rPr>
              <a:t>Bundle is a structured alternative to single visibility purchases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57300" y="323850"/>
            <a:ext cx="9144000" cy="714375"/>
          </a:xfrm>
          <a:prstGeom prst="rect">
            <a:avLst/>
          </a:prstGeom>
          <a:noFill/>
          <a:ln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KPIs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85850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231255"/>
            <a:ext cx="6400800" cy="164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en-US" sz="750" b="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Campaign Proposal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noFill/>
          <a:ln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marL="0" indent="0" algn="r">
              <a:buNone/>
            </a:pPr>
            <a:r>
              <a:rPr lang="en-US" sz="900" b="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07</a:t>
            </a:r>
            <a:endParaRPr lang="en-US" sz="900" dirty="0"/>
          </a:p>
        </p:txBody>
      </p:sp>
      <p:sp>
        <p:nvSpPr>
          <p:cNvPr id="8" name="Combined KPI intro"/>
          <p:cNvSpPr/>
          <p:nvPr/>
        </p:nvSpPr>
        <p:spPr>
          <a:xfrm>
            <a:off x="628650" y="1219200"/>
            <a:ext cx="98107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incremental adoption, diagnose channel response, and monitor seller-fit guardrails.</a:t>
            </a:r>
            <a:endParaRPr lang="en-US" sz="1500" dirty="0"/>
          </a:p>
        </p:txBody>
      </p:sp>
      <p:sp>
        <p:nvSpPr>
          <p:cNvPr id="9" name="Primary KPI section label"/>
          <p:cNvSpPr/>
          <p:nvPr/>
        </p:nvSpPr>
        <p:spPr>
          <a:xfrm>
            <a:off x="628650" y="1724025"/>
            <a:ext cx="28575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7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KPI</a:t>
            </a:r>
            <a:endParaRPr lang="en-US" sz="1450" dirty="0"/>
          </a:p>
        </p:txBody>
      </p:sp>
      <p:sp>
        <p:nvSpPr>
          <p:cNvPr id="10" name="Primary KPI card"/>
          <p:cNvSpPr/>
          <p:nvPr/>
        </p:nvSpPr>
        <p:spPr>
          <a:xfrm>
            <a:off x="628650" y="2028825"/>
            <a:ext cx="10582275" cy="99060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rimary KPI red accent"/>
          <p:cNvSpPr/>
          <p:nvPr/>
        </p:nvSpPr>
        <p:spPr>
          <a:xfrm>
            <a:off x="628650" y="2105025"/>
            <a:ext cx="47625" cy="8382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Primary KPI name"/>
          <p:cNvSpPr/>
          <p:nvPr/>
        </p:nvSpPr>
        <p:spPr>
          <a:xfrm>
            <a:off x="876300" y="2371725"/>
            <a:ext cx="2952750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SMB Bundle
adoption rate (paid)</a:t>
            </a:r>
            <a:endParaRPr lang="en-US" sz="1500" dirty="0"/>
          </a:p>
        </p:txBody>
      </p:sp>
      <p:sp>
        <p:nvSpPr>
          <p:cNvPr id="13" name="Primary KPI definition"/>
          <p:cNvSpPr/>
          <p:nvPr/>
        </p:nvSpPr>
        <p:spPr>
          <a:xfrm>
            <a:off x="4343400" y="2305050"/>
            <a:ext cx="4000500" cy="714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800" dirty="0"/>
          </a:p>
          <a:p>
            <a:pPr marL="0" indent="0">
              <a:buNone/>
            </a:pPr>
            <a:r>
              <a:rPr lang="en-US" sz="115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Exposed adoption rate minus holdout adoption rate</a:t>
            </a:r>
            <a:endParaRPr lang="en-US" sz="1150" dirty="0"/>
          </a:p>
        </p:txBody>
      </p:sp>
      <p:sp>
        <p:nvSpPr>
          <p:cNvPr id="14" name="Primary KPI why"/>
          <p:cNvSpPr/>
          <p:nvPr/>
        </p:nvSpPr>
        <p:spPr>
          <a:xfrm>
            <a:off x="8439150" y="2305050"/>
            <a:ext cx="2381250" cy="714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800" dirty="0"/>
          </a:p>
          <a:p>
            <a:pPr marL="0" indent="0">
              <a:buNone/>
            </a:pPr>
            <a:r>
              <a:rPr lang="en-US" sz="115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Separates real lift from natural adoption.</a:t>
            </a:r>
            <a:endParaRPr lang="en-US" sz="1150" dirty="0"/>
          </a:p>
        </p:txBody>
      </p:sp>
      <p:sp>
        <p:nvSpPr>
          <p:cNvPr id="15" name="Secondary KPI section label"/>
          <p:cNvSpPr/>
          <p:nvPr/>
        </p:nvSpPr>
        <p:spPr>
          <a:xfrm>
            <a:off x="628650" y="3371850"/>
            <a:ext cx="3143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7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KPIs</a:t>
            </a:r>
            <a:endParaRPr lang="en-US" sz="1450" dirty="0"/>
          </a:p>
        </p:txBody>
      </p:sp>
      <p:sp>
        <p:nvSpPr>
          <p:cNvPr id="16" name="Click-through rate card"/>
          <p:cNvSpPr/>
          <p:nvPr/>
        </p:nvSpPr>
        <p:spPr>
          <a:xfrm>
            <a:off x="628650" y="3638550"/>
            <a:ext cx="6048375" cy="74295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Click-through rate accent"/>
          <p:cNvSpPr/>
          <p:nvPr/>
        </p:nvSpPr>
        <p:spPr>
          <a:xfrm>
            <a:off x="628650" y="3705225"/>
            <a:ext cx="47625" cy="6096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Click-through rate kpi"/>
          <p:cNvSpPr/>
          <p:nvPr/>
        </p:nvSpPr>
        <p:spPr>
          <a:xfrm>
            <a:off x="857250" y="3886200"/>
            <a:ext cx="1571625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Click-through rate</a:t>
            </a:r>
            <a:endParaRPr lang="en-US" sz="1000" dirty="0"/>
          </a:p>
        </p:txBody>
      </p:sp>
      <p:sp>
        <p:nvSpPr>
          <p:cNvPr id="19" name="Click-through rate definition"/>
          <p:cNvSpPr/>
          <p:nvPr/>
        </p:nvSpPr>
        <p:spPr>
          <a:xfrm>
            <a:off x="2619375" y="3771900"/>
            <a:ext cx="23812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700" dirty="0"/>
          </a:p>
          <a:p>
            <a:pPr marL="0" indent="0">
              <a:buNone/>
            </a:pPr>
            <a:r>
              <a:rPr lang="en-US" sz="90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exposed sellers who click
through</a:t>
            </a:r>
            <a:endParaRPr lang="en-US" sz="900" dirty="0"/>
          </a:p>
        </p:txBody>
      </p:sp>
      <p:sp>
        <p:nvSpPr>
          <p:cNvPr id="20" name="Click-through rate why"/>
          <p:cNvSpPr/>
          <p:nvPr/>
        </p:nvSpPr>
        <p:spPr>
          <a:xfrm>
            <a:off x="4797779" y="3771900"/>
            <a:ext cx="1774472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700" dirty="0"/>
          </a:p>
          <a:p>
            <a:pPr marL="0" indent="0">
              <a:buNone/>
            </a:pPr>
            <a:r>
              <a:rPr lang="en-US" sz="90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Diagnoses channel and
placement relevance.</a:t>
            </a:r>
            <a:endParaRPr lang="en-US" sz="900" dirty="0"/>
          </a:p>
        </p:txBody>
      </p:sp>
      <p:sp>
        <p:nvSpPr>
          <p:cNvPr id="21" name="Trial start rate card"/>
          <p:cNvSpPr/>
          <p:nvPr/>
        </p:nvSpPr>
        <p:spPr>
          <a:xfrm>
            <a:off x="628650" y="4495800"/>
            <a:ext cx="6048375" cy="74295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rial start rate accent"/>
          <p:cNvSpPr/>
          <p:nvPr/>
        </p:nvSpPr>
        <p:spPr>
          <a:xfrm>
            <a:off x="628650" y="4562475"/>
            <a:ext cx="47625" cy="6096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rial start rate kpi"/>
          <p:cNvSpPr/>
          <p:nvPr/>
        </p:nvSpPr>
        <p:spPr>
          <a:xfrm>
            <a:off x="857250" y="4743450"/>
            <a:ext cx="1571625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start rate</a:t>
            </a:r>
            <a:endParaRPr lang="en-US" sz="1000" dirty="0"/>
          </a:p>
        </p:txBody>
      </p:sp>
      <p:sp>
        <p:nvSpPr>
          <p:cNvPr id="24" name="Trial start rate definition"/>
          <p:cNvSpPr/>
          <p:nvPr/>
        </p:nvSpPr>
        <p:spPr>
          <a:xfrm>
            <a:off x="2619375" y="4629150"/>
            <a:ext cx="23812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700" dirty="0"/>
          </a:p>
          <a:p>
            <a:pPr marL="0" indent="0">
              <a:buNone/>
            </a:pPr>
            <a:r>
              <a:rPr lang="en-US" sz="90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exposed sellers who start a
bundle trial</a:t>
            </a:r>
            <a:endParaRPr lang="en-US" sz="900" dirty="0"/>
          </a:p>
        </p:txBody>
      </p:sp>
      <p:sp>
        <p:nvSpPr>
          <p:cNvPr id="25" name="Trial start rate why"/>
          <p:cNvSpPr/>
          <p:nvPr/>
        </p:nvSpPr>
        <p:spPr>
          <a:xfrm>
            <a:off x="4797779" y="4629150"/>
            <a:ext cx="1774472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700" dirty="0"/>
          </a:p>
          <a:p>
            <a:pPr marL="0" indent="0">
              <a:buNone/>
            </a:pPr>
            <a:r>
              <a:rPr lang="en-US" sz="90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whether interest
becomes action.</a:t>
            </a:r>
            <a:endParaRPr lang="en-US" sz="900" dirty="0"/>
          </a:p>
        </p:txBody>
      </p:sp>
      <p:sp>
        <p:nvSpPr>
          <p:cNvPr id="26" name="Bundle revenue uplift card"/>
          <p:cNvSpPr/>
          <p:nvPr/>
        </p:nvSpPr>
        <p:spPr>
          <a:xfrm>
            <a:off x="628650" y="5353050"/>
            <a:ext cx="6048375" cy="74295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Bundle revenue uplift accent"/>
          <p:cNvSpPr/>
          <p:nvPr/>
        </p:nvSpPr>
        <p:spPr>
          <a:xfrm>
            <a:off x="628650" y="5419725"/>
            <a:ext cx="47625" cy="6096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Bundle revenue uplift kpi"/>
          <p:cNvSpPr/>
          <p:nvPr/>
        </p:nvSpPr>
        <p:spPr>
          <a:xfrm>
            <a:off x="857250" y="5600700"/>
            <a:ext cx="1571625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revenue
uplift</a:t>
            </a:r>
            <a:endParaRPr lang="en-US" sz="1000" dirty="0"/>
          </a:p>
        </p:txBody>
      </p:sp>
      <p:sp>
        <p:nvSpPr>
          <p:cNvPr id="29" name="Bundle revenue uplift definition"/>
          <p:cNvSpPr/>
          <p:nvPr/>
        </p:nvSpPr>
        <p:spPr>
          <a:xfrm>
            <a:off x="2619375" y="5486400"/>
            <a:ext cx="23812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700" dirty="0"/>
          </a:p>
          <a:p>
            <a:pPr marL="0" indent="0">
              <a:buNone/>
            </a:pPr>
            <a:r>
              <a:rPr lang="en-US" sz="90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Exposed bundle revenue minus holdout
bundle revenue</a:t>
            </a:r>
            <a:endParaRPr lang="en-US" sz="900" dirty="0"/>
          </a:p>
        </p:txBody>
      </p:sp>
      <p:sp>
        <p:nvSpPr>
          <p:cNvPr id="30" name="Bundle revenue uplift why"/>
          <p:cNvSpPr/>
          <p:nvPr/>
        </p:nvSpPr>
        <p:spPr>
          <a:xfrm>
            <a:off x="4797779" y="5486400"/>
            <a:ext cx="1774472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700" dirty="0"/>
          </a:p>
          <a:p>
            <a:pPr marL="0" indent="0">
              <a:buNone/>
            </a:pPr>
            <a:r>
              <a:rPr lang="en-US" sz="90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adoption to business
value.</a:t>
            </a:r>
            <a:endParaRPr lang="en-US" sz="900" dirty="0"/>
          </a:p>
        </p:txBody>
      </p:sp>
      <p:sp>
        <p:nvSpPr>
          <p:cNvPr id="31" name="Guardrail section label"/>
          <p:cNvSpPr/>
          <p:nvPr/>
        </p:nvSpPr>
        <p:spPr>
          <a:xfrm>
            <a:off x="7000875" y="3371850"/>
            <a:ext cx="3143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7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 KPIs</a:t>
            </a:r>
            <a:endParaRPr lang="en-US" sz="1450" dirty="0"/>
          </a:p>
        </p:txBody>
      </p:sp>
      <p:sp>
        <p:nvSpPr>
          <p:cNvPr id="32" name="Guardrail intro"/>
          <p:cNvSpPr/>
          <p:nvPr/>
        </p:nvSpPr>
        <p:spPr>
          <a:xfrm>
            <a:off x="7000875" y="36957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76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ensure the campaign does not overfit to short-term adoption
at the expense of seller fit, product trust, or support burden.</a:t>
            </a:r>
            <a:endParaRPr lang="en-US" sz="760" dirty="0"/>
          </a:p>
        </p:txBody>
      </p:sp>
      <p:sp>
        <p:nvSpPr>
          <p:cNvPr id="33" name="Early cancellation / downgrade rate card"/>
          <p:cNvSpPr/>
          <p:nvPr/>
        </p:nvSpPr>
        <p:spPr>
          <a:xfrm>
            <a:off x="7000875" y="4343400"/>
            <a:ext cx="4219575" cy="78105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Early cancellation / downgrade rate accent"/>
          <p:cNvSpPr/>
          <p:nvPr/>
        </p:nvSpPr>
        <p:spPr>
          <a:xfrm>
            <a:off x="7000875" y="4410075"/>
            <a:ext cx="47625" cy="6477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Early cancellation / downgrade rate kpi"/>
          <p:cNvSpPr/>
          <p:nvPr/>
        </p:nvSpPr>
        <p:spPr>
          <a:xfrm>
            <a:off x="7229475" y="4591050"/>
            <a:ext cx="14287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cancellation /
downgrade rate</a:t>
            </a:r>
            <a:endParaRPr lang="en-US" sz="900" dirty="0"/>
          </a:p>
        </p:txBody>
      </p:sp>
      <p:sp>
        <p:nvSpPr>
          <p:cNvPr id="36" name="Early cancellation / downgrade rate definition"/>
          <p:cNvSpPr/>
          <p:nvPr/>
        </p:nvSpPr>
        <p:spPr>
          <a:xfrm>
            <a:off x="8486777" y="4476750"/>
            <a:ext cx="1475667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700" dirty="0"/>
          </a:p>
          <a:p>
            <a:pPr marL="0" indent="0">
              <a:buNone/>
            </a:pPr>
            <a:r>
              <a:rPr lang="en-US" sz="90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adopters who cancel or downgrade early</a:t>
            </a:r>
            <a:endParaRPr lang="en-US" sz="900" dirty="0"/>
          </a:p>
        </p:txBody>
      </p:sp>
      <p:sp>
        <p:nvSpPr>
          <p:cNvPr id="37" name="Early cancellation / downgrade rate why"/>
          <p:cNvSpPr/>
          <p:nvPr/>
        </p:nvSpPr>
        <p:spPr>
          <a:xfrm>
            <a:off x="10096500" y="4476750"/>
            <a:ext cx="938389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62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620" dirty="0"/>
          </a:p>
          <a:p>
            <a:pPr marL="0" indent="0">
              <a:buNone/>
            </a:pPr>
            <a:r>
              <a:rPr lang="en-US" sz="90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poor-fit or over-pushed sellers.</a:t>
            </a:r>
            <a:endParaRPr lang="en-US" sz="900" dirty="0"/>
          </a:p>
        </p:txBody>
      </p:sp>
      <p:sp>
        <p:nvSpPr>
          <p:cNvPr id="38" name="Seller opt-out or complaint rate card"/>
          <p:cNvSpPr/>
          <p:nvPr/>
        </p:nvSpPr>
        <p:spPr>
          <a:xfrm>
            <a:off x="7000875" y="5286375"/>
            <a:ext cx="4219575" cy="78105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eller opt-out or complaint rate accent"/>
          <p:cNvSpPr/>
          <p:nvPr/>
        </p:nvSpPr>
        <p:spPr>
          <a:xfrm>
            <a:off x="7000875" y="5353050"/>
            <a:ext cx="47625" cy="6477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Seller opt-out or complaint rate kpi"/>
          <p:cNvSpPr/>
          <p:nvPr/>
        </p:nvSpPr>
        <p:spPr>
          <a:xfrm>
            <a:off x="7229475" y="5534025"/>
            <a:ext cx="14287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opt-out or
complaint rate</a:t>
            </a:r>
            <a:endParaRPr lang="en-US" sz="900" dirty="0"/>
          </a:p>
        </p:txBody>
      </p:sp>
      <p:sp>
        <p:nvSpPr>
          <p:cNvPr id="41" name="Seller opt-out or complaint rate definition"/>
          <p:cNvSpPr/>
          <p:nvPr/>
        </p:nvSpPr>
        <p:spPr>
          <a:xfrm>
            <a:off x="8486777" y="5419725"/>
            <a:ext cx="1475667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700" dirty="0"/>
          </a:p>
          <a:p>
            <a:pPr marL="0" indent="0">
              <a:buNone/>
            </a:pPr>
            <a:r>
              <a:rPr lang="en-US" sz="90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exposed sellers who opt out or complain</a:t>
            </a:r>
            <a:endParaRPr lang="en-US" sz="900" dirty="0"/>
          </a:p>
        </p:txBody>
      </p:sp>
      <p:sp>
        <p:nvSpPr>
          <p:cNvPr id="42" name="Seller opt-out or complaint rate why"/>
          <p:cNvSpPr/>
          <p:nvPr/>
        </p:nvSpPr>
        <p:spPr>
          <a:xfrm>
            <a:off x="10096500" y="5419725"/>
            <a:ext cx="938389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62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620" dirty="0"/>
          </a:p>
          <a:p>
            <a:pPr marL="0" indent="0">
              <a:buNone/>
            </a:pPr>
            <a:r>
              <a:rPr lang="en-US" sz="90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 campaign pressure before trust suffers.</a:t>
            </a:r>
            <a:endParaRPr lang="en-US" sz="9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traight Connector 18" hidden="1">
            <a:extLst xmlns:a="http://schemas.openxmlformats.org/drawingml/2006/main">
              <a:ext uri="{FF2B5EF4-FFF2-40B4-BE49-F238E27FC236}">
                <a16:creationId xmlns:a16="http://schemas.microsoft.com/office/drawing/2014/main" id="{BB071BF5-761A-4556-9F3B-0C5CE095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3A3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 hidden="1">
            <a:extLst xmlns:a="http://schemas.openxmlformats.org/drawingml/2006/main">
              <a:ext uri="{FF2B5EF4-FFF2-40B4-BE49-F238E27FC236}">
                <a16:creationId xmlns:a16="http://schemas.microsoft.com/office/drawing/2014/main" id="{F46DEBE8-072F-477A-9844-7F7C6059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905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902F684-A616-491F-8077-6CD2F2B7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1143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1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41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5" name="Rectangle 4" hidden="1">
            <a:extLst xmlns:a="http://schemas.openxmlformats.org/drawingml/2006/main">
              <a:ext uri="{FF2B5EF4-FFF2-40B4-BE49-F238E27FC236}">
                <a16:creationId xmlns:a16="http://schemas.microsoft.com/office/drawing/2014/main" id="{E540927E-B027-400D-B31B-078BADA4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45000"/>
            <a:ext cx="10600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Home Assignment for Senior Marketing Analyst role at </a:t>
            </a:r>
            <a:r>
              <a:rPr sz="17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Marktplaats</a:t>
            </a:r>
          </a:p>
        </p:txBody>
      </p:sp>
      <p:sp>
        <p:nvSpPr>
          <p:cNvPr id="6" name="Straight Connector 5" hidden="1">
            <a:extLst xmlns:a="http://schemas.openxmlformats.org/drawingml/2006/main">
              <a:ext uri="{FF2B5EF4-FFF2-40B4-BE49-F238E27FC236}">
                <a16:creationId xmlns:a16="http://schemas.microsoft.com/office/drawing/2014/main" id="{1815675A-20BE-458D-8661-1BD3C6B5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107251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3A3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 hidden="1">
            <a:extLst xmlns:a="http://schemas.openxmlformats.org/drawingml/2006/main">
              <a:ext uri="{FF2B5EF4-FFF2-40B4-BE49-F238E27FC236}">
                <a16:creationId xmlns:a16="http://schemas.microsoft.com/office/drawing/2014/main" id="{C5B2D3B7-74AF-47B5-98D9-9CE7B867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14650"/>
            <a:ext cx="666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 hidden="1">
            <a:extLst xmlns:a="http://schemas.openxmlformats.org/drawingml/2006/main">
              <a:ext uri="{FF2B5EF4-FFF2-40B4-BE49-F238E27FC236}">
                <a16:creationId xmlns:a16="http://schemas.microsoft.com/office/drawing/2014/main" id="{E5A884B3-8E88-4E44-BA27-F7BBF373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21907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Identify</a:t>
            </a:r>
          </a:p>
        </p:txBody>
      </p:sp>
      <p:sp>
        <p:nvSpPr>
          <p:cNvPr id="9" name="Rectangle 8" hidden="1">
            <a:extLst xmlns:a="http://schemas.openxmlformats.org/drawingml/2006/main">
              <a:ext uri="{FF2B5EF4-FFF2-40B4-BE49-F238E27FC236}">
                <a16:creationId xmlns:a16="http://schemas.microsoft.com/office/drawing/2014/main" id="{E4BD2534-1DE9-463C-AC10-EFF47B62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0"/>
            <a:ext cx="2190750" cy="990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Find likely SMB sellers using seller behavior and </a:t>
            </a: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attributes</a:t>
            </a:r>
          </a:p>
        </p:txBody>
      </p:sp>
      <p:sp>
        <p:nvSpPr>
          <p:cNvPr id="10" name="Rectangle 9" hidden="1">
            <a:extLst xmlns:a="http://schemas.openxmlformats.org/drawingml/2006/main">
              <a:ext uri="{FF2B5EF4-FFF2-40B4-BE49-F238E27FC236}">
                <a16:creationId xmlns:a16="http://schemas.microsoft.com/office/drawing/2014/main" id="{0C6D38E9-B9E6-4C46-B738-8EF1E19E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14650"/>
            <a:ext cx="666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angle 10" hidden="1">
            <a:extLst xmlns:a="http://schemas.openxmlformats.org/drawingml/2006/main">
              <a:ext uri="{FF2B5EF4-FFF2-40B4-BE49-F238E27FC236}">
                <a16:creationId xmlns:a16="http://schemas.microsoft.com/office/drawing/2014/main" id="{5728AE2A-61C9-437D-859E-EF98C6A2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71850"/>
            <a:ext cx="21907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Prioritize</a:t>
            </a:r>
          </a:p>
        </p:txBody>
      </p:sp>
      <p:sp>
        <p:nvSpPr>
          <p:cNvPr id="12" name="Rectangle 11" hidden="1">
            <a:extLst xmlns:a="http://schemas.openxmlformats.org/drawingml/2006/main">
              <a:ext uri="{FF2B5EF4-FFF2-40B4-BE49-F238E27FC236}">
                <a16:creationId xmlns:a16="http://schemas.microsoft.com/office/drawing/2014/main" id="{1DFF63F0-A94C-4DAD-B65C-CD262DD8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10000"/>
            <a:ext cx="2190750" cy="990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Rank sellers by outreach readiness and bundle fit</a:t>
            </a:r>
          </a:p>
        </p:txBody>
      </p:sp>
      <p:sp>
        <p:nvSpPr>
          <p:cNvPr id="13" name="Rectangle 12" hidden="1">
            <a:extLst xmlns:a="http://schemas.openxmlformats.org/drawingml/2006/main">
              <a:ext uri="{FF2B5EF4-FFF2-40B4-BE49-F238E27FC236}">
                <a16:creationId xmlns:a16="http://schemas.microsoft.com/office/drawing/2014/main" id="{40427021-BCC1-4F5F-900A-65B9F1C6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666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Rectangle 13" hidden="1">
            <a:extLst xmlns:a="http://schemas.openxmlformats.org/drawingml/2006/main">
              <a:ext uri="{FF2B5EF4-FFF2-40B4-BE49-F238E27FC236}">
                <a16:creationId xmlns:a16="http://schemas.microsoft.com/office/drawing/2014/main" id="{3F7A21B2-9BA6-4F0D-A812-589C470B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1850"/>
            <a:ext cx="21907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15" name="Rectangle 14" hidden="1">
            <a:extLst xmlns:a="http://schemas.openxmlformats.org/drawingml/2006/main">
              <a:ext uri="{FF2B5EF4-FFF2-40B4-BE49-F238E27FC236}">
                <a16:creationId xmlns:a16="http://schemas.microsoft.com/office/drawing/2014/main" id="{0761F744-BCD6-4AD3-B28E-C37F1A29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2190750" cy="990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Track bundle adoption, revenue, and customer quality</a:t>
            </a:r>
          </a:p>
        </p:txBody>
      </p:sp>
      <p:sp>
        <p:nvSpPr>
          <p:cNvPr id="16" name="Rectangle 15" hidden="1">
            <a:extLst xmlns:a="http://schemas.openxmlformats.org/drawingml/2006/main">
              <a:ext uri="{FF2B5EF4-FFF2-40B4-BE49-F238E27FC236}">
                <a16:creationId xmlns:a16="http://schemas.microsoft.com/office/drawing/2014/main" id="{744DD1BE-D7B7-4AB2-A51B-3A87F832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14650"/>
            <a:ext cx="666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Rectangle 16" hidden="1">
            <a:extLst xmlns:a="http://schemas.openxmlformats.org/drawingml/2006/main">
              <a:ext uri="{FF2B5EF4-FFF2-40B4-BE49-F238E27FC236}">
                <a16:creationId xmlns:a16="http://schemas.microsoft.com/office/drawing/2014/main" id="{C2158E59-14EB-45A1-9413-A253C841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71850"/>
            <a:ext cx="21907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18" name="Rectangle 17" hidden="1">
            <a:extLst xmlns:a="http://schemas.openxmlformats.org/drawingml/2006/main">
              <a:ext uri="{FF2B5EF4-FFF2-40B4-BE49-F238E27FC236}">
                <a16:creationId xmlns:a16="http://schemas.microsoft.com/office/drawing/2014/main" id="{B9628688-FAE7-412B-8A94-7E5256E7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10000"/>
            <a:ext cx="2190750" cy="990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Use </a:t>
            </a: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Lifecycle</a:t>
            </a: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 and in-product prompts to grow adoption</a:t>
            </a:r>
          </a:p>
        </p:txBody>
      </p:sp>
      <p:sp>
        <p:nvSpPr>
          <p:cNvPr id="21" name="Meta information" hidden="1">
            <a:extLst xmlns:a="http://schemas.openxmlformats.org/drawingml/2006/main">
              <a:ext uri="{FF2B5EF4-FFF2-40B4-BE49-F238E27FC236}">
                <a16:creationId xmlns:a16="http://schemas.microsoft.com/office/drawing/2014/main" id="{2BA5AE30-556F-45E9-9898-18A97F34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750000"/>
            <a:ext cx="5000000" cy="560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Omer Tal</a:t>
            </a:r>
            <a:r>
              <a:rPr sz="17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, </a:t>
            </a:r>
            <a:r>
              <a:rPr sz="17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June 2026</a:t>
            </a:r>
          </a:p>
        </p:txBody>
      </p:sp>
    </p:spTree>
    <p:extLst>
      <p:ext uri="{BB962C8B-B14F-4D97-AF65-F5344CB8AC3E}">
        <p14:creationId xmlns:p14="http://schemas.microsoft.com/office/powerpoint/2010/main" val="18784403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59</Words>
  <Application>Microsoft Macintosh PowerPoint</Application>
  <DocSecurity>0</DocSecurity>
  <PresentationFormat>Widescreen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Omer Tal</cp:lastModifiedBy>
  <cp:revision>4</cp:revision>
  <dcterms:created xsi:type="dcterms:W3CDTF">2026-06-13T17:23:37Z</dcterms:created>
  <dcterms:modified xsi:type="dcterms:W3CDTF">2026-06-14T13:28:17Z</dcterms:modified>
</cp:coreProperties>
</file>