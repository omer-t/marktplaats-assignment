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249"/>
    <p:restoredTop sz="94691"/>
  </p:normalViewPr>
  <p:slideViewPr>
    <p:cSldViewPr snapToGrid="0">
      <p:cViewPr varScale="1">
        <p:scale>
          <a:sx n="213" d="100"/>
          <a:sy n="213" d="100"/>
        </p:scale>
        <p:origin x="45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BB071BF5-761A-4556-9F3B-0C5CE095A7CC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EBBD10-1276-4AAA-9B8D-C65480F9AF80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SMB Bundle Strategy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6DEBE8-072F-477A-9844-7F7C6059950D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lnSpc>
                <a:spcPct val="105000"/>
              </a:lnSpc>
              <a:buNone/>
              <a:defRPr sz="75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02F684-A616-491F-8077-6CD2F2B79134}"/>
              </a:ext>
            </a:extLst>
          </p:cNvPr>
          <p:cNvSpPr>
            <a:spLocks noGrp="1"/>
          </p:cNvSpPr>
          <p:nvPr/>
        </p:nvSpPr>
        <p:spPr>
          <a:xfrm>
            <a:off x="493776" y="548640"/>
            <a:ext cx="10561320" cy="713232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41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4100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SMB Bundle Strategy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40927E-B027-400D-B31B-078BADA40D0D}"/>
              </a:ext>
            </a:extLst>
          </p:cNvPr>
          <p:cNvSpPr>
            <a:spLocks noGrp="1"/>
          </p:cNvSpPr>
          <p:nvPr/>
        </p:nvSpPr>
        <p:spPr>
          <a:xfrm>
            <a:off x="512064" y="1345000"/>
            <a:ext cx="10600000" cy="4572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8000"/>
              </a:lnSpc>
              <a:buNone/>
              <a:defRPr sz="17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7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Home Assignment for Senior Marketing Analyst role at Marktplaats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1815675A-20BE-458D-8661-1BD3C6B5D0A5}"/>
              </a:ext>
            </a:extLst>
          </p:cNvPr>
          <p:cNvSpPr>
            <a:spLocks noGrp="1"/>
          </p:cNvSpPr>
          <p:nvPr/>
        </p:nvSpPr>
        <p:spPr>
          <a:xfrm>
            <a:off x="514350" y="2476500"/>
            <a:ext cx="1072515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B2D3B7-74AF-47B5-98D9-9CE7B8677A13}"/>
              </a:ext>
            </a:extLst>
          </p:cNvPr>
          <p:cNvSpPr>
            <a:spLocks noGrp="1"/>
          </p:cNvSpPr>
          <p:nvPr/>
        </p:nvSpPr>
        <p:spPr>
          <a:xfrm>
            <a:off x="590550" y="2914650"/>
            <a:ext cx="666750" cy="3619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F4C43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4C43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A884B3-8E88-4E44-BA27-F7BBF3732FF8}"/>
              </a:ext>
            </a:extLst>
          </p:cNvPr>
          <p:cNvSpPr>
            <a:spLocks noGrp="1"/>
          </p:cNvSpPr>
          <p:nvPr/>
        </p:nvSpPr>
        <p:spPr>
          <a:xfrm>
            <a:off x="590550" y="3371850"/>
            <a:ext cx="2190750" cy="4000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6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F4C430"/>
                </a:solidFill>
                <a:latin typeface="Arial"/>
                <a:ea typeface="Arial"/>
                <a:cs typeface="Arial"/>
              </a:rPr>
              <a:t>Identify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BD2534-1DE9-463C-AC10-EFF47B62BF0C}"/>
              </a:ext>
            </a:extLst>
          </p:cNvPr>
          <p:cNvSpPr>
            <a:spLocks noGrp="1"/>
          </p:cNvSpPr>
          <p:nvPr/>
        </p:nvSpPr>
        <p:spPr>
          <a:xfrm>
            <a:off x="590550" y="3810000"/>
            <a:ext cx="2190750" cy="990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6000"/>
              </a:lnSpc>
              <a:buNone/>
              <a:defRPr sz="12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Find likely SMB sellers using seller behavior and demand signals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6D38E9-B9E6-4C46-B738-8EF1E19E41B6}"/>
              </a:ext>
            </a:extLst>
          </p:cNvPr>
          <p:cNvSpPr>
            <a:spLocks noGrp="1"/>
          </p:cNvSpPr>
          <p:nvPr/>
        </p:nvSpPr>
        <p:spPr>
          <a:xfrm>
            <a:off x="3390900" y="2914650"/>
            <a:ext cx="666750" cy="3619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F4C43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FB3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728AE2A-61C9-437D-859E-EF98C6A227C3}"/>
              </a:ext>
            </a:extLst>
          </p:cNvPr>
          <p:cNvSpPr>
            <a:spLocks noGrp="1"/>
          </p:cNvSpPr>
          <p:nvPr/>
        </p:nvSpPr>
        <p:spPr>
          <a:xfrm>
            <a:off x="3390900" y="3371850"/>
            <a:ext cx="2190750" cy="4000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6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4FB3FF"/>
                </a:solidFill>
                <a:latin typeface="Arial"/>
                <a:ea typeface="Arial"/>
                <a:cs typeface="Arial"/>
              </a:rPr>
              <a:t>Prioritize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DFF63F0-A94C-4DAD-B65C-CD262DD81C46}"/>
              </a:ext>
            </a:extLst>
          </p:cNvPr>
          <p:cNvSpPr>
            <a:spLocks noGrp="1"/>
          </p:cNvSpPr>
          <p:nvPr/>
        </p:nvSpPr>
        <p:spPr>
          <a:xfrm>
            <a:off x="3390900" y="3810000"/>
            <a:ext cx="2190750" cy="990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6000"/>
              </a:lnSpc>
              <a:buNone/>
              <a:defRPr sz="12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Rank sellers by outreach readiness and bundle fit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427021-BCC1-4F5F-900A-65B9F1C68401}"/>
              </a:ext>
            </a:extLst>
          </p:cNvPr>
          <p:cNvSpPr>
            <a:spLocks noGrp="1"/>
          </p:cNvSpPr>
          <p:nvPr/>
        </p:nvSpPr>
        <p:spPr>
          <a:xfrm>
            <a:off x="6191250" y="2914650"/>
            <a:ext cx="666750" cy="3619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F4C43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F7A21B2-9BA6-4F0D-A812-589C470B8522}"/>
              </a:ext>
            </a:extLst>
          </p:cNvPr>
          <p:cNvSpPr>
            <a:spLocks noGrp="1"/>
          </p:cNvSpPr>
          <p:nvPr/>
        </p:nvSpPr>
        <p:spPr>
          <a:xfrm>
            <a:off x="6191250" y="3371850"/>
            <a:ext cx="2190750" cy="4000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6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Monitor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61F744-BCD6-4AD3-B28E-C37F1A29B1B1}"/>
              </a:ext>
            </a:extLst>
          </p:cNvPr>
          <p:cNvSpPr>
            <a:spLocks noGrp="1"/>
          </p:cNvSpPr>
          <p:nvPr/>
        </p:nvSpPr>
        <p:spPr>
          <a:xfrm>
            <a:off x="6191250" y="3810000"/>
            <a:ext cx="2190750" cy="990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6000"/>
              </a:lnSpc>
              <a:buNone/>
              <a:defRPr sz="12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Track bundle adoption, revenue, and customer quality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44DD1BE-D7B7-4AB2-A51B-3A87F8328BF1}"/>
              </a:ext>
            </a:extLst>
          </p:cNvPr>
          <p:cNvSpPr>
            <a:spLocks noGrp="1"/>
          </p:cNvSpPr>
          <p:nvPr/>
        </p:nvSpPr>
        <p:spPr>
          <a:xfrm>
            <a:off x="8991600" y="2914650"/>
            <a:ext cx="666750" cy="3619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F4C43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7A5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2158E59-14EB-45A1-9413-A253C841559B}"/>
              </a:ext>
            </a:extLst>
          </p:cNvPr>
          <p:cNvSpPr>
            <a:spLocks noGrp="1"/>
          </p:cNvSpPr>
          <p:nvPr/>
        </p:nvSpPr>
        <p:spPr>
          <a:xfrm>
            <a:off x="8991600" y="3371850"/>
            <a:ext cx="2190750" cy="4000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6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FF7A59"/>
                </a:solidFill>
                <a:latin typeface="Arial"/>
                <a:ea typeface="Arial"/>
                <a:cs typeface="Arial"/>
              </a:rPr>
              <a:t>Scale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9628688-FAE7-412B-8A94-7E5256E730B9}"/>
              </a:ext>
            </a:extLst>
          </p:cNvPr>
          <p:cNvSpPr>
            <a:spLocks noGrp="1"/>
          </p:cNvSpPr>
          <p:nvPr/>
        </p:nvSpPr>
        <p:spPr>
          <a:xfrm>
            <a:off x="8991600" y="3810000"/>
            <a:ext cx="2190750" cy="990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6000"/>
              </a:lnSpc>
              <a:buNone/>
              <a:defRPr sz="12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Use CRM and in-product prompts to grow adoption</a:t>
            </a:r>
          </a:p>
        </p:txBody>
      </p:sp>
      <p:sp>
        <p:nvSpPr>
          <p:cNvPr id="21" name="Meta information">
            <a:extLst>
              <a:ext uri="{FF2B5EF4-FFF2-40B4-BE49-F238E27FC236}">
                <a16:creationId xmlns:a16="http://schemas.microsoft.com/office/drawing/2014/main" id="{2BA5AE30-556F-45E9-9898-18A97F344CFD}"/>
              </a:ext>
            </a:extLst>
          </p:cNvPr>
          <p:cNvSpPr>
            <a:spLocks noGrp="1"/>
          </p:cNvSpPr>
          <p:nvPr/>
        </p:nvSpPr>
        <p:spPr>
          <a:xfrm>
            <a:off x="512064" y="1750000"/>
            <a:ext cx="5000000" cy="5600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8000"/>
              </a:lnSpc>
              <a:buNone/>
              <a:defRPr sz="13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Omer Tal</a:t>
            </a:r>
          </a:p>
          <a:p>
            <a:pPr algn="l">
              <a:lnSpc>
                <a:spcPct val="108000"/>
              </a:lnSpc>
              <a:buNone/>
              <a:defRPr sz="13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June 2026</a:t>
            </a:r>
          </a:p>
        </p:txBody>
      </p:sp>
    </p:spTree>
    <p:extLst>
      <p:ext uri="{BB962C8B-B14F-4D97-AF65-F5344CB8AC3E}">
        <p14:creationId xmlns:p14="http://schemas.microsoft.com/office/powerpoint/2010/main" val="1878440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>
            <a:extLst>
              <a:ext uri="{FF2B5EF4-FFF2-40B4-BE49-F238E27FC236}">
                <a16:creationId xmlns:a16="http://schemas.microsoft.com/office/drawing/2014/main" id="{18E998B9-F88E-4699-A13C-0F116878D7DE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0518099F-4F90-437E-8EBF-7E40973988EF}"/>
              </a:ext>
            </a:extLst>
          </p:cNvPr>
          <p:cNvSpPr>
            <a:spLocks noGrp="1"/>
          </p:cNvSpPr>
          <p:nvPr/>
        </p:nvSpPr>
        <p:spPr>
          <a:xfrm>
            <a:off x="1257300" y="323850"/>
            <a:ext cx="9953625" cy="714375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1. SMB Identification</a:t>
            </a:r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CC4322F5-8965-4F7E-88FF-C8024590E0E5}"/>
              </a:ext>
            </a:extLst>
          </p:cNvPr>
          <p:cNvSpPr>
            <a:spLocks noGrp="1"/>
          </p:cNvSpPr>
          <p:nvPr/>
        </p:nvSpPr>
        <p:spPr>
          <a:xfrm>
            <a:off x="457200" y="11600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Divider">
            <a:extLst>
              <a:ext uri="{FF2B5EF4-FFF2-40B4-BE49-F238E27FC236}">
                <a16:creationId xmlns:a16="http://schemas.microsoft.com/office/drawing/2014/main" id="{AEADAF99-75EE-4B6D-9374-F558920C9DF2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70C0DF54-E1E1-4B31-AE44-37C300A4C506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SMB Identification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AB90A983-65B5-4926-8687-4CC0E482D0D9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01 / 08</a:t>
            </a:r>
          </a:p>
        </p:txBody>
      </p:sp>
      <p:sp>
        <p:nvSpPr>
          <p:cNvPr id="9" name="Framing intro">
            <a:extLst>
              <a:ext uri="{FF2B5EF4-FFF2-40B4-BE49-F238E27FC236}">
                <a16:creationId xmlns:a16="http://schemas.microsoft.com/office/drawing/2014/main" id="{9193F9C6-41EE-4080-99E5-19D607DB5747}"/>
              </a:ext>
            </a:extLst>
          </p:cNvPr>
          <p:cNvSpPr>
            <a:spLocks noGrp="1"/>
          </p:cNvSpPr>
          <p:nvPr/>
        </p:nvSpPr>
        <p:spPr>
          <a:xfrm>
            <a:off x="609600" y="1457325"/>
            <a:ext cx="10858500" cy="3619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600">
                <a:solidFill>
                  <a:srgbClr val="F3F4F6"/>
                </a:solidFill>
                <a:latin typeface="Arial"/>
                <a:ea typeface="Arial"/>
                <a:cs typeface="Arial"/>
              </a:rPr>
              <a:t>SMB likelihood is inferred from repeated commercial behavior across setup, paid intent, listing activity, category focus, and buyer demand.</a:t>
            </a:r>
          </a:p>
        </p:txBody>
      </p:sp>
      <p:sp>
        <p:nvSpPr>
          <p:cNvPr id="10" name="Signal Map label">
            <a:extLst>
              <a:ext uri="{FF2B5EF4-FFF2-40B4-BE49-F238E27FC236}">
                <a16:creationId xmlns:a16="http://schemas.microsoft.com/office/drawing/2014/main" id="{2178FA77-A0E9-4651-8A84-AC52DF717621}"/>
              </a:ext>
            </a:extLst>
          </p:cNvPr>
          <p:cNvSpPr>
            <a:spLocks noGrp="1"/>
          </p:cNvSpPr>
          <p:nvPr/>
        </p:nvSpPr>
        <p:spPr>
          <a:xfrm>
            <a:off x="609600" y="2206062"/>
            <a:ext cx="2381250" cy="2667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8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Signal Map</a:t>
            </a:r>
          </a:p>
        </p:txBody>
      </p:sp>
      <p:sp>
        <p:nvSpPr>
          <p:cNvPr id="11" name="Business Setup card">
            <a:extLst>
              <a:ext uri="{FF2B5EF4-FFF2-40B4-BE49-F238E27FC236}">
                <a16:creationId xmlns:a16="http://schemas.microsoft.com/office/drawing/2014/main" id="{C7FFC7DF-4E61-4CE4-A6F2-33430D7E3FA1}"/>
              </a:ext>
            </a:extLst>
          </p:cNvPr>
          <p:cNvSpPr>
            <a:spLocks noGrp="1"/>
          </p:cNvSpPr>
          <p:nvPr/>
        </p:nvSpPr>
        <p:spPr>
          <a:xfrm>
            <a:off x="609600" y="2568012"/>
            <a:ext cx="2087880" cy="1466850"/>
          </a:xfrm>
          <a:prstGeom prst="roundRect">
            <a:avLst/>
          </a:prstGeom>
          <a:solidFill>
            <a:srgbClr val="0E0E0E"/>
          </a:solidFill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Business Setup accent">
            <a:extLst>
              <a:ext uri="{FF2B5EF4-FFF2-40B4-BE49-F238E27FC236}">
                <a16:creationId xmlns:a16="http://schemas.microsoft.com/office/drawing/2014/main" id="{8F8E834F-FE5B-4DC9-8932-DFDC03636BDE}"/>
              </a:ext>
            </a:extLst>
          </p:cNvPr>
          <p:cNvSpPr>
            <a:spLocks noGrp="1"/>
          </p:cNvSpPr>
          <p:nvPr/>
        </p:nvSpPr>
        <p:spPr>
          <a:xfrm>
            <a:off x="609600" y="2568012"/>
            <a:ext cx="2087880" cy="38100"/>
          </a:xfrm>
          <a:prstGeom prst="rect">
            <a:avLst/>
          </a:prstGeom>
          <a:solidFill>
            <a:srgbClr val="FFD426"/>
          </a:solidFill>
          <a:ln w="9525">
            <a:solidFill>
              <a:srgbClr val="FFD426"/>
            </a:solidFill>
          </a:ln>
        </p:spPr>
        <p:txBody>
          <a:bodyPr/>
          <a:lstStyle/>
          <a:p>
            <a:pPr marL="0" indent="0" algn="l">
              <a:buNone/>
            </a:pPr>
            <a:endParaRPr/>
          </a:p>
        </p:txBody>
      </p:sp>
      <p:sp>
        <p:nvSpPr>
          <p:cNvPr id="13" name="Business Setup title">
            <a:extLst>
              <a:ext uri="{FF2B5EF4-FFF2-40B4-BE49-F238E27FC236}">
                <a16:creationId xmlns:a16="http://schemas.microsoft.com/office/drawing/2014/main" id="{7D9E8E70-5B22-4E93-9701-BDB2FB316955}"/>
              </a:ext>
            </a:extLst>
          </p:cNvPr>
          <p:cNvSpPr>
            <a:spLocks noGrp="1"/>
          </p:cNvSpPr>
          <p:nvPr/>
        </p:nvSpPr>
        <p:spPr>
          <a:xfrm>
            <a:off x="762000" y="2758512"/>
            <a:ext cx="1821180" cy="2667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Business</a:t>
            </a:r>
            <a:r>
              <a:rPr sz="17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 Markers</a:t>
            </a:r>
          </a:p>
        </p:txBody>
      </p:sp>
      <p:sp>
        <p:nvSpPr>
          <p:cNvPr id="14" name="Signal bullet">
            <a:extLst>
              <a:ext uri="{FF2B5EF4-FFF2-40B4-BE49-F238E27FC236}">
                <a16:creationId xmlns:a16="http://schemas.microsoft.com/office/drawing/2014/main" id="{7B56A51E-5F3E-422F-80C4-58E8EE88FB23}"/>
              </a:ext>
            </a:extLst>
          </p:cNvPr>
          <p:cNvSpPr>
            <a:spLocks noGrp="1"/>
          </p:cNvSpPr>
          <p:nvPr/>
        </p:nvSpPr>
        <p:spPr>
          <a:xfrm>
            <a:off x="781050" y="3215712"/>
            <a:ext cx="66675" cy="66675"/>
          </a:xfrm>
          <a:prstGeom prst="ellipse">
            <a:avLst/>
          </a:prstGeom>
          <a:solidFill>
            <a:srgbClr val="FFD426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Business Setup item">
            <a:extLst>
              <a:ext uri="{FF2B5EF4-FFF2-40B4-BE49-F238E27FC236}">
                <a16:creationId xmlns:a16="http://schemas.microsoft.com/office/drawing/2014/main" id="{B4FC3418-FD5C-45BD-AC2C-BC074CB59259}"/>
              </a:ext>
            </a:extLst>
          </p:cNvPr>
          <p:cNvSpPr>
            <a:spLocks noGrp="1"/>
          </p:cNvSpPr>
          <p:nvPr/>
        </p:nvSpPr>
        <p:spPr>
          <a:xfrm>
            <a:off x="914400" y="3149037"/>
            <a:ext cx="1630680" cy="3238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300">
                <a:solidFill>
                  <a:srgbClr val="D8D8D2"/>
                </a:solidFill>
                <a:latin typeface="Arial"/>
                <a:ea typeface="Arial"/>
                <a:cs typeface="Arial"/>
              </a:rPr>
              <a:t>Corporate bank flag</a:t>
            </a:r>
          </a:p>
        </p:txBody>
      </p:sp>
      <p:sp>
        <p:nvSpPr>
          <p:cNvPr id="16" name="Signal bullet">
            <a:extLst>
              <a:ext uri="{FF2B5EF4-FFF2-40B4-BE49-F238E27FC236}">
                <a16:creationId xmlns:a16="http://schemas.microsoft.com/office/drawing/2014/main" id="{B14A1CE9-D141-4F64-A7EF-D4B4BF92A59E}"/>
              </a:ext>
            </a:extLst>
          </p:cNvPr>
          <p:cNvSpPr>
            <a:spLocks noGrp="1"/>
          </p:cNvSpPr>
          <p:nvPr/>
        </p:nvSpPr>
        <p:spPr>
          <a:xfrm>
            <a:off x="781050" y="3625287"/>
            <a:ext cx="66675" cy="66675"/>
          </a:xfrm>
          <a:prstGeom prst="ellipse">
            <a:avLst/>
          </a:prstGeom>
          <a:solidFill>
            <a:srgbClr val="FFD426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Business Setup item">
            <a:extLst>
              <a:ext uri="{FF2B5EF4-FFF2-40B4-BE49-F238E27FC236}">
                <a16:creationId xmlns:a16="http://schemas.microsoft.com/office/drawing/2014/main" id="{B469ED38-7D8B-4DE8-9700-530B606571D5}"/>
              </a:ext>
            </a:extLst>
          </p:cNvPr>
          <p:cNvSpPr>
            <a:spLocks noGrp="1"/>
          </p:cNvSpPr>
          <p:nvPr/>
        </p:nvSpPr>
        <p:spPr>
          <a:xfrm>
            <a:off x="914400" y="3558612"/>
            <a:ext cx="1630680" cy="3238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300">
                <a:solidFill>
                  <a:srgbClr val="D8D8D2"/>
                </a:solidFill>
                <a:latin typeface="Arial"/>
                <a:ea typeface="Arial"/>
                <a:cs typeface="Arial"/>
              </a:rPr>
              <a:t>External URL</a:t>
            </a:r>
          </a:p>
        </p:txBody>
      </p:sp>
      <p:sp>
        <p:nvSpPr>
          <p:cNvPr id="18" name="Paid Usage card">
            <a:extLst>
              <a:ext uri="{FF2B5EF4-FFF2-40B4-BE49-F238E27FC236}">
                <a16:creationId xmlns:a16="http://schemas.microsoft.com/office/drawing/2014/main" id="{A9DCA840-A6C9-4825-B340-E7CC272C1A10}"/>
              </a:ext>
            </a:extLst>
          </p:cNvPr>
          <p:cNvSpPr>
            <a:spLocks noGrp="1"/>
          </p:cNvSpPr>
          <p:nvPr/>
        </p:nvSpPr>
        <p:spPr>
          <a:xfrm>
            <a:off x="2830830" y="2568012"/>
            <a:ext cx="2087880" cy="1466850"/>
          </a:xfrm>
          <a:prstGeom prst="roundRect">
            <a:avLst/>
          </a:prstGeom>
          <a:solidFill>
            <a:srgbClr val="0E0E0E"/>
          </a:solidFill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Paid Usage accent">
            <a:extLst>
              <a:ext uri="{FF2B5EF4-FFF2-40B4-BE49-F238E27FC236}">
                <a16:creationId xmlns:a16="http://schemas.microsoft.com/office/drawing/2014/main" id="{222202EB-5AE5-42B9-82C0-54215292C2FF}"/>
              </a:ext>
            </a:extLst>
          </p:cNvPr>
          <p:cNvSpPr>
            <a:spLocks noGrp="1"/>
          </p:cNvSpPr>
          <p:nvPr/>
        </p:nvSpPr>
        <p:spPr>
          <a:xfrm>
            <a:off x="2830830" y="2568012"/>
            <a:ext cx="2087880" cy="38100"/>
          </a:xfrm>
          <a:prstGeom prst="rect">
            <a:avLst/>
          </a:prstGeom>
          <a:solidFill>
            <a:srgbClr val="FFD426"/>
          </a:solidFill>
          <a:ln w="9525">
            <a:solidFill>
              <a:srgbClr val="FFD42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" name="Paid Usage title">
            <a:extLst>
              <a:ext uri="{FF2B5EF4-FFF2-40B4-BE49-F238E27FC236}">
                <a16:creationId xmlns:a16="http://schemas.microsoft.com/office/drawing/2014/main" id="{72DD9E6A-2D90-447E-9783-0FC7A11F6365}"/>
              </a:ext>
            </a:extLst>
          </p:cNvPr>
          <p:cNvSpPr>
            <a:spLocks noGrp="1"/>
          </p:cNvSpPr>
          <p:nvPr/>
        </p:nvSpPr>
        <p:spPr>
          <a:xfrm>
            <a:off x="2983230" y="2758512"/>
            <a:ext cx="1821180" cy="2667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7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Paid </a:t>
            </a:r>
            <a:r>
              <a:rPr sz="1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Usage</a:t>
            </a:r>
          </a:p>
        </p:txBody>
      </p:sp>
      <p:sp>
        <p:nvSpPr>
          <p:cNvPr id="21" name="Signal bullet">
            <a:extLst>
              <a:ext uri="{FF2B5EF4-FFF2-40B4-BE49-F238E27FC236}">
                <a16:creationId xmlns:a16="http://schemas.microsoft.com/office/drawing/2014/main" id="{CA725DE6-45B1-4EFE-B3C9-EF75F8B52A9A}"/>
              </a:ext>
            </a:extLst>
          </p:cNvPr>
          <p:cNvSpPr>
            <a:spLocks noGrp="1"/>
          </p:cNvSpPr>
          <p:nvPr/>
        </p:nvSpPr>
        <p:spPr>
          <a:xfrm>
            <a:off x="3002280" y="3215712"/>
            <a:ext cx="66675" cy="66675"/>
          </a:xfrm>
          <a:prstGeom prst="ellipse">
            <a:avLst/>
          </a:prstGeom>
          <a:solidFill>
            <a:srgbClr val="FFD426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Paid Usage item">
            <a:extLst>
              <a:ext uri="{FF2B5EF4-FFF2-40B4-BE49-F238E27FC236}">
                <a16:creationId xmlns:a16="http://schemas.microsoft.com/office/drawing/2014/main" id="{0675CBDE-5BDB-4CA7-ABBF-BA7C7327CCA2}"/>
              </a:ext>
            </a:extLst>
          </p:cNvPr>
          <p:cNvSpPr>
            <a:spLocks noGrp="1"/>
          </p:cNvSpPr>
          <p:nvPr/>
        </p:nvSpPr>
        <p:spPr>
          <a:xfrm>
            <a:off x="3135630" y="3149037"/>
            <a:ext cx="1630680" cy="3238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300">
                <a:solidFill>
                  <a:srgbClr val="D8D8D2"/>
                </a:solidFill>
                <a:latin typeface="Arial"/>
                <a:ea typeface="Arial"/>
                <a:cs typeface="Arial"/>
              </a:rPr>
              <a:t>Paid features</a:t>
            </a:r>
          </a:p>
        </p:txBody>
      </p:sp>
      <p:sp>
        <p:nvSpPr>
          <p:cNvPr id="23" name="Signal bullet">
            <a:extLst>
              <a:ext uri="{FF2B5EF4-FFF2-40B4-BE49-F238E27FC236}">
                <a16:creationId xmlns:a16="http://schemas.microsoft.com/office/drawing/2014/main" id="{21856CE8-A264-4587-95B3-029FD2FBDEDD}"/>
              </a:ext>
            </a:extLst>
          </p:cNvPr>
          <p:cNvSpPr>
            <a:spLocks noGrp="1"/>
          </p:cNvSpPr>
          <p:nvPr/>
        </p:nvSpPr>
        <p:spPr>
          <a:xfrm>
            <a:off x="3002280" y="3625287"/>
            <a:ext cx="66675" cy="66675"/>
          </a:xfrm>
          <a:prstGeom prst="ellipse">
            <a:avLst/>
          </a:prstGeom>
          <a:solidFill>
            <a:srgbClr val="FFD426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4" name="Paid Usage item">
            <a:extLst>
              <a:ext uri="{FF2B5EF4-FFF2-40B4-BE49-F238E27FC236}">
                <a16:creationId xmlns:a16="http://schemas.microsoft.com/office/drawing/2014/main" id="{77ECC5B7-96DB-4BA4-BF5D-832D68C65387}"/>
              </a:ext>
            </a:extLst>
          </p:cNvPr>
          <p:cNvSpPr>
            <a:spLocks noGrp="1"/>
          </p:cNvSpPr>
          <p:nvPr/>
        </p:nvSpPr>
        <p:spPr>
          <a:xfrm>
            <a:off x="3135630" y="3558612"/>
            <a:ext cx="1630680" cy="3238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300">
                <a:solidFill>
                  <a:srgbClr val="D8D8D2"/>
                </a:solidFill>
                <a:latin typeface="Arial"/>
                <a:ea typeface="Arial"/>
                <a:cs typeface="Arial"/>
              </a:rPr>
              <a:t>Pro CPC, invoices</a:t>
            </a:r>
          </a:p>
        </p:txBody>
      </p:sp>
      <p:sp>
        <p:nvSpPr>
          <p:cNvPr id="25" name="Seller Activity card">
            <a:extLst>
              <a:ext uri="{FF2B5EF4-FFF2-40B4-BE49-F238E27FC236}">
                <a16:creationId xmlns:a16="http://schemas.microsoft.com/office/drawing/2014/main" id="{7987C853-D92F-4CCE-9116-518E7F87387D}"/>
              </a:ext>
            </a:extLst>
          </p:cNvPr>
          <p:cNvSpPr>
            <a:spLocks noGrp="1"/>
          </p:cNvSpPr>
          <p:nvPr/>
        </p:nvSpPr>
        <p:spPr>
          <a:xfrm>
            <a:off x="5052060" y="2568012"/>
            <a:ext cx="2087880" cy="1466850"/>
          </a:xfrm>
          <a:prstGeom prst="roundRect">
            <a:avLst/>
          </a:prstGeom>
          <a:solidFill>
            <a:srgbClr val="0E0E0E"/>
          </a:solidFill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" name="Seller Activity accent">
            <a:extLst>
              <a:ext uri="{FF2B5EF4-FFF2-40B4-BE49-F238E27FC236}">
                <a16:creationId xmlns:a16="http://schemas.microsoft.com/office/drawing/2014/main" id="{3687BD4C-7470-40F1-98B1-0268824BAB61}"/>
              </a:ext>
            </a:extLst>
          </p:cNvPr>
          <p:cNvSpPr>
            <a:spLocks noGrp="1"/>
          </p:cNvSpPr>
          <p:nvPr/>
        </p:nvSpPr>
        <p:spPr>
          <a:xfrm>
            <a:off x="5052060" y="2568012"/>
            <a:ext cx="2087880" cy="38100"/>
          </a:xfrm>
          <a:prstGeom prst="rect">
            <a:avLst/>
          </a:prstGeom>
          <a:solidFill>
            <a:srgbClr val="FFD426"/>
          </a:solidFill>
          <a:ln w="9525">
            <a:solidFill>
              <a:srgbClr val="FFD42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" name="Seller Activity title">
            <a:extLst>
              <a:ext uri="{FF2B5EF4-FFF2-40B4-BE49-F238E27FC236}">
                <a16:creationId xmlns:a16="http://schemas.microsoft.com/office/drawing/2014/main" id="{FFDD1A22-E70D-454D-8D01-B7C064F06203}"/>
              </a:ext>
            </a:extLst>
          </p:cNvPr>
          <p:cNvSpPr>
            <a:spLocks noGrp="1"/>
          </p:cNvSpPr>
          <p:nvPr/>
        </p:nvSpPr>
        <p:spPr>
          <a:xfrm>
            <a:off x="5204460" y="2758512"/>
            <a:ext cx="1821180" cy="2667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7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Seller Activity</a:t>
            </a:r>
          </a:p>
        </p:txBody>
      </p:sp>
      <p:sp>
        <p:nvSpPr>
          <p:cNvPr id="28" name="Signal bullet">
            <a:extLst>
              <a:ext uri="{FF2B5EF4-FFF2-40B4-BE49-F238E27FC236}">
                <a16:creationId xmlns:a16="http://schemas.microsoft.com/office/drawing/2014/main" id="{144F21A3-D738-452D-AAE6-160D2E809261}"/>
              </a:ext>
            </a:extLst>
          </p:cNvPr>
          <p:cNvSpPr>
            <a:spLocks noGrp="1"/>
          </p:cNvSpPr>
          <p:nvPr/>
        </p:nvSpPr>
        <p:spPr>
          <a:xfrm>
            <a:off x="5223510" y="3215712"/>
            <a:ext cx="66675" cy="66675"/>
          </a:xfrm>
          <a:prstGeom prst="ellipse">
            <a:avLst/>
          </a:prstGeom>
          <a:solidFill>
            <a:srgbClr val="FFD426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9" name="Seller Activity item">
            <a:extLst>
              <a:ext uri="{FF2B5EF4-FFF2-40B4-BE49-F238E27FC236}">
                <a16:creationId xmlns:a16="http://schemas.microsoft.com/office/drawing/2014/main" id="{49F3CCD9-43DB-4DF4-9E52-3895C28C1A51}"/>
              </a:ext>
            </a:extLst>
          </p:cNvPr>
          <p:cNvSpPr>
            <a:spLocks noGrp="1"/>
          </p:cNvSpPr>
          <p:nvPr/>
        </p:nvSpPr>
        <p:spPr>
          <a:xfrm>
            <a:off x="5356860" y="3149037"/>
            <a:ext cx="1630680" cy="3238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300">
                <a:solidFill>
                  <a:srgbClr val="D8D8D2"/>
                </a:solidFill>
                <a:latin typeface="Arial"/>
                <a:ea typeface="Arial"/>
                <a:cs typeface="Arial"/>
              </a:rPr>
              <a:t>Listing volume</a:t>
            </a:r>
          </a:p>
        </p:txBody>
      </p:sp>
      <p:sp>
        <p:nvSpPr>
          <p:cNvPr id="30" name="Signal bullet">
            <a:extLst>
              <a:ext uri="{FF2B5EF4-FFF2-40B4-BE49-F238E27FC236}">
                <a16:creationId xmlns:a16="http://schemas.microsoft.com/office/drawing/2014/main" id="{8BC7A4E6-11F4-43B9-9D4F-3980FAEC70AE}"/>
              </a:ext>
            </a:extLst>
          </p:cNvPr>
          <p:cNvSpPr>
            <a:spLocks noGrp="1"/>
          </p:cNvSpPr>
          <p:nvPr/>
        </p:nvSpPr>
        <p:spPr>
          <a:xfrm>
            <a:off x="5223510" y="3625287"/>
            <a:ext cx="66675" cy="66675"/>
          </a:xfrm>
          <a:prstGeom prst="ellipse">
            <a:avLst/>
          </a:prstGeom>
          <a:solidFill>
            <a:srgbClr val="FFD426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Seller Activity item">
            <a:extLst>
              <a:ext uri="{FF2B5EF4-FFF2-40B4-BE49-F238E27FC236}">
                <a16:creationId xmlns:a16="http://schemas.microsoft.com/office/drawing/2014/main" id="{0E9B555A-9C31-4082-A516-9A9DEA35A176}"/>
              </a:ext>
            </a:extLst>
          </p:cNvPr>
          <p:cNvSpPr>
            <a:spLocks noGrp="1"/>
          </p:cNvSpPr>
          <p:nvPr/>
        </p:nvSpPr>
        <p:spPr>
          <a:xfrm>
            <a:off x="5356860" y="3558612"/>
            <a:ext cx="1630680" cy="3238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300">
                <a:solidFill>
                  <a:srgbClr val="D8D8D2"/>
                </a:solidFill>
                <a:latin typeface="Arial"/>
                <a:ea typeface="Arial"/>
                <a:cs typeface="Arial"/>
              </a:rPr>
              <a:t>Active and recent listings</a:t>
            </a:r>
          </a:p>
        </p:txBody>
      </p:sp>
      <p:sp>
        <p:nvSpPr>
          <p:cNvPr id="32" name="Category Focus card">
            <a:extLst>
              <a:ext uri="{FF2B5EF4-FFF2-40B4-BE49-F238E27FC236}">
                <a16:creationId xmlns:a16="http://schemas.microsoft.com/office/drawing/2014/main" id="{D71119D6-85B8-4430-A6E9-786092D0560B}"/>
              </a:ext>
            </a:extLst>
          </p:cNvPr>
          <p:cNvSpPr>
            <a:spLocks noGrp="1"/>
          </p:cNvSpPr>
          <p:nvPr/>
        </p:nvSpPr>
        <p:spPr>
          <a:xfrm>
            <a:off x="7273290" y="2568012"/>
            <a:ext cx="2087880" cy="1466850"/>
          </a:xfrm>
          <a:prstGeom prst="roundRect">
            <a:avLst/>
          </a:prstGeom>
          <a:solidFill>
            <a:srgbClr val="0E0E0E"/>
          </a:solidFill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" name="Category Focus accent">
            <a:extLst>
              <a:ext uri="{FF2B5EF4-FFF2-40B4-BE49-F238E27FC236}">
                <a16:creationId xmlns:a16="http://schemas.microsoft.com/office/drawing/2014/main" id="{2E0A62FB-C9A0-4046-BEBC-07C6A8EEC3A6}"/>
              </a:ext>
            </a:extLst>
          </p:cNvPr>
          <p:cNvSpPr>
            <a:spLocks noGrp="1"/>
          </p:cNvSpPr>
          <p:nvPr/>
        </p:nvSpPr>
        <p:spPr>
          <a:xfrm>
            <a:off x="7273290" y="2568012"/>
            <a:ext cx="2087880" cy="38100"/>
          </a:xfrm>
          <a:prstGeom prst="rect">
            <a:avLst/>
          </a:prstGeom>
          <a:solidFill>
            <a:srgbClr val="FFD426"/>
          </a:solidFill>
          <a:ln w="9525">
            <a:solidFill>
              <a:srgbClr val="FFD42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" name="Category Focus title">
            <a:extLst>
              <a:ext uri="{FF2B5EF4-FFF2-40B4-BE49-F238E27FC236}">
                <a16:creationId xmlns:a16="http://schemas.microsoft.com/office/drawing/2014/main" id="{928DC57C-FE56-4CCB-90DA-5D3CC59B5756}"/>
              </a:ext>
            </a:extLst>
          </p:cNvPr>
          <p:cNvSpPr>
            <a:spLocks noGrp="1"/>
          </p:cNvSpPr>
          <p:nvPr/>
        </p:nvSpPr>
        <p:spPr>
          <a:xfrm>
            <a:off x="7425690" y="2758512"/>
            <a:ext cx="1821180" cy="2667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Category</a:t>
            </a:r>
            <a:r>
              <a:rPr sz="17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 Focus</a:t>
            </a:r>
          </a:p>
        </p:txBody>
      </p:sp>
      <p:sp>
        <p:nvSpPr>
          <p:cNvPr id="35" name="Signal bullet">
            <a:extLst>
              <a:ext uri="{FF2B5EF4-FFF2-40B4-BE49-F238E27FC236}">
                <a16:creationId xmlns:a16="http://schemas.microsoft.com/office/drawing/2014/main" id="{7A6351F8-4C68-48D0-B0B9-9D66CF8A3D68}"/>
              </a:ext>
            </a:extLst>
          </p:cNvPr>
          <p:cNvSpPr>
            <a:spLocks noGrp="1"/>
          </p:cNvSpPr>
          <p:nvPr/>
        </p:nvSpPr>
        <p:spPr>
          <a:xfrm>
            <a:off x="7444740" y="3215712"/>
            <a:ext cx="66675" cy="66675"/>
          </a:xfrm>
          <a:prstGeom prst="ellipse">
            <a:avLst/>
          </a:prstGeom>
          <a:solidFill>
            <a:srgbClr val="FFD426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6" name="Category Focus item">
            <a:extLst>
              <a:ext uri="{FF2B5EF4-FFF2-40B4-BE49-F238E27FC236}">
                <a16:creationId xmlns:a16="http://schemas.microsoft.com/office/drawing/2014/main" id="{B1A97181-513A-4A9F-A03F-DD5DB8ED741A}"/>
              </a:ext>
            </a:extLst>
          </p:cNvPr>
          <p:cNvSpPr>
            <a:spLocks noGrp="1"/>
          </p:cNvSpPr>
          <p:nvPr/>
        </p:nvSpPr>
        <p:spPr>
          <a:xfrm>
            <a:off x="7578090" y="3149037"/>
            <a:ext cx="1630680" cy="3238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300">
                <a:solidFill>
                  <a:srgbClr val="D8D8D2"/>
                </a:solidFill>
                <a:latin typeface="Arial"/>
                <a:ea typeface="Arial"/>
                <a:cs typeface="Arial"/>
              </a:rPr>
              <a:t>Repeated category use</a:t>
            </a:r>
          </a:p>
        </p:txBody>
      </p:sp>
      <p:sp>
        <p:nvSpPr>
          <p:cNvPr id="37" name="Signal bullet">
            <a:extLst>
              <a:ext uri="{FF2B5EF4-FFF2-40B4-BE49-F238E27FC236}">
                <a16:creationId xmlns:a16="http://schemas.microsoft.com/office/drawing/2014/main" id="{3BE1C13B-6D87-4F60-9FC9-A66B16638F60}"/>
              </a:ext>
            </a:extLst>
          </p:cNvPr>
          <p:cNvSpPr>
            <a:spLocks noGrp="1"/>
          </p:cNvSpPr>
          <p:nvPr/>
        </p:nvSpPr>
        <p:spPr>
          <a:xfrm>
            <a:off x="7444740" y="3625287"/>
            <a:ext cx="66675" cy="66675"/>
          </a:xfrm>
          <a:prstGeom prst="ellipse">
            <a:avLst/>
          </a:prstGeom>
          <a:solidFill>
            <a:srgbClr val="FFD426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8" name="Category Focus item">
            <a:extLst>
              <a:ext uri="{FF2B5EF4-FFF2-40B4-BE49-F238E27FC236}">
                <a16:creationId xmlns:a16="http://schemas.microsoft.com/office/drawing/2014/main" id="{0C6E2724-9D5D-4507-85DB-BC4B505BB9E6}"/>
              </a:ext>
            </a:extLst>
          </p:cNvPr>
          <p:cNvSpPr>
            <a:spLocks noGrp="1"/>
          </p:cNvSpPr>
          <p:nvPr/>
        </p:nvSpPr>
        <p:spPr>
          <a:xfrm>
            <a:off x="7578090" y="3558612"/>
            <a:ext cx="1630680" cy="3238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300">
                <a:solidFill>
                  <a:srgbClr val="D8D8D2"/>
                </a:solidFill>
                <a:latin typeface="Arial"/>
                <a:ea typeface="Arial"/>
                <a:cs typeface="Arial"/>
              </a:rPr>
              <a:t>Business-prone categories</a:t>
            </a:r>
          </a:p>
        </p:txBody>
      </p:sp>
      <p:sp>
        <p:nvSpPr>
          <p:cNvPr id="39" name="Buyer Demand card">
            <a:extLst>
              <a:ext uri="{FF2B5EF4-FFF2-40B4-BE49-F238E27FC236}">
                <a16:creationId xmlns:a16="http://schemas.microsoft.com/office/drawing/2014/main" id="{9664A2EA-0669-4FE7-831D-A0CC724AC0E5}"/>
              </a:ext>
            </a:extLst>
          </p:cNvPr>
          <p:cNvSpPr>
            <a:spLocks noGrp="1"/>
          </p:cNvSpPr>
          <p:nvPr/>
        </p:nvSpPr>
        <p:spPr>
          <a:xfrm>
            <a:off x="9494520" y="2568012"/>
            <a:ext cx="2087880" cy="1466850"/>
          </a:xfrm>
          <a:prstGeom prst="roundRect">
            <a:avLst/>
          </a:prstGeom>
          <a:solidFill>
            <a:srgbClr val="0E0E0E"/>
          </a:solidFill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0" name="Buyer Demand accent">
            <a:extLst>
              <a:ext uri="{FF2B5EF4-FFF2-40B4-BE49-F238E27FC236}">
                <a16:creationId xmlns:a16="http://schemas.microsoft.com/office/drawing/2014/main" id="{254B3EC9-675A-4691-AF61-ED63169A3219}"/>
              </a:ext>
            </a:extLst>
          </p:cNvPr>
          <p:cNvSpPr>
            <a:spLocks noGrp="1"/>
          </p:cNvSpPr>
          <p:nvPr/>
        </p:nvSpPr>
        <p:spPr>
          <a:xfrm>
            <a:off x="9494520" y="2568012"/>
            <a:ext cx="2087880" cy="38100"/>
          </a:xfrm>
          <a:prstGeom prst="rect">
            <a:avLst/>
          </a:prstGeom>
          <a:solidFill>
            <a:srgbClr val="FFD426"/>
          </a:solidFill>
          <a:ln w="9525">
            <a:solidFill>
              <a:srgbClr val="FFD42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Buyer Demand title">
            <a:extLst>
              <a:ext uri="{FF2B5EF4-FFF2-40B4-BE49-F238E27FC236}">
                <a16:creationId xmlns:a16="http://schemas.microsoft.com/office/drawing/2014/main" id="{F7C8B1E1-852F-4C6C-83A5-EB56C896C9E0}"/>
              </a:ext>
            </a:extLst>
          </p:cNvPr>
          <p:cNvSpPr>
            <a:spLocks noGrp="1"/>
          </p:cNvSpPr>
          <p:nvPr/>
        </p:nvSpPr>
        <p:spPr>
          <a:xfrm>
            <a:off x="9646920" y="2758512"/>
            <a:ext cx="1821180" cy="2667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7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Buyer </a:t>
            </a:r>
            <a:r>
              <a:rPr sz="1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Demand</a:t>
            </a:r>
          </a:p>
        </p:txBody>
      </p:sp>
      <p:sp>
        <p:nvSpPr>
          <p:cNvPr id="42" name="Signal bullet">
            <a:extLst>
              <a:ext uri="{FF2B5EF4-FFF2-40B4-BE49-F238E27FC236}">
                <a16:creationId xmlns:a16="http://schemas.microsoft.com/office/drawing/2014/main" id="{29AAEA38-388B-4218-AF99-760F3ACB07B3}"/>
              </a:ext>
            </a:extLst>
          </p:cNvPr>
          <p:cNvSpPr>
            <a:spLocks noGrp="1"/>
          </p:cNvSpPr>
          <p:nvPr/>
        </p:nvSpPr>
        <p:spPr>
          <a:xfrm>
            <a:off x="9665970" y="3215712"/>
            <a:ext cx="66675" cy="66675"/>
          </a:xfrm>
          <a:prstGeom prst="ellipse">
            <a:avLst/>
          </a:prstGeom>
          <a:solidFill>
            <a:srgbClr val="FFD426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3" name="Buyer Demand item">
            <a:extLst>
              <a:ext uri="{FF2B5EF4-FFF2-40B4-BE49-F238E27FC236}">
                <a16:creationId xmlns:a16="http://schemas.microsoft.com/office/drawing/2014/main" id="{6EF00164-93C6-4F9D-A165-828EA0E36D9A}"/>
              </a:ext>
            </a:extLst>
          </p:cNvPr>
          <p:cNvSpPr>
            <a:spLocks noGrp="1"/>
          </p:cNvSpPr>
          <p:nvPr/>
        </p:nvSpPr>
        <p:spPr>
          <a:xfrm>
            <a:off x="9799320" y="3149037"/>
            <a:ext cx="1630680" cy="3238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300">
                <a:solidFill>
                  <a:srgbClr val="D8D8D2"/>
                </a:solidFill>
                <a:latin typeface="Arial"/>
                <a:ea typeface="Arial"/>
                <a:cs typeface="Arial"/>
              </a:rPr>
              <a:t>Engaged ads</a:t>
            </a:r>
          </a:p>
        </p:txBody>
      </p:sp>
      <p:sp>
        <p:nvSpPr>
          <p:cNvPr id="44" name="Signal bullet">
            <a:extLst>
              <a:ext uri="{FF2B5EF4-FFF2-40B4-BE49-F238E27FC236}">
                <a16:creationId xmlns:a16="http://schemas.microsoft.com/office/drawing/2014/main" id="{25757DBF-E54D-41B9-8864-36A3772C014F}"/>
              </a:ext>
            </a:extLst>
          </p:cNvPr>
          <p:cNvSpPr>
            <a:spLocks noGrp="1"/>
          </p:cNvSpPr>
          <p:nvPr/>
        </p:nvSpPr>
        <p:spPr>
          <a:xfrm>
            <a:off x="9665970" y="3625287"/>
            <a:ext cx="66675" cy="66675"/>
          </a:xfrm>
          <a:prstGeom prst="ellipse">
            <a:avLst/>
          </a:prstGeom>
          <a:solidFill>
            <a:srgbClr val="FFD426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5" name="Buyer Demand item">
            <a:extLst>
              <a:ext uri="{FF2B5EF4-FFF2-40B4-BE49-F238E27FC236}">
                <a16:creationId xmlns:a16="http://schemas.microsoft.com/office/drawing/2014/main" id="{C27D2C33-21D5-4658-8E6A-35747344CF5E}"/>
              </a:ext>
            </a:extLst>
          </p:cNvPr>
          <p:cNvSpPr>
            <a:spLocks noGrp="1"/>
          </p:cNvSpPr>
          <p:nvPr/>
        </p:nvSpPr>
        <p:spPr>
          <a:xfrm>
            <a:off x="9799320" y="3558612"/>
            <a:ext cx="1630680" cy="3238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300">
                <a:solidFill>
                  <a:srgbClr val="D8D8D2"/>
                </a:solidFill>
                <a:latin typeface="Arial"/>
                <a:ea typeface="Arial"/>
                <a:cs typeface="Arial"/>
              </a:rPr>
              <a:t>Unique buyers, engagement rate</a:t>
            </a:r>
          </a:p>
        </p:txBody>
      </p:sp>
      <p:sp>
        <p:nvSpPr>
          <p:cNvPr id="46" name="Scoring Flow label">
            <a:extLst>
              <a:ext uri="{FF2B5EF4-FFF2-40B4-BE49-F238E27FC236}">
                <a16:creationId xmlns:a16="http://schemas.microsoft.com/office/drawing/2014/main" id="{47D1F815-DDE6-4E60-B387-97C475589306}"/>
              </a:ext>
            </a:extLst>
          </p:cNvPr>
          <p:cNvSpPr>
            <a:spLocks noGrp="1"/>
          </p:cNvSpPr>
          <p:nvPr/>
        </p:nvSpPr>
        <p:spPr>
          <a:xfrm>
            <a:off x="609600" y="4362450"/>
            <a:ext cx="2476500" cy="2667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8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Scoring Flow</a:t>
            </a:r>
          </a:p>
        </p:txBody>
      </p:sp>
      <p:sp>
        <p:nvSpPr>
          <p:cNvPr id="47" name="Raw seller data flow node">
            <a:extLst>
              <a:ext uri="{FF2B5EF4-FFF2-40B4-BE49-F238E27FC236}">
                <a16:creationId xmlns:a16="http://schemas.microsoft.com/office/drawing/2014/main" id="{228E9DF1-5F1B-4E06-8A4C-6A9D6C33C93F}"/>
              </a:ext>
            </a:extLst>
          </p:cNvPr>
          <p:cNvSpPr>
            <a:spLocks noGrp="1"/>
          </p:cNvSpPr>
          <p:nvPr/>
        </p:nvSpPr>
        <p:spPr>
          <a:xfrm>
            <a:off x="609600" y="4762500"/>
            <a:ext cx="2286000" cy="685800"/>
          </a:xfrm>
          <a:prstGeom prst="roundRect">
            <a:avLst/>
          </a:prstGeom>
          <a:solidFill>
            <a:srgbClr val="0A0A0A"/>
          </a:solidFill>
          <a:ln w="9525">
            <a:solidFill>
              <a:srgbClr val="2D2D2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8" name="Raw seller data flow title">
            <a:extLst>
              <a:ext uri="{FF2B5EF4-FFF2-40B4-BE49-F238E27FC236}">
                <a16:creationId xmlns:a16="http://schemas.microsoft.com/office/drawing/2014/main" id="{FF9E5EFA-46E4-483C-A6BB-AE380FEFF886}"/>
              </a:ext>
            </a:extLst>
          </p:cNvPr>
          <p:cNvSpPr>
            <a:spLocks noGrp="1"/>
          </p:cNvSpPr>
          <p:nvPr/>
        </p:nvSpPr>
        <p:spPr>
          <a:xfrm>
            <a:off x="781050" y="4895850"/>
            <a:ext cx="1943100" cy="2286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Raw seller data</a:t>
            </a:r>
          </a:p>
        </p:txBody>
      </p:sp>
      <p:sp>
        <p:nvSpPr>
          <p:cNvPr id="49" name="Raw seller data flow sub">
            <a:extLst>
              <a:ext uri="{FF2B5EF4-FFF2-40B4-BE49-F238E27FC236}">
                <a16:creationId xmlns:a16="http://schemas.microsoft.com/office/drawing/2014/main" id="{02C0D121-F20E-4F14-94E4-E0106269114C}"/>
              </a:ext>
            </a:extLst>
          </p:cNvPr>
          <p:cNvSpPr>
            <a:spLocks noGrp="1"/>
          </p:cNvSpPr>
          <p:nvPr/>
        </p:nvSpPr>
        <p:spPr>
          <a:xfrm>
            <a:off x="781050" y="5162550"/>
            <a:ext cx="1943100" cy="2095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>
                <a:solidFill>
                  <a:srgbClr val="A5A5A5"/>
                </a:solidFill>
                <a:latin typeface="Arial"/>
                <a:ea typeface="Arial"/>
                <a:cs typeface="Arial"/>
              </a:rPr>
              <a:t>schemas and columns</a:t>
            </a:r>
          </a:p>
        </p:txBody>
      </p:sp>
      <p:sp>
        <p:nvSpPr>
          <p:cNvPr id="50" name="Scoring flow arrow">
            <a:extLst>
              <a:ext uri="{FF2B5EF4-FFF2-40B4-BE49-F238E27FC236}">
                <a16:creationId xmlns:a16="http://schemas.microsoft.com/office/drawing/2014/main" id="{3210E315-A08C-47C2-881C-A1F7D60DCD59}"/>
              </a:ext>
            </a:extLst>
          </p:cNvPr>
          <p:cNvSpPr>
            <a:spLocks noGrp="1"/>
          </p:cNvSpPr>
          <p:nvPr/>
        </p:nvSpPr>
        <p:spPr>
          <a:xfrm>
            <a:off x="2990850" y="5105400"/>
            <a:ext cx="238125" cy="9525"/>
          </a:xfrm>
          <a:prstGeom prst="line">
            <a:avLst/>
          </a:prstGeom>
          <a:ln w="19050">
            <a:solidFill>
              <a:srgbClr val="FFD426"/>
            </a:solidFill>
          </a:ln>
        </p:spPr>
        <p:txBody>
          <a:bodyPr/>
          <a:lstStyle/>
          <a:p>
            <a:pPr marL="0" indent="0" algn="l">
              <a:buNone/>
            </a:pPr>
            <a:endParaRPr/>
          </a:p>
        </p:txBody>
      </p:sp>
      <p:sp>
        <p:nvSpPr>
          <p:cNvPr id="51" name="Seller-level signals flow node">
            <a:extLst>
              <a:ext uri="{FF2B5EF4-FFF2-40B4-BE49-F238E27FC236}">
                <a16:creationId xmlns:a16="http://schemas.microsoft.com/office/drawing/2014/main" id="{F5E6095A-6A9C-49F3-A97B-339B96C4F048}"/>
              </a:ext>
            </a:extLst>
          </p:cNvPr>
          <p:cNvSpPr>
            <a:spLocks noGrp="1"/>
          </p:cNvSpPr>
          <p:nvPr/>
        </p:nvSpPr>
        <p:spPr>
          <a:xfrm>
            <a:off x="3419475" y="4762500"/>
            <a:ext cx="2286000" cy="685800"/>
          </a:xfrm>
          <a:prstGeom prst="roundRect">
            <a:avLst/>
          </a:prstGeom>
          <a:solidFill>
            <a:srgbClr val="0A0A0A"/>
          </a:solidFill>
          <a:ln w="9525">
            <a:solidFill>
              <a:srgbClr val="2D2D2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2" name="Seller-level signals flow title">
            <a:extLst>
              <a:ext uri="{FF2B5EF4-FFF2-40B4-BE49-F238E27FC236}">
                <a16:creationId xmlns:a16="http://schemas.microsoft.com/office/drawing/2014/main" id="{B64306AD-2C64-4117-940F-62837FE5EF2C}"/>
              </a:ext>
            </a:extLst>
          </p:cNvPr>
          <p:cNvSpPr>
            <a:spLocks noGrp="1"/>
          </p:cNvSpPr>
          <p:nvPr/>
        </p:nvSpPr>
        <p:spPr>
          <a:xfrm>
            <a:off x="3590925" y="4895850"/>
            <a:ext cx="1943100" cy="2286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Seller-level signals</a:t>
            </a:r>
          </a:p>
        </p:txBody>
      </p:sp>
      <p:sp>
        <p:nvSpPr>
          <p:cNvPr id="53" name="Seller-level signals flow sub">
            <a:extLst>
              <a:ext uri="{FF2B5EF4-FFF2-40B4-BE49-F238E27FC236}">
                <a16:creationId xmlns:a16="http://schemas.microsoft.com/office/drawing/2014/main" id="{8C30BFA1-5952-479F-B5E3-391E5874D34F}"/>
              </a:ext>
            </a:extLst>
          </p:cNvPr>
          <p:cNvSpPr>
            <a:spLocks noGrp="1"/>
          </p:cNvSpPr>
          <p:nvPr/>
        </p:nvSpPr>
        <p:spPr>
          <a:xfrm>
            <a:off x="3590925" y="5162550"/>
            <a:ext cx="1943100" cy="2095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>
                <a:solidFill>
                  <a:srgbClr val="A5A5A5"/>
                </a:solidFill>
                <a:latin typeface="Arial"/>
                <a:ea typeface="Arial"/>
                <a:cs typeface="Arial"/>
              </a:rPr>
              <a:t>one row per seller</a:t>
            </a:r>
          </a:p>
        </p:txBody>
      </p:sp>
      <p:sp>
        <p:nvSpPr>
          <p:cNvPr id="54" name="Scoring flow arrow">
            <a:extLst>
              <a:ext uri="{FF2B5EF4-FFF2-40B4-BE49-F238E27FC236}">
                <a16:creationId xmlns:a16="http://schemas.microsoft.com/office/drawing/2014/main" id="{197806AB-87A7-448B-9F2C-9E7C1B1153B5}"/>
              </a:ext>
            </a:extLst>
          </p:cNvPr>
          <p:cNvSpPr>
            <a:spLocks noGrp="1"/>
          </p:cNvSpPr>
          <p:nvPr/>
        </p:nvSpPr>
        <p:spPr>
          <a:xfrm>
            <a:off x="5800725" y="5105400"/>
            <a:ext cx="238125" cy="9525"/>
          </a:xfrm>
          <a:prstGeom prst="line">
            <a:avLst/>
          </a:prstGeom>
          <a:ln w="19050">
            <a:solidFill>
              <a:srgbClr val="FFD42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5" name="Weighted score flow node">
            <a:extLst>
              <a:ext uri="{FF2B5EF4-FFF2-40B4-BE49-F238E27FC236}">
                <a16:creationId xmlns:a16="http://schemas.microsoft.com/office/drawing/2014/main" id="{8521D761-1E4B-439E-BE41-C720C69E78B3}"/>
              </a:ext>
            </a:extLst>
          </p:cNvPr>
          <p:cNvSpPr>
            <a:spLocks noGrp="1"/>
          </p:cNvSpPr>
          <p:nvPr/>
        </p:nvSpPr>
        <p:spPr>
          <a:xfrm>
            <a:off x="6229350" y="4762500"/>
            <a:ext cx="2286000" cy="685800"/>
          </a:xfrm>
          <a:prstGeom prst="roundRect">
            <a:avLst/>
          </a:prstGeom>
          <a:solidFill>
            <a:srgbClr val="0A0A0A"/>
          </a:solidFill>
          <a:ln w="9525">
            <a:solidFill>
              <a:srgbClr val="2D2D2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6" name="Weighted score flow title">
            <a:extLst>
              <a:ext uri="{FF2B5EF4-FFF2-40B4-BE49-F238E27FC236}">
                <a16:creationId xmlns:a16="http://schemas.microsoft.com/office/drawing/2014/main" id="{4D8BBBFF-0C25-4B66-8FB2-3D1F31EFAEF6}"/>
              </a:ext>
            </a:extLst>
          </p:cNvPr>
          <p:cNvSpPr>
            <a:spLocks noGrp="1"/>
          </p:cNvSpPr>
          <p:nvPr/>
        </p:nvSpPr>
        <p:spPr>
          <a:xfrm>
            <a:off x="6400800" y="4895850"/>
            <a:ext cx="1943100" cy="2286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Weighted score</a:t>
            </a:r>
          </a:p>
        </p:txBody>
      </p:sp>
      <p:sp>
        <p:nvSpPr>
          <p:cNvPr id="57" name="Weighted score flow sub">
            <a:extLst>
              <a:ext uri="{FF2B5EF4-FFF2-40B4-BE49-F238E27FC236}">
                <a16:creationId xmlns:a16="http://schemas.microsoft.com/office/drawing/2014/main" id="{14CA54AA-B2C8-4629-8C0F-B16CD5CA3561}"/>
              </a:ext>
            </a:extLst>
          </p:cNvPr>
          <p:cNvSpPr>
            <a:spLocks noGrp="1"/>
          </p:cNvSpPr>
          <p:nvPr/>
        </p:nvSpPr>
        <p:spPr>
          <a:xfrm>
            <a:off x="6400800" y="5162550"/>
            <a:ext cx="1943100" cy="2095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>
                <a:solidFill>
                  <a:srgbClr val="A5A5A5"/>
                </a:solidFill>
                <a:latin typeface="Arial"/>
                <a:ea typeface="Arial"/>
                <a:cs typeface="Arial"/>
              </a:rPr>
              <a:t>evidence strength</a:t>
            </a:r>
          </a:p>
        </p:txBody>
      </p:sp>
      <p:sp>
        <p:nvSpPr>
          <p:cNvPr id="58" name="Scoring flow arrow">
            <a:extLst>
              <a:ext uri="{FF2B5EF4-FFF2-40B4-BE49-F238E27FC236}">
                <a16:creationId xmlns:a16="http://schemas.microsoft.com/office/drawing/2014/main" id="{DBB14361-6641-466D-BC24-AD870E154D01}"/>
              </a:ext>
            </a:extLst>
          </p:cNvPr>
          <p:cNvSpPr>
            <a:spLocks noGrp="1"/>
          </p:cNvSpPr>
          <p:nvPr/>
        </p:nvSpPr>
        <p:spPr>
          <a:xfrm>
            <a:off x="8610600" y="5105400"/>
            <a:ext cx="238125" cy="9525"/>
          </a:xfrm>
          <a:prstGeom prst="line">
            <a:avLst/>
          </a:prstGeom>
          <a:ln w="19050">
            <a:solidFill>
              <a:srgbClr val="FFD42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9" name="Ranked SMB list flow node">
            <a:extLst>
              <a:ext uri="{FF2B5EF4-FFF2-40B4-BE49-F238E27FC236}">
                <a16:creationId xmlns:a16="http://schemas.microsoft.com/office/drawing/2014/main" id="{0CAD2441-D62F-43BD-8563-74BEBDAA21D3}"/>
              </a:ext>
            </a:extLst>
          </p:cNvPr>
          <p:cNvSpPr>
            <a:spLocks noGrp="1"/>
          </p:cNvSpPr>
          <p:nvPr/>
        </p:nvSpPr>
        <p:spPr>
          <a:xfrm>
            <a:off x="9039225" y="4762500"/>
            <a:ext cx="2286000" cy="685800"/>
          </a:xfrm>
          <a:prstGeom prst="roundRect">
            <a:avLst/>
          </a:prstGeom>
          <a:solidFill>
            <a:srgbClr val="0A0A0A"/>
          </a:solidFill>
          <a:ln w="9525">
            <a:solidFill>
              <a:srgbClr val="2D2D2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0" name="Ranked SMB list flow title">
            <a:extLst>
              <a:ext uri="{FF2B5EF4-FFF2-40B4-BE49-F238E27FC236}">
                <a16:creationId xmlns:a16="http://schemas.microsoft.com/office/drawing/2014/main" id="{5474439C-A5FC-456C-A261-876B2BD3B570}"/>
              </a:ext>
            </a:extLst>
          </p:cNvPr>
          <p:cNvSpPr>
            <a:spLocks noGrp="1"/>
          </p:cNvSpPr>
          <p:nvPr/>
        </p:nvSpPr>
        <p:spPr>
          <a:xfrm>
            <a:off x="9210675" y="4895850"/>
            <a:ext cx="1943100" cy="2286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Ranked SMB list</a:t>
            </a:r>
          </a:p>
        </p:txBody>
      </p:sp>
      <p:sp>
        <p:nvSpPr>
          <p:cNvPr id="61" name="Ranked SMB list flow sub">
            <a:extLst>
              <a:ext uri="{FF2B5EF4-FFF2-40B4-BE49-F238E27FC236}">
                <a16:creationId xmlns:a16="http://schemas.microsoft.com/office/drawing/2014/main" id="{CE7F21BB-EACA-4F03-8B7C-53AC29E6E3F3}"/>
              </a:ext>
            </a:extLst>
          </p:cNvPr>
          <p:cNvSpPr>
            <a:spLocks noGrp="1"/>
          </p:cNvSpPr>
          <p:nvPr/>
        </p:nvSpPr>
        <p:spPr>
          <a:xfrm>
            <a:off x="9210675" y="5162550"/>
            <a:ext cx="1943100" cy="2095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>
                <a:solidFill>
                  <a:srgbClr val="A5A5A5"/>
                </a:solidFill>
                <a:latin typeface="Arial"/>
                <a:ea typeface="Arial"/>
                <a:cs typeface="Arial"/>
              </a:rPr>
              <a:t>prioritized outreach</a:t>
            </a:r>
          </a:p>
        </p:txBody>
      </p:sp>
      <p:sp>
        <p:nvSpPr>
          <p:cNvPr id="62" name="Scoring flow arrowhead">
            <a:extLst>
              <a:ext uri="{FF2B5EF4-FFF2-40B4-BE49-F238E27FC236}">
                <a16:creationId xmlns:a16="http://schemas.microsoft.com/office/drawing/2014/main" id="{D05CFB6C-8D02-44FC-AD74-91DF3EA6D5FD}"/>
              </a:ext>
            </a:extLst>
          </p:cNvPr>
          <p:cNvSpPr>
            <a:spLocks noGrp="1"/>
          </p:cNvSpPr>
          <p:nvPr/>
        </p:nvSpPr>
        <p:spPr>
          <a:xfrm rot="5400000">
            <a:off x="3209925" y="5057775"/>
            <a:ext cx="104775" cy="114300"/>
          </a:xfrm>
          <a:prstGeom prst="triangle">
            <a:avLst/>
          </a:prstGeom>
          <a:solidFill>
            <a:srgbClr val="FFD426"/>
          </a:solidFill>
          <a:ln w="0">
            <a:solidFill>
              <a:srgbClr val="FFD426"/>
            </a:solidFill>
          </a:ln>
        </p:spPr>
        <p:txBody>
          <a:bodyPr/>
          <a:lstStyle/>
          <a:p>
            <a:pPr marL="0" indent="0" algn="l">
              <a:buNone/>
            </a:pPr>
            <a:endParaRPr/>
          </a:p>
        </p:txBody>
      </p:sp>
      <p:sp>
        <p:nvSpPr>
          <p:cNvPr id="63" name="Scoring flow arrowhead">
            <a:extLst>
              <a:ext uri="{FF2B5EF4-FFF2-40B4-BE49-F238E27FC236}">
                <a16:creationId xmlns:a16="http://schemas.microsoft.com/office/drawing/2014/main" id="{C200B03B-12DA-4C24-9311-151273DF82F6}"/>
              </a:ext>
            </a:extLst>
          </p:cNvPr>
          <p:cNvSpPr>
            <a:spLocks noGrp="1"/>
          </p:cNvSpPr>
          <p:nvPr/>
        </p:nvSpPr>
        <p:spPr>
          <a:xfrm rot="5400000">
            <a:off x="6019800" y="5057775"/>
            <a:ext cx="104775" cy="114300"/>
          </a:xfrm>
          <a:prstGeom prst="triangle">
            <a:avLst/>
          </a:prstGeom>
          <a:solidFill>
            <a:srgbClr val="FFD426"/>
          </a:solidFill>
          <a:ln w="0">
            <a:solidFill>
              <a:srgbClr val="FFD42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4" name="Scoring flow arrowhead">
            <a:extLst>
              <a:ext uri="{FF2B5EF4-FFF2-40B4-BE49-F238E27FC236}">
                <a16:creationId xmlns:a16="http://schemas.microsoft.com/office/drawing/2014/main" id="{283AA54C-582E-4185-A140-A82E61B97525}"/>
              </a:ext>
            </a:extLst>
          </p:cNvPr>
          <p:cNvSpPr>
            <a:spLocks noGrp="1"/>
          </p:cNvSpPr>
          <p:nvPr/>
        </p:nvSpPr>
        <p:spPr>
          <a:xfrm rot="5400000">
            <a:off x="8829675" y="5057775"/>
            <a:ext cx="104775" cy="114300"/>
          </a:xfrm>
          <a:prstGeom prst="triangle">
            <a:avLst/>
          </a:prstGeom>
          <a:solidFill>
            <a:srgbClr val="FFD426"/>
          </a:solidFill>
          <a:ln w="0">
            <a:solidFill>
              <a:srgbClr val="FFD426"/>
            </a:solidFill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65786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>
            <a:extLst>
              <a:ext uri="{FF2B5EF4-FFF2-40B4-BE49-F238E27FC236}">
                <a16:creationId xmlns:a16="http://schemas.microsoft.com/office/drawing/2014/main" id="{0CEAE930-5301-4774-ABA1-02002F98C03E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AA1CAF1D-EB3E-4CD4-967E-466BCDC4C985}"/>
              </a:ext>
            </a:extLst>
          </p:cNvPr>
          <p:cNvSpPr>
            <a:spLocks noGrp="1"/>
          </p:cNvSpPr>
          <p:nvPr/>
        </p:nvSpPr>
        <p:spPr>
          <a:xfrm>
            <a:off x="1257300" y="323850"/>
            <a:ext cx="9953625" cy="714375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1.1 Direct Business Markers</a:t>
            </a:r>
          </a:p>
        </p:txBody>
      </p:sp>
      <p:sp>
        <p:nvSpPr>
          <p:cNvPr id="5" name="Divider">
            <a:extLst>
              <a:ext uri="{FF2B5EF4-FFF2-40B4-BE49-F238E27FC236}">
                <a16:creationId xmlns:a16="http://schemas.microsoft.com/office/drawing/2014/main" id="{26AC3365-CB81-4893-A420-65F4D3EF53ED}"/>
              </a:ext>
            </a:extLst>
          </p:cNvPr>
          <p:cNvSpPr>
            <a:spLocks noGrp="1"/>
          </p:cNvSpPr>
          <p:nvPr/>
        </p:nvSpPr>
        <p:spPr>
          <a:xfrm>
            <a:off x="457200" y="11600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8A2385A8-C632-4294-88C4-17E1952BA75F}"/>
              </a:ext>
            </a:extLst>
          </p:cNvPr>
          <p:cNvSpPr>
            <a:spLocks noGrp="1"/>
          </p:cNvSpPr>
          <p:nvPr/>
        </p:nvSpPr>
        <p:spPr>
          <a:xfrm>
            <a:off x="552450" y="1293350"/>
            <a:ext cx="10382250" cy="5524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25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250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Signal: fields that directly indicate business setup or off-platform commercial presence.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EDED27C2-FF28-428A-8934-60AD80247794}"/>
              </a:ext>
            </a:extLst>
          </p:cNvPr>
          <p:cNvSpPr>
            <a:spLocks noGrp="1"/>
          </p:cNvSpPr>
          <p:nvPr/>
        </p:nvSpPr>
        <p:spPr>
          <a:xfrm>
            <a:off x="552450" y="1750550"/>
            <a:ext cx="5905500" cy="2857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25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125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Potential Metrics</a:t>
            </a:r>
          </a:p>
        </p:txBody>
      </p:sp>
      <p:sp>
        <p:nvSpPr>
          <p:cNvPr id="16" name="Scoring window 3">
            <a:extLst>
              <a:ext uri="{FF2B5EF4-FFF2-40B4-BE49-F238E27FC236}">
                <a16:creationId xmlns:a16="http://schemas.microsoft.com/office/drawing/2014/main" id="{48CF030B-5D63-4E67-9A1B-5919D7E3A05D}"/>
              </a:ext>
            </a:extLst>
          </p:cNvPr>
          <p:cNvSpPr>
            <a:spLocks noGrp="1"/>
          </p:cNvSpPr>
          <p:nvPr/>
        </p:nvSpPr>
        <p:spPr>
          <a:xfrm>
            <a:off x="552450" y="2055350"/>
            <a:ext cx="990600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100" b="0">
                <a:solidFill>
                  <a:srgbClr val="D6D6D6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D6D6D6"/>
                </a:solidFill>
                <a:latin typeface="Arial"/>
                <a:ea typeface="Arial"/>
                <a:cs typeface="Arial"/>
              </a:rPr>
              <a:t>Scoring window: latest corporate bank flag; external URL usage over last 12 months.</a:t>
            </a:r>
          </a:p>
        </p:txBody>
      </p:sp>
      <p:graphicFrame>
        <p:nvGraphicFramePr>
          <p:cNvPr id="17" name="Markdown table"/>
          <p:cNvGraphicFramePr/>
          <p:nvPr/>
        </p:nvGraphicFramePr>
        <p:xfrm>
          <a:off x="552450" y="2436350"/>
          <a:ext cx="10668000" cy="1543050"/>
        </p:xfrm>
        <a:graphic>
          <a:graphicData uri="http://schemas.openxmlformats.org/drawingml/2006/table">
            <a:tbl>
              <a:tblPr firstRow="1" bandRow="1"/>
              <a:tblGrid>
                <a:gridCol w="295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Columns Used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Why Useful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Corporate bank account flag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Bank account is corporate y/n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Direct business setup signal.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External URL attached across multiple ads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External URL attached to the ad y/n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Suggests off-platform business presence or lead routing.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Divider">
            <a:extLst>
              <a:ext uri="{FF2B5EF4-FFF2-40B4-BE49-F238E27FC236}">
                <a16:creationId xmlns:a16="http://schemas.microsoft.com/office/drawing/2014/main" id="{F979B996-8DCD-494C-BF52-0536522BAA31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B29B22D7-D482-42FB-801B-FC85377B8E30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SMB Identification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21EC1E3C-6D24-4932-AB58-9BC30A3BD023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02 / 08</a:t>
            </a:r>
          </a:p>
        </p:txBody>
      </p:sp>
    </p:spTree>
    <p:extLst>
      <p:ext uri="{BB962C8B-B14F-4D97-AF65-F5344CB8AC3E}">
        <p14:creationId xmlns:p14="http://schemas.microsoft.com/office/powerpoint/2010/main" val="1916688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>
            <a:extLst>
              <a:ext uri="{FF2B5EF4-FFF2-40B4-BE49-F238E27FC236}">
                <a16:creationId xmlns:a16="http://schemas.microsoft.com/office/drawing/2014/main" id="{A5491187-5023-4563-B15F-E22B5415E511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90E82C8D-68CA-4AF1-A6C5-3575F9902EA3}"/>
              </a:ext>
            </a:extLst>
          </p:cNvPr>
          <p:cNvSpPr>
            <a:spLocks noGrp="1"/>
          </p:cNvSpPr>
          <p:nvPr/>
        </p:nvSpPr>
        <p:spPr>
          <a:xfrm>
            <a:off x="1257300" y="323850"/>
            <a:ext cx="9953625" cy="714375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1.2 Paid Usage</a:t>
            </a:r>
          </a:p>
        </p:txBody>
      </p:sp>
      <p:sp>
        <p:nvSpPr>
          <p:cNvPr id="5" name="Divider">
            <a:extLst>
              <a:ext uri="{FF2B5EF4-FFF2-40B4-BE49-F238E27FC236}">
                <a16:creationId xmlns:a16="http://schemas.microsoft.com/office/drawing/2014/main" id="{BD590048-ADFE-4D4D-854A-AF2F5009CF1F}"/>
              </a:ext>
            </a:extLst>
          </p:cNvPr>
          <p:cNvSpPr>
            <a:spLocks noGrp="1"/>
          </p:cNvSpPr>
          <p:nvPr/>
        </p:nvSpPr>
        <p:spPr>
          <a:xfrm>
            <a:off x="457200" y="11600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81AA6361-D415-4993-BB8E-C52B2FAF69B2}"/>
              </a:ext>
            </a:extLst>
          </p:cNvPr>
          <p:cNvSpPr>
            <a:spLocks noGrp="1"/>
          </p:cNvSpPr>
          <p:nvPr/>
        </p:nvSpPr>
        <p:spPr>
          <a:xfrm>
            <a:off x="552450" y="1293350"/>
            <a:ext cx="10382250" cy="5524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25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250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Signal: sellers who repeatedly pay for visibility, Pro traffic, or invoiced services are more likely to be commercial sellers.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FB9F94FB-5A6F-48E3-8DC8-7175DBA46A40}"/>
              </a:ext>
            </a:extLst>
          </p:cNvPr>
          <p:cNvSpPr>
            <a:spLocks noGrp="1"/>
          </p:cNvSpPr>
          <p:nvPr/>
        </p:nvSpPr>
        <p:spPr>
          <a:xfrm>
            <a:off x="552450" y="1750550"/>
            <a:ext cx="5905500" cy="2857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25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125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Potential Metrics</a:t>
            </a:r>
          </a:p>
        </p:txBody>
      </p:sp>
      <p:sp>
        <p:nvSpPr>
          <p:cNvPr id="16" name="Scoring window 4">
            <a:extLst>
              <a:ext uri="{FF2B5EF4-FFF2-40B4-BE49-F238E27FC236}">
                <a16:creationId xmlns:a16="http://schemas.microsoft.com/office/drawing/2014/main" id="{980F3764-2D0C-4BEC-A844-77EDA35D9A4D}"/>
              </a:ext>
            </a:extLst>
          </p:cNvPr>
          <p:cNvSpPr>
            <a:spLocks noGrp="1"/>
          </p:cNvSpPr>
          <p:nvPr/>
        </p:nvSpPr>
        <p:spPr>
          <a:xfrm>
            <a:off x="552450" y="2055350"/>
            <a:ext cx="990600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100" b="0">
                <a:solidFill>
                  <a:srgbClr val="D6D6D6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D6D6D6"/>
                </a:solidFill>
                <a:latin typeface="Arial"/>
                <a:ea typeface="Arial"/>
                <a:cs typeface="Arial"/>
              </a:rPr>
              <a:t>Scoring window: last 12 months.</a:t>
            </a:r>
          </a:p>
        </p:txBody>
      </p:sp>
      <p:graphicFrame>
        <p:nvGraphicFramePr>
          <p:cNvPr id="17" name="Markdown table"/>
          <p:cNvGraphicFramePr/>
          <p:nvPr/>
        </p:nvGraphicFramePr>
        <p:xfrm>
          <a:off x="552450" y="2417300"/>
          <a:ext cx="10668000" cy="3171825"/>
        </p:xfrm>
        <a:graphic>
          <a:graphicData uri="http://schemas.openxmlformats.org/drawingml/2006/table">
            <a:tbl>
              <a:tblPr firstRow="1" bandRow="1"/>
              <a:tblGrid>
                <a:gridCol w="238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57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Columns Used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Why Useful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Paid feature usage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Feature type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Captures repeated use of paid visibility products.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Paid feature spend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Feature fee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Measures willingness to pay for visibility.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Paid listing fees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Insertion fee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Captures paid listing behavior outside feature purchases.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Pro CPC usage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CPC</a:t>
                      </a:r>
                      <a:r>
                        <a:rPr sz="1100" b="0">
                          <a:solidFill>
                            <a:srgbClr val="9CA3AF"/>
                          </a:solidFill>
                          <a:latin typeface="Menlo"/>
                          <a:ea typeface="Menlo"/>
                          <a:cs typeface="Menlo"/>
                        </a:rPr>
                        <a:t>, </a:t>
                      </a: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Ad id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Indicates performance-oriented selling.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Pro paid traffic scale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CPC</a:t>
                      </a:r>
                      <a:r>
                        <a:rPr sz="1100" b="0">
                          <a:solidFill>
                            <a:srgbClr val="9CA3AF"/>
                          </a:solidFill>
                          <a:latin typeface="Menlo"/>
                          <a:ea typeface="Menlo"/>
                          <a:cs typeface="Menlo"/>
                        </a:rPr>
                        <a:t>, </a:t>
                      </a: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Daily number of clicks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Estimates the scale of paid Pro traffic.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Invoice months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Invoice month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Captures recurring billing, not just one-off payments.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Invoice amount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Total invoice amount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Captures scale of invoiced spend.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" name="Divider">
            <a:extLst>
              <a:ext uri="{FF2B5EF4-FFF2-40B4-BE49-F238E27FC236}">
                <a16:creationId xmlns:a16="http://schemas.microsoft.com/office/drawing/2014/main" id="{1CE9DD1D-FF7E-4BF3-B8DD-6B617FCF53BE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278E4C69-9D37-4210-9692-12507B1CFF21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SMB Identification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B98A34DC-964B-4F21-AA3B-54391E24405A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03 / 08</a:t>
            </a:r>
          </a:p>
        </p:txBody>
      </p:sp>
    </p:spTree>
    <p:extLst>
      <p:ext uri="{BB962C8B-B14F-4D97-AF65-F5344CB8AC3E}">
        <p14:creationId xmlns:p14="http://schemas.microsoft.com/office/powerpoint/2010/main" val="1729429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>
            <a:extLst>
              <a:ext uri="{FF2B5EF4-FFF2-40B4-BE49-F238E27FC236}">
                <a16:creationId xmlns:a16="http://schemas.microsoft.com/office/drawing/2014/main" id="{2885FD2D-6490-4A4A-8911-0BBD6A4ED82A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26A923C2-205A-4847-9A5D-22344A5A4223}"/>
              </a:ext>
            </a:extLst>
          </p:cNvPr>
          <p:cNvSpPr>
            <a:spLocks noGrp="1"/>
          </p:cNvSpPr>
          <p:nvPr/>
        </p:nvSpPr>
        <p:spPr>
          <a:xfrm>
            <a:off x="1257300" y="323850"/>
            <a:ext cx="9953625" cy="714375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1.3 General Seller Activity</a:t>
            </a:r>
          </a:p>
        </p:txBody>
      </p:sp>
      <p:sp>
        <p:nvSpPr>
          <p:cNvPr id="5" name="Divider">
            <a:extLst>
              <a:ext uri="{FF2B5EF4-FFF2-40B4-BE49-F238E27FC236}">
                <a16:creationId xmlns:a16="http://schemas.microsoft.com/office/drawing/2014/main" id="{49C4A7F2-2AA4-46A1-8DA1-50E5B6695CBF}"/>
              </a:ext>
            </a:extLst>
          </p:cNvPr>
          <p:cNvSpPr>
            <a:spLocks noGrp="1"/>
          </p:cNvSpPr>
          <p:nvPr/>
        </p:nvSpPr>
        <p:spPr>
          <a:xfrm>
            <a:off x="457200" y="11600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9EBE14A1-DBB6-4368-AD13-622AEFD5B5E8}"/>
              </a:ext>
            </a:extLst>
          </p:cNvPr>
          <p:cNvSpPr>
            <a:spLocks noGrp="1"/>
          </p:cNvSpPr>
          <p:nvPr/>
        </p:nvSpPr>
        <p:spPr>
          <a:xfrm>
            <a:off x="552450" y="1293350"/>
            <a:ext cx="10382250" cy="5524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25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250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Signal: sellers that repeatedly list and stay active look more business-like than one-off sellers.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2B23EAEF-5CAF-40FC-9586-633CE222C193}"/>
              </a:ext>
            </a:extLst>
          </p:cNvPr>
          <p:cNvSpPr>
            <a:spLocks noGrp="1"/>
          </p:cNvSpPr>
          <p:nvPr/>
        </p:nvSpPr>
        <p:spPr>
          <a:xfrm>
            <a:off x="552450" y="1750550"/>
            <a:ext cx="5905500" cy="2857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25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125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Potential Metrics</a:t>
            </a:r>
          </a:p>
        </p:txBody>
      </p:sp>
      <p:sp>
        <p:nvSpPr>
          <p:cNvPr id="16" name="Scoring window 5">
            <a:extLst>
              <a:ext uri="{FF2B5EF4-FFF2-40B4-BE49-F238E27FC236}">
                <a16:creationId xmlns:a16="http://schemas.microsoft.com/office/drawing/2014/main" id="{89BB2F44-812F-4DF2-AFD8-CD3DD0C9144C}"/>
              </a:ext>
            </a:extLst>
          </p:cNvPr>
          <p:cNvSpPr>
            <a:spLocks noGrp="1"/>
          </p:cNvSpPr>
          <p:nvPr/>
        </p:nvSpPr>
        <p:spPr>
          <a:xfrm>
            <a:off x="552450" y="2055350"/>
            <a:ext cx="990600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100" b="0">
                <a:solidFill>
                  <a:srgbClr val="D6D6D6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D6D6D6"/>
                </a:solidFill>
                <a:latin typeface="Arial"/>
                <a:ea typeface="Arial"/>
                <a:cs typeface="Arial"/>
              </a:rPr>
              <a:t>Scoring window: last 12 months; recent listing activity uses last 3 months.</a:t>
            </a:r>
          </a:p>
        </p:txBody>
      </p:sp>
      <p:graphicFrame>
        <p:nvGraphicFramePr>
          <p:cNvPr id="17" name="Markdown table"/>
          <p:cNvGraphicFramePr/>
          <p:nvPr/>
        </p:nvGraphicFramePr>
        <p:xfrm>
          <a:off x="552450" y="2455400"/>
          <a:ext cx="10668000" cy="2095500"/>
        </p:xfrm>
        <a:graphic>
          <a:graphicData uri="http://schemas.openxmlformats.org/drawingml/2006/table">
            <a:tbl>
              <a:tblPr firstRow="1" bandRow="1"/>
              <a:tblGrid>
                <a:gridCol w="276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2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3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Columns Used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Why Useful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Ads in last 12 months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User id</a:t>
                      </a:r>
                      <a:r>
                        <a:rPr sz="1150" b="0">
                          <a:solidFill>
                            <a:srgbClr val="9CA3AF"/>
                          </a:solidFill>
                          <a:latin typeface="Menlo"/>
                          <a:ea typeface="Menlo"/>
                          <a:cs typeface="Menlo"/>
                        </a:rPr>
                        <a:t>, </a:t>
                      </a:r>
                      <a:r>
                        <a:rPr sz="115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Ad id</a:t>
                      </a:r>
                      <a:r>
                        <a:rPr sz="1150" b="0">
                          <a:solidFill>
                            <a:srgbClr val="9CA3AF"/>
                          </a:solidFill>
                          <a:latin typeface="Menlo"/>
                          <a:ea typeface="Menlo"/>
                          <a:cs typeface="Menlo"/>
                        </a:rPr>
                        <a:t>, </a:t>
                      </a:r>
                      <a:r>
                        <a:rPr sz="115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Ad start date/time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Captures seller volume.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Active months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Ad start date/time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Captures persistence.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Max concurrent live ads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Ad start date/time</a:t>
                      </a:r>
                      <a:r>
                        <a:rPr sz="1150" b="0">
                          <a:solidFill>
                            <a:srgbClr val="9CA3AF"/>
                          </a:solidFill>
                          <a:latin typeface="Menlo"/>
                          <a:ea typeface="Menlo"/>
                          <a:cs typeface="Menlo"/>
                        </a:rPr>
                        <a:t>, </a:t>
                      </a:r>
                      <a:r>
                        <a:rPr sz="115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Ad end date/time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Captures maintained inventory.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Recent listing activity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Ad start date/time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Keeps outreach focused on reachable sellers.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Divider">
            <a:extLst>
              <a:ext uri="{FF2B5EF4-FFF2-40B4-BE49-F238E27FC236}">
                <a16:creationId xmlns:a16="http://schemas.microsoft.com/office/drawing/2014/main" id="{2C60C842-C9F8-4D2D-AE6F-8E93141C5DDC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0E730CD1-A1F3-416B-A9D7-79C06145A852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SMB Identification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3546D82A-DB31-4ACC-ABF0-40822BEAC437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04 / 08</a:t>
            </a:r>
          </a:p>
        </p:txBody>
      </p:sp>
    </p:spTree>
    <p:extLst>
      <p:ext uri="{BB962C8B-B14F-4D97-AF65-F5344CB8AC3E}">
        <p14:creationId xmlns:p14="http://schemas.microsoft.com/office/powerpoint/2010/main" val="1248114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>
            <a:extLst>
              <a:ext uri="{FF2B5EF4-FFF2-40B4-BE49-F238E27FC236}">
                <a16:creationId xmlns:a16="http://schemas.microsoft.com/office/drawing/2014/main" id="{9B99C13B-D96C-4CE3-A99D-EEC47E04FC52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F418B9B4-1E2F-4CC1-B49D-5F6E73EACFA5}"/>
              </a:ext>
            </a:extLst>
          </p:cNvPr>
          <p:cNvSpPr>
            <a:spLocks noGrp="1"/>
          </p:cNvSpPr>
          <p:nvPr/>
        </p:nvSpPr>
        <p:spPr>
          <a:xfrm>
            <a:off x="1257300" y="323850"/>
            <a:ext cx="9953625" cy="714375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1.4 Category Specialization</a:t>
            </a:r>
          </a:p>
        </p:txBody>
      </p:sp>
      <p:sp>
        <p:nvSpPr>
          <p:cNvPr id="5" name="Divider">
            <a:extLst>
              <a:ext uri="{FF2B5EF4-FFF2-40B4-BE49-F238E27FC236}">
                <a16:creationId xmlns:a16="http://schemas.microsoft.com/office/drawing/2014/main" id="{389B6C05-0CB8-47D9-807C-9FB880C49BFF}"/>
              </a:ext>
            </a:extLst>
          </p:cNvPr>
          <p:cNvSpPr>
            <a:spLocks noGrp="1"/>
          </p:cNvSpPr>
          <p:nvPr/>
        </p:nvSpPr>
        <p:spPr>
          <a:xfrm>
            <a:off x="457200" y="11600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Divider">
            <a:extLst>
              <a:ext uri="{FF2B5EF4-FFF2-40B4-BE49-F238E27FC236}">
                <a16:creationId xmlns:a16="http://schemas.microsoft.com/office/drawing/2014/main" id="{DAE51419-1FE7-4CE0-922B-B1D781F0F39A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156E590D-3E7B-43ED-86D8-86950CA69CF0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SMB Identification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D948341B-6D56-43D2-9783-B62A329B3143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05 / 07</a:t>
            </a:r>
          </a:p>
        </p:txBody>
      </p:sp>
      <p:sp>
        <p:nvSpPr>
          <p:cNvPr id="16" name="Combined signal">
            <a:extLst>
              <a:ext uri="{FF2B5EF4-FFF2-40B4-BE49-F238E27FC236}">
                <a16:creationId xmlns:a16="http://schemas.microsoft.com/office/drawing/2014/main" id="{D83D076D-E780-418E-AF42-7556841364D6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4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Signal: SMBs often specialize in one category or a coherent category cluster.</a:t>
            </a:r>
          </a:p>
        </p:txBody>
      </p:sp>
      <p:sp>
        <p:nvSpPr>
          <p:cNvPr id="17" name="Potential Metrics">
            <a:extLst>
              <a:ext uri="{FF2B5EF4-FFF2-40B4-BE49-F238E27FC236}">
                <a16:creationId xmlns:a16="http://schemas.microsoft.com/office/drawing/2014/main" id="{803860D4-8BEE-4C49-A0F7-6B5EC0893A07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238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4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Potential Metrics</a:t>
            </a:r>
          </a:p>
        </p:txBody>
      </p:sp>
      <p:sp>
        <p:nvSpPr>
          <p:cNvPr id="18" name="Scoring window">
            <a:extLst>
              <a:ext uri="{FF2B5EF4-FFF2-40B4-BE49-F238E27FC236}">
                <a16:creationId xmlns:a16="http://schemas.microsoft.com/office/drawing/2014/main" id="{71E17E3F-18A3-4169-9218-018DB913F7F4}"/>
              </a:ext>
            </a:extLst>
          </p:cNvPr>
          <p:cNvSpPr>
            <a:spLocks noGrp="1"/>
          </p:cNvSpPr>
          <p:nvPr/>
        </p:nvSpPr>
        <p:spPr>
          <a:xfrm>
            <a:off x="609600" y="2038350"/>
            <a:ext cx="6858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100" dirty="0">
                <a:solidFill>
                  <a:srgbClr val="D8D8D2"/>
                </a:solidFill>
                <a:latin typeface="Arial"/>
                <a:ea typeface="Arial"/>
                <a:cs typeface="Arial"/>
              </a:rPr>
              <a:t>Scoring window: last 12 months; use main category and specific subcategory.</a:t>
            </a:r>
          </a:p>
        </p:txBody>
      </p:sp>
      <p:graphicFrame>
        <p:nvGraphicFramePr>
          <p:cNvPr id="19" name="Potential Metrics table"/>
          <p:cNvGraphicFramePr/>
          <p:nvPr>
            <p:extLst>
              <p:ext uri="{D42A27DB-BD31-4B8C-83A1-F6EECF244321}">
                <p14:modId xmlns:p14="http://schemas.microsoft.com/office/powerpoint/2010/main" val="2713399914"/>
              </p:ext>
            </p:extLst>
          </p:nvPr>
        </p:nvGraphicFramePr>
        <p:xfrm>
          <a:off x="609600" y="2399549"/>
          <a:ext cx="10972800" cy="11201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95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Columns Used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Why Useful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dirty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Repeated listings in same category/subcategory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D426"/>
                          </a:solidFill>
                          <a:latin typeface="Arial"/>
                          <a:ea typeface="Arial"/>
                          <a:cs typeface="Arial"/>
                        </a:rPr>
                        <a:t>User id, Ad category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Captures specialized and sustained supply.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Business-prone categories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D426"/>
                          </a:solidFill>
                          <a:latin typeface="Arial"/>
                          <a:ea typeface="Arial"/>
                          <a:cs typeface="Arial"/>
                        </a:rPr>
                        <a:t>Ad category, Category name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dirty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Some categories have higher expected SMB share and should raise/lower the score.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4" name="Business-prone examples label">
            <a:extLst>
              <a:ext uri="{FF2B5EF4-FFF2-40B4-BE49-F238E27FC236}">
                <a16:creationId xmlns:a16="http://schemas.microsoft.com/office/drawing/2014/main" id="{659BC4DA-48DD-4F7A-AAA1-C8016FE1E228}"/>
              </a:ext>
            </a:extLst>
          </p:cNvPr>
          <p:cNvSpPr>
            <a:spLocks noGrp="1"/>
          </p:cNvSpPr>
          <p:nvPr/>
        </p:nvSpPr>
        <p:spPr>
          <a:xfrm>
            <a:off x="609600" y="3756958"/>
            <a:ext cx="4000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400" b="1" dirty="0">
                <a:solidFill>
                  <a:srgbClr val="FFD426"/>
                </a:solidFill>
                <a:latin typeface="Arial"/>
                <a:ea typeface="Arial"/>
                <a:cs typeface="Arial"/>
              </a:rPr>
              <a:t>Business-Prone Category Examples</a:t>
            </a:r>
          </a:p>
        </p:txBody>
      </p:sp>
      <p:sp>
        <p:nvSpPr>
          <p:cNvPr id="35" name="Example item divider">
            <a:extLst>
              <a:ext uri="{FF2B5EF4-FFF2-40B4-BE49-F238E27FC236}">
                <a16:creationId xmlns:a16="http://schemas.microsoft.com/office/drawing/2014/main" id="{0746B772-4448-42AF-815E-C2D7BD502F99}"/>
              </a:ext>
            </a:extLst>
          </p:cNvPr>
          <p:cNvSpPr>
            <a:spLocks noGrp="1"/>
          </p:cNvSpPr>
          <p:nvPr/>
        </p:nvSpPr>
        <p:spPr>
          <a:xfrm>
            <a:off x="609600" y="3995083"/>
            <a:ext cx="3333750" cy="9525"/>
          </a:xfrm>
          <a:prstGeom prst="line">
            <a:avLst/>
          </a:prstGeom>
          <a:ln w="9525">
            <a:solidFill>
              <a:srgbClr val="1C1C1C"/>
            </a:solidFill>
          </a:ln>
        </p:spPr>
        <p:txBody>
          <a:bodyPr/>
          <a:lstStyle/>
          <a:p>
            <a:pPr marL="0" indent="0" algn="l" defTabSz="914400" rtl="0"/>
            <a:endParaRPr/>
          </a:p>
        </p:txBody>
      </p:sp>
      <p:sp>
        <p:nvSpPr>
          <p:cNvPr id="36" name="Example categories">
            <a:extLst>
              <a:ext uri="{FF2B5EF4-FFF2-40B4-BE49-F238E27FC236}">
                <a16:creationId xmlns:a16="http://schemas.microsoft.com/office/drawing/2014/main" id="{9B73CDFC-1992-4118-968A-20482CD149D3}"/>
              </a:ext>
            </a:extLst>
          </p:cNvPr>
          <p:cNvSpPr>
            <a:spLocks noGrp="1"/>
          </p:cNvSpPr>
          <p:nvPr/>
        </p:nvSpPr>
        <p:spPr>
          <a:xfrm>
            <a:off x="609600" y="4080808"/>
            <a:ext cx="3333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000">
                <a:solidFill>
                  <a:srgbClr val="A5A5A5"/>
                </a:solidFill>
                <a:latin typeface="Arial"/>
                <a:ea typeface="Arial"/>
                <a:cs typeface="Arial"/>
              </a:rPr>
              <a:t>Business Goods; Services and Tradespeople</a:t>
            </a:r>
          </a:p>
        </p:txBody>
      </p:sp>
      <p:sp>
        <p:nvSpPr>
          <p:cNvPr id="37" name="Example why">
            <a:extLst>
              <a:ext uri="{FF2B5EF4-FFF2-40B4-BE49-F238E27FC236}">
                <a16:creationId xmlns:a16="http://schemas.microsoft.com/office/drawing/2014/main" id="{1E0A8FA6-A458-42C1-80BA-A4B07BDF1EF7}"/>
              </a:ext>
            </a:extLst>
          </p:cNvPr>
          <p:cNvSpPr>
            <a:spLocks noGrp="1"/>
          </p:cNvSpPr>
          <p:nvPr/>
        </p:nvSpPr>
        <p:spPr>
          <a:xfrm>
            <a:off x="609600" y="4499908"/>
            <a:ext cx="3333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Directly commercial supply or service provision.</a:t>
            </a:r>
          </a:p>
        </p:txBody>
      </p:sp>
      <p:sp>
        <p:nvSpPr>
          <p:cNvPr id="38" name="Example item divider">
            <a:extLst>
              <a:ext uri="{FF2B5EF4-FFF2-40B4-BE49-F238E27FC236}">
                <a16:creationId xmlns:a16="http://schemas.microsoft.com/office/drawing/2014/main" id="{2246B849-9CAA-4CDA-9731-69F8CD0A2366}"/>
              </a:ext>
            </a:extLst>
          </p:cNvPr>
          <p:cNvSpPr>
            <a:spLocks noGrp="1"/>
          </p:cNvSpPr>
          <p:nvPr/>
        </p:nvSpPr>
        <p:spPr>
          <a:xfrm>
            <a:off x="4352925" y="3995083"/>
            <a:ext cx="3333750" cy="9525"/>
          </a:xfrm>
          <a:prstGeom prst="line">
            <a:avLst/>
          </a:prstGeom>
          <a:ln w="9525">
            <a:solidFill>
              <a:srgbClr val="1C1C1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9" name="Example categories">
            <a:extLst>
              <a:ext uri="{FF2B5EF4-FFF2-40B4-BE49-F238E27FC236}">
                <a16:creationId xmlns:a16="http://schemas.microsoft.com/office/drawing/2014/main" id="{05E1252A-3BA3-47D5-A31B-89A38C20CC26}"/>
              </a:ext>
            </a:extLst>
          </p:cNvPr>
          <p:cNvSpPr>
            <a:spLocks noGrp="1"/>
          </p:cNvSpPr>
          <p:nvPr/>
        </p:nvSpPr>
        <p:spPr>
          <a:xfrm>
            <a:off x="4352925" y="4080808"/>
            <a:ext cx="3333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000">
                <a:solidFill>
                  <a:srgbClr val="A5A5A5"/>
                </a:solidFill>
                <a:latin typeface="Arial"/>
                <a:ea typeface="Arial"/>
                <a:cs typeface="Arial"/>
              </a:rPr>
              <a:t>Jobs</a:t>
            </a:r>
          </a:p>
        </p:txBody>
      </p:sp>
      <p:sp>
        <p:nvSpPr>
          <p:cNvPr id="40" name="Example why">
            <a:extLst>
              <a:ext uri="{FF2B5EF4-FFF2-40B4-BE49-F238E27FC236}">
                <a16:creationId xmlns:a16="http://schemas.microsoft.com/office/drawing/2014/main" id="{68867B21-8782-4DF8-8880-22929423EB02}"/>
              </a:ext>
            </a:extLst>
          </p:cNvPr>
          <p:cNvSpPr>
            <a:spLocks noGrp="1"/>
          </p:cNvSpPr>
          <p:nvPr/>
        </p:nvSpPr>
        <p:spPr>
          <a:xfrm>
            <a:off x="4352925" y="4499908"/>
            <a:ext cx="3333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Usually posted by employers, recruiters, or staffing businesses.</a:t>
            </a:r>
          </a:p>
        </p:txBody>
      </p:sp>
      <p:sp>
        <p:nvSpPr>
          <p:cNvPr id="41" name="Example item divider">
            <a:extLst>
              <a:ext uri="{FF2B5EF4-FFF2-40B4-BE49-F238E27FC236}">
                <a16:creationId xmlns:a16="http://schemas.microsoft.com/office/drawing/2014/main" id="{46290ABC-8BFD-49DD-91E3-CB896903A01E}"/>
              </a:ext>
            </a:extLst>
          </p:cNvPr>
          <p:cNvSpPr>
            <a:spLocks noGrp="1"/>
          </p:cNvSpPr>
          <p:nvPr/>
        </p:nvSpPr>
        <p:spPr>
          <a:xfrm>
            <a:off x="8096250" y="3995083"/>
            <a:ext cx="3333750" cy="9525"/>
          </a:xfrm>
          <a:prstGeom prst="line">
            <a:avLst/>
          </a:prstGeom>
          <a:ln w="9525">
            <a:solidFill>
              <a:srgbClr val="1C1C1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2" name="Example categories">
            <a:extLst>
              <a:ext uri="{FF2B5EF4-FFF2-40B4-BE49-F238E27FC236}">
                <a16:creationId xmlns:a16="http://schemas.microsoft.com/office/drawing/2014/main" id="{81EB442F-FC8F-40E9-8077-ABF9D2585C70}"/>
              </a:ext>
            </a:extLst>
          </p:cNvPr>
          <p:cNvSpPr>
            <a:spLocks noGrp="1"/>
          </p:cNvSpPr>
          <p:nvPr/>
        </p:nvSpPr>
        <p:spPr>
          <a:xfrm>
            <a:off x="8096250" y="4080808"/>
            <a:ext cx="3333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000">
                <a:solidFill>
                  <a:srgbClr val="A5A5A5"/>
                </a:solidFill>
                <a:latin typeface="Arial"/>
                <a:ea typeface="Arial"/>
                <a:cs typeface="Arial"/>
              </a:rPr>
              <a:t>Cars; Miscellaneous Cars; Car Parts; Motorcycles; Caravans and Camping; Water Sports and Boats</a:t>
            </a:r>
          </a:p>
        </p:txBody>
      </p:sp>
      <p:sp>
        <p:nvSpPr>
          <p:cNvPr id="43" name="Example why">
            <a:extLst>
              <a:ext uri="{FF2B5EF4-FFF2-40B4-BE49-F238E27FC236}">
                <a16:creationId xmlns:a16="http://schemas.microsoft.com/office/drawing/2014/main" id="{F4F683C7-B8B2-495B-9A05-8AE2430F2B8D}"/>
              </a:ext>
            </a:extLst>
          </p:cNvPr>
          <p:cNvSpPr>
            <a:spLocks noGrp="1"/>
          </p:cNvSpPr>
          <p:nvPr/>
        </p:nvSpPr>
        <p:spPr>
          <a:xfrm>
            <a:off x="8096250" y="4499908"/>
            <a:ext cx="3333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High-value inventory and specialist dealers are common.</a:t>
            </a:r>
          </a:p>
        </p:txBody>
      </p:sp>
      <p:sp>
        <p:nvSpPr>
          <p:cNvPr id="44" name="Example item divider">
            <a:extLst>
              <a:ext uri="{FF2B5EF4-FFF2-40B4-BE49-F238E27FC236}">
                <a16:creationId xmlns:a16="http://schemas.microsoft.com/office/drawing/2014/main" id="{270BFA4F-4A2C-451F-878F-365194EE9BFD}"/>
              </a:ext>
            </a:extLst>
          </p:cNvPr>
          <p:cNvSpPr>
            <a:spLocks noGrp="1"/>
          </p:cNvSpPr>
          <p:nvPr/>
        </p:nvSpPr>
        <p:spPr>
          <a:xfrm>
            <a:off x="609600" y="4899958"/>
            <a:ext cx="3333750" cy="9525"/>
          </a:xfrm>
          <a:prstGeom prst="line">
            <a:avLst/>
          </a:prstGeom>
          <a:ln w="9525">
            <a:solidFill>
              <a:srgbClr val="1C1C1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5" name="Example categories">
            <a:extLst>
              <a:ext uri="{FF2B5EF4-FFF2-40B4-BE49-F238E27FC236}">
                <a16:creationId xmlns:a16="http://schemas.microsoft.com/office/drawing/2014/main" id="{E7993DFD-C6D0-4236-B790-67BBBC329E2F}"/>
              </a:ext>
            </a:extLst>
          </p:cNvPr>
          <p:cNvSpPr>
            <a:spLocks noGrp="1"/>
          </p:cNvSpPr>
          <p:nvPr/>
        </p:nvSpPr>
        <p:spPr>
          <a:xfrm>
            <a:off x="609600" y="4985683"/>
            <a:ext cx="3333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000">
                <a:solidFill>
                  <a:srgbClr val="A5A5A5"/>
                </a:solidFill>
                <a:latin typeface="Arial"/>
                <a:ea typeface="Arial"/>
                <a:cs typeface="Arial"/>
              </a:rPr>
              <a:t>Homes - Rental; Houses and Rooms; Vacation</a:t>
            </a:r>
          </a:p>
        </p:txBody>
      </p:sp>
      <p:sp>
        <p:nvSpPr>
          <p:cNvPr id="46" name="Example why">
            <a:extLst>
              <a:ext uri="{FF2B5EF4-FFF2-40B4-BE49-F238E27FC236}">
                <a16:creationId xmlns:a16="http://schemas.microsoft.com/office/drawing/2014/main" id="{0B46B18E-296E-4763-8294-A758936DF528}"/>
              </a:ext>
            </a:extLst>
          </p:cNvPr>
          <p:cNvSpPr>
            <a:spLocks noGrp="1"/>
          </p:cNvSpPr>
          <p:nvPr/>
        </p:nvSpPr>
        <p:spPr>
          <a:xfrm>
            <a:off x="609600" y="5404783"/>
            <a:ext cx="3333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Repeated listings often indicate landlords, agencies, or rental operators.</a:t>
            </a:r>
          </a:p>
        </p:txBody>
      </p:sp>
      <p:sp>
        <p:nvSpPr>
          <p:cNvPr id="47" name="Example item divider">
            <a:extLst>
              <a:ext uri="{FF2B5EF4-FFF2-40B4-BE49-F238E27FC236}">
                <a16:creationId xmlns:a16="http://schemas.microsoft.com/office/drawing/2014/main" id="{A5924663-D2BA-408A-B6F2-5152499490F7}"/>
              </a:ext>
            </a:extLst>
          </p:cNvPr>
          <p:cNvSpPr>
            <a:spLocks noGrp="1"/>
          </p:cNvSpPr>
          <p:nvPr/>
        </p:nvSpPr>
        <p:spPr>
          <a:xfrm>
            <a:off x="4352925" y="4899958"/>
            <a:ext cx="3333750" cy="9525"/>
          </a:xfrm>
          <a:prstGeom prst="line">
            <a:avLst/>
          </a:prstGeom>
          <a:ln w="9525">
            <a:solidFill>
              <a:srgbClr val="1C1C1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8" name="Example categories">
            <a:extLst>
              <a:ext uri="{FF2B5EF4-FFF2-40B4-BE49-F238E27FC236}">
                <a16:creationId xmlns:a16="http://schemas.microsoft.com/office/drawing/2014/main" id="{0D00C058-A644-42D7-B48E-4755D16D5594}"/>
              </a:ext>
            </a:extLst>
          </p:cNvPr>
          <p:cNvSpPr>
            <a:spLocks noGrp="1"/>
          </p:cNvSpPr>
          <p:nvPr/>
        </p:nvSpPr>
        <p:spPr>
          <a:xfrm>
            <a:off x="4352925" y="4985683"/>
            <a:ext cx="3333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000">
                <a:solidFill>
                  <a:srgbClr val="A5A5A5"/>
                </a:solidFill>
                <a:latin typeface="Arial"/>
                <a:ea typeface="Arial"/>
                <a:cs typeface="Arial"/>
              </a:rPr>
              <a:t>DIY and Renovation; Garden and Terrace; Home and Furnishings; White Goods and Appliances</a:t>
            </a:r>
          </a:p>
        </p:txBody>
      </p:sp>
      <p:sp>
        <p:nvSpPr>
          <p:cNvPr id="49" name="Example why">
            <a:extLst>
              <a:ext uri="{FF2B5EF4-FFF2-40B4-BE49-F238E27FC236}">
                <a16:creationId xmlns:a16="http://schemas.microsoft.com/office/drawing/2014/main" id="{94764D63-01EB-423D-B9FB-A8BAB35E8FFA}"/>
              </a:ext>
            </a:extLst>
          </p:cNvPr>
          <p:cNvSpPr>
            <a:spLocks noGrp="1"/>
          </p:cNvSpPr>
          <p:nvPr/>
        </p:nvSpPr>
        <p:spPr>
          <a:xfrm>
            <a:off x="4352925" y="5404783"/>
            <a:ext cx="3333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Repeated supply suggests trades, refurbishers, or retail-like sellers.</a:t>
            </a:r>
          </a:p>
        </p:txBody>
      </p:sp>
      <p:sp>
        <p:nvSpPr>
          <p:cNvPr id="50" name="Example item divider">
            <a:extLst>
              <a:ext uri="{FF2B5EF4-FFF2-40B4-BE49-F238E27FC236}">
                <a16:creationId xmlns:a16="http://schemas.microsoft.com/office/drawing/2014/main" id="{1334D0ED-AEF6-430D-AAD4-887FB1777183}"/>
              </a:ext>
            </a:extLst>
          </p:cNvPr>
          <p:cNvSpPr>
            <a:spLocks noGrp="1"/>
          </p:cNvSpPr>
          <p:nvPr/>
        </p:nvSpPr>
        <p:spPr>
          <a:xfrm>
            <a:off x="8096250" y="4899958"/>
            <a:ext cx="3333750" cy="9525"/>
          </a:xfrm>
          <a:prstGeom prst="line">
            <a:avLst/>
          </a:prstGeom>
          <a:ln w="9525">
            <a:solidFill>
              <a:srgbClr val="1C1C1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1" name="Example categories">
            <a:extLst>
              <a:ext uri="{FF2B5EF4-FFF2-40B4-BE49-F238E27FC236}">
                <a16:creationId xmlns:a16="http://schemas.microsoft.com/office/drawing/2014/main" id="{A86E22DA-7935-4DD0-B484-CCE1B8A94D0A}"/>
              </a:ext>
            </a:extLst>
          </p:cNvPr>
          <p:cNvSpPr>
            <a:spLocks noGrp="1"/>
          </p:cNvSpPr>
          <p:nvPr/>
        </p:nvSpPr>
        <p:spPr>
          <a:xfrm>
            <a:off x="8096250" y="4985683"/>
            <a:ext cx="3333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000">
                <a:solidFill>
                  <a:srgbClr val="A5A5A5"/>
                </a:solidFill>
                <a:latin typeface="Arial"/>
                <a:ea typeface="Arial"/>
                <a:cs typeface="Arial"/>
              </a:rPr>
              <a:t>Computers and Software; Telecommunications</a:t>
            </a:r>
          </a:p>
        </p:txBody>
      </p:sp>
      <p:sp>
        <p:nvSpPr>
          <p:cNvPr id="52" name="Example why">
            <a:extLst>
              <a:ext uri="{FF2B5EF4-FFF2-40B4-BE49-F238E27FC236}">
                <a16:creationId xmlns:a16="http://schemas.microsoft.com/office/drawing/2014/main" id="{F2F5919C-3E07-4504-B583-903A719166AB}"/>
              </a:ext>
            </a:extLst>
          </p:cNvPr>
          <p:cNvSpPr>
            <a:spLocks noGrp="1"/>
          </p:cNvSpPr>
          <p:nvPr/>
        </p:nvSpPr>
        <p:spPr>
          <a:xfrm>
            <a:off x="8096250" y="5404783"/>
            <a:ext cx="3333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Repeated listings often indicate resellers or repair/retail activity.</a:t>
            </a:r>
          </a:p>
        </p:txBody>
      </p:sp>
    </p:spTree>
    <p:extLst>
      <p:ext uri="{BB962C8B-B14F-4D97-AF65-F5344CB8AC3E}">
        <p14:creationId xmlns:p14="http://schemas.microsoft.com/office/powerpoint/2010/main" val="1630150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>
            <a:extLst>
              <a:ext uri="{FF2B5EF4-FFF2-40B4-BE49-F238E27FC236}">
                <a16:creationId xmlns:a16="http://schemas.microsoft.com/office/drawing/2014/main" id="{5414E398-5733-42FA-8AC9-FC62CDB977B9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DE2E1750-0D53-4C0A-BB1F-EF6A1964D320}"/>
              </a:ext>
            </a:extLst>
          </p:cNvPr>
          <p:cNvSpPr>
            <a:spLocks noGrp="1"/>
          </p:cNvSpPr>
          <p:nvPr/>
        </p:nvSpPr>
        <p:spPr>
          <a:xfrm>
            <a:off x="1257300" y="323850"/>
            <a:ext cx="9953625" cy="714375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1.5 Buyer Engagement Aggregated by Seller</a:t>
            </a:r>
          </a:p>
        </p:txBody>
      </p:sp>
      <p:sp>
        <p:nvSpPr>
          <p:cNvPr id="5" name="Divider">
            <a:extLst>
              <a:ext uri="{FF2B5EF4-FFF2-40B4-BE49-F238E27FC236}">
                <a16:creationId xmlns:a16="http://schemas.microsoft.com/office/drawing/2014/main" id="{AEE9124F-090B-4330-B9FD-FAE6A37179C9}"/>
              </a:ext>
            </a:extLst>
          </p:cNvPr>
          <p:cNvSpPr>
            <a:spLocks noGrp="1"/>
          </p:cNvSpPr>
          <p:nvPr/>
        </p:nvSpPr>
        <p:spPr>
          <a:xfrm>
            <a:off x="457200" y="11600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A9B93241-B93A-4329-848E-A0BD9E6D06D9}"/>
              </a:ext>
            </a:extLst>
          </p:cNvPr>
          <p:cNvSpPr>
            <a:spLocks noGrp="1"/>
          </p:cNvSpPr>
          <p:nvPr/>
        </p:nvSpPr>
        <p:spPr>
          <a:xfrm>
            <a:off x="552450" y="1350500"/>
            <a:ext cx="10382250" cy="5524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25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250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Signal: one popular ad can be consumer behavior; repeated buyer engagement across ads is more SMB-like.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AAF42F91-6AF8-4C15-9DFE-17C07405BD39}"/>
              </a:ext>
            </a:extLst>
          </p:cNvPr>
          <p:cNvSpPr>
            <a:spLocks noGrp="1"/>
          </p:cNvSpPr>
          <p:nvPr/>
        </p:nvSpPr>
        <p:spPr>
          <a:xfrm>
            <a:off x="552450" y="1807700"/>
            <a:ext cx="5905500" cy="2857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25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125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Potential Metrics</a:t>
            </a:r>
          </a:p>
        </p:txBody>
      </p:sp>
      <p:sp>
        <p:nvSpPr>
          <p:cNvPr id="16" name="Scoring window 8">
            <a:extLst>
              <a:ext uri="{FF2B5EF4-FFF2-40B4-BE49-F238E27FC236}">
                <a16:creationId xmlns:a16="http://schemas.microsoft.com/office/drawing/2014/main" id="{B15F7C54-BBAF-4A68-BDD9-4FF118D5B67C}"/>
              </a:ext>
            </a:extLst>
          </p:cNvPr>
          <p:cNvSpPr>
            <a:spLocks noGrp="1"/>
          </p:cNvSpPr>
          <p:nvPr/>
        </p:nvSpPr>
        <p:spPr>
          <a:xfrm>
            <a:off x="552450" y="2112500"/>
            <a:ext cx="990600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100" b="0">
                <a:solidFill>
                  <a:srgbClr val="D6D6D6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D6D6D6"/>
                </a:solidFill>
                <a:latin typeface="Arial"/>
                <a:ea typeface="Arial"/>
                <a:cs typeface="Arial"/>
              </a:rPr>
              <a:t>Scoring window: last 12 months.</a:t>
            </a:r>
          </a:p>
        </p:txBody>
      </p:sp>
      <p:graphicFrame>
        <p:nvGraphicFramePr>
          <p:cNvPr id="17" name="Markdown table"/>
          <p:cNvGraphicFramePr/>
          <p:nvPr/>
        </p:nvGraphicFramePr>
        <p:xfrm>
          <a:off x="552450" y="2512550"/>
          <a:ext cx="10668000" cy="2266950"/>
        </p:xfrm>
        <a:graphic>
          <a:graphicData uri="http://schemas.openxmlformats.org/drawingml/2006/table">
            <a:tbl>
              <a:tblPr firstRow="1" bandRow="1"/>
              <a:tblGrid>
                <a:gridCol w="247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5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95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Columns Used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Why Useful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Engaged ads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Ad id</a:t>
                      </a:r>
                      <a:r>
                        <a:rPr sz="1100" b="0">
                          <a:solidFill>
                            <a:srgbClr val="9CA3AF"/>
                          </a:solidFill>
                          <a:latin typeface="Menlo"/>
                          <a:ea typeface="Menlo"/>
                          <a:cs typeface="Menlo"/>
                        </a:rPr>
                        <a:t>, </a:t>
                      </a: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Page</a:t>
                      </a:r>
                      <a:r>
                        <a:rPr sz="1100" b="0">
                          <a:solidFill>
                            <a:srgbClr val="9CA3AF"/>
                          </a:solidFill>
                          <a:latin typeface="Menlo"/>
                          <a:ea typeface="Menlo"/>
                          <a:cs typeface="Menlo"/>
                        </a:rPr>
                        <a:t>, </a:t>
                      </a: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Click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Avoids one-ad outliers.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Unique engaged buyers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Buyer id</a:t>
                      </a:r>
                      <a:r>
                        <a:rPr sz="1100" b="0">
                          <a:solidFill>
                            <a:srgbClr val="9CA3AF"/>
                          </a:solidFill>
                          <a:latin typeface="Menlo"/>
                          <a:ea typeface="Menlo"/>
                          <a:cs typeface="Menlo"/>
                        </a:rPr>
                        <a:t>, </a:t>
                      </a: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Seller id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Captures breadth of demand.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Months with engagement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Message date/time</a:t>
                      </a:r>
                      <a:r>
                        <a:rPr sz="1100" b="0">
                          <a:solidFill>
                            <a:srgbClr val="9CA3AF"/>
                          </a:solidFill>
                          <a:latin typeface="Menlo"/>
                          <a:ea typeface="Menlo"/>
                          <a:cs typeface="Menlo"/>
                        </a:rPr>
                        <a:t>, </a:t>
                      </a: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traffic event date/time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Captures persistence.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Engagement rate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Page</a:t>
                      </a:r>
                      <a:r>
                        <a:rPr sz="1100" b="0">
                          <a:solidFill>
                            <a:srgbClr val="9CA3AF"/>
                          </a:solidFill>
                          <a:latin typeface="Menlo"/>
                          <a:ea typeface="Menlo"/>
                          <a:cs typeface="Menlo"/>
                        </a:rPr>
                        <a:t>, </a:t>
                      </a: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Click</a:t>
                      </a:r>
                      <a:r>
                        <a:rPr sz="1100" b="0">
                          <a:solidFill>
                            <a:srgbClr val="9CA3AF"/>
                          </a:solidFill>
                          <a:latin typeface="Menlo"/>
                          <a:ea typeface="Menlo"/>
                          <a:cs typeface="Menlo"/>
                        </a:rPr>
                        <a:t>, </a:t>
                      </a: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Daily number of impressions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Controls for exposure where possible.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Divider">
            <a:extLst>
              <a:ext uri="{FF2B5EF4-FFF2-40B4-BE49-F238E27FC236}">
                <a16:creationId xmlns:a16="http://schemas.microsoft.com/office/drawing/2014/main" id="{7CBC6613-0781-4FB9-A474-55B89B3CA6AD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27C6DD7B-FB62-4ABD-94B6-CEDCD886BE39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SMB Identification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CD743CBF-B06C-403D-9331-19C0D2447ABB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06 / 07</a:t>
            </a:r>
          </a:p>
        </p:txBody>
      </p:sp>
    </p:spTree>
    <p:extLst>
      <p:ext uri="{BB962C8B-B14F-4D97-AF65-F5344CB8AC3E}">
        <p14:creationId xmlns:p14="http://schemas.microsoft.com/office/powerpoint/2010/main" val="17276986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>
            <a:extLst>
              <a:ext uri="{FF2B5EF4-FFF2-40B4-BE49-F238E27FC236}">
                <a16:creationId xmlns:a16="http://schemas.microsoft.com/office/drawing/2014/main" id="{E2CE1683-9E40-4D07-87A3-22BA7CDF3CEB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4EC25269-EC06-4828-9F65-9C767AB2ADF9}"/>
              </a:ext>
            </a:extLst>
          </p:cNvPr>
          <p:cNvSpPr>
            <a:spLocks noGrp="1"/>
          </p:cNvSpPr>
          <p:nvPr/>
        </p:nvSpPr>
        <p:spPr>
          <a:xfrm>
            <a:off x="1257300" y="323850"/>
            <a:ext cx="9953625" cy="714375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2. Decision Mechanism</a:t>
            </a:r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5931F5EC-748C-44F2-90BF-B901A4E640CE}"/>
              </a:ext>
            </a:extLst>
          </p:cNvPr>
          <p:cNvSpPr>
            <a:spLocks noGrp="1"/>
          </p:cNvSpPr>
          <p:nvPr/>
        </p:nvSpPr>
        <p:spPr>
          <a:xfrm>
            <a:off x="457200" y="11600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Divider">
            <a:extLst>
              <a:ext uri="{FF2B5EF4-FFF2-40B4-BE49-F238E27FC236}">
                <a16:creationId xmlns:a16="http://schemas.microsoft.com/office/drawing/2014/main" id="{1948D8CD-7361-47CC-8A55-5903E8F82972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9AF36372-913A-415C-BB8A-017E7ACEABD4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SMB Identification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9B2FDA74-6E7C-4F43-9C11-84AD58D74CE2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07 / 07</a:t>
            </a:r>
          </a:p>
        </p:txBody>
      </p:sp>
      <p:sp>
        <p:nvSpPr>
          <p:cNvPr id="9" name="Decision intro">
            <a:extLst>
              <a:ext uri="{FF2B5EF4-FFF2-40B4-BE49-F238E27FC236}">
                <a16:creationId xmlns:a16="http://schemas.microsoft.com/office/drawing/2014/main" id="{F6CED2D7-DFE5-4124-AA43-331D6EFC69FF}"/>
              </a:ext>
            </a:extLst>
          </p:cNvPr>
          <p:cNvSpPr>
            <a:spLocks noGrp="1"/>
          </p:cNvSpPr>
          <p:nvPr/>
        </p:nvSpPr>
        <p:spPr>
          <a:xfrm>
            <a:off x="552450" y="1388600"/>
            <a:ext cx="10287000" cy="4762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100" b="0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3F4F6"/>
                </a:solidFill>
                <a:latin typeface="Arial"/>
                <a:ea typeface="Arial"/>
                <a:cs typeface="Arial"/>
              </a:rPr>
              <a:t>Create a ranked seller list by scoring each seller-level SMB signal based on strength; categories organize the signals, but the final score is built from the signals themselves.</a:t>
            </a:r>
          </a:p>
        </p:txBody>
      </p:sp>
      <p:graphicFrame>
        <p:nvGraphicFramePr>
          <p:cNvPr id="10" name="SMB score table"/>
          <p:cNvGraphicFramePr/>
          <p:nvPr/>
        </p:nvGraphicFramePr>
        <p:xfrm>
          <a:off x="552450" y="2017250"/>
          <a:ext cx="10287000" cy="1652303"/>
        </p:xfrm>
        <a:graphic>
          <a:graphicData uri="http://schemas.openxmlformats.org/drawingml/2006/table">
            <a:tbl>
              <a:tblPr firstRow="1" bandRow="1"/>
              <a:tblGrid>
                <a:gridCol w="1619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5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6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7F7F2"/>
                          </a:solidFill>
                          <a:latin typeface="Arial"/>
                          <a:ea typeface="Arial"/>
                          <a:cs typeface="Arial"/>
                        </a:rPr>
                        <a:t>Weight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7F7F2"/>
                          </a:solidFill>
                          <a:latin typeface="Arial"/>
                          <a:ea typeface="Arial"/>
                          <a:cs typeface="Arial"/>
                        </a:rPr>
                        <a:t>General Rule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7F7F2"/>
                          </a:solidFill>
                          <a:latin typeface="Arial"/>
                          <a:ea typeface="Arial"/>
                          <a:cs typeface="Arial"/>
                        </a:rPr>
                        <a:t>Example Signals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D8D8D2"/>
                          </a:solidFill>
                          <a:latin typeface="Arial"/>
                          <a:ea typeface="Arial"/>
                          <a:cs typeface="Arial"/>
                        </a:rPr>
                        <a:t>Highest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D8D8D2"/>
                          </a:solidFill>
                          <a:latin typeface="Arial"/>
                          <a:ea typeface="Arial"/>
                          <a:cs typeface="Arial"/>
                        </a:rPr>
                        <a:t>Direct evidence of business setup.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D8D8D2"/>
                          </a:solidFill>
                          <a:latin typeface="Arial"/>
                          <a:ea typeface="Arial"/>
                          <a:cs typeface="Arial"/>
                        </a:rPr>
                        <a:t>Corporate bank account flag.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45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D8D8D2"/>
                          </a:solidFill>
                          <a:latin typeface="Arial"/>
                          <a:ea typeface="Arial"/>
                          <a:cs typeface="Arial"/>
                        </a:rPr>
                        <a:t>High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D8D8D2"/>
                          </a:solidFill>
                          <a:latin typeface="Arial"/>
                          <a:ea typeface="Arial"/>
                          <a:cs typeface="Arial"/>
                        </a:rPr>
                        <a:t>Clear paid selling behavior.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D8D8D2"/>
                          </a:solidFill>
                          <a:latin typeface="Arial"/>
                          <a:ea typeface="Arial"/>
                          <a:cs typeface="Arial"/>
                        </a:rPr>
                        <a:t>Recurring invoice months, Pro CPC usage, paid feature spend.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169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D8D8D2"/>
                          </a:solidFill>
                          <a:latin typeface="Arial"/>
                          <a:ea typeface="Arial"/>
                          <a:cs typeface="Arial"/>
                        </a:rPr>
                        <a:t>Lower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D8D8D2"/>
                          </a:solidFill>
                          <a:latin typeface="Arial"/>
                          <a:ea typeface="Arial"/>
                          <a:cs typeface="Arial"/>
                        </a:rPr>
                        <a:t>SMB-like behavior that is useful but noisier.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D8D8D2"/>
                          </a:solidFill>
                          <a:latin typeface="Arial"/>
                          <a:ea typeface="Arial"/>
                          <a:cs typeface="Arial"/>
                        </a:rPr>
                        <a:t>High listing volume, repeated listings in the same category, business-prone categories, buyer engagement across ads.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Decision output">
            <a:extLst>
              <a:ext uri="{FF2B5EF4-FFF2-40B4-BE49-F238E27FC236}">
                <a16:creationId xmlns:a16="http://schemas.microsoft.com/office/drawing/2014/main" id="{E6D23BF3-2401-4FDA-BDDF-486C1AD3B8B9}"/>
              </a:ext>
            </a:extLst>
          </p:cNvPr>
          <p:cNvSpPr>
            <a:spLocks noGrp="1"/>
          </p:cNvSpPr>
          <p:nvPr/>
        </p:nvSpPr>
        <p:spPr>
          <a:xfrm>
            <a:off x="552450" y="4284200"/>
            <a:ext cx="10287000" cy="3429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100" b="0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3F4F6"/>
                </a:solidFill>
                <a:latin typeface="Arial"/>
                <a:ea typeface="Arial"/>
                <a:cs typeface="Arial"/>
              </a:rPr>
              <a:t>Output: ranked sellers with user_id, smb_score, confidence tier, top reasons, and recommended action.</a:t>
            </a:r>
          </a:p>
        </p:txBody>
      </p:sp>
      <p:sp>
        <p:nvSpPr>
          <p:cNvPr id="13" name="Supervised Model Scoring note">
            <a:extLst>
              <a:ext uri="{FF2B5EF4-FFF2-40B4-BE49-F238E27FC236}">
                <a16:creationId xmlns:a16="http://schemas.microsoft.com/office/drawing/2014/main" id="{E0643B7A-414D-476C-83BE-E2D75EF508D7}"/>
              </a:ext>
            </a:extLst>
          </p:cNvPr>
          <p:cNvSpPr>
            <a:spLocks noGrp="1"/>
          </p:cNvSpPr>
          <p:nvPr/>
        </p:nvSpPr>
        <p:spPr>
          <a:xfrm>
            <a:off x="552450" y="4703300"/>
            <a:ext cx="10287000" cy="9000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wrap="square" lIns="57150" tIns="38100" rIns="57150" bIns="38100" anchor="t"/>
          <a:lstStyle/>
          <a:p>
            <a:pPr marL="0" indent="0">
              <a:buNone/>
              <a:defRPr sz="1100"/>
            </a:pPr>
            <a:r>
              <a:rPr sz="15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Supervised Model Scoring</a:t>
            </a:r>
            <a:br/>
            <a:br/>
            <a:r>
              <a:rPr sz="1100">
                <a:solidFill>
                  <a:srgbClr val="F7F7F2"/>
                </a:solidFill>
                <a:latin typeface="Arial"/>
                <a:ea typeface="Arial"/>
                <a:cs typeface="Arial"/>
              </a:rPr>
              <a:t>If true SMB labels become available, replace manual weights with a supervised model using the same seller-level features. Keep the output explainable so stakeholders can see why each seller was prioritized.</a:t>
            </a:r>
          </a:p>
        </p:txBody>
      </p:sp>
    </p:spTree>
    <p:extLst>
      <p:ext uri="{BB962C8B-B14F-4D97-AF65-F5344CB8AC3E}">
        <p14:creationId xmlns:p14="http://schemas.microsoft.com/office/powerpoint/2010/main" val="7189586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964</Words>
  <Application>Microsoft Macintosh PowerPoint</Application>
  <DocSecurity>0</DocSecurity>
  <PresentationFormat>Widescreen</PresentationFormat>
  <Paragraphs>186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Menlo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Omer Tal</cp:lastModifiedBy>
  <cp:revision>1</cp:revision>
  <dcterms:created xsi:type="dcterms:W3CDTF">2026-06-13T17:23:37Z</dcterms:created>
  <dcterms:modified xsi:type="dcterms:W3CDTF">2026-06-13T17:30:46Z</dcterms:modified>
</cp:coreProperties>
</file>