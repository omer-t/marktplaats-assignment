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60" r:id="rId4"/>
    <p:sldId id="261" r:id="rId5"/>
    <p:sldId id="262" r:id="rId6"/>
    <p:sldId id="263" r:id="rId7"/>
    <p:sldId id="265" r:id="rId8"/>
    <p:sldId id="267" r:id="rId9"/>
    <p:sldId id="269" r:id="rId10"/>
    <p:sldId id="270" r:id="rId11"/>
    <p:sldId id="271" r:id="rId12"/>
    <p:sldId id="272" r:id="rId13"/>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B3FF"/>
    <a:srgbClr val="9A9A9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657"/>
    <p:restoredTop sz="94691"/>
  </p:normalViewPr>
  <p:slideViewPr>
    <p:cSldViewPr snapToGrid="0">
      <p:cViewPr>
        <p:scale>
          <a:sx n="180" d="100"/>
          <a:sy n="180" d="100"/>
        </p:scale>
        <p:origin x="4320" y="9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543091F0-622E-4F0A-A1F6-C754E1639D62}"/>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F7368F99-6957-4638-9C72-59DC8FE00A95}"/>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Question 2: Outreach Prioritization</a:t>
            </a:r>
          </a:p>
        </p:txBody>
      </p:sp>
      <p:sp>
        <p:nvSpPr>
          <p:cNvPr id="4" name="Rectangle 3">
            <a:extLst>
              <a:ext uri="{FF2B5EF4-FFF2-40B4-BE49-F238E27FC236}">
                <ns2:creationId id="{33A37EC4-BA9E-4A7F-9AE4-9B47B0B8216F}"/>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5" name="Rectangle 4">
            <a:extLst>
              <a:ext uri="{FF2B5EF4-FFF2-40B4-BE49-F238E27FC236}">
                <ns2:creationId id="{16455DFA-BF58-4FD0-93BE-AC1E4406EEFB}"/>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7344DA93-39DF-4055-AA80-147C0DFCA87C}"/>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7" name="Rectangle 6">
            <a:extLst>
              <a:ext uri="{FF2B5EF4-FFF2-40B4-BE49-F238E27FC236}">
                <ns2:creationId id="{D2101C04-E92F-4D2C-99B1-9A22557C3E48}"/>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01 / 21</a:t>
            </a:r>
          </a:p>
        </p:txBody>
      </p:sp>
      <p:sp>
        <p:nvSpPr>
          <p:cNvPr id="8" name="Rectangle 7">
            <a:extLst>
              <a:ext uri="{FF2B5EF4-FFF2-40B4-BE49-F238E27FC236}">
                <ns2:creationId id="{0B794ADD-6AE6-44DB-AC52-0D740DAA13C5}"/>
              </a:ext>
            </a:extLst>
          </p:cNvPr>
          <p:cNvSpPr>
            <a:spLocks noGrp="1"/>
          </p:cNvSpPr>
          <p:nvPr/>
        </p:nvSpPr>
        <p:spPr>
          <a:xfrm>
            <a:off x="609600" y="1952625"/>
            <a:ext cx="9334500" cy="6096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3300" b="1">
                <a:solidFill>
                  <a:srgbClr val="4FB3FF"/>
                </a:solidFill>
                <a:latin typeface="Arial"/>
                <a:ea typeface="Arial"/>
                <a:cs typeface="Arial"/>
              </a:defRPr>
            </a:pPr>
            <a:r>
              <a:rPr sz="3300" b="1">
                <a:solidFill>
                  <a:srgbClr val="4FB3FF"/>
                </a:solidFill>
                <a:latin typeface="Arial"/>
                <a:ea typeface="Arial"/>
                <a:cs typeface="Arial"/>
              </a:rPr>
              <a:t>Outreach Prioritization</a:t>
            </a:r>
          </a:p>
        </p:txBody>
      </p:sp>
      <p:sp>
        <p:nvSpPr>
          <p:cNvPr id="9" name="Rectangle 8">
            <a:extLst>
              <a:ext uri="{FF2B5EF4-FFF2-40B4-BE49-F238E27FC236}">
                <ns2:creationId id="{AEF2BCE5-EEED-4ED2-99A8-BF4D872CB51E}"/>
              </a:ext>
            </a:extLst>
          </p:cNvPr>
          <p:cNvSpPr>
            <a:spLocks noGrp="1"/>
          </p:cNvSpPr>
          <p:nvPr/>
        </p:nvSpPr>
        <p:spPr>
          <a:xfrm>
            <a:off x="628650" y="2724150"/>
            <a:ext cx="7239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75" b="0">
                <a:solidFill>
                  <a:srgbClr val="F7F7F2"/>
                </a:solidFill>
                <a:latin typeface="Arial"/>
                <a:ea typeface="Arial"/>
                <a:cs typeface="Arial"/>
              </a:defRPr>
            </a:pPr>
            <a:r>
              <a:rPr sz="1575" b="0" dirty="0">
                <a:solidFill>
                  <a:srgbClr val="F7F7F2"/>
                </a:solidFill>
                <a:latin typeface="Arial"/>
                <a:ea typeface="Arial"/>
                <a:cs typeface="Arial"/>
              </a:rPr>
              <a:t>Rank sellers by outreach readiness</a:t>
            </a:r>
            <a:r>
              <a:rPr lang="en-US" sz="1575" b="0" dirty="0">
                <a:solidFill>
                  <a:srgbClr val="F7F7F2"/>
                </a:solidFill>
                <a:latin typeface="Arial"/>
                <a:ea typeface="Arial"/>
                <a:cs typeface="Arial"/>
              </a:rPr>
              <a:t>, not just historical spend</a:t>
            </a:r>
            <a:r>
              <a:rPr sz="1575" b="0" dirty="0">
                <a:solidFill>
                  <a:srgbClr val="F7F7F2"/>
                </a:solidFill>
                <a:latin typeface="Arial"/>
                <a:ea typeface="Arial"/>
                <a:cs typeface="Arial"/>
              </a:rPr>
              <a:t>.</a:t>
            </a:r>
          </a:p>
        </p:txBody>
      </p:sp>
      <p:sp>
        <p:nvSpPr>
          <p:cNvPr id="10" name="Rectangle 9">
            <a:extLst>
              <a:ext uri="{FF2B5EF4-FFF2-40B4-BE49-F238E27FC236}">
                <ns2:creationId id="{DEEF6F92-0072-4D1F-9BC5-D7A4BF911DBC}"/>
              </a:ext>
            </a:extLst>
          </p:cNvPr>
          <p:cNvSpPr>
            <a:spLocks noGrp="1"/>
          </p:cNvSpPr>
          <p:nvPr/>
        </p:nvSpPr>
        <p:spPr>
          <a:xfrm>
            <a:off x="628650" y="3171825"/>
            <a:ext cx="72390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125" b="0">
                <a:solidFill>
                  <a:srgbClr val="A5A5A5"/>
                </a:solidFill>
                <a:latin typeface="Arial"/>
                <a:ea typeface="Arial"/>
                <a:cs typeface="Arial"/>
              </a:defRPr>
            </a:pPr>
            <a:r>
              <a:rPr sz="1125" b="0" dirty="0">
                <a:solidFill>
                  <a:srgbClr val="A5A5A5"/>
                </a:solidFill>
                <a:latin typeface="Arial"/>
                <a:ea typeface="Arial"/>
                <a:cs typeface="Arial"/>
              </a:rPr>
              <a:t>Standalone Q2 section deck. The master title slide is intentionally omitted.</a:t>
            </a:r>
          </a:p>
        </p:txBody>
      </p:sp>
      <p:sp>
        <p:nvSpPr>
          <p:cNvPr id="12" name="Rectangle 11">
            <a:extLst>
              <a:ext uri="{FF2B5EF4-FFF2-40B4-BE49-F238E27FC236}">
                <ns2:creationId id="{D3706054-5FC0-4402-B978-63E2B357B676}"/>
              </a:ext>
            </a:extLst>
          </p:cNvPr>
          <p:cNvSpPr>
            <a:spLocks noGrp="1"/>
          </p:cNvSpPr>
          <p:nvPr/>
        </p:nvSpPr>
        <p:spPr>
          <a:xfrm>
            <a:off x="628650" y="3829050"/>
            <a:ext cx="9525000" cy="876300"/>
          </a:xfrm>
          <a:prstGeom prst="rect">
            <a:avLst/>
          </a:prstGeom>
          <a:ln w="0">
            <a:noFill/>
          </a:ln>
        </p:spPr>
        <p:txBody>
          <a:bodyPr wrap="square" lIns="0" tIns="0" rIns="0" bIns="0"/>
          <a:lstStyle/>
          <a:p>
            <a:pPr marL="285750" indent="-285750" algn="l">
              <a:spcAft>
                <a:spcPts val="650"/>
              </a:spcAft>
              <a:buClr>
                <a:srgbClr val="4FB3FF"/>
              </a:buClr>
              <a:buFont typeface="Wingdings" pitchFamily="2" charset="2"/>
              <a:buChar char="§"/>
            </a:pPr>
            <a:r>
              <a:rPr sz="1400" dirty="0">
                <a:solidFill>
                  <a:srgbClr val="F3F4F6"/>
                </a:solidFill>
                <a:latin typeface="Arial"/>
                <a:ea typeface="Arial"/>
                <a:cs typeface="Arial"/>
              </a:rPr>
              <a:t>Initial findings: seller activity, paid usage, fee concentration, and spike context.</a:t>
            </a:r>
          </a:p>
          <a:p>
            <a:pPr marL="285750" indent="-285750" algn="l">
              <a:spcAft>
                <a:spcPts val="650"/>
              </a:spcAft>
              <a:buClr>
                <a:srgbClr val="4FB3FF"/>
              </a:buClr>
              <a:buFont typeface="Wingdings" pitchFamily="2" charset="2"/>
              <a:buChar char="§"/>
            </a:pPr>
            <a:r>
              <a:rPr sz="1400" dirty="0">
                <a:solidFill>
                  <a:srgbClr val="F3F4F6"/>
                </a:solidFill>
                <a:latin typeface="Arial"/>
                <a:ea typeface="Arial"/>
                <a:cs typeface="Arial"/>
              </a:rPr>
              <a:t>Outreach prioritization: compare outreach readiness with total-fee ranking.</a:t>
            </a:r>
          </a:p>
          <a:p>
            <a:pPr marL="285750" indent="-285750" algn="l">
              <a:spcAft>
                <a:spcPts val="650"/>
              </a:spcAft>
              <a:buClr>
                <a:srgbClr val="4FB3FF"/>
              </a:buClr>
              <a:buFont typeface="Wingdings" pitchFamily="2" charset="2"/>
              <a:buChar char="§"/>
            </a:pPr>
            <a:r>
              <a:rPr sz="1400" dirty="0">
                <a:solidFill>
                  <a:srgbClr val="F3F4F6"/>
                </a:solidFill>
                <a:latin typeface="Arial"/>
                <a:ea typeface="Arial"/>
                <a:cs typeface="Arial"/>
              </a:rPr>
              <a:t>Seller-level scored output: preview the final prioritization file.</a:t>
            </a:r>
          </a:p>
        </p:txBody>
      </p:sp>
    </p:spTree>
    <p:extLst>
      <p:ext uri="{BB962C8B-B14F-4D97-AF65-F5344CB8AC3E}">
        <ns3:creationId val="1264683463"/>
      </p:ext>
    </p:extLst>
  </p:cSld>
  <p:clrMapOvr>
    <a:masterClrMapping/>
  </p:clrMapOvr>
</p:sld>
</file>

<file path=ppt/slides/slide2.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16EF2B3F-DBAF-45FC-977F-2D3E7238546F}"/>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BCBBBF42-E242-4E4E-9401-0C9C9E6E4D07}"/>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1. Initial Findings</a:t>
            </a:r>
          </a:p>
        </p:txBody>
      </p:sp>
      <p:sp>
        <p:nvSpPr>
          <p:cNvPr id="5" name="Rectangle 4">
            <a:extLst>
              <a:ext uri="{FF2B5EF4-FFF2-40B4-BE49-F238E27FC236}">
                <ns2:creationId id="{581DDFF4-951E-4442-AF5E-17393EC8DCDD}"/>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1A3D57D0-A9C0-408A-8495-C8316D8998BB}"/>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26EEC66F-CEAE-454F-A6F7-70CD7E026BF7}"/>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81790460-DCAD-4F19-BE2B-247B482681EF}"/>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02 / 21</a:t>
            </a:r>
          </a:p>
        </p:txBody>
      </p:sp>
      <p:pic>
        <p:nvPicPr>
          <p:cNvPr id="9" name="Picture 8"/>
          <p:cNvPicPr>
            <a:picLocks noChangeAspect="1"/>
          </p:cNvPicPr>
          <p:nvPr/>
        </p:nvPicPr>
        <p:blipFill>
          <a:blip ns3:embed="rId3"/>
          <a:stretch/>
        </p:blipFill>
        <p:spPr>
          <a:xfrm>
            <a:off x="733453" y="1695450"/>
            <a:ext cx="7280910" cy="3449320"/>
          </a:xfrm>
          <a:prstGeom prst="rect">
            <a:avLst/>
          </a:prstGeom>
        </p:spPr>
      </p:pic>
      <p:pic>
        <p:nvPicPr>
          <p:cNvPr id="11" name="Picture 10">
            <a:extLst>
              <a:ext uri="{FF2B5EF4-FFF2-40B4-BE49-F238E27FC236}">
                <ns2:creationId id="{E8A81821-F37B-3EB8-6B54-D7D33AC92DF9}"/>
              </a:ext>
            </a:extLst>
          </p:cNvPr>
          <p:cNvPicPr>
            <a:picLocks noChangeAspect="1"/>
          </p:cNvPicPr>
          <p:nvPr/>
        </p:nvPicPr>
        <p:blipFill>
          <a:blip ns3:embed="rId4"/>
          <a:stretch/>
        </p:blipFill>
        <p:spPr>
          <a:xfrm>
            <a:off x="5711843" y="2924810"/>
            <a:ext cx="5680710" cy="2809240"/>
          </a:xfrm>
          <a:prstGeom prst="rect">
            <a:avLst/>
          </a:prstGeom>
        </p:spPr>
      </p:pic>
    </p:spTree>
    <p:extLst>
      <p:ext uri="{BB962C8B-B14F-4D97-AF65-F5344CB8AC3E}">
        <ns4:creationId val="1785652410"/>
      </p:ext>
    </p:extLst>
  </p:cSld>
  <p:clrMapOvr>
    <a:masterClrMapping/>
  </p:clrMapOvr>
</p:sld>
</file>

<file path=ppt/slides/slide3.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EC766407-4C43-45A1-A18A-A77DD35F1A88}"/>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DE51B5D1-7297-46E7-A651-2F3D1F41D476}"/>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1.1 Anomaly Overview</a:t>
            </a:r>
          </a:p>
        </p:txBody>
      </p:sp>
      <p:sp>
        <p:nvSpPr>
          <p:cNvPr id="5" name="Rectangle 4">
            <a:extLst>
              <a:ext uri="{FF2B5EF4-FFF2-40B4-BE49-F238E27FC236}">
                <ns2:creationId id="{68E675E9-6F8B-493A-81D8-0C036C87DF46}"/>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62AB5C92-CC80-4CF2-8C3B-D1B9D154E5B1}"/>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A7F90F44-EE2F-4B9B-B325-BE253C0618BB}"/>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9119F46A-834F-4550-BD75-89145B850597}"/>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05 / 21</a:t>
            </a:r>
          </a:p>
        </p:txBody>
      </p:sp>
      <p:sp>
        <p:nvSpPr>
          <p:cNvPr id="11" name="Rectangle 10">
            <a:extLst>
              <a:ext uri="{FF2B5EF4-FFF2-40B4-BE49-F238E27FC236}">
                <ns2:creationId id="{B9C7F128-544C-4F81-A4DE-69F8296A005A}"/>
              </a:ext>
            </a:extLst>
          </p:cNvPr>
          <p:cNvSpPr>
            <a:spLocks noGrp="1"/>
          </p:cNvSpPr>
          <p:nvPr/>
        </p:nvSpPr>
        <p:spPr>
          <a:xfrm>
            <a:off x="663388" y="1602581"/>
            <a:ext cx="4817035" cy="1487252"/>
          </a:xfrm>
          <a:prstGeom prst="rect">
            <a:avLst/>
          </a:prstGeom>
          <a:ln w="0">
            <a:noFill/>
          </a:ln>
        </p:spPr>
        <p:txBody>
          <a:bodyPr wrap="square" lIns="0" tIns="0" rIns="0" bIns="0"/>
          <a:lstStyle/>
          <a:p>
            <a:pPr marL="285750" indent="-285750" algn="l">
              <a:spcAft>
                <a:spcPts val="500"/>
              </a:spcAft>
              <a:buClr>
                <a:srgbClr val="4FB3FF"/>
              </a:buClr>
              <a:buFont typeface="Wingdings" pitchFamily="2" charset="2"/>
              <a:buChar char="§"/>
            </a:pPr>
            <a:r>
              <a:rPr sz="1300" dirty="0">
                <a:solidFill>
                  <a:srgbClr val="F3F4F6"/>
                </a:solidFill>
                <a:latin typeface="Arial"/>
                <a:ea typeface="Arial"/>
                <a:cs typeface="Arial"/>
              </a:rPr>
              <a:t>Seller 65950787 in Auto-</a:t>
            </a:r>
            <a:r>
              <a:rPr sz="1300" dirty="0" err="1">
                <a:solidFill>
                  <a:srgbClr val="F3F4F6"/>
                </a:solidFill>
                <a:latin typeface="Arial"/>
                <a:ea typeface="Arial"/>
                <a:cs typeface="Arial"/>
              </a:rPr>
              <a:t>onderdelen</a:t>
            </a:r>
            <a:r>
              <a:rPr sz="1300" dirty="0">
                <a:solidFill>
                  <a:srgbClr val="F3F4F6"/>
                </a:solidFill>
                <a:latin typeface="Arial"/>
                <a:ea typeface="Arial"/>
                <a:cs typeface="Arial"/>
              </a:rPr>
              <a:t> explains the extreme November fee spike.</a:t>
            </a:r>
          </a:p>
          <a:p>
            <a:pPr marL="285750" indent="-285750" algn="l">
              <a:spcAft>
                <a:spcPts val="500"/>
              </a:spcAft>
              <a:buClr>
                <a:srgbClr val="4FB3FF"/>
              </a:buClr>
              <a:buFont typeface="Wingdings" pitchFamily="2" charset="2"/>
              <a:buChar char="§"/>
            </a:pPr>
            <a:r>
              <a:rPr sz="1300" dirty="0">
                <a:solidFill>
                  <a:srgbClr val="F3F4F6"/>
                </a:solidFill>
                <a:latin typeface="Arial"/>
                <a:ea typeface="Arial"/>
                <a:cs typeface="Arial"/>
              </a:rPr>
              <a:t>Even excluding that seller, November remains elevated in ads and fees.</a:t>
            </a:r>
          </a:p>
          <a:p>
            <a:pPr marL="285750" indent="-285750" algn="l">
              <a:spcAft>
                <a:spcPts val="500"/>
              </a:spcAft>
              <a:buClr>
                <a:srgbClr val="4FB3FF"/>
              </a:buClr>
              <a:buFont typeface="Wingdings" pitchFamily="2" charset="2"/>
              <a:buChar char="§"/>
            </a:pPr>
            <a:r>
              <a:rPr sz="1300" dirty="0">
                <a:solidFill>
                  <a:srgbClr val="F3F4F6"/>
                </a:solidFill>
                <a:latin typeface="Arial"/>
                <a:ea typeface="Arial"/>
                <a:cs typeface="Arial"/>
              </a:rPr>
              <a:t>The remaining lift is broader across sellers/categories, not another single obvious anomaly.</a:t>
            </a:r>
          </a:p>
        </p:txBody>
      </p:sp>
      <p:pic>
        <p:nvPicPr>
          <p:cNvPr id="57" name="Picture 56">
            <a:extLst>
              <a:ext uri="{FF2B5EF4-FFF2-40B4-BE49-F238E27FC236}">
                <ns2:creationId id="{8BAE8397-6139-9368-F423-E10725832642}"/>
              </a:ext>
            </a:extLst>
          </p:cNvPr>
          <p:cNvPicPr>
            <a:picLocks noChangeAspect="1"/>
          </p:cNvPicPr>
          <p:nvPr/>
        </p:nvPicPr>
        <p:blipFill>
          <a:blip ns3:embed="rId3"/>
          <a:stretch/>
        </p:blipFill>
        <p:spPr>
          <a:xfrm>
            <a:off x="5562600" y="1483361"/>
            <a:ext cx="5877560" cy="4688840"/>
          </a:xfrm>
          <a:prstGeom prst="rect">
            <a:avLst/>
          </a:prstGeom>
        </p:spPr>
      </p:pic>
      <p:graphicFrame>
        <p:nvGraphicFramePr>
          <p:cNvPr id="58" name="Native Table 3"/>
          <p:cNvGraphicFramePr/>
          <p:nvPr>
            <p:extLst>
              <p:ext uri="{D42A27DB-BD31-4B8C-83A1-F6EECF244321}">
                <ns4:modId val="3654586948"/>
              </p:ext>
            </p:extLst>
          </p:nvPr>
        </p:nvGraphicFramePr>
        <p:xfrm>
          <a:off x="1052419" y="3324445"/>
          <a:ext cx="3609788" cy="2134548"/>
        </p:xfrm>
        <a:graphic>
          <a:graphicData uri="http://schemas.openxmlformats.org/drawingml/2006/table">
            <a:tbl>
              <a:tblPr firstRow="1" bandRow="1"/>
              <a:tblGrid>
                <a:gridCol w="1759593">
                  <a:extLst>
                    <a:ext uri="{9D8B030D-6E8A-4147-A177-3AD203B41FA5}">
                      <ns2:colId val="20000"/>
                    </a:ext>
                  </a:extLst>
                </a:gridCol>
                <a:gridCol w="1850195">
                  <a:extLst>
                    <a:ext uri="{9D8B030D-6E8A-4147-A177-3AD203B41FA5}">
                      <ns2:colId val="20001"/>
                    </a:ext>
                  </a:extLst>
                </a:gridCol>
              </a:tblGrid>
              <a:tr h="237172">
                <a:tc>
                  <a:txBody>
                    <a:bodyPr/>
                    <a:lstStyle/>
                    <a:p>
                      <a:pPr algn="l">
                        <a:buNone/>
                      </a:pPr>
                      <a:r>
                        <a:rPr sz="800" b="0" dirty="0">
                          <a:solidFill>
                            <a:srgbClr val="9A9A9A"/>
                          </a:solidFill>
                          <a:latin typeface="Arial"/>
                          <a:ea typeface="Arial"/>
                          <a:cs typeface="Arial"/>
                        </a:rPr>
                        <a:t>Seller ID</a:t>
                      </a:r>
                    </a:p>
                  </a:txBody>
                  <a:tcPr>
                    <a:lnL w="6350">
                      <a:solidFill>
                        <a:srgbClr val="3A3A3A"/>
                      </a:solidFill>
                    </a:lnL>
                    <a:lnR w="6350" cap="flat" cmpd="sng" algn="ctr">
                      <a:solidFill>
                        <a:srgbClr val="3A3A3A"/>
                      </a:solidFill>
                      <a:prstDash val="solid"/>
                      <a:round/>
                      <a:headEnd type="none" w="med" len="med"/>
                      <a:tailEnd type="none" w="med" len="med"/>
                    </a:lnR>
                    <a:lnT w="6350">
                      <a:solidFill>
                        <a:srgbClr val="3A3A3A"/>
                      </a:solidFill>
                    </a:lnT>
                    <a:lnB w="6350">
                      <a:solidFill>
                        <a:srgbClr val="3A3A3A"/>
                      </a:solidFill>
                    </a:lnB>
                    <a:solidFill>
                      <a:srgbClr val="050505"/>
                    </a:solidFill>
                  </a:tcPr>
                </a:tc>
                <a:tc>
                  <a:txBody>
                    <a:bodyPr/>
                    <a:lstStyle/>
                    <a:p>
                      <a:pPr algn="l">
                        <a:buNone/>
                      </a:pPr>
                      <a:r>
                        <a:rPr sz="800" b="0" dirty="0">
                          <a:solidFill>
                            <a:srgbClr val="F3F4F6"/>
                          </a:solidFill>
                          <a:latin typeface="Arial"/>
                          <a:ea typeface="Arial"/>
                          <a:cs typeface="Arial"/>
                        </a:rPr>
                        <a:t>65950787</a:t>
                      </a:r>
                    </a:p>
                  </a:txBody>
                  <a:tcPr>
                    <a:lnL w="6350" cap="flat" cmpd="sng" algn="ctr">
                      <a:solidFill>
                        <a:srgbClr val="3A3A3A"/>
                      </a:solidFill>
                      <a:prstDash val="solid"/>
                      <a:round/>
                      <a:headEnd type="none" w="med" len="med"/>
                      <a:tailEnd type="none" w="med" len="med"/>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1"/>
                  </a:ext>
                </a:extLst>
              </a:tr>
              <a:tr h="237172">
                <a:tc>
                  <a:txBody>
                    <a:bodyPr/>
                    <a:lstStyle/>
                    <a:p>
                      <a:pPr algn="l">
                        <a:buNone/>
                      </a:pPr>
                      <a:r>
                        <a:rPr sz="800" b="0" dirty="0">
                          <a:solidFill>
                            <a:srgbClr val="9A9A9A"/>
                          </a:solidFill>
                          <a:latin typeface="Arial"/>
                          <a:ea typeface="Arial"/>
                          <a:cs typeface="Arial"/>
                        </a:rPr>
                        <a:t>Month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2023-11</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2"/>
                  </a:ext>
                </a:extLst>
              </a:tr>
              <a:tr h="237172">
                <a:tc>
                  <a:txBody>
                    <a:bodyPr/>
                    <a:lstStyle/>
                    <a:p>
                      <a:pPr algn="l">
                        <a:buNone/>
                      </a:pPr>
                      <a:r>
                        <a:rPr sz="800" b="0" dirty="0">
                          <a:solidFill>
                            <a:srgbClr val="9A9A9A"/>
                          </a:solidFill>
                          <a:latin typeface="Arial"/>
                          <a:ea typeface="Arial"/>
                          <a:cs typeface="Arial"/>
                        </a:rPr>
                        <a:t>Category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Auto-onderdelen (Auto Parts)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3"/>
                  </a:ext>
                </a:extLst>
              </a:tr>
              <a:tr h="237172">
                <a:tc>
                  <a:txBody>
                    <a:bodyPr/>
                    <a:lstStyle/>
                    <a:p>
                      <a:pPr algn="l">
                        <a:buNone/>
                      </a:pPr>
                      <a:r>
                        <a:rPr sz="800" b="0" dirty="0">
                          <a:solidFill>
                            <a:srgbClr val="9A9A9A"/>
                          </a:solidFill>
                          <a:latin typeface="Arial"/>
                          <a:ea typeface="Arial"/>
                          <a:cs typeface="Arial"/>
                        </a:rPr>
                        <a:t>Paid Ad Insertions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dirty="0">
                          <a:solidFill>
                            <a:srgbClr val="F3F4F6"/>
                          </a:solidFill>
                          <a:latin typeface="Arial"/>
                          <a:ea typeface="Arial"/>
                          <a:cs typeface="Arial"/>
                        </a:rPr>
                        <a:t>60,622</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4"/>
                  </a:ext>
                </a:extLst>
              </a:tr>
              <a:tr h="237172">
                <a:tc>
                  <a:txBody>
                    <a:bodyPr/>
                    <a:lstStyle/>
                    <a:p>
                      <a:pPr algn="l">
                        <a:buNone/>
                      </a:pPr>
                      <a:r>
                        <a:rPr sz="800" b="0" dirty="0">
                          <a:solidFill>
                            <a:srgbClr val="9A9A9A"/>
                          </a:solidFill>
                          <a:latin typeface="Arial"/>
                          <a:ea typeface="Arial"/>
                          <a:cs typeface="Arial"/>
                        </a:rPr>
                        <a:t>Paid URL Features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60,550</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5"/>
                  </a:ext>
                </a:extLst>
              </a:tr>
              <a:tr h="237172">
                <a:tc>
                  <a:txBody>
                    <a:bodyPr/>
                    <a:lstStyle/>
                    <a:p>
                      <a:pPr algn="l">
                        <a:buNone/>
                      </a:pPr>
                      <a:r>
                        <a:rPr sz="800" b="0" dirty="0">
                          <a:solidFill>
                            <a:srgbClr val="9A9A9A"/>
                          </a:solidFill>
                          <a:latin typeface="Arial"/>
                          <a:ea typeface="Arial"/>
                          <a:cs typeface="Arial"/>
                        </a:rPr>
                        <a:t>Paid URL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€361,604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6"/>
                  </a:ext>
                </a:extLst>
              </a:tr>
              <a:tr h="237172">
                <a:tc>
                  <a:txBody>
                    <a:bodyPr/>
                    <a:lstStyle/>
                    <a:p>
                      <a:pPr algn="l">
                        <a:buNone/>
                      </a:pPr>
                      <a:r>
                        <a:rPr sz="800" b="0" dirty="0">
                          <a:solidFill>
                            <a:srgbClr val="9A9A9A"/>
                          </a:solidFill>
                          <a:latin typeface="Arial"/>
                          <a:ea typeface="Arial"/>
                          <a:cs typeface="Arial"/>
                        </a:rPr>
                        <a:t>Total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€373,857</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7"/>
                  </a:ext>
                </a:extLst>
              </a:tr>
              <a:tr h="237172">
                <a:tc>
                  <a:txBody>
                    <a:bodyPr/>
                    <a:lstStyle/>
                    <a:p>
                      <a:pPr algn="l">
                        <a:buNone/>
                      </a:pPr>
                      <a:r>
                        <a:rPr sz="800" b="0" dirty="0">
                          <a:solidFill>
                            <a:srgbClr val="9A9A9A"/>
                          </a:solidFill>
                          <a:latin typeface="Arial"/>
                          <a:ea typeface="Arial"/>
                          <a:cs typeface="Arial"/>
                        </a:rPr>
                        <a:t>Share of Monthly Ads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a:solidFill>
                            <a:srgbClr val="F3F4F6"/>
                          </a:solidFill>
                          <a:latin typeface="Arial"/>
                          <a:ea typeface="Arial"/>
                          <a:cs typeface="Arial"/>
                        </a:rPr>
                        <a:t>40.5%</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8"/>
                  </a:ext>
                </a:extLst>
              </a:tr>
              <a:tr h="237172">
                <a:tc>
                  <a:txBody>
                    <a:bodyPr/>
                    <a:lstStyle/>
                    <a:p>
                      <a:pPr algn="l">
                        <a:buNone/>
                      </a:pPr>
                      <a:r>
                        <a:rPr sz="800" b="0" dirty="0">
                          <a:solidFill>
                            <a:srgbClr val="9A9A9A"/>
                          </a:solidFill>
                          <a:latin typeface="Arial"/>
                          <a:ea typeface="Arial"/>
                          <a:cs typeface="Arial"/>
                        </a:rPr>
                        <a:t>Share of Monthly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b="0" dirty="0">
                          <a:solidFill>
                            <a:srgbClr val="F3F4F6"/>
                          </a:solidFill>
                          <a:latin typeface="Arial"/>
                          <a:ea typeface="Arial"/>
                          <a:cs typeface="Arial"/>
                        </a:rPr>
                        <a:t>85.4%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9"/>
                  </a:ext>
                </a:extLst>
              </a:tr>
            </a:tbl>
          </a:graphicData>
        </a:graphic>
      </p:graphicFrame>
    </p:spTree>
    <p:extLst>
      <p:ext uri="{BB962C8B-B14F-4D97-AF65-F5344CB8AC3E}">
        <ns4:creationId val="435736853"/>
      </p:ext>
    </p:extLst>
  </p:cSld>
  <p:clrMapOvr>
    <a:masterClrMapping/>
  </p:clrMapOvr>
</p:sld>
</file>

<file path=ppt/slides/slide4.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9CDAB631-1536-401B-82BF-A705112A3B21}"/>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BCAAFBC0-2A6E-4884-9A51-3DB2E98578BC}"/>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1.2 Initial Findings Summary</a:t>
            </a:r>
          </a:p>
        </p:txBody>
      </p:sp>
      <p:sp>
        <p:nvSpPr>
          <p:cNvPr id="4" name="Rectangle 3">
            <a:extLst>
              <a:ext uri="{FF2B5EF4-FFF2-40B4-BE49-F238E27FC236}">
                <ns2:creationId id="{E116AEC8-F2B5-49DA-A5AD-E981F196109B}"/>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5" name="Rectangle 4">
            <a:extLst>
              <a:ext uri="{FF2B5EF4-FFF2-40B4-BE49-F238E27FC236}">
                <ns2:creationId id="{963AD7B7-FCF7-4C40-B015-BDCAF8C3F780}"/>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43546431-52AB-46EA-9FC4-2F0173BC3387}"/>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7" name="Rectangle 6">
            <a:extLst>
              <a:ext uri="{FF2B5EF4-FFF2-40B4-BE49-F238E27FC236}">
                <ns2:creationId id="{8228129E-5A35-4CA0-879E-3B0073093E12}"/>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06 / 21</a:t>
            </a:r>
          </a:p>
        </p:txBody>
      </p:sp>
      <p:sp>
        <p:nvSpPr>
          <p:cNvPr id="8" name="Rectangle 7">
            <a:extLst>
              <a:ext uri="{FF2B5EF4-FFF2-40B4-BE49-F238E27FC236}">
                <ns2:creationId id="{71A6ECE6-2FEC-45DF-963B-28096282DCA9}"/>
              </a:ext>
            </a:extLst>
          </p:cNvPr>
          <p:cNvSpPr>
            <a:spLocks noGrp="1"/>
          </p:cNvSpPr>
          <p:nvPr/>
        </p:nvSpPr>
        <p:spPr>
          <a:xfrm>
            <a:off x="609600" y="1428750"/>
            <a:ext cx="10096500" cy="180023"/>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050" b="0">
                <a:solidFill>
                  <a:srgbClr val="F7F7F2"/>
                </a:solidFill>
                <a:latin typeface="Arial"/>
                <a:ea typeface="Arial"/>
                <a:cs typeface="Arial"/>
              </a:defRPr>
            </a:pPr>
            <a:r>
              <a:rPr sz="1050" b="0">
                <a:solidFill>
                  <a:srgbClr val="F7F7F2"/>
                </a:solidFill>
                <a:latin typeface="Arial"/>
                <a:ea typeface="Arial"/>
                <a:cs typeface="Arial"/>
              </a:rPr>
              <a:t>These visuals summarize where seller activity, paid usage, and category fees concentrate.</a:t>
            </a:r>
          </a:p>
        </p:txBody>
      </p:sp>
      <p:sp>
        <p:nvSpPr>
          <p:cNvPr id="10" name="Rectangle 9">
            <a:extLst>
              <a:ext uri="{FF2B5EF4-FFF2-40B4-BE49-F238E27FC236}">
                <ns2:creationId id="{DB6BF813-5992-4D77-AE5B-A73FE1A9DEF2}"/>
              </a:ext>
            </a:extLst>
          </p:cNvPr>
          <p:cNvSpPr>
            <a:spLocks noGrp="1"/>
          </p:cNvSpPr>
          <p:nvPr/>
        </p:nvSpPr>
        <p:spPr>
          <a:xfrm>
            <a:off x="609600" y="2076450"/>
            <a:ext cx="10382250" cy="1733550"/>
          </a:xfrm>
          <a:prstGeom prst="rect">
            <a:avLst/>
          </a:prstGeom>
          <a:ln w="0">
            <a:noFill/>
          </a:ln>
        </p:spPr>
        <p:txBody>
          <a:bodyPr wrap="square" lIns="0" tIns="0" rIns="0" bIns="0"/>
          <a:lstStyle/>
          <a:p>
            <a:pPr marL="285750" indent="-285750">
              <a:spcAft>
                <a:spcPts val="500"/>
              </a:spcAft>
              <a:buClr>
                <a:srgbClr val="4FB3FF"/>
              </a:buClr>
              <a:buFont typeface="Wingdings" pitchFamily="2" charset="2"/>
              <a:buChar char="§"/>
            </a:pPr>
            <a:r>
              <a:rPr sz="1600" dirty="0">
                <a:solidFill>
                  <a:srgbClr val="F3F4F6"/>
                </a:solidFill>
                <a:latin typeface="Arial"/>
                <a:cs typeface="Arial"/>
              </a:rPr>
              <a:t>The sample is clean: no missing values, duplicate seller-month-category rows, or negative metric values.</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Free ad insertions dominate activity; ad renewals and paid insertions are the main paid-usage counts.</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Paid URL and ad renewals drive most fees.</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Auto-</a:t>
            </a:r>
            <a:r>
              <a:rPr sz="1600" dirty="0" err="1">
                <a:solidFill>
                  <a:srgbClr val="F3F4F6"/>
                </a:solidFill>
                <a:latin typeface="Arial"/>
                <a:cs typeface="Arial"/>
              </a:rPr>
              <a:t>onderdelen</a:t>
            </a:r>
            <a:r>
              <a:rPr sz="1600" dirty="0">
                <a:solidFill>
                  <a:srgbClr val="F3F4F6"/>
                </a:solidFill>
                <a:latin typeface="Arial"/>
                <a:cs typeface="Arial"/>
              </a:rPr>
              <a:t> is the largest category in fee terms.</a:t>
            </a:r>
          </a:p>
        </p:txBody>
      </p:sp>
    </p:spTree>
    <p:extLst>
      <p:ext uri="{BB962C8B-B14F-4D97-AF65-F5344CB8AC3E}">
        <ns3:creationId val="1106879301"/>
      </p:ext>
    </p:extLst>
  </p:cSld>
  <p:clrMapOvr>
    <a:masterClrMapping/>
  </p:clrMapOvr>
</p:sld>
</file>

<file path=ppt/slides/slide5.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4ED29D42-6437-46D6-BD7E-66B337F491D4}"/>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15CD5B68-40FF-46AA-B8ED-F7EE6020EE6F}"/>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 Outreach Prioritization</a:t>
            </a:r>
          </a:p>
        </p:txBody>
      </p:sp>
      <p:sp>
        <p:nvSpPr>
          <p:cNvPr id="5" name="Rectangle 4">
            <a:extLst>
              <a:ext uri="{FF2B5EF4-FFF2-40B4-BE49-F238E27FC236}">
                <ns2:creationId id="{0C54D594-DB78-4B48-8428-885AC19C015E}"/>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A71F67BB-6F35-4BE1-BBC5-8B17BBE3D211}"/>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4848CE8D-EA8E-48C9-87F1-6189468FF7F1}"/>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4D041623-2A7E-4761-B52C-1B13E379A8B2}"/>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07 / 21</a:t>
            </a:r>
          </a:p>
        </p:txBody>
      </p:sp>
      <p:sp>
        <p:nvSpPr>
          <p:cNvPr id="9" name="Rectangle 8">
            <a:extLst>
              <a:ext uri="{FF2B5EF4-FFF2-40B4-BE49-F238E27FC236}">
                <ns2:creationId id="{12D36DC7-46FC-4EFF-954D-A4E2A1E3EB0F}"/>
              </a:ext>
            </a:extLst>
          </p:cNvPr>
          <p:cNvSpPr>
            <a:spLocks noGrp="1"/>
          </p:cNvSpPr>
          <p:nvPr/>
        </p:nvSpPr>
        <p:spPr>
          <a:xfrm>
            <a:off x="609600" y="1381124"/>
            <a:ext cx="5334000" cy="2744301"/>
          </a:xfrm>
          <a:prstGeom prst="rect">
            <a:avLst/>
          </a:prstGeom>
          <a:ln w="0">
            <a:noFill/>
          </a:ln>
        </p:spPr>
        <p:txBody>
          <a:bodyPr wrap="square" lIns="0" tIns="0" rIns="0" bIns="0"/>
          <a:lstStyle/>
          <a:p>
            <a:pPr marL="285750" indent="-285750">
              <a:spcAft>
                <a:spcPts val="500"/>
              </a:spcAft>
              <a:buClr>
                <a:srgbClr val="4FB3FF"/>
              </a:buClr>
              <a:buFont typeface="Wingdings" pitchFamily="2" charset="2"/>
              <a:buChar char="§"/>
            </a:pPr>
            <a:r>
              <a:rPr lang="en-US" sz="1600" dirty="0">
                <a:solidFill>
                  <a:srgbClr val="F3F4F6"/>
                </a:solidFill>
                <a:latin typeface="Arial"/>
                <a:cs typeface="Arial"/>
              </a:rPr>
              <a:t>Seller activity is highly skewed</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Logical first cut: targets sellers with proven willingness to pay.</a:t>
            </a:r>
          </a:p>
          <a:p>
            <a:pPr marL="285750" indent="-285750">
              <a:spcAft>
                <a:spcPts val="500"/>
              </a:spcAft>
              <a:buClr>
                <a:srgbClr val="4FB3FF"/>
              </a:buClr>
              <a:buFont typeface="Wingdings" pitchFamily="2" charset="2"/>
              <a:buChar char="§"/>
            </a:pPr>
            <a:r>
              <a:rPr lang="en-US" sz="1600" dirty="0">
                <a:solidFill>
                  <a:srgbClr val="F3F4F6"/>
                </a:solidFill>
                <a:latin typeface="Arial"/>
                <a:cs typeface="Arial"/>
              </a:rPr>
              <a:t>However, f</a:t>
            </a:r>
            <a:r>
              <a:rPr sz="1600" dirty="0">
                <a:solidFill>
                  <a:srgbClr val="F3F4F6"/>
                </a:solidFill>
                <a:latin typeface="Arial"/>
                <a:cs typeface="Arial"/>
              </a:rPr>
              <a:t>ees</a:t>
            </a:r>
            <a:r>
              <a:rPr lang="en-US" sz="1600" dirty="0">
                <a:solidFill>
                  <a:srgbClr val="F3F4F6"/>
                </a:solidFill>
                <a:latin typeface="Arial"/>
                <a:cs typeface="Arial"/>
              </a:rPr>
              <a:t>-based targeting might be</a:t>
            </a:r>
            <a:r>
              <a:rPr sz="1600" dirty="0">
                <a:solidFill>
                  <a:srgbClr val="F3F4F6"/>
                </a:solidFill>
                <a:latin typeface="Arial"/>
                <a:cs typeface="Arial"/>
              </a:rPr>
              <a:t> too narrow.</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Can miss sellers who are active, consistent, growing, broad-category, or already using several paid products.</a:t>
            </a:r>
          </a:p>
          <a:p>
            <a:pPr marL="285750" indent="-285750">
              <a:spcAft>
                <a:spcPts val="500"/>
              </a:spcAft>
              <a:buClr>
                <a:srgbClr val="4FB3FF"/>
              </a:buClr>
              <a:buFont typeface="Wingdings" pitchFamily="2" charset="2"/>
              <a:buChar char="§"/>
            </a:pPr>
            <a:r>
              <a:rPr sz="1600" dirty="0">
                <a:solidFill>
                  <a:srgbClr val="F3F4F6"/>
                </a:solidFill>
                <a:latin typeface="Arial"/>
                <a:cs typeface="Arial"/>
              </a:rPr>
              <a:t>First batch should balance commercial value with bundle </a:t>
            </a:r>
            <a:r>
              <a:rPr lang="en-US" sz="1600" dirty="0">
                <a:solidFill>
                  <a:srgbClr val="F3F4F6"/>
                </a:solidFill>
                <a:latin typeface="Arial"/>
                <a:cs typeface="Arial"/>
              </a:rPr>
              <a:t>r</a:t>
            </a:r>
            <a:r>
              <a:rPr sz="1600" dirty="0">
                <a:solidFill>
                  <a:srgbClr val="F3F4F6"/>
                </a:solidFill>
                <a:latin typeface="Arial"/>
                <a:cs typeface="Arial"/>
              </a:rPr>
              <a:t>elevance.</a:t>
            </a:r>
          </a:p>
        </p:txBody>
      </p:sp>
      <p:pic>
        <p:nvPicPr>
          <p:cNvPr id="11" name="Picture 10"/>
          <p:cNvPicPr>
            <a:picLocks noChangeAspect="1"/>
          </p:cNvPicPr>
          <p:nvPr/>
        </p:nvPicPr>
        <p:blipFill>
          <a:blip ns3:embed="rId3"/>
          <a:stretch/>
        </p:blipFill>
        <p:spPr>
          <a:xfrm>
            <a:off x="6334125" y="1381124"/>
            <a:ext cx="4905375" cy="3042574"/>
          </a:xfrm>
          <a:prstGeom prst="rect">
            <a:avLst/>
          </a:prstGeom>
        </p:spPr>
      </p:pic>
    </p:spTree>
    <p:extLst>
      <p:ext uri="{BB962C8B-B14F-4D97-AF65-F5344CB8AC3E}">
        <ns4:creationId val="806457551"/>
      </p:ext>
    </p:extLst>
  </p:cSld>
  <p:clrMapOvr>
    <a:masterClrMapping/>
  </p:clrMapOvr>
</p:sld>
</file>

<file path=ppt/slides/slide6.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A91E6CC6-A7F3-4D90-AB2A-27E234E42D32}"/>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DF1F0C87-1560-488D-A510-906297176FAB}"/>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2.1 Outreach Readiness</a:t>
            </a:r>
          </a:p>
        </p:txBody>
      </p:sp>
      <p:sp>
        <p:nvSpPr>
          <p:cNvPr id="5" name="Rectangle 4">
            <a:extLst>
              <a:ext uri="{FF2B5EF4-FFF2-40B4-BE49-F238E27FC236}">
                <ns2:creationId id="{1C462CB0-A42B-4174-96DE-6AC656364E10}"/>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2B57BB5B-CD5B-4EAD-A108-9DDE8E724ABB}"/>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9B3B259E-5447-4732-90B5-0E38928F5298}"/>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1F4AD2EB-0CA3-46B6-97DA-4252044C74A3}"/>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08 / 21</a:t>
            </a:r>
          </a:p>
        </p:txBody>
      </p:sp>
      <p:sp>
        <p:nvSpPr>
          <p:cNvPr id="10" name="Rectangle 9">
            <a:extLst>
              <a:ext uri="{FF2B5EF4-FFF2-40B4-BE49-F238E27FC236}">
                <ns2:creationId id="{7E2025BD-BCE0-4689-B7A7-E1DCA26ABECA}"/>
              </a:ext>
            </a:extLst>
          </p:cNvPr>
          <p:cNvSpPr>
            <a:spLocks noGrp="1"/>
          </p:cNvSpPr>
          <p:nvPr/>
        </p:nvSpPr>
        <p:spPr>
          <a:xfrm>
            <a:off x="609600" y="1333500"/>
            <a:ext cx="10382250" cy="1428750"/>
          </a:xfrm>
          <a:prstGeom prst="rect">
            <a:avLst/>
          </a:prstGeom>
          <a:ln w="0">
            <a:noFill/>
          </a:ln>
        </p:spPr>
        <p:txBody>
          <a:bodyPr wrap="square" lIns="0" tIns="0" rIns="0" bIns="0"/>
          <a:lstStyle/>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Goal: rank outreach readiness, not just historical spend.</a:t>
            </a:r>
          </a:p>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Why: fee-only ranking misses sellers who are active, growing, broad-category, or already using paid products.</a:t>
            </a:r>
          </a:p>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Spike callback: the November spike shows why raw spend alone is too brittle; percentile-based signals keep extreme sellers from dominating the outreach list.</a:t>
            </a:r>
          </a:p>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Approach: convert each signal to a seller percentile rank, then take a simple average of the six scores into an outreach readiness score.</a:t>
            </a:r>
          </a:p>
          <a:p>
            <a:pPr marL="285750" indent="-285750">
              <a:spcAft>
                <a:spcPts val="500"/>
              </a:spcAft>
              <a:buClr>
                <a:srgbClr val="4FB3FF"/>
              </a:buClr>
              <a:buFont typeface="Wingdings" pitchFamily="2" charset="2"/>
              <a:buChar char="§"/>
            </a:pPr>
            <a:r>
              <a:rPr sz="1300" dirty="0">
                <a:solidFill>
                  <a:srgbClr val="F3F4F6"/>
                </a:solidFill>
                <a:latin typeface="Arial"/>
                <a:ea typeface="Arial"/>
                <a:cs typeface="Arial"/>
              </a:rPr>
              <a:t>Group: sellers in the top 25% of outreach readiness score are the outreach ready group.</a:t>
            </a:r>
          </a:p>
        </p:txBody>
      </p:sp>
      <p:sp>
        <p:nvSpPr>
          <p:cNvPr id="61" name="Rectangle 60">
            <a:extLst>
              <a:ext uri="{FF2B5EF4-FFF2-40B4-BE49-F238E27FC236}">
                <ns2:creationId id="{FFE3505D-AA25-4111-9FDA-B382AB802D3A}"/>
              </a:ext>
            </a:extLst>
          </p:cNvPr>
          <p:cNvSpPr>
            <a:spLocks noGrp="1"/>
          </p:cNvSpPr>
          <p:nvPr/>
        </p:nvSpPr>
        <p:spPr>
          <a:xfrm>
            <a:off x="609600" y="5467350"/>
            <a:ext cx="10287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A5A5A5"/>
                </a:solidFill>
                <a:latin typeface="Arial"/>
                <a:ea typeface="Arial"/>
                <a:cs typeface="Arial"/>
              </a:defRPr>
            </a:pPr>
            <a:r>
              <a:rPr sz="938" b="0">
                <a:solidFill>
                  <a:srgbClr val="A5A5A5"/>
                </a:solidFill>
                <a:latin typeface="Arial"/>
                <a:ea typeface="Arial"/>
                <a:cs typeface="Arial"/>
              </a:rPr>
              <a:t>Each signal is on a 0-100 percentile scale. Very large raw values improve rank but do not dominate the total score.</a:t>
            </a:r>
          </a:p>
        </p:txBody>
      </p:sp>
      <p:graphicFrame>
        <p:nvGraphicFramePr>
          <p:cNvPr id="62" name="Native Table 6"/>
          <p:cNvGraphicFramePr/>
          <p:nvPr/>
        </p:nvGraphicFramePr>
        <p:xfrm>
          <a:off x="619125" y="3162300"/>
          <a:ext cx="10534650" cy="1895475"/>
        </p:xfrm>
        <a:graphic>
          <a:graphicData uri="http://schemas.openxmlformats.org/drawingml/2006/table">
            <a:tbl>
              <a:tblPr firstRow="1" bandRow="1"/>
              <a:tblGrid>
                <a:gridCol w="2013115">
                  <a:extLst>
                    <a:ext uri="{9D8B030D-6E8A-4147-A177-3AD203B41FA5}">
                      <ns2:colId val="20000"/>
                    </a:ext>
                  </a:extLst>
                </a:gridCol>
                <a:gridCol w="3088079">
                  <a:extLst>
                    <a:ext uri="{9D8B030D-6E8A-4147-A177-3AD203B41FA5}">
                      <ns2:colId val="20001"/>
                    </a:ext>
                  </a:extLst>
                </a:gridCol>
                <a:gridCol w="5433456">
                  <a:extLst>
                    <a:ext uri="{9D8B030D-6E8A-4147-A177-3AD203B41FA5}">
                      <ns2:colId val="20002"/>
                    </a:ext>
                  </a:extLst>
                </a:gridCol>
              </a:tblGrid>
              <a:tr h="276225">
                <a:tc>
                  <a:txBody>
                    <a:bodyPr/>
                    <a:lstStyle/>
                    <a:p>
                      <a:pPr algn="l">
                        <a:buNone/>
                      </a:pPr>
                      <a:r>
                        <a:rPr sz="1100" b="1">
                          <a:solidFill>
                            <a:srgbClr val="F3F4F6"/>
                          </a:solidFill>
                          <a:latin typeface="Arial"/>
                          <a:ea typeface="Arial"/>
                          <a:cs typeface="Arial"/>
                        </a:rPr>
                        <a:t>Signal</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1100" b="1">
                          <a:solidFill>
                            <a:srgbClr val="F3F4F6"/>
                          </a:solidFill>
                          <a:latin typeface="Arial"/>
                          <a:ea typeface="Arial"/>
                          <a:cs typeface="Arial"/>
                        </a:rPr>
                        <a:t>Purpose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1100" b="1">
                          <a:solidFill>
                            <a:srgbClr val="F3F4F6"/>
                          </a:solidFill>
                          <a:latin typeface="Arial"/>
                          <a:ea typeface="Arial"/>
                          <a:cs typeface="Arial"/>
                        </a:rPr>
                        <a:t>Definition</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extLst>
                  <a:ext uri="{0D108BD9-81ED-4DB2-BD59-A6C34878D82A}">
                    <ns2:rowId val="10000"/>
                  </a:ext>
                </a:extLst>
              </a:tr>
              <a:tr h="269875">
                <a:tc>
                  <a:txBody>
                    <a:bodyPr/>
                    <a:lstStyle/>
                    <a:p>
                      <a:pPr algn="l">
                        <a:buNone/>
                      </a:pPr>
                      <a:r>
                        <a:rPr sz="1100" b="0">
                          <a:solidFill>
                            <a:srgbClr val="F3F4F6"/>
                          </a:solidFill>
                          <a:latin typeface="Arial"/>
                          <a:ea typeface="Arial"/>
                          <a:cs typeface="Arial"/>
                        </a:rPr>
                        <a:t>Recent paid usage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Current paid-product need / activity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Paid marketplace actions in the last 6 months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1"/>
                  </a:ext>
                </a:extLst>
              </a:tr>
              <a:tr h="269875">
                <a:tc>
                  <a:txBody>
                    <a:bodyPr/>
                    <a:lstStyle/>
                    <a:p>
                      <a:pPr algn="l">
                        <a:buNone/>
                      </a:pPr>
                      <a:r>
                        <a:rPr sz="1100" b="0">
                          <a:solidFill>
                            <a:srgbClr val="F3F4F6"/>
                          </a:solidFill>
                          <a:latin typeface="Arial"/>
                          <a:ea typeface="Arial"/>
                          <a:cs typeface="Arial"/>
                        </a:rPr>
                        <a:t>Consistency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Reliability as a subscription candidate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Number of months with seller activity across 2023-2024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2"/>
                  </a:ext>
                </a:extLst>
              </a:tr>
              <a:tr h="269875">
                <a:tc>
                  <a:txBody>
                    <a:bodyPr/>
                    <a:lstStyle/>
                    <a:p>
                      <a:pPr algn="l">
                        <a:buNone/>
                      </a:pPr>
                      <a:r>
                        <a:rPr sz="1100" b="0">
                          <a:solidFill>
                            <a:srgbClr val="F3F4F6"/>
                          </a:solidFill>
                          <a:latin typeface="Arial"/>
                          <a:ea typeface="Arial"/>
                          <a:cs typeface="Arial"/>
                        </a:rPr>
                        <a:t>Category breadth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Fit for professional seller page / bundle value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Number of categories used across 2023-2024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3"/>
                  </a:ext>
                </a:extLst>
              </a:tr>
              <a:tr h="269875">
                <a:tc>
                  <a:txBody>
                    <a:bodyPr/>
                    <a:lstStyle/>
                    <a:p>
                      <a:pPr algn="l">
                        <a:buNone/>
                      </a:pPr>
                      <a:r>
                        <a:rPr sz="1100" b="0">
                          <a:solidFill>
                            <a:srgbClr val="F3F4F6"/>
                          </a:solidFill>
                          <a:latin typeface="Arial"/>
                          <a:ea typeface="Arial"/>
                          <a:cs typeface="Arial"/>
                        </a:rPr>
                        <a:t>Recent growth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Momentum</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Recent paid usage vs prior 6 months, with +1 smoothing</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4"/>
                  </a:ext>
                </a:extLst>
              </a:tr>
              <a:tr h="269875">
                <a:tc>
                  <a:txBody>
                    <a:bodyPr/>
                    <a:lstStyle/>
                    <a:p>
                      <a:pPr algn="l">
                        <a:buNone/>
                      </a:pPr>
                      <a:r>
                        <a:rPr sz="1100" b="0">
                          <a:solidFill>
                            <a:srgbClr val="F3F4F6"/>
                          </a:solidFill>
                          <a:latin typeface="Arial"/>
                          <a:ea typeface="Arial"/>
                          <a:cs typeface="Arial"/>
                        </a:rPr>
                        <a:t>Total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Historical willingness to pay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Total fees paid across 2023-2024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5"/>
                  </a:ext>
                </a:extLst>
              </a:tr>
              <a:tr h="269875">
                <a:tc>
                  <a:txBody>
                    <a:bodyPr/>
                    <a:lstStyle/>
                    <a:p>
                      <a:pPr algn="l">
                        <a:buNone/>
                      </a:pPr>
                      <a:r>
                        <a:rPr sz="1100" b="0">
                          <a:solidFill>
                            <a:srgbClr val="F3F4F6"/>
                          </a:solidFill>
                          <a:latin typeface="Arial"/>
                          <a:ea typeface="Arial"/>
                          <a:cs typeface="Arial"/>
                        </a:rPr>
                        <a:t>Paid product breadth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Familiarity with multiple paid products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b="0">
                          <a:solidFill>
                            <a:srgbClr val="F3F4F6"/>
                          </a:solidFill>
                          <a:latin typeface="Arial"/>
                          <a:ea typeface="Arial"/>
                          <a:cs typeface="Arial"/>
                        </a:rPr>
                        <a:t>Number of distinct paid marketplace product types used across 2023-2024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6"/>
                  </a:ext>
                </a:extLst>
              </a:tr>
            </a:tbl>
          </a:graphicData>
        </a:graphic>
      </p:graphicFrame>
    </p:spTree>
    <p:extLst>
      <p:ext uri="{BB962C8B-B14F-4D97-AF65-F5344CB8AC3E}">
        <ns3:creationId val="712684726"/>
      </p:ext>
    </p:extLst>
  </p:cSld>
  <p:clrMapOvr>
    <a:masterClrMapping/>
  </p:clrMapOvr>
</p:sld>
</file>

<file path=ppt/slides/slide7.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AF3536BB-F00D-476D-B37A-BB4AD11B3959}"/>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C84E94F8-E245-4A8D-A7FE-74997CF25E34}"/>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wrap="square"/>
          <a:lstStyle/>
          <a:p>
            <a:r>
              <a:rPr sz="3600" dirty="0">
                <a:solidFill>
                  <a:srgbClr val="F3F4F6"/>
                </a:solidFill>
                <a:latin typeface="Arial"/>
                <a:ea typeface="Arial"/>
                <a:cs typeface="Arial"/>
              </a:rPr>
              <a:t>2.1 Outreach Readiness / </a:t>
            </a:r>
            <a:r>
              <a:rPr lang="en-US" sz="3600" dirty="0">
                <a:solidFill>
                  <a:srgbClr val="F3F4F6"/>
                </a:solidFill>
                <a:latin typeface="Arial"/>
                <a:ea typeface="Arial"/>
                <a:cs typeface="Arial"/>
              </a:rPr>
              <a:t>Seller</a:t>
            </a:r>
            <a:r>
              <a:rPr sz="3600" dirty="0">
                <a:solidFill>
                  <a:srgbClr val="F3F4F6"/>
                </a:solidFill>
                <a:latin typeface="Arial"/>
                <a:ea typeface="Arial"/>
                <a:cs typeface="Arial"/>
              </a:rPr>
              <a:t> Profile</a:t>
            </a:r>
          </a:p>
        </p:txBody>
      </p:sp>
      <p:sp>
        <p:nvSpPr>
          <p:cNvPr id="5" name="Rectangle 4">
            <a:extLst>
              <a:ext uri="{FF2B5EF4-FFF2-40B4-BE49-F238E27FC236}">
                <ns2:creationId id="{90F36EAA-6883-4482-9ADA-D3619F1E5543}"/>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6AC8E229-2F1C-457C-953A-FF6811147C24}"/>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72505701-859D-4D05-8165-E88CB23633A3}"/>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3C9724F3-377A-4358-8349-86261B84F7C4}"/>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10 / 21</a:t>
            </a:r>
          </a:p>
        </p:txBody>
      </p:sp>
      <p:sp>
        <p:nvSpPr>
          <p:cNvPr id="9" name="Rectangle 8">
            <a:extLst>
              <a:ext uri="{FF2B5EF4-FFF2-40B4-BE49-F238E27FC236}">
                <ns2:creationId id="{3460C1A4-8EE9-48A7-A57B-B390B103C9C9}"/>
              </a:ext>
            </a:extLst>
          </p:cNvPr>
          <p:cNvSpPr>
            <a:spLocks noGrp="1"/>
          </p:cNvSpPr>
          <p:nvPr/>
        </p:nvSpPr>
        <p:spPr>
          <a:xfrm>
            <a:off x="1039906" y="1580718"/>
            <a:ext cx="6203857" cy="370212"/>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75" b="0">
                <a:solidFill>
                  <a:srgbClr val="A5A5A5"/>
                </a:solidFill>
                <a:latin typeface="Arial"/>
                <a:ea typeface="Arial"/>
                <a:cs typeface="Arial"/>
              </a:defRPr>
            </a:pPr>
            <a:r>
              <a:rPr lang="en-US" sz="1200" b="0" dirty="0">
                <a:solidFill>
                  <a:srgbClr val="A5A5A5"/>
                </a:solidFill>
                <a:latin typeface="Arial"/>
                <a:ea typeface="Arial"/>
                <a:cs typeface="Arial"/>
              </a:rPr>
              <a:t>The o</a:t>
            </a:r>
            <a:r>
              <a:rPr sz="1200" b="0" dirty="0">
                <a:solidFill>
                  <a:srgbClr val="A5A5A5"/>
                </a:solidFill>
                <a:latin typeface="Arial"/>
                <a:ea typeface="Arial"/>
                <a:cs typeface="Arial"/>
              </a:rPr>
              <a:t>utreac</a:t>
            </a:r>
            <a:r>
              <a:rPr lang="en-US" sz="1200" b="0" dirty="0">
                <a:solidFill>
                  <a:srgbClr val="A5A5A5"/>
                </a:solidFill>
                <a:latin typeface="Arial"/>
                <a:ea typeface="Arial"/>
                <a:cs typeface="Arial"/>
              </a:rPr>
              <a:t>h-</a:t>
            </a:r>
            <a:r>
              <a:rPr sz="1200" b="0" dirty="0">
                <a:solidFill>
                  <a:srgbClr val="A5A5A5"/>
                </a:solidFill>
                <a:latin typeface="Arial"/>
                <a:ea typeface="Arial"/>
                <a:cs typeface="Arial"/>
              </a:rPr>
              <a:t>ready group is stronger on non-fee signals than a pure fee</a:t>
            </a:r>
            <a:r>
              <a:rPr lang="en-US" sz="1200" b="0" dirty="0">
                <a:solidFill>
                  <a:srgbClr val="A5A5A5"/>
                </a:solidFill>
                <a:latin typeface="Arial"/>
                <a:ea typeface="Arial"/>
                <a:cs typeface="Arial"/>
              </a:rPr>
              <a:t>-based</a:t>
            </a:r>
            <a:r>
              <a:rPr sz="1200" b="0" dirty="0">
                <a:solidFill>
                  <a:srgbClr val="A5A5A5"/>
                </a:solidFill>
                <a:latin typeface="Arial"/>
                <a:ea typeface="Arial"/>
                <a:cs typeface="Arial"/>
              </a:rPr>
              <a:t> rank.</a:t>
            </a:r>
          </a:p>
        </p:txBody>
      </p:sp>
      <p:pic>
        <p:nvPicPr>
          <p:cNvPr id="10" name="Picture 9"/>
          <p:cNvPicPr>
            <a:picLocks noChangeAspect="1"/>
          </p:cNvPicPr>
          <p:nvPr/>
        </p:nvPicPr>
        <p:blipFill>
          <a:blip ns3:embed="rId3"/>
          <a:stretch/>
        </p:blipFill>
        <p:spPr>
          <a:xfrm>
            <a:off x="1039906" y="1950930"/>
            <a:ext cx="9042400" cy="3937000"/>
          </a:xfrm>
          <a:prstGeom prst="rect">
            <a:avLst/>
          </a:prstGeom>
        </p:spPr>
      </p:pic>
    </p:spTree>
    <p:extLst>
      <p:ext uri="{BB962C8B-B14F-4D97-AF65-F5344CB8AC3E}">
        <ns4:creationId val="701706164"/>
      </p:ext>
    </p:extLst>
  </p:cSld>
  <p:clrMapOvr>
    <a:masterClrMapping/>
  </p:clrMapOvr>
</p:sld>
</file>

<file path=ppt/slides/slide8.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2DF4C62A-8613-4651-B45E-540869F26197}"/>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E1E63120-D179-4921-8E0B-0A900B7B6BC7}"/>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wrap="square"/>
          <a:lstStyle/>
          <a:p>
            <a:r>
              <a:rPr sz="3600">
                <a:solidFill>
                  <a:srgbClr val="F3F4F6"/>
                </a:solidFill>
                <a:latin typeface="Arial"/>
                <a:ea typeface="Arial"/>
                <a:cs typeface="Arial"/>
              </a:rPr>
              <a:t>2.1 Outreach Readiness / Selection Summary</a:t>
            </a:r>
          </a:p>
        </p:txBody>
      </p:sp>
      <p:sp>
        <p:nvSpPr>
          <p:cNvPr id="5" name="Rectangle 4">
            <a:extLst>
              <a:ext uri="{FF2B5EF4-FFF2-40B4-BE49-F238E27FC236}">
                <ns2:creationId id="{770EC41B-BBE3-444A-80FB-D83D0EE81CE8}"/>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491322F6-AC50-4BD7-9D19-A2094030FB78}"/>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489F5348-F849-49E3-B3F1-8033E5E8D33B}"/>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F0D3F3B9-40AC-4E88-B5E4-CB07DAC09838}"/>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12 / 21</a:t>
            </a:r>
          </a:p>
        </p:txBody>
      </p:sp>
      <p:graphicFrame>
        <p:nvGraphicFramePr>
          <p:cNvPr id="9" name="Native Table Selection Summary Combined"/>
          <p:cNvGraphicFramePr/>
          <p:nvPr/>
        </p:nvGraphicFramePr>
        <p:xfrm>
          <a:off x="533400" y="1504950"/>
          <a:ext cx="6705600" cy="4038600"/>
        </p:xfrm>
        <a:graphic>
          <a:graphicData uri="http://schemas.openxmlformats.org/drawingml/2006/table">
            <a:tbl>
              <a:tblPr firstRow="1" bandRow="1"/>
              <a:tblGrid>
                <a:gridCol w="2209800">
                  <a:extLst>
                    <a:ext uri="{9D8B030D-6E8A-4147-A177-3AD203B41FA5}">
                      <ns2:colId val="23000"/>
                    </a:ext>
                  </a:extLst>
                </a:gridCol>
                <a:gridCol w="1009650">
                  <a:extLst>
                    <a:ext uri="{9D8B030D-6E8A-4147-A177-3AD203B41FA5}">
                      <ns2:colId val="23001"/>
                    </a:ext>
                  </a:extLst>
                </a:gridCol>
                <a:gridCol w="1162050">
                  <a:extLst>
                    <a:ext uri="{9D8B030D-6E8A-4147-A177-3AD203B41FA5}">
                      <ns2:colId val="23002"/>
                    </a:ext>
                  </a:extLst>
                </a:gridCol>
                <a:gridCol w="1314450">
                  <a:extLst>
                    <a:ext uri="{9D8B030D-6E8A-4147-A177-3AD203B41FA5}">
                      <ns2:colId val="23003"/>
                    </a:ext>
                  </a:extLst>
                </a:gridCol>
                <a:gridCol w="1009650">
                  <a:extLst>
                    <a:ext uri="{9D8B030D-6E8A-4147-A177-3AD203B41FA5}">
                      <ns2:colId val="23004"/>
                    </a:ext>
                  </a:extLst>
                </a:gridCol>
              </a:tblGrid>
              <a:tr h="552450">
                <a:tc>
                  <a:txBody>
                    <a:bodyPr wrap="square" lIns="76200" rIns="76200" tIns="38100" bIns="38100"/>
                    <a:lstStyle/>
                    <a:p>
                      <a:pPr algn="l">
                        <a:buNone/>
                      </a:pPr>
                      <a:r>
                        <a:rPr sz="1200" b="1">
                          <a:solidFill>
                            <a:srgbClr val="F3F4F6"/>
                          </a:solidFill>
                          <a:latin typeface="Arial"/>
                          <a:ea typeface="Arial"/>
                          <a:cs typeface="Arial"/>
                        </a:rPr>
                        <a:t>Metric</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tc>
                  <a:txBody>
                    <a:bodyPr wrap="square" lIns="76200" rIns="76200" tIns="38100" bIns="38100"/>
                    <a:lstStyle/>
                    <a:p>
                      <a:pPr algn="l">
                        <a:buNone/>
                      </a:pPr>
                      <a:r>
                        <a:rPr sz="1200" b="1">
                          <a:solidFill>
                            <a:srgbClr val="F3F4F6"/>
                          </a:solidFill>
                          <a:latin typeface="Arial"/>
                          <a:ea typeface="Arial"/>
                          <a:cs typeface="Arial"/>
                        </a:rPr>
                        <a:t>Neither</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tc>
                  <a:txBody>
                    <a:bodyPr wrap="square" lIns="76200" rIns="76200" tIns="38100" bIns="38100"/>
                    <a:lstStyle/>
                    <a:p>
                      <a:pPr algn="l">
                        <a:buNone/>
                      </a:pPr>
                      <a:r>
                        <a:rPr sz="1200" b="1">
                          <a:solidFill>
                            <a:srgbClr val="F3F4F6"/>
                          </a:solidFill>
                          <a:latin typeface="Arial"/>
                          <a:ea typeface="Arial"/>
                          <a:cs typeface="Arial"/>
                        </a:rPr>
                        <a:t>Both groups</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tc>
                  <a:txBody>
                    <a:bodyPr wrap="square" lIns="76200" rIns="76200" tIns="38100" bIns="38100"/>
                    <a:lstStyle/>
                    <a:p>
                      <a:pPr algn="l">
                        <a:buNone/>
                      </a:pPr>
                      <a:r>
                        <a:rPr sz="1200" b="1">
                          <a:solidFill>
                            <a:srgbClr val="F3F4F6"/>
                          </a:solidFill>
                          <a:latin typeface="Arial"/>
                          <a:ea typeface="Arial"/>
                          <a:cs typeface="Arial"/>
                        </a:rPr>
                        <a:t>Outreach ready only</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tc>
                  <a:txBody>
                    <a:bodyPr wrap="square" lIns="76200" rIns="76200" tIns="38100" bIns="38100"/>
                    <a:lstStyle/>
                    <a:p>
                      <a:pPr algn="l">
                        <a:buNone/>
                      </a:pPr>
                      <a:r>
                        <a:rPr sz="1200" b="1">
                          <a:solidFill>
                            <a:srgbClr val="F3F4F6"/>
                          </a:solidFill>
                          <a:latin typeface="Arial"/>
                          <a:ea typeface="Arial"/>
                          <a:cs typeface="Arial"/>
                        </a:rPr>
                        <a:t>Total-fee only</a:t>
                      </a:r>
                    </a:p>
                  </a:txBody>
                  <a:tcPr>
                    <a:lnL w="7620">
                      <a:solidFill>
                        <a:srgbClr val="3A3A3A"/>
                      </a:solidFill>
                    </a:lnL>
                    <a:lnR w="7620">
                      <a:solidFill>
                        <a:srgbClr val="3A3A3A"/>
                      </a:solidFill>
                    </a:lnR>
                    <a:lnT w="7620">
                      <a:solidFill>
                        <a:srgbClr val="3A3A3A"/>
                      </a:solidFill>
                    </a:lnT>
                    <a:lnB w="7620">
                      <a:solidFill>
                        <a:srgbClr val="3A3A3A"/>
                      </a:solidFill>
                    </a:lnB>
                    <a:solidFill>
                      <a:srgbClr val="151515"/>
                    </a:solidFill>
                  </a:tcPr>
                </a:tc>
                <a:extLst>
                  <a:ext uri="{0D108BD9-81ED-4DB2-BD59-A6C34878D82A}">
                    <ns2:rowId val="23000"/>
                  </a:ext>
                </a:extLst>
              </a:tr>
              <a:tr h="428625">
                <a:tc>
                  <a:txBody>
                    <a:bodyPr wrap="square" lIns="76200" rIns="76200" tIns="38100" bIns="38100"/>
                    <a:lstStyle/>
                    <a:p>
                      <a:pPr algn="l">
                        <a:buNone/>
                      </a:pPr>
                      <a:r>
                        <a:rPr sz="1100" b="1">
                          <a:solidFill>
                            <a:srgbClr val="F3F4F6"/>
                          </a:solidFill>
                          <a:latin typeface="Arial"/>
                          <a:ea typeface="Arial"/>
                          <a:cs typeface="Arial"/>
                        </a:rPr>
                        <a:t>Sellers</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2,476</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556</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404</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404</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1"/>
                  </a:ext>
                </a:extLst>
              </a:tr>
              <a:tr h="428625">
                <a:tc>
                  <a:txBody>
                    <a:bodyPr wrap="square" lIns="76200" rIns="76200" tIns="38100" bIns="38100"/>
                    <a:lstStyle/>
                    <a:p>
                      <a:pPr algn="l">
                        <a:buNone/>
                      </a:pPr>
                      <a:r>
                        <a:rPr sz="1100" b="1">
                          <a:solidFill>
                            <a:srgbClr val="F3F4F6"/>
                          </a:solidFill>
                          <a:latin typeface="Arial"/>
                          <a:ea typeface="Arial"/>
                          <a:cs typeface="Arial"/>
                        </a:rPr>
                        <a:t>Avg fees / seller</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€1,907</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€51</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€382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2"/>
                  </a:ext>
                </a:extLst>
              </a:tr>
              <a:tr h="428625">
                <a:tc>
                  <a:txBody>
                    <a:bodyPr wrap="square" lIns="76200" rIns="76200" tIns="38100" bIns="38100"/>
                    <a:lstStyle/>
                    <a:p>
                      <a:pPr algn="l">
                        <a:buNone/>
                      </a:pPr>
                      <a:r>
                        <a:rPr sz="1100" b="1">
                          <a:solidFill>
                            <a:srgbClr val="F3F4F6"/>
                          </a:solidFill>
                          <a:latin typeface="Arial"/>
                          <a:ea typeface="Arial"/>
                          <a:cs typeface="Arial"/>
                        </a:rPr>
                        <a:t>Avg 6mo fees / seller</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€6</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€310</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€61</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3"/>
                  </a:ext>
                </a:extLst>
              </a:tr>
              <a:tr h="428625">
                <a:tc>
                  <a:txBody>
                    <a:bodyPr wrap="square" lIns="76200" rIns="76200" tIns="38100" bIns="38100"/>
                    <a:lstStyle/>
                    <a:p>
                      <a:pPr algn="l">
                        <a:buNone/>
                      </a:pPr>
                      <a:r>
                        <a:rPr sz="1100" b="1">
                          <a:solidFill>
                            <a:srgbClr val="F3F4F6"/>
                          </a:solidFill>
                          <a:latin typeface="Arial"/>
                          <a:ea typeface="Arial"/>
                          <a:cs typeface="Arial"/>
                        </a:rPr>
                        <a:t>Avg active months</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8.8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21.6</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20.0</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17.3</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4"/>
                  </a:ext>
                </a:extLst>
              </a:tr>
              <a:tr h="428625">
                <a:tc>
                  <a:txBody>
                    <a:bodyPr wrap="square" lIns="76200" rIns="76200" tIns="38100" bIns="38100"/>
                    <a:lstStyle/>
                    <a:p>
                      <a:pPr algn="l">
                        <a:buNone/>
                      </a:pPr>
                      <a:r>
                        <a:rPr sz="1100" b="1">
                          <a:solidFill>
                            <a:srgbClr val="F3F4F6"/>
                          </a:solidFill>
                          <a:latin typeface="Arial"/>
                          <a:ea typeface="Arial"/>
                          <a:cs typeface="Arial"/>
                        </a:rPr>
                        <a:t>Avg recent paid usage</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9.2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505.8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208.8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19.2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5"/>
                  </a:ext>
                </a:extLst>
              </a:tr>
              <a:tr h="428625">
                <a:tc>
                  <a:txBody>
                    <a:bodyPr wrap="square" lIns="76200" rIns="76200" tIns="38100" bIns="38100"/>
                    <a:lstStyle/>
                    <a:p>
                      <a:pPr algn="l">
                        <a:buNone/>
                      </a:pPr>
                      <a:r>
                        <a:rPr sz="1100" b="1">
                          <a:solidFill>
                            <a:srgbClr val="F3F4F6"/>
                          </a:solidFill>
                          <a:latin typeface="Arial"/>
                          <a:ea typeface="Arial"/>
                          <a:cs typeface="Arial"/>
                        </a:rPr>
                        <a:t>Avg categories</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5.1</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9.1</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13.4</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3.5</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6"/>
                  </a:ext>
                </a:extLst>
              </a:tr>
              <a:tr h="428625">
                <a:tc>
                  <a:txBody>
                    <a:bodyPr wrap="square" lIns="76200" rIns="76200" tIns="38100" bIns="38100"/>
                    <a:lstStyle/>
                    <a:p>
                      <a:pPr algn="l">
                        <a:buNone/>
                      </a:pPr>
                      <a:r>
                        <a:rPr sz="1100" b="1">
                          <a:solidFill>
                            <a:srgbClr val="F3F4F6"/>
                          </a:solidFill>
                          <a:latin typeface="Arial"/>
                          <a:ea typeface="Arial"/>
                          <a:cs typeface="Arial"/>
                        </a:rPr>
                        <a:t>Avg paid product breadth</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2.2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4.9</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4.2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3.8</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7"/>
                  </a:ext>
                </a:extLst>
              </a:tr>
              <a:tr h="428625">
                <a:tc>
                  <a:txBody>
                    <a:bodyPr wrap="square" lIns="76200" rIns="76200" tIns="38100" bIns="38100"/>
                    <a:lstStyle/>
                    <a:p>
                      <a:pPr algn="l">
                        <a:buNone/>
                      </a:pPr>
                      <a:r>
                        <a:rPr sz="1100" b="1">
                          <a:solidFill>
                            <a:srgbClr val="F3F4F6"/>
                          </a:solidFill>
                          <a:latin typeface="Arial"/>
                          <a:ea typeface="Arial"/>
                          <a:cs typeface="Arial"/>
                        </a:rPr>
                        <a:t>Median 6mo paid action growth</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+0%</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+12%</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+87%</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tc>
                  <a:txBody>
                    <a:bodyPr wrap="square" lIns="76200" rIns="76200" tIns="38100" bIns="38100"/>
                    <a:lstStyle/>
                    <a:p>
                      <a:pPr algn="l">
                        <a:buNone/>
                      </a:pPr>
                      <a:r>
                        <a:rPr sz="1100" b="0">
                          <a:solidFill>
                            <a:srgbClr val="F3F4F6"/>
                          </a:solidFill>
                          <a:latin typeface="Arial"/>
                          <a:ea typeface="Arial"/>
                          <a:cs typeface="Arial"/>
                        </a:rPr>
                        <a:t>-17%</a:t>
                      </a:r>
                    </a:p>
                  </a:txBody>
                  <a:tcPr>
                    <a:lnL w="7620">
                      <a:solidFill>
                        <a:srgbClr val="3A3A3A"/>
                      </a:solidFill>
                    </a:lnL>
                    <a:lnR w="7620">
                      <a:solidFill>
                        <a:srgbClr val="3A3A3A"/>
                      </a:solidFill>
                    </a:lnR>
                    <a:lnT w="7620">
                      <a:solidFill>
                        <a:srgbClr val="3A3A3A"/>
                      </a:solidFill>
                    </a:lnT>
                    <a:lnB w="7620">
                      <a:solidFill>
                        <a:srgbClr val="3A3A3A"/>
                      </a:solidFill>
                    </a:lnB>
                    <a:solidFill>
                      <a:srgbClr val="050505"/>
                    </a:solidFill>
                  </a:tcPr>
                </a:tc>
                <a:extLst>
                  <a:ext uri="{0D108BD9-81ED-4DB2-BD59-A6C34878D82A}">
                    <ns2:rowId val="23008"/>
                  </a:ext>
                </a:extLst>
              </a:tr>
            </a:tbl>
          </a:graphicData>
        </a:graphic>
      </p:graphicFrame>
      <p:pic>
        <p:nvPicPr>
          <p:cNvPr id="11" name="Moved Overlap Diagram">
            <a:extLst>
              <a:ext uri="{FF2B5EF4-FFF2-40B4-BE49-F238E27FC236}">
                <ns2:creationId id="{EE945704-9710-77E6-D44C-C55F77330931}"/>
              </a:ext>
            </a:extLst>
          </p:cNvPr>
          <p:cNvPicPr>
            <a:picLocks noChangeAspect="1"/>
          </p:cNvPicPr>
          <p:nvPr/>
        </p:nvPicPr>
        <p:blipFill>
          <a:blip ns3:embed="rId3"/>
          <a:stretch/>
        </p:blipFill>
        <p:spPr>
          <a:xfrm>
            <a:off x="7429500" y="1981200"/>
            <a:ext cx="4000500" cy="3260623"/>
          </a:xfrm>
          <a:prstGeom prst="rect">
            <a:avLst/>
          </a:prstGeom>
        </p:spPr>
      </p:pic>
    </p:spTree>
    <p:extLst>
      <p:ext uri="{BB962C8B-B14F-4D97-AF65-F5344CB8AC3E}">
        <ns4:creationId val="176104548"/>
      </p:ext>
    </p:extLst>
  </p:cSld>
  <p:clrMapOvr>
    <a:masterClrMapping/>
  </p:clrMapOvr>
</p:sld>
</file>

<file path=ppt/slides/slide9.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049C21BA-18E1-40FA-AA33-DC68CC3F84FC}"/>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98BA9E15-6737-41D7-A53B-461D2BA8FA47}"/>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2.2 Bundle Choice</a:t>
            </a:r>
          </a:p>
        </p:txBody>
      </p:sp>
      <p:sp>
        <p:nvSpPr>
          <p:cNvPr id="5" name="Rectangle 4">
            <a:extLst>
              <a:ext uri="{FF2B5EF4-FFF2-40B4-BE49-F238E27FC236}">
                <ns2:creationId id="{C279A689-DD11-45E0-AA25-33307C0584AF}"/>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94B38BA6-DE9C-463A-BD10-2883AE7BC2B3}"/>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2AD204C8-20A8-433B-8EE5-5C6780AEEFF3}"/>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A091C096-471A-4862-B436-766843947D6C}"/>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14 / 21</a:t>
            </a:r>
          </a:p>
        </p:txBody>
      </p:sp>
      <p:sp>
        <p:nvSpPr>
          <p:cNvPr id="11" name="Rectangle 10">
            <a:extLst>
              <a:ext uri="{FF2B5EF4-FFF2-40B4-BE49-F238E27FC236}">
                <ns2:creationId id="{5D018F14-C644-4A7A-A905-0EB2A4B08A4A}"/>
              </a:ext>
            </a:extLst>
          </p:cNvPr>
          <p:cNvSpPr>
            <a:spLocks noGrp="1"/>
          </p:cNvSpPr>
          <p:nvPr/>
        </p:nvSpPr>
        <p:spPr>
          <a:xfrm>
            <a:off x="609600" y="1371601"/>
            <a:ext cx="10287000" cy="1523999"/>
          </a:xfrm>
          <a:prstGeom prst="rect">
            <a:avLst/>
          </a:prstGeom>
          <a:ln w="0">
            <a:noFill/>
          </a:ln>
        </p:spPr>
        <p:txBody>
          <a:bodyPr wrap="square" lIns="0" tIns="0" rIns="0" bIns="0"/>
          <a:lstStyle/>
          <a:p>
            <a:pPr>
              <a:spcAft>
                <a:spcPts val="650"/>
              </a:spcAft>
            </a:pPr>
            <a:r>
              <a:rPr sz="1300">
                <a:solidFill>
                  <a:srgbClr val="F3F4F6"/>
                </a:solidFill>
                <a:latin typeface="Arial"/>
                <a:ea typeface="Arial"/>
                <a:cs typeface="Arial"/>
              </a:rPr>
              <a:t>After selecting the outreach-ready group, use a separate bundle-fit score to suggest which bundle to pitch.</a:t>
            </a:r>
          </a:p>
          <a:p>
            <a:pPr marL="285750" indent="-285750">
              <a:spcAft>
                <a:spcPts val="420"/>
              </a:spcAft>
              <a:buClr>
                <a:srgbClr val="4FB3FF"/>
              </a:buClr>
              <a:buFont typeface="Wingdings" pitchFamily="2" charset="2"/>
              <a:buChar char="§"/>
            </a:pPr>
            <a:r>
              <a:rPr sz="1300">
                <a:solidFill>
                  <a:srgbClr val="F3F4F6"/>
                </a:solidFill>
                <a:latin typeface="Arial"/>
                <a:ea typeface="Arial"/>
                <a:cs typeface="Arial"/>
              </a:rPr>
              <a:t>Score: simple average of the percentile ranks for paid visibility usage, paid product breadth, and listing volume.</a:t>
            </a:r>
          </a:p>
          <a:p>
            <a:pPr marL="285750" indent="-285750">
              <a:spcAft>
                <a:spcPts val="420"/>
              </a:spcAft>
              <a:buClr>
                <a:srgbClr val="4FB3FF"/>
              </a:buClr>
              <a:buFont typeface="Wingdings" pitchFamily="2" charset="2"/>
              <a:buChar char="§"/>
            </a:pPr>
            <a:r>
              <a:rPr sz="1300">
                <a:solidFill>
                  <a:srgbClr val="F3F4F6"/>
                </a:solidFill>
                <a:latin typeface="Arial"/>
                <a:ea typeface="Arial"/>
                <a:cs typeface="Arial"/>
              </a:rPr>
              <a:t>Why: Plus adds extra visibility stickers and links from each ad to the seller's other ads, so it fits sellers already using visibility products or managing enough listings to benefit from cross-ad promotion.</a:t>
            </a:r>
          </a:p>
          <a:p>
            <a:pPr marL="285750" indent="-285750">
              <a:spcAft>
                <a:spcPts val="420"/>
              </a:spcAft>
              <a:buClr>
                <a:srgbClr val="4FB3FF"/>
              </a:buClr>
              <a:buFont typeface="Wingdings" pitchFamily="2" charset="2"/>
              <a:buChar char="§"/>
            </a:pPr>
            <a:r>
              <a:rPr sz="1300">
                <a:solidFill>
                  <a:srgbClr val="F3F4F6"/>
                </a:solidFill>
                <a:latin typeface="Arial"/>
                <a:ea typeface="Arial"/>
                <a:cs typeface="Arial"/>
              </a:rPr>
              <a:t>Group: sellers in the top 40% of bundle fit score inside the outreach ready group are targeted for Plus.</a:t>
            </a:r>
          </a:p>
          <a:p>
            <a:pPr marL="285750" indent="-285750">
              <a:spcAft>
                <a:spcPts val="420"/>
              </a:spcAft>
              <a:buClr>
                <a:srgbClr val="4FB3FF"/>
              </a:buClr>
              <a:buFont typeface="Wingdings" pitchFamily="2" charset="2"/>
              <a:buChar char="§"/>
            </a:pPr>
            <a:r>
              <a:rPr sz="1300">
                <a:solidFill>
                  <a:srgbClr val="F3F4F6"/>
                </a:solidFill>
                <a:latin typeface="Arial"/>
                <a:ea typeface="Arial"/>
                <a:cs typeface="Arial"/>
              </a:rPr>
              <a:t>Targeted for Basic group: sellers in the outreach ready group who are not targeted for Plus are targeted for Basic.</a:t>
            </a:r>
          </a:p>
        </p:txBody>
      </p:sp>
      <p:graphicFrame>
        <p:nvGraphicFramePr>
          <p:cNvPr id="18" name="Native Table 11"/>
          <p:cNvGraphicFramePr/>
          <p:nvPr/>
        </p:nvGraphicFramePr>
        <p:xfrm>
          <a:off x="619125" y="3543300"/>
          <a:ext cx="10534650" cy="2499360"/>
        </p:xfrm>
        <a:graphic>
          <a:graphicData uri="http://schemas.openxmlformats.org/drawingml/2006/table">
            <a:tbl>
              <a:tblPr firstRow="1" bandRow="1"/>
              <a:tblGrid>
                <a:gridCol w="2306287">
                  <a:extLst>
                    <a:ext uri="{9D8B030D-6E8A-4147-A177-3AD203B41FA5}">
                      <ns2:colId val="20000"/>
                    </a:ext>
                  </a:extLst>
                </a:gridCol>
                <a:gridCol w="1915391">
                  <a:extLst>
                    <a:ext uri="{9D8B030D-6E8A-4147-A177-3AD203B41FA5}">
                      <ns2:colId val="20001"/>
                    </a:ext>
                  </a:extLst>
                </a:gridCol>
                <a:gridCol w="6312972">
                  <a:extLst>
                    <a:ext uri="{9D8B030D-6E8A-4147-A177-3AD203B41FA5}">
                      <ns2:colId val="20002"/>
                    </a:ext>
                  </a:extLst>
                </a:gridCol>
              </a:tblGrid>
              <a:tr h="240792">
                <a:tc>
                  <a:txBody>
                    <a:bodyPr/>
                    <a:lstStyle/>
                    <a:p>
                      <a:pPr algn="l">
                        <a:buNone/>
                      </a:pPr>
                      <a:r>
                        <a:rPr sz="1100" b="1">
                          <a:solidFill>
                            <a:srgbClr val="F3F4F6"/>
                          </a:solidFill>
                          <a:latin typeface="Arial"/>
                          <a:ea typeface="Arial"/>
                          <a:cs typeface="Arial"/>
                        </a:rPr>
                        <a:t>Signal</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1100" b="1">
                          <a:solidFill>
                            <a:srgbClr val="F3F4F6"/>
                          </a:solidFill>
                          <a:latin typeface="Arial"/>
                          <a:ea typeface="Arial"/>
                          <a:cs typeface="Arial"/>
                        </a:rPr>
                        <a:t>Use in bundle fit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1100" b="1">
                          <a:solidFill>
                            <a:srgbClr val="F3F4F6"/>
                          </a:solidFill>
                          <a:latin typeface="Arial"/>
                          <a:ea typeface="Arial"/>
                          <a:cs typeface="Arial"/>
                        </a:rPr>
                        <a:t>Reason</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extLst>
                  <a:ext uri="{0D108BD9-81ED-4DB2-BD59-A6C34878D82A}">
                    <ns2:rowId val="10000"/>
                  </a:ext>
                </a:extLst>
              </a:tr>
              <a:tr h="240792">
                <a:tc>
                  <a:txBody>
                    <a:bodyPr/>
                    <a:lstStyle/>
                    <a:p>
                      <a:pPr algn="l">
                        <a:buNone/>
                      </a:pPr>
                      <a:r>
                        <a:rPr sz="1100">
                          <a:solidFill>
                            <a:srgbClr val="F3F4F6"/>
                          </a:solidFill>
                          <a:latin typeface="Arial"/>
                          <a:ea typeface="Arial"/>
                          <a:cs typeface="Arial"/>
                        </a:rPr>
                        <a:t>Paid visibility usage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Yes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Direct match to Plus benefits: more visibility and cross-ad promotion.</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1"/>
                  </a:ext>
                </a:extLst>
              </a:tr>
              <a:tr h="240792">
                <a:tc>
                  <a:txBody>
                    <a:bodyPr/>
                    <a:lstStyle/>
                    <a:p>
                      <a:pPr algn="l">
                        <a:buNone/>
                      </a:pPr>
                      <a:r>
                        <a:rPr sz="1100">
                          <a:solidFill>
                            <a:srgbClr val="F3F4F6"/>
                          </a:solidFill>
                          <a:latin typeface="Arial"/>
                          <a:ea typeface="Arial"/>
                          <a:cs typeface="Arial"/>
                        </a:rPr>
                        <a:t>Paid product breadth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Yes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Sellers using multiple paid products already understand paid value.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2"/>
                  </a:ext>
                </a:extLst>
              </a:tr>
              <a:tr h="240792">
                <a:tc>
                  <a:txBody>
                    <a:bodyPr/>
                    <a:lstStyle/>
                    <a:p>
                      <a:pPr algn="l">
                        <a:buNone/>
                      </a:pPr>
                      <a:r>
                        <a:rPr sz="1100">
                          <a:solidFill>
                            <a:srgbClr val="F3F4F6"/>
                          </a:solidFill>
                          <a:latin typeface="Arial"/>
                          <a:ea typeface="Arial"/>
                          <a:cs typeface="Arial"/>
                        </a:rPr>
                        <a:t>Listing volume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Yes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Direct match to Plus cross-ad value: more ads means more inventory to promote from each listing.</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3"/>
                  </a:ext>
                </a:extLst>
              </a:tr>
              <a:tr h="240792">
                <a:tc>
                  <a:txBody>
                    <a:bodyPr/>
                    <a:lstStyle/>
                    <a:p>
                      <a:pPr algn="l">
                        <a:buNone/>
                      </a:pPr>
                      <a:r>
                        <a:rPr sz="1100">
                          <a:solidFill>
                            <a:srgbClr val="F3F4F6"/>
                          </a:solidFill>
                          <a:latin typeface="Arial"/>
                          <a:ea typeface="Arial"/>
                          <a:cs typeface="Arial"/>
                        </a:rPr>
                        <a:t>Category breadth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Useful for outreach readiness, but listing volume is a clearer fit for cross-ad promotion.</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4"/>
                  </a:ext>
                </a:extLst>
              </a:tr>
              <a:tr h="240792">
                <a:tc>
                  <a:txBody>
                    <a:bodyPr/>
                    <a:lstStyle/>
                    <a:p>
                      <a:pPr algn="l">
                        <a:buNone/>
                      </a:pPr>
                      <a:r>
                        <a:rPr sz="1100">
                          <a:solidFill>
                            <a:srgbClr val="F3F4F6"/>
                          </a:solidFill>
                          <a:latin typeface="Arial"/>
                          <a:ea typeface="Arial"/>
                          <a:cs typeface="Arial"/>
                        </a:rPr>
                        <a:t>Recent paid usage</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 not directly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Useful for outreach readiness, but too broad for bundle choice; the bundle fit score uses visibility-specific usage instead.</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5"/>
                  </a:ext>
                </a:extLst>
              </a:tr>
              <a:tr h="240792">
                <a:tc>
                  <a:txBody>
                    <a:bodyPr/>
                    <a:lstStyle/>
                    <a:p>
                      <a:pPr algn="l">
                        <a:buNone/>
                      </a:pPr>
                      <a:r>
                        <a:rPr sz="1100">
                          <a:solidFill>
                            <a:srgbClr val="F3F4F6"/>
                          </a:solidFill>
                          <a:latin typeface="Arial"/>
                          <a:ea typeface="Arial"/>
                          <a:cs typeface="Arial"/>
                        </a:rPr>
                        <a:t>Consistency</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Good subscription-fit signal, but it does not distinguish Basic vs Plus.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6"/>
                  </a:ext>
                </a:extLst>
              </a:tr>
              <a:tr h="240792">
                <a:tc>
                  <a:txBody>
                    <a:bodyPr/>
                    <a:lstStyle/>
                    <a:p>
                      <a:pPr algn="l">
                        <a:buNone/>
                      </a:pPr>
                      <a:r>
                        <a:rPr sz="1100">
                          <a:solidFill>
                            <a:srgbClr val="F3F4F6"/>
                          </a:solidFill>
                          <a:latin typeface="Arial"/>
                          <a:ea typeface="Arial"/>
                          <a:cs typeface="Arial"/>
                        </a:rPr>
                        <a:t>Recent growth</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Shows momentum, but not which bundle fits better.</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7"/>
                  </a:ext>
                </a:extLst>
              </a:tr>
              <a:tr h="240792">
                <a:tc>
                  <a:txBody>
                    <a:bodyPr/>
                    <a:lstStyle/>
                    <a:p>
                      <a:pPr algn="l">
                        <a:buNone/>
                      </a:pPr>
                      <a:r>
                        <a:rPr sz="1100">
                          <a:solidFill>
                            <a:srgbClr val="F3F4F6"/>
                          </a:solidFill>
                          <a:latin typeface="Arial"/>
                          <a:ea typeface="Arial"/>
                          <a:cs typeface="Arial"/>
                        </a:rPr>
                        <a:t>Total fees</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No</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1100">
                          <a:solidFill>
                            <a:srgbClr val="F3F4F6"/>
                          </a:solidFill>
                          <a:latin typeface="Arial"/>
                          <a:ea typeface="Arial"/>
                          <a:cs typeface="Arial"/>
                        </a:rPr>
                        <a:t>Shows willingness to pay, but would make Plus selection too spend-driven.</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333249075"/>
                  </a:ext>
                </a:extLst>
              </a:tr>
            </a:tbl>
          </a:graphicData>
        </a:graphic>
      </p:graphicFrame>
    </p:spTree>
    <p:extLst>
      <p:ext uri="{BB962C8B-B14F-4D97-AF65-F5344CB8AC3E}">
        <ns3:creationId val="2105546946"/>
      </p:ext>
    </p:extLst>
  </p:cSld>
  <p:clrMapOvr>
    <a:masterClrMapping/>
  </p:clrMapOvr>
</p:sld>
</file>

<file path=ppt/slides/slide10.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7AF16DB4-7B2B-4CD0-86F2-EC85414B987A}"/>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89F4D464-F80A-48FB-891E-04323EA75E12}"/>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2.2 Bundle Choice / Target Groups</a:t>
            </a:r>
          </a:p>
        </p:txBody>
      </p:sp>
      <p:sp>
        <p:nvSpPr>
          <p:cNvPr id="5" name="Rectangle 4">
            <a:extLst>
              <a:ext uri="{FF2B5EF4-FFF2-40B4-BE49-F238E27FC236}">
                <ns2:creationId id="{3CAF3CBE-7622-4149-95A7-4FEEB851922B}"/>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0D38380B-77FA-4650-895C-32E4F5369BFA}"/>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95C4C95F-6BE5-418D-BE33-9061BC94CC9A}"/>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2BBD6740-74FC-4F1E-8200-4B971F8A0E20}"/>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15 / 21</a:t>
            </a:r>
          </a:p>
        </p:txBody>
      </p:sp>
      <p:sp>
        <p:nvSpPr>
          <p:cNvPr id="10" name="Rectangle 9">
            <a:extLst>
              <a:ext uri="{FF2B5EF4-FFF2-40B4-BE49-F238E27FC236}">
                <ns2:creationId id="{CBC37210-8D0F-442C-8ED7-BA1EA0B99102}"/>
              </a:ext>
            </a:extLst>
          </p:cNvPr>
          <p:cNvSpPr>
            <a:spLocks noGrp="1"/>
          </p:cNvSpPr>
          <p:nvPr/>
        </p:nvSpPr>
        <p:spPr>
          <a:xfrm>
            <a:off x="609600" y="1371600"/>
            <a:ext cx="10287000" cy="971550"/>
          </a:xfrm>
          <a:prstGeom prst="rect">
            <a:avLst/>
          </a:prstGeom>
          <a:ln w="0">
            <a:noFill/>
          </a:ln>
        </p:spPr>
        <p:txBody>
          <a:bodyPr wrap="square" lIns="0" tIns="0" rIns="0" bIns="0"/>
          <a:lstStyle/>
          <a:p>
            <a:pPr marL="285750" indent="-285750">
              <a:spcAft>
                <a:spcPts val="480"/>
              </a:spcAft>
              <a:buClr>
                <a:srgbClr val="4FB3FF"/>
              </a:buClr>
              <a:buFont typeface="Wingdings" pitchFamily="2" charset="2"/>
              <a:buChar char="§"/>
            </a:pPr>
            <a:r>
              <a:rPr sz="1300" dirty="0">
                <a:solidFill>
                  <a:srgbClr val="F3F4F6"/>
                </a:solidFill>
                <a:latin typeface="Arial"/>
                <a:ea typeface="Arial"/>
                <a:cs typeface="Arial"/>
              </a:rPr>
              <a:t>Suggested split: target Plus for the highest bundle-fit sellers in the outreach ready group. In this first pass, use the top 40% as a practical starting point; recalibrate after outreach using response and conversion data.</a:t>
            </a:r>
          </a:p>
          <a:p>
            <a:pPr marL="285750" indent="-285750">
              <a:spcAft>
                <a:spcPts val="480"/>
              </a:spcAft>
              <a:buClr>
                <a:srgbClr val="4FB3FF"/>
              </a:buClr>
              <a:buFont typeface="Wingdings" pitchFamily="2" charset="2"/>
              <a:buChar char="§"/>
            </a:pPr>
            <a:r>
              <a:rPr sz="1300" dirty="0">
                <a:solidFill>
                  <a:srgbClr val="F3F4F6"/>
                </a:solidFill>
                <a:latin typeface="Arial"/>
                <a:ea typeface="Arial"/>
                <a:cs typeface="Arial"/>
              </a:rPr>
              <a:t>Alternative: use no fixed 40%; show sellers ranked by bundle fit score and let Sales choose based on capacity.</a:t>
            </a:r>
          </a:p>
          <a:p>
            <a:pPr marL="285750" indent="-285750">
              <a:spcAft>
                <a:spcPts val="480"/>
              </a:spcAft>
              <a:buClr>
                <a:srgbClr val="4FB3FF"/>
              </a:buClr>
              <a:buFont typeface="Wingdings" pitchFamily="2" charset="2"/>
              <a:buChar char="§"/>
            </a:pPr>
            <a:r>
              <a:rPr sz="1300" dirty="0">
                <a:solidFill>
                  <a:srgbClr val="F3F4F6"/>
                </a:solidFill>
                <a:latin typeface="Arial"/>
                <a:ea typeface="Arial"/>
                <a:cs typeface="Arial"/>
              </a:rPr>
              <a:t>Future improvement: calibrate this split with response, conversion, and upgrade data after outreach starts.</a:t>
            </a:r>
          </a:p>
        </p:txBody>
      </p:sp>
      <p:sp>
        <p:nvSpPr>
          <p:cNvPr id="15" name="Rectangle 14">
            <a:extLst>
              <a:ext uri="{FF2B5EF4-FFF2-40B4-BE49-F238E27FC236}">
                <ns2:creationId id="{D07A887F-2081-4375-A702-24B20AC9EF4E}"/>
              </a:ext>
            </a:extLst>
          </p:cNvPr>
          <p:cNvSpPr>
            <a:spLocks noGrp="1"/>
          </p:cNvSpPr>
          <p:nvPr/>
        </p:nvSpPr>
        <p:spPr>
          <a:xfrm>
            <a:off x="609600" y="3095625"/>
            <a:ext cx="10668000" cy="3238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938" b="0">
                <a:solidFill>
                  <a:srgbClr val="A5A5A5"/>
                </a:solidFill>
                <a:latin typeface="Arial"/>
                <a:ea typeface="Arial"/>
                <a:cs typeface="Arial"/>
              </a:defRPr>
            </a:pPr>
            <a:r>
              <a:rPr sz="938" b="0">
                <a:solidFill>
                  <a:srgbClr val="A5A5A5"/>
                </a:solidFill>
                <a:latin typeface="Arial"/>
                <a:ea typeface="Arial"/>
                <a:cs typeface="Arial"/>
              </a:rPr>
              <a:t>The table below compares sellers targeted for Plus with sellers targeted for Basic inside the outreach ready group. Fee values are averages per selected seller; signal values are average percentile scores.</a:t>
            </a:r>
          </a:p>
        </p:txBody>
      </p:sp>
      <p:graphicFrame>
        <p:nvGraphicFramePr>
          <p:cNvPr id="16" name="Native Table 12"/>
          <p:cNvGraphicFramePr/>
          <p:nvPr/>
        </p:nvGraphicFramePr>
        <p:xfrm>
          <a:off x="619125" y="3829050"/>
          <a:ext cx="10534653" cy="1127760"/>
        </p:xfrm>
        <a:graphic>
          <a:graphicData uri="http://schemas.openxmlformats.org/drawingml/2006/table">
            <a:tbl>
              <a:tblPr firstRow="1" bandRow="1"/>
              <a:tblGrid>
                <a:gridCol w="1170517">
                  <a:extLst>
                    <a:ext uri="{9D8B030D-6E8A-4147-A177-3AD203B41FA5}">
                      <ns2:colId val="20000"/>
                    </a:ext>
                  </a:extLst>
                </a:gridCol>
                <a:gridCol w="1170517">
                  <a:extLst>
                    <a:ext uri="{9D8B030D-6E8A-4147-A177-3AD203B41FA5}">
                      <ns2:colId val="20001"/>
                    </a:ext>
                  </a:extLst>
                </a:gridCol>
                <a:gridCol w="1170517">
                  <a:extLst>
                    <a:ext uri="{9D8B030D-6E8A-4147-A177-3AD203B41FA5}">
                      <ns2:colId val="20002"/>
                    </a:ext>
                  </a:extLst>
                </a:gridCol>
                <a:gridCol w="1170517">
                  <a:extLst>
                    <a:ext uri="{9D8B030D-6E8A-4147-A177-3AD203B41FA5}">
                      <ns2:colId val="20003"/>
                    </a:ext>
                  </a:extLst>
                </a:gridCol>
                <a:gridCol w="1170517">
                  <a:extLst>
                    <a:ext uri="{9D8B030D-6E8A-4147-A177-3AD203B41FA5}">
                      <ns2:colId val="20004"/>
                    </a:ext>
                  </a:extLst>
                </a:gridCol>
                <a:gridCol w="1170517">
                  <a:extLst>
                    <a:ext uri="{9D8B030D-6E8A-4147-A177-3AD203B41FA5}">
                      <ns2:colId val="20005"/>
                    </a:ext>
                  </a:extLst>
                </a:gridCol>
                <a:gridCol w="1170517">
                  <a:extLst>
                    <a:ext uri="{9D8B030D-6E8A-4147-A177-3AD203B41FA5}">
                      <ns2:colId val="20006"/>
                    </a:ext>
                  </a:extLst>
                </a:gridCol>
                <a:gridCol w="1170517">
                  <a:extLst>
                    <a:ext uri="{9D8B030D-6E8A-4147-A177-3AD203B41FA5}">
                      <ns2:colId val="20007"/>
                    </a:ext>
                  </a:extLst>
                </a:gridCol>
                <a:gridCol w="1170517">
                  <a:extLst>
                    <a:ext uri="{9D8B030D-6E8A-4147-A177-3AD203B41FA5}">
                      <ns2:colId val="20008"/>
                    </a:ext>
                  </a:extLst>
                </a:gridCol>
              </a:tblGrid>
              <a:tr h="276225">
                <a:tc>
                  <a:txBody>
                    <a:bodyPr/>
                    <a:lstStyle/>
                    <a:p>
                      <a:pPr algn="l">
                        <a:buNone/>
                      </a:pPr>
                      <a:endParaRP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Target Group</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Selected Sellers</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fees per seller</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paid visibility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paid product breadth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listing volume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bundle fit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tc>
                  <a:txBody>
                    <a:bodyPr/>
                    <a:lstStyle/>
                    <a:p>
                      <a:pPr algn="l">
                        <a:buNone/>
                      </a:pPr>
                      <a:r>
                        <a:rPr sz="800" b="1">
                          <a:solidFill>
                            <a:srgbClr val="F3F4F6"/>
                          </a:solidFill>
                          <a:latin typeface="Arial"/>
                          <a:ea typeface="Arial"/>
                          <a:cs typeface="Arial"/>
                        </a:rPr>
                        <a:t>Avg outreach readiness score</a:t>
                      </a:r>
                    </a:p>
                  </a:txBody>
                  <a:tcPr>
                    <a:lnL w="6350">
                      <a:solidFill>
                        <a:srgbClr val="3A3A3A"/>
                      </a:solidFill>
                    </a:lnL>
                    <a:lnR w="6350">
                      <a:solidFill>
                        <a:srgbClr val="3A3A3A"/>
                      </a:solidFill>
                    </a:lnR>
                    <a:lnT w="6350">
                      <a:solidFill>
                        <a:srgbClr val="3A3A3A"/>
                      </a:solidFill>
                    </a:lnT>
                    <a:lnB w="6350">
                      <a:solidFill>
                        <a:srgbClr val="3A3A3A"/>
                      </a:solidFill>
                    </a:lnB>
                    <a:solidFill>
                      <a:srgbClr val="111111"/>
                    </a:solidFill>
                  </a:tcPr>
                </a:tc>
                <a:extLst>
                  <a:ext uri="{0D108BD9-81ED-4DB2-BD59-A6C34878D82A}">
                    <ns2:rowId val="10000"/>
                  </a:ext>
                </a:extLst>
              </a:tr>
              <a:tr h="381000">
                <a:tc>
                  <a:txBody>
                    <a:bodyPr/>
                    <a:lstStyle/>
                    <a:p>
                      <a:pPr algn="l">
                        <a:buNone/>
                      </a:pPr>
                      <a:r>
                        <a:rPr sz="800">
                          <a:solidFill>
                            <a:srgbClr val="F3F4F6"/>
                          </a:solidFill>
                          <a:latin typeface="Arial"/>
                          <a:ea typeface="Arial"/>
                          <a:cs typeface="Arial"/>
                        </a:rPr>
                        <a:t>0</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Targeted for Plus group</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384</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€2,230</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89.6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87.6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85.6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87.6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77.5</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1"/>
                  </a:ext>
                </a:extLst>
              </a:tr>
              <a:tr h="381000">
                <a:tc>
                  <a:txBody>
                    <a:bodyPr/>
                    <a:lstStyle/>
                    <a:p>
                      <a:pPr algn="l">
                        <a:buNone/>
                      </a:pPr>
                      <a:r>
                        <a:rPr sz="800">
                          <a:solidFill>
                            <a:srgbClr val="F3F4F6"/>
                          </a:solidFill>
                          <a:latin typeface="Arial"/>
                          <a:ea typeface="Arial"/>
                          <a:cs typeface="Arial"/>
                        </a:rPr>
                        <a:t>1</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Targeted for Basic group</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576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€389</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68.9</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70.7</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69.1</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69.6</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tc>
                  <a:txBody>
                    <a:bodyPr/>
                    <a:lstStyle/>
                    <a:p>
                      <a:pPr algn="l">
                        <a:buNone/>
                      </a:pPr>
                      <a:r>
                        <a:rPr sz="800">
                          <a:solidFill>
                            <a:srgbClr val="F3F4F6"/>
                          </a:solidFill>
                          <a:latin typeface="Arial"/>
                          <a:ea typeface="Arial"/>
                          <a:cs typeface="Arial"/>
                        </a:rPr>
                        <a:t>72.0</a:t>
                      </a:r>
                    </a:p>
                  </a:txBody>
                  <a:tcPr>
                    <a:lnL w="6350">
                      <a:solidFill>
                        <a:srgbClr val="3A3A3A"/>
                      </a:solidFill>
                    </a:lnL>
                    <a:lnR w="6350">
                      <a:solidFill>
                        <a:srgbClr val="3A3A3A"/>
                      </a:solidFill>
                    </a:lnR>
                    <a:lnT w="6350">
                      <a:solidFill>
                        <a:srgbClr val="3A3A3A"/>
                      </a:solidFill>
                    </a:lnT>
                    <a:lnB w="6350">
                      <a:solidFill>
                        <a:srgbClr val="3A3A3A"/>
                      </a:solidFill>
                    </a:lnB>
                    <a:solidFill>
                      <a:srgbClr val="050505"/>
                    </a:solidFill>
                  </a:tcPr>
                </a:tc>
                <a:extLst>
                  <a:ext uri="{0D108BD9-81ED-4DB2-BD59-A6C34878D82A}">
                    <ns2:rowId val="10002"/>
                  </a:ext>
                </a:extLst>
              </a:tr>
            </a:tbl>
          </a:graphicData>
        </a:graphic>
      </p:graphicFrame>
    </p:spTree>
    <p:extLst>
      <p:ext uri="{BB962C8B-B14F-4D97-AF65-F5344CB8AC3E}">
        <ns3:creationId val="1096733524"/>
      </p:ext>
    </p:extLst>
  </p:cSld>
  <p:clrMapOvr>
    <a:masterClrMapping/>
  </p:clrMapOvr>
</p:sld>
</file>

<file path=ppt/slides/slide11.xml><?xml version="1.0" encoding="utf-8"?>
<p:sld xmlns:a="http://schemas.openxmlformats.org/drawingml/2006/main" xmlns:ns2="http://schemas.microsoft.com/office/drawing/2014/main" xmlns:ns3="http://schemas.openxmlformats.org/officeDocument/2006/relationships" xmlns:ns4="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08EAD4E1-3D53-4C49-AB23-9745759E927E}"/>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D20731E2-6B27-47E6-8055-57A3A9A7263C}"/>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2.2 Bundle Choice / Bundle Score Profile</a:t>
            </a:r>
          </a:p>
        </p:txBody>
      </p:sp>
      <p:sp>
        <p:nvSpPr>
          <p:cNvPr id="5" name="Rectangle 4">
            <a:extLst>
              <a:ext uri="{FF2B5EF4-FFF2-40B4-BE49-F238E27FC236}">
                <ns2:creationId id="{F449A091-9344-409B-86C0-1F4BA08C3B9B}"/>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D2BFDFFD-F4A5-4991-A5B1-059FEA9900D5}"/>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4437138F-4507-42EB-8368-E8B0C22999F7}"/>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57F6485E-CB97-4B2A-A60A-F4E01D2A0ABF}"/>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16 / 21</a:t>
            </a:r>
          </a:p>
        </p:txBody>
      </p:sp>
      <p:sp>
        <p:nvSpPr>
          <p:cNvPr id="9" name="Rectangle 8">
            <a:extLst>
              <a:ext uri="{FF2B5EF4-FFF2-40B4-BE49-F238E27FC236}">
                <ns2:creationId id="{64CD8E41-19AE-4F5D-9349-81963EC496DC}"/>
              </a:ext>
            </a:extLst>
          </p:cNvPr>
          <p:cNvSpPr>
            <a:spLocks noGrp="1"/>
          </p:cNvSpPr>
          <p:nvPr/>
        </p:nvSpPr>
        <p:spPr>
          <a:xfrm>
            <a:off x="609600" y="1381125"/>
            <a:ext cx="10668000" cy="266700"/>
          </a:xfrm>
          <a:prstGeom prst="rect">
            <a:avLst/>
          </a:prstGeom>
          <a:solidFill>
            <a:srgbClr val="000000">
              <a:alpha val="0"/>
            </a:srgbClr>
          </a:solidFill>
          <a:ln w="0">
            <a:solidFill>
              <a:srgbClr val="000000">
                <a:alpha val="0"/>
              </a:srgbClr>
            </a:solidFill>
            <a:prstDash val="solid"/>
          </a:ln>
        </p:spPr>
        <p:txBody>
          <a:bodyPr wrap="square" lIns="0" tIns="0" rIns="0" bIns="0"/>
          <a:lstStyle/>
          <a:p>
            <a:r>
              <a:rPr sz="1300">
                <a:solidFill>
                  <a:srgbClr val="F3F4F6"/>
                </a:solidFill>
                <a:latin typeface="Arial"/>
                <a:ea typeface="Arial"/>
                <a:cs typeface="Arial"/>
              </a:rPr>
              <a:t>Bundle fit separates high-visibility, multi-product, high-volume sellers from the Basic target group.</a:t>
            </a:r>
          </a:p>
        </p:txBody>
      </p:sp>
      <p:pic>
        <p:nvPicPr>
          <p:cNvPr id="10" name="Picture 9"/>
          <p:cNvPicPr>
            <a:picLocks noChangeAspect="1"/>
          </p:cNvPicPr>
          <p:nvPr/>
        </p:nvPicPr>
        <p:blipFill>
          <a:blip ns3:embed="rId3"/>
          <a:stretch/>
        </p:blipFill>
        <p:spPr>
          <a:xfrm>
            <a:off x="1042802" y="1762125"/>
            <a:ext cx="10106396" cy="4095750"/>
          </a:xfrm>
          <a:prstGeom prst="rect">
            <a:avLst/>
          </a:prstGeom>
        </p:spPr>
      </p:pic>
    </p:spTree>
    <p:extLst>
      <p:ext uri="{BB962C8B-B14F-4D97-AF65-F5344CB8AC3E}">
        <ns4:creationId val="145604665"/>
      </p:ext>
    </p:extLst>
  </p:cSld>
  <p:clrMapOvr>
    <a:masterClrMapping/>
  </p:clrMapOvr>
</p:sld>
</file>

<file path=ppt/slides/slide12.xml><?xml version="1.0" encoding="utf-8"?>
<p:sld xmlns:a="http://schemas.openxmlformats.org/drawingml/2006/main" xmlns:ns2="http://schemas.microsoft.com/office/drawing/2014/main" xmlns:ns3="http://schemas.microsoft.com/office/powerpoint/2010/main" xmlns:p="http://schemas.openxmlformats.org/presentationml/2006/main">
  <p:cSld>
    <p:bg>
      <p:bgPr>
        <a:solidFill>
          <a:srgbClr val="050505"/>
        </a:solidFill>
        <a:effectLst/>
      </p:bgPr>
    </p:bg>
    <p:spTree>
      <p:nvGrpSpPr>
        <p:cNvPr id="1" name=""/>
        <p:cNvGrpSpPr/>
        <p:nvPr/>
      </p:nvGrpSpPr>
      <p:grpSpPr>
        <a:xfrm>
          <a:off x="0" y="0"/>
          <a:ext cx="0" cy="0"/>
          <a:chOff x="0" y="0"/>
          <a:chExt cx="0" cy="0"/>
        </a:xfrm>
      </p:grpSpPr>
      <p:sp>
        <p:nvSpPr>
          <p:cNvPr id="2" name="Rectangle 1">
            <a:extLst>
              <a:ext uri="{FF2B5EF4-FFF2-40B4-BE49-F238E27FC236}">
                <ns2:creationId id="{19C2110D-4921-4034-885B-75E60A475876}"/>
              </a:ext>
            </a:extLst>
          </p:cNvPr>
          <p:cNvSpPr>
            <a:spLocks noGrp="1"/>
          </p:cNvSpPr>
          <p:nvPr/>
        </p:nvSpPr>
        <p:spPr>
          <a:xfrm>
            <a:off x="361950" y="323850"/>
            <a:ext cx="81915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800" b="1">
                <a:solidFill>
                  <a:srgbClr val="4FB3FF"/>
                </a:solidFill>
                <a:latin typeface="Arial"/>
                <a:ea typeface="Arial"/>
                <a:cs typeface="Arial"/>
              </a:defRPr>
            </a:pPr>
            <a:r>
              <a:rPr sz="3600" b="0">
                <a:solidFill>
                  <a:srgbClr val="4FB3FF"/>
                </a:solidFill>
                <a:latin typeface="Arial"/>
                <a:ea typeface="Arial"/>
                <a:cs typeface="Arial"/>
              </a:rPr>
              <a:t>02</a:t>
            </a:r>
          </a:p>
        </p:txBody>
      </p:sp>
      <p:sp>
        <p:nvSpPr>
          <p:cNvPr id="3" name="Rectangle 2">
            <a:extLst>
              <a:ext uri="{FF2B5EF4-FFF2-40B4-BE49-F238E27FC236}">
                <ns2:creationId id="{E22F8FFF-426B-4677-A8CA-E202EBA9C972}"/>
              </a:ext>
            </a:extLst>
          </p:cNvPr>
          <p:cNvSpPr>
            <a:spLocks noGrp="1"/>
          </p:cNvSpPr>
          <p:nvPr/>
        </p:nvSpPr>
        <p:spPr>
          <a:xfrm>
            <a:off x="1257300" y="323850"/>
            <a:ext cx="9953625" cy="714375"/>
          </a:xfrm>
          <a:prstGeom prst="rect">
            <a:avLst/>
          </a:prstGeom>
          <a:solidFill>
            <a:srgbClr val="000000">
              <a:alpha val="0"/>
            </a:srgbClr>
          </a:solidFill>
          <a:ln w="0">
            <a:solidFill>
              <a:srgbClr val="000000">
                <a:alpha val="0"/>
              </a:srgbClr>
            </a:solidFill>
            <a:prstDash val="solid"/>
          </a:ln>
        </p:spPr>
        <p:txBody>
          <a:bodyPr lIns="0" tIns="0" rIns="0" bIns="0" anchor="t"/>
          <a:lstStyle/>
          <a:p>
            <a:r>
              <a:rPr sz="3600" b="0">
                <a:solidFill>
                  <a:srgbClr val="F3F4F6"/>
                </a:solidFill>
                <a:latin typeface="Arial"/>
              </a:rPr>
              <a:t>2.3 Recommendation / Next Step</a:t>
            </a:r>
          </a:p>
        </p:txBody>
      </p:sp>
      <p:sp>
        <p:nvSpPr>
          <p:cNvPr id="5" name="Rectangle 4">
            <a:extLst>
              <a:ext uri="{FF2B5EF4-FFF2-40B4-BE49-F238E27FC236}">
                <ns2:creationId id="{A27F5B43-CE53-42B3-A962-D6A4BA444E4B}"/>
              </a:ext>
            </a:extLst>
          </p:cNvPr>
          <p:cNvSpPr>
            <a:spLocks noGrp="1"/>
          </p:cNvSpPr>
          <p:nvPr/>
        </p:nvSpPr>
        <p:spPr>
          <a:xfrm>
            <a:off x="457200" y="1162050"/>
            <a:ext cx="11277600" cy="0"/>
          </a:xfrm>
          <a:prstGeom prst="rect">
            <a:avLst/>
          </a:prstGeom>
          <a:solidFill>
            <a:srgbClr val="3A3A3A"/>
          </a:solidFill>
          <a:ln w="0">
            <a:solidFill>
              <a:srgbClr val="3A3A3A"/>
            </a:solidFill>
            <a:prstDash val="solid"/>
          </a:ln>
        </p:spPr>
        <p:txBody>
          <a:bodyPr/>
          <a:lstStyle/>
          <a:p>
            <a:endParaRPr lang="en-US"/>
          </a:p>
        </p:txBody>
      </p:sp>
      <p:sp>
        <p:nvSpPr>
          <p:cNvPr id="6" name="Rectangle 5">
            <a:extLst>
              <a:ext uri="{FF2B5EF4-FFF2-40B4-BE49-F238E27FC236}">
                <ns2:creationId id="{6409BF17-4950-48E2-B883-BE8719A9E71B}"/>
              </a:ext>
            </a:extLst>
          </p:cNvPr>
          <p:cNvSpPr>
            <a:spLocks noGrp="1"/>
          </p:cNvSpPr>
          <p:nvPr/>
        </p:nvSpPr>
        <p:spPr>
          <a:xfrm>
            <a:off x="457200" y="6210300"/>
            <a:ext cx="11277600" cy="0"/>
          </a:xfrm>
          <a:prstGeom prst="rect">
            <a:avLst/>
          </a:prstGeom>
          <a:solidFill>
            <a:srgbClr val="3A3A3A"/>
          </a:solidFill>
          <a:ln w="0">
            <a:solidFill>
              <a:srgbClr val="3A3A3A"/>
            </a:solidFill>
            <a:prstDash val="solid"/>
          </a:ln>
        </p:spPr>
        <p:txBody>
          <a:bodyPr/>
          <a:lstStyle/>
          <a:p>
            <a:endParaRPr lang="en-US"/>
          </a:p>
        </p:txBody>
      </p:sp>
      <p:sp>
        <p:nvSpPr>
          <p:cNvPr id="7" name="Rectangle 6">
            <a:extLst>
              <a:ext uri="{FF2B5EF4-FFF2-40B4-BE49-F238E27FC236}">
                <ns2:creationId id="{1E7584F0-C6E3-4F5D-B7E3-C511D035E972}"/>
              </a:ext>
            </a:extLst>
          </p:cNvPr>
          <p:cNvSpPr>
            <a:spLocks noGrp="1"/>
          </p:cNvSpPr>
          <p:nvPr/>
        </p:nvSpPr>
        <p:spPr>
          <a:xfrm>
            <a:off x="457200" y="6286500"/>
            <a:ext cx="7239000" cy="228600"/>
          </a:xfrm>
          <a:prstGeom prst="rect">
            <a:avLst/>
          </a:prstGeom>
          <a:solidFill>
            <a:srgbClr val="000000">
              <a:alpha val="0"/>
            </a:srgbClr>
          </a:solidFill>
          <a:ln w="0">
            <a:solidFill>
              <a:srgbClr val="000000">
                <a:alpha val="0"/>
              </a:srgbClr>
            </a:solidFill>
            <a:prstDash val="solid"/>
          </a:ln>
        </p:spPr>
        <p:txBody>
          <a:bodyPr lIns="0" tIns="0" rIns="0" bIns="0" anchor="t"/>
          <a:lstStyle/>
          <a:p>
            <a:r>
              <a:rPr sz="900" b="0">
                <a:solidFill>
                  <a:srgbClr val="A5A5A5"/>
                </a:solidFill>
                <a:latin typeface="Arial"/>
              </a:rPr>
              <a:t>Outreach Prioritization</a:t>
            </a:r>
          </a:p>
        </p:txBody>
      </p:sp>
      <p:sp>
        <p:nvSpPr>
          <p:cNvPr id="8" name="Rectangle 7">
            <a:extLst>
              <a:ext uri="{FF2B5EF4-FFF2-40B4-BE49-F238E27FC236}">
                <ns2:creationId id="{A63DB6D5-4022-42F1-ADB4-89F9E47A4717}"/>
              </a:ext>
            </a:extLst>
          </p:cNvPr>
          <p:cNvSpPr>
            <a:spLocks noGrp="1"/>
          </p:cNvSpPr>
          <p:nvPr/>
        </p:nvSpPr>
        <p:spPr>
          <a:xfrm>
            <a:off x="11144250" y="6286500"/>
            <a:ext cx="5905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defRPr sz="600" b="0">
                <a:solidFill>
                  <a:srgbClr val="A5A5A5"/>
                </a:solidFill>
                <a:latin typeface="Arial"/>
                <a:ea typeface="Arial"/>
                <a:cs typeface="Arial"/>
              </a:defRPr>
            </a:pPr>
            <a:r>
              <a:rPr sz="900" b="0">
                <a:solidFill>
                  <a:srgbClr val="A5A5A5"/>
                </a:solidFill>
                <a:latin typeface="Arial"/>
                <a:ea typeface="Arial"/>
                <a:cs typeface="Arial"/>
              </a:rPr>
              <a:t>17 / 21</a:t>
            </a:r>
          </a:p>
        </p:txBody>
      </p:sp>
      <p:sp>
        <p:nvSpPr>
          <p:cNvPr id="9" name="Rectangle 8">
            <a:extLst>
              <a:ext uri="{FF2B5EF4-FFF2-40B4-BE49-F238E27FC236}">
                <ns2:creationId id="{C3CE23CD-FC71-4E9A-86D6-40763AA638E5}"/>
              </a:ext>
            </a:extLst>
          </p:cNvPr>
          <p:cNvSpPr>
            <a:spLocks noGrp="1"/>
          </p:cNvSpPr>
          <p:nvPr/>
        </p:nvSpPr>
        <p:spPr>
          <a:xfrm>
            <a:off x="609600" y="1409700"/>
            <a:ext cx="4000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500" b="1">
                <a:solidFill>
                  <a:srgbClr val="4FB3FF"/>
                </a:solidFill>
                <a:latin typeface="Arial"/>
                <a:ea typeface="Arial"/>
                <a:cs typeface="Arial"/>
              </a:defRPr>
            </a:pPr>
            <a:r>
              <a:rPr sz="1500" b="1">
                <a:solidFill>
                  <a:srgbClr val="4FB3FF"/>
                </a:solidFill>
                <a:latin typeface="Arial"/>
                <a:ea typeface="Arial"/>
                <a:cs typeface="Arial"/>
              </a:rPr>
              <a:t>Recommendation</a:t>
            </a:r>
          </a:p>
        </p:txBody>
      </p:sp>
      <p:sp>
        <p:nvSpPr>
          <p:cNvPr id="12" name="Rectangle 11">
            <a:extLst>
              <a:ext uri="{FF2B5EF4-FFF2-40B4-BE49-F238E27FC236}">
                <ns2:creationId id="{95AA2D01-3FC6-405D-BAE3-6E6F83944251}"/>
              </a:ext>
            </a:extLst>
          </p:cNvPr>
          <p:cNvSpPr>
            <a:spLocks noGrp="1"/>
          </p:cNvSpPr>
          <p:nvPr/>
        </p:nvSpPr>
        <p:spPr>
          <a:xfrm>
            <a:off x="609600" y="1905000"/>
            <a:ext cx="10287000" cy="1523985"/>
          </a:xfrm>
          <a:prstGeom prst="rect">
            <a:avLst/>
          </a:prstGeom>
          <a:ln w="0">
            <a:noFill/>
          </a:ln>
        </p:spPr>
        <p:txBody>
          <a:bodyPr wrap="square" lIns="0" tIns="0" rIns="0" bIns="0"/>
          <a:lstStyle/>
          <a:p>
            <a:pPr>
              <a:spcAft>
                <a:spcPts val="560"/>
              </a:spcAft>
              <a:buClr>
                <a:srgbClr val="4FB3FF"/>
              </a:buClr>
            </a:pPr>
            <a:r>
              <a:rPr lang="en-US" sz="1400" dirty="0">
                <a:solidFill>
                  <a:srgbClr val="F7F7F2"/>
                </a:solidFill>
                <a:latin typeface="Arial"/>
                <a:ea typeface="Arial"/>
                <a:cs typeface="Arial"/>
              </a:rPr>
              <a:t>Use the outreach ready group for the first outreach batch.</a:t>
            </a:r>
          </a:p>
          <a:p>
            <a:pPr>
              <a:spcAft>
                <a:spcPts val="560"/>
              </a:spcAft>
              <a:buClr>
                <a:srgbClr val="4FB3FF"/>
              </a:buClr>
            </a:pPr>
            <a:endParaRPr lang="he-IL" sz="1400" dirty="0">
              <a:solidFill>
                <a:srgbClr val="F3F4F6"/>
              </a:solidFill>
              <a:latin typeface="Arial"/>
              <a:ea typeface="Arial"/>
              <a:cs typeface="Arial"/>
            </a:endParaRPr>
          </a:p>
          <a:p>
            <a:pPr marL="285750" indent="-285750" algn="l">
              <a:spcAft>
                <a:spcPts val="560"/>
              </a:spcAft>
              <a:buClr>
                <a:srgbClr val="4FB3FF"/>
              </a:buClr>
              <a:buFont typeface="Wingdings" pitchFamily="2" charset="2"/>
              <a:buChar char="§"/>
            </a:pPr>
            <a:r>
              <a:rPr lang="en-US" sz="1400" dirty="0">
                <a:solidFill>
                  <a:srgbClr val="F3F4F6"/>
                </a:solidFill>
                <a:latin typeface="Arial"/>
                <a:ea typeface="Arial"/>
                <a:cs typeface="Arial"/>
              </a:rPr>
              <a:t>Target</a:t>
            </a:r>
            <a:r>
              <a:rPr sz="1400" dirty="0">
                <a:solidFill>
                  <a:srgbClr val="F3F4F6"/>
                </a:solidFill>
                <a:latin typeface="Arial"/>
                <a:ea typeface="Arial"/>
                <a:cs typeface="Arial"/>
              </a:rPr>
              <a:t> sellers who are active, consistent, multi-category, growing, and already familiar with paid products.</a:t>
            </a:r>
          </a:p>
          <a:p>
            <a:pPr marL="285750" indent="-285750" algn="l">
              <a:spcAft>
                <a:spcPts val="560"/>
              </a:spcAft>
              <a:buClr>
                <a:srgbClr val="4FB3FF"/>
              </a:buClr>
              <a:buFont typeface="Wingdings" pitchFamily="2" charset="2"/>
              <a:buChar char="§"/>
            </a:pPr>
            <a:r>
              <a:rPr sz="1400" dirty="0">
                <a:solidFill>
                  <a:srgbClr val="F3F4F6"/>
                </a:solidFill>
                <a:latin typeface="Arial"/>
                <a:ea typeface="Arial"/>
                <a:cs typeface="Arial"/>
              </a:rPr>
              <a:t>These traits are closer to likely outreach response than fee history alone.</a:t>
            </a:r>
          </a:p>
        </p:txBody>
      </p:sp>
      <p:sp>
        <p:nvSpPr>
          <p:cNvPr id="17" name="Rectangle 16">
            <a:extLst>
              <a:ext uri="{FF2B5EF4-FFF2-40B4-BE49-F238E27FC236}">
                <ns2:creationId id="{86065781-2D58-42C4-BE7E-EF2389C8C0C1}"/>
              </a:ext>
            </a:extLst>
          </p:cNvPr>
          <p:cNvSpPr>
            <a:spLocks noGrp="1"/>
          </p:cNvSpPr>
          <p:nvPr/>
        </p:nvSpPr>
        <p:spPr>
          <a:xfrm>
            <a:off x="609600" y="4095750"/>
            <a:ext cx="47625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l">
              <a:defRPr sz="1275" b="1">
                <a:solidFill>
                  <a:srgbClr val="4FB3FF"/>
                </a:solidFill>
                <a:latin typeface="Arial"/>
                <a:ea typeface="Arial"/>
                <a:cs typeface="Arial"/>
              </a:defRPr>
            </a:pPr>
            <a:r>
              <a:rPr sz="1275" b="1">
                <a:solidFill>
                  <a:srgbClr val="4FB3FF"/>
                </a:solidFill>
                <a:latin typeface="Arial"/>
                <a:ea typeface="Arial"/>
                <a:cs typeface="Arial"/>
              </a:rPr>
              <a:t>Next Step: Outcome-Based Ranking</a:t>
            </a:r>
          </a:p>
        </p:txBody>
      </p:sp>
      <p:sp>
        <p:nvSpPr>
          <p:cNvPr id="19" name="Rectangle 18">
            <a:extLst>
              <a:ext uri="{FF2B5EF4-FFF2-40B4-BE49-F238E27FC236}">
                <ns2:creationId id="{3ED75C69-5068-4B59-BA40-07B39F108E3B}"/>
              </a:ext>
            </a:extLst>
          </p:cNvPr>
          <p:cNvSpPr>
            <a:spLocks noGrp="1"/>
          </p:cNvSpPr>
          <p:nvPr/>
        </p:nvSpPr>
        <p:spPr>
          <a:xfrm>
            <a:off x="609600" y="4552950"/>
            <a:ext cx="10287000" cy="1047750"/>
          </a:xfrm>
          <a:prstGeom prst="rect">
            <a:avLst/>
          </a:prstGeom>
          <a:ln w="0">
            <a:noFill/>
          </a:ln>
        </p:spPr>
        <p:txBody>
          <a:bodyPr wrap="square" lIns="0" tIns="0" rIns="0" bIns="0"/>
          <a:lstStyle/>
          <a:p>
            <a:pPr marL="285750" indent="-285750">
              <a:spcAft>
                <a:spcPts val="560"/>
              </a:spcAft>
              <a:buClr>
                <a:srgbClr val="4FB3FF"/>
              </a:buClr>
              <a:buFont typeface="Wingdings" pitchFamily="2" charset="2"/>
              <a:buChar char="§"/>
            </a:pPr>
            <a:r>
              <a:rPr sz="1400" dirty="0">
                <a:solidFill>
                  <a:srgbClr val="F3F4F6"/>
                </a:solidFill>
                <a:latin typeface="Arial"/>
                <a:cs typeface="Arial"/>
              </a:rPr>
              <a:t>After initial outreach, supervised learning could replace the manual score.</a:t>
            </a:r>
          </a:p>
          <a:p>
            <a:pPr marL="285750" indent="-285750">
              <a:spcAft>
                <a:spcPts val="560"/>
              </a:spcAft>
              <a:buClr>
                <a:srgbClr val="4FB3FF"/>
              </a:buClr>
              <a:buFont typeface="Wingdings" pitchFamily="2" charset="2"/>
              <a:buChar char="§"/>
            </a:pPr>
            <a:r>
              <a:rPr sz="1400" dirty="0">
                <a:solidFill>
                  <a:srgbClr val="F3F4F6"/>
                </a:solidFill>
                <a:latin typeface="Arial"/>
                <a:cs typeface="Arial"/>
              </a:rPr>
              <a:t>Train on response, conversion, and post-signup value.</a:t>
            </a:r>
          </a:p>
          <a:p>
            <a:pPr marL="285750" indent="-285750">
              <a:spcAft>
                <a:spcPts val="560"/>
              </a:spcAft>
              <a:buClr>
                <a:srgbClr val="4FB3FF"/>
              </a:buClr>
              <a:buFont typeface="Wingdings" pitchFamily="2" charset="2"/>
              <a:buChar char="§"/>
            </a:pPr>
            <a:r>
              <a:rPr sz="1400" dirty="0">
                <a:solidFill>
                  <a:srgbClr val="F3F4F6"/>
                </a:solidFill>
                <a:latin typeface="Arial"/>
                <a:cs typeface="Arial"/>
              </a:rPr>
              <a:t>Keep the ranking explainable for </a:t>
            </a:r>
            <a:r>
              <a:rPr lang="en-US" sz="1400" dirty="0">
                <a:solidFill>
                  <a:srgbClr val="F3F4F6"/>
                </a:solidFill>
                <a:latin typeface="Arial"/>
                <a:cs typeface="Arial"/>
              </a:rPr>
              <a:t>stakeholders</a:t>
            </a:r>
            <a:r>
              <a:rPr sz="1400" dirty="0">
                <a:solidFill>
                  <a:srgbClr val="F3F4F6"/>
                </a:solidFill>
                <a:latin typeface="Arial"/>
                <a:cs typeface="Arial"/>
              </a:rPr>
              <a:t> and leadership.</a:t>
            </a:r>
          </a:p>
        </p:txBody>
      </p:sp>
    </p:spTree>
    <p:extLst>
      <p:ext uri="{BB962C8B-B14F-4D97-AF65-F5344CB8AC3E}">
        <ns3:creationId val="163076038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TotalTime>
  <Words>1253</Words>
  <Application>Microsoft Macintosh PowerPoint</Application>
  <DocSecurity>0</DocSecurity>
  <PresentationFormat>Widescreen</PresentationFormat>
  <Paragraphs>230</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Wingdings</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Omer Tal</cp:lastModifiedBy>
  <cp:revision>15</cp:revision>
  <dcterms:created xsi:type="dcterms:W3CDTF">2026-06-13T20:58:21Z</dcterms:created>
  <dcterms:modified xsi:type="dcterms:W3CDTF">2026-06-14T10:59:48Z</dcterms:modified>
</cp:coreProperties>
</file>