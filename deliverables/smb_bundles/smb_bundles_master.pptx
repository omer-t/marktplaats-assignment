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6d8bfc4734ff1" /><Relationship Type="http://schemas.openxmlformats.org/officeDocument/2006/relationships/extended-properties" Target="/docProps/app.xml" Id="R320c8fe406984ad3" /><Relationship Type="http://schemas.openxmlformats.org/officeDocument/2006/relationships/officeDocument" Target="/ppt/presentation.xml" Id="R5ab51c50d03c49ce" /></Relationships>
</file>

<file path=ppt/presentation.xml><?xml version="1.0" encoding="utf-8"?>
<p:presentation xmlns:ns2="http://schemas.openxmlformats.org/drawingml/2006/main" xmlns:p="http://schemas.openxmlformats.org/presentationml/2006/main" xmlns:r="http://schemas.openxmlformats.org/officeDocument/2006/relationships">
  <p:sldMasterIdLst>
    <p:sldMasterId id="2147483648" r:id="R9dc8704213db48c6"/>
  </p:sldMasterIdLst>
  <p:notesMasterIdLst>
    <p:notesMasterId r:id="R2a4a174a24bd40f3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</p:sldIdLst>
  <p:sldSz cx="12192000" cy="6858000"/>
  <p:notesSz cx="6858000" cy="9144000"/>
  <p:defaultTextStyle>
    <ns2:defPPr>
      <ns2:defRPr lang="en-US"/>
    </ns2:defPPr>
    <ns2:lvl1pPr marL="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d939755c8c8f45da" /><Relationship Type="http://schemas.openxmlformats.org/officeDocument/2006/relationships/slideMaster" Target="/ppt/slideMasters/slideMaster1.xml" Id="R9dc8704213db48c6" /><Relationship Type="http://schemas.openxmlformats.org/officeDocument/2006/relationships/notesMaster" Target="/ppt/notesMasters/notesMaster1.xml" Id="R2a4a174a24bd40f3" /><Relationship Type="http://schemas.openxmlformats.org/officeDocument/2006/relationships/presProps" Target="/ppt/presProps.xml" Id="R8cf8a7315c124f90" /><Relationship Type="http://schemas.openxmlformats.org/officeDocument/2006/relationships/viewProps" Target="/ppt/viewProps.xml" Id="R5a602892d7e14ae2" /><Relationship Type="http://schemas.openxmlformats.org/officeDocument/2006/relationships/tableStyles" Target="/ppt/tableStyles.xml" Id="R7b78929a7b46439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slide" Target="/ppt/slides/slide12.xml" Id="rIdSlide12" /><Relationship Type="http://schemas.openxmlformats.org/officeDocument/2006/relationships/slide" Target="/ppt/slides/slide13.xml" Id="rIdSlide13" /><Relationship Type="http://schemas.openxmlformats.org/officeDocument/2006/relationships/slide" Target="/ppt/slides/slide14.xml" Id="rIdSlide14" /><Relationship Type="http://schemas.openxmlformats.org/officeDocument/2006/relationships/slide" Target="/ppt/slides/slide15.xml" Id="rIdSlide15" /><Relationship Type="http://schemas.openxmlformats.org/officeDocument/2006/relationships/slide" Target="/ppt/slides/slide16.xml" Id="rIdSlide16" /><Relationship Type="http://schemas.openxmlformats.org/officeDocument/2006/relationships/slide" Target="/ppt/slides/slide17.xml" Id="rIdSlide17" /><Relationship Type="http://schemas.openxmlformats.org/officeDocument/2006/relationships/slide" Target="/ppt/slides/slide18.xml" Id="rIdSlide18" /><Relationship Type="http://schemas.openxmlformats.org/officeDocument/2006/relationships/slide" Target="/ppt/slides/slide19.xml" Id="rIdSlide19" /><Relationship Type="http://schemas.openxmlformats.org/officeDocument/2006/relationships/slide" Target="/ppt/slides/slide20.xml" Id="rIdSlide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6023a4afe94c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../slides/slide1.xml" Id="Rf39fa9c73bc54f04" /><Relationship Type="http://schemas.openxmlformats.org/officeDocument/2006/relationships/notesMaster" Target="/ppt/notesMasters/notesMaster1.xml" Id="R73047ea25df04462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../slides/slide2.xml" Id="Rd03e1f6806494aa6" /><Relationship Type="http://schemas.openxmlformats.org/officeDocument/2006/relationships/notesMaster" Target="/ppt/notesMasters/notesMaster1.xml" Id="Raf46a1fe5f554044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../slides/slide3.xml" Id="Rd03e1f6806494aa6" /><Relationship Type="http://schemas.openxmlformats.org/officeDocument/2006/relationships/notesMaster" Target="/ppt/notesMasters/notesMaster1.xml" Id="Raf46a1fe5f55404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../slides/slide4.xml" Id="Rd03e1f6806494aa6" /><Relationship Type="http://schemas.openxmlformats.org/officeDocument/2006/relationships/notesMaster" Target="/ppt/notesMasters/notesMaster1.xml" Id="Raf46a1fe5f554044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../slides/slide5.xml" Id="Rd03e1f6806494aa6" /><Relationship Type="http://schemas.openxmlformats.org/officeDocument/2006/relationships/notesMaster" Target="/ppt/notesMasters/notesMaster1.xml" Id="Raf46a1fe5f554044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../slides/slide6.xml" Id="Rd03e1f6806494aa6" /><Relationship Type="http://schemas.openxmlformats.org/officeDocument/2006/relationships/notesMaster" Target="/ppt/notesMasters/notesMaster1.xml" Id="Raf46a1fe5f554044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../slides/slide7.xml" Id="Rd03e1f6806494aa6" /><Relationship Type="http://schemas.openxmlformats.org/officeDocument/2006/relationships/notesMaster" Target="/ppt/notesMasters/notesMaster1.xml" Id="Raf46a1fe5f554044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../slides/slide8.xml" Id="Rd03e1f6806494aa6" /><Relationship Type="http://schemas.openxmlformats.org/officeDocument/2006/relationships/notesMaster" Target="/ppt/notesMasters/notesMaster1.xml" Id="Raf46a1fe5f554044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../slides/slide9.xml" Id="Rd03e1f6806494aa6" /><Relationship Type="http://schemas.openxmlformats.org/officeDocument/2006/relationships/notesMaster" Target="/ppt/notesMasters/notesMaster1.xml" Id="Raf46a1fe5f554044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../slides/slide10.xml" Id="Rd03e1f6806494aa6" /><Relationship Type="http://schemas.openxmlformats.org/officeDocument/2006/relationships/notesMaster" Target="/ppt/notesMasters/notesMaster1.xml" Id="Raf46a1fe5f554044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../slides/slide11.xml" Id="Rd03e1f6806494aa6" /><Relationship Type="http://schemas.openxmlformats.org/officeDocument/2006/relationships/notesMaster" Target="/ppt/notesMasters/notesMaster1.xml" Id="Raf46a1fe5f554044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../slides/slide12.xml" Id="R6e699de6bf9749f7" /><Relationship Type="http://schemas.openxmlformats.org/officeDocument/2006/relationships/notesMaster" Target="/ppt/notesMasters/notesMaster1.xml" Id="Rf433391ec53441b0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../slides/slide13.xml" Id="R95d203b5aebb4e18" /><Relationship Type="http://schemas.openxmlformats.org/officeDocument/2006/relationships/notesMaster" Target="/ppt/notesMasters/notesMaster1.xml" Id="R1d890bcd542a4a4b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../slides/slide14.xml" Id="R960448c0decd4a93" /><Relationship Type="http://schemas.openxmlformats.org/officeDocument/2006/relationships/notesMaster" Target="/ppt/notesMasters/notesMaster1.xml" Id="R2d5b004bce624dc9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../slides/slide15.xml" Id="R5898eba535b64e81" /><Relationship Type="http://schemas.openxmlformats.org/officeDocument/2006/relationships/notesMaster" Target="/ppt/notesMasters/notesMaster1.xml" Id="Rb169819060244f21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../slides/slide16.xml" Id="Rd4c03b65caff4e51" /><Relationship Type="http://schemas.openxmlformats.org/officeDocument/2006/relationships/notesMaster" Target="/ppt/notesMasters/notesMaster1.xml" Id="Rbbbbd4e6c66340e3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../slides/slide17.xml" Id="Rce03c0a0ddc84efc" /><Relationship Type="http://schemas.openxmlformats.org/officeDocument/2006/relationships/notesMaster" Target="/ppt/notesMasters/notesMaster1.xml" Id="R641a8450f3b84335" 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../slides/slide18.xml" Id="Rd9dd5872d1b940e2" /><Relationship Type="http://schemas.openxmlformats.org/officeDocument/2006/relationships/notesMaster" Target="/ppt/notesMasters/notesMaster1.xml" Id="R1932deef297746a0" 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../slides/slide19.xml" Id="Rf54d17c923ee4119" /><Relationship Type="http://schemas.openxmlformats.org/officeDocument/2006/relationships/notesMaster" Target="/ppt/notesMasters/notesMaster1.xml" Id="R598548ad6f7b4bbd" /></Relationships>
</file>

<file path=ppt/notesSlides/_rels/notesSlide20.xml.rels><?xml version='1.0' encoding='utf-8'?>
<Relationships xmlns="http://schemas.openxmlformats.org/package/2006/relationships"><Relationship Type="http://schemas.openxmlformats.org/officeDocument/2006/relationships/slide" Target="../slides/slide20.xml" Id="Red2a272a0d3e4e1d" /><Relationship Type="http://schemas.openxmlformats.org/officeDocument/2006/relationships/notesMaster" Target="/ppt/notesMasters/notesMaster1.xml" Id="Rd47ddfc6d0284e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797df1b2d43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2dfed27e94c58" /><Relationship Type="http://schemas.openxmlformats.org/officeDocument/2006/relationships/slideLayout" Target="/ppt/slideLayouts/slideLayout1.xml" Id="R3b59c7e95e6149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9c7e95e6149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03c3c68af8714c33" /><Relationship Type="http://schemas.openxmlformats.org/officeDocument/2006/relationships/notesSlide" Target="../notesSlides/notesSlide12.xml" Id="Rbc1f06d91d8c4890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8af6dce0a828499c" /><Relationship Type="http://schemas.openxmlformats.org/officeDocument/2006/relationships/notesSlide" Target="../notesSlides/notesSlide13.xml" Id="R58c7db6a3a7f43d4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d04d3c34a33d4864" /><Relationship Type="http://schemas.openxmlformats.org/officeDocument/2006/relationships/notesSlide" Target="../notesSlides/notesSlide14.xml" Id="Re908eb84f97640b5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e13ded6c847c40db" /><Relationship Type="http://schemas.openxmlformats.org/officeDocument/2006/relationships/notesSlide" Target="../notesSlides/notesSlide15.xml" Id="R65ac494a3d814265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de7f3582c424810" /><Relationship Type="http://schemas.openxmlformats.org/officeDocument/2006/relationships/notesSlide" Target="../notesSlides/notesSlide16.xml" Id="Rbe2a3dba40ad4862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f90ad3c948284c74" /><Relationship Type="http://schemas.openxmlformats.org/officeDocument/2006/relationships/notesSlide" Target="../notesSlides/notesSlide17.xml" Id="R2b88dfad4b3a4ae4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966eb9d2d50a460e" /><Relationship Type="http://schemas.openxmlformats.org/officeDocument/2006/relationships/notesSlide" Target="../notesSlides/notesSlide18.xml" Id="R6c62255c1ecb42e6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cf6e0825de754308" /><Relationship Type="http://schemas.openxmlformats.org/officeDocument/2006/relationships/notesSlide" Target="../notesSlides/notesSlide19.xml" Id="Rdb20d8f43e6e4668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1.xml" Id="R4672c4285eba4043" /><Relationship Type="http://schemas.openxmlformats.org/officeDocument/2006/relationships/notesSlide" Target="../notesSlides/notesSlide20.xml" Id="Ref98aac85c9c4099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EBBD10-1276-4AAA-9B8D-C65480F9AF8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493776" y="548640"/>
            <a:ext cx="10561320" cy="713232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1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SMB Bundle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1345000"/>
            <a:ext cx="10600000" cy="4572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7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Home Assignment for Senior Marketing Analyst role at Marktplaats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1815675A-20BE-458D-8661-1BD3C6B5D0A5}"/>
              </a:ext>
            </a:extLst>
          </p:cNvPr>
          <p:cNvSpPr>
            <a:spLocks noGrp="1"/>
          </p:cNvSpPr>
          <p:nvPr/>
        </p:nvSpPr>
        <p:spPr>
          <a:xfrm>
            <a:off x="514350" y="2476500"/>
            <a:ext cx="1072515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2D3B7-74AF-47B5-98D9-9CE7B8677A13}"/>
              </a:ext>
            </a:extLst>
          </p:cNvPr>
          <p:cNvSpPr>
            <a:spLocks noGrp="1"/>
          </p:cNvSpPr>
          <p:nvPr/>
        </p:nvSpPr>
        <p:spPr>
          <a:xfrm>
            <a:off x="5905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A884B3-8E88-4E44-BA27-F7BBF3732FF8}"/>
              </a:ext>
            </a:extLst>
          </p:cNvPr>
          <p:cNvSpPr>
            <a:spLocks noGrp="1"/>
          </p:cNvSpPr>
          <p:nvPr/>
        </p:nvSpPr>
        <p:spPr>
          <a:xfrm>
            <a:off x="5905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BD2534-1DE9-463C-AC10-EFF47B62BF0C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Find likely SMB sellers using seller behavior and demand signals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33909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33909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FF63F0-A94C-4DAD-B65C-CD262DD81C46}"/>
              </a:ext>
            </a:extLst>
          </p:cNvPr>
          <p:cNvSpPr>
            <a:spLocks noGrp="1"/>
          </p:cNvSpPr>
          <p:nvPr/>
        </p:nvSpPr>
        <p:spPr>
          <a:xfrm>
            <a:off x="33909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Rank sellers by outreach readiness and bundle fit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619125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61F744-BCD6-4AD3-B28E-C37F1A29B1B1}"/>
              </a:ext>
            </a:extLst>
          </p:cNvPr>
          <p:cNvSpPr>
            <a:spLocks noGrp="1"/>
          </p:cNvSpPr>
          <p:nvPr/>
        </p:nvSpPr>
        <p:spPr>
          <a:xfrm>
            <a:off x="619125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Track bundle adoption, revenue, and customer quality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8991600" y="2914650"/>
            <a:ext cx="666750" cy="3619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8991600" y="3371850"/>
            <a:ext cx="21907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628688-FAE7-412B-8A94-7E5256E730B9}"/>
              </a:ext>
            </a:extLst>
          </p:cNvPr>
          <p:cNvSpPr>
            <a:spLocks noGrp="1"/>
          </p:cNvSpPr>
          <p:nvPr/>
        </p:nvSpPr>
        <p:spPr>
          <a:xfrm>
            <a:off x="8991600" y="3810000"/>
            <a:ext cx="2190750" cy="990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Use CRM and in-product prompts to grow adoption</a:t>
            </a:r>
          </a:p>
        </p:txBody>
      </p:sp>
      <p:sp>
        <p:nvSpPr>
          <p:cNvPr id="21" name="Meta information">
            <a:extLst>
              <a:ext uri="{FF2B5EF4-FFF2-40B4-BE49-F238E27FC236}">
                <a16:creationId xmlns:a16="http://schemas.microsoft.com/office/drawing/2014/main" id="{2BA5AE30-556F-45E9-9898-18A97F344CFD}"/>
              </a:ext>
            </a:extLst>
          </p:cNvPr>
          <p:cNvSpPr>
            <a:spLocks noGrp="1"/>
          </p:cNvSpPr>
          <p:nvPr/>
        </p:nvSpPr>
        <p:spPr>
          <a:xfrm>
            <a:off x="512064" y="1750000"/>
            <a:ext cx="5000000" cy="5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Omer Tal</a:t>
            </a:r>
          </a:p>
          <a:p>
            <a:pPr algn="l">
              <a:lnSpc>
                <a:spcPct val="108000"/>
              </a:lnSpc>
              <a:buNone/>
              <a:defRPr sz="13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ns2:creationId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ns2:creationId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ns2:creationId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ns2:creationId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ns2:creationId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ns2:creationId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  <p:sp>
        <p:nvSpPr>
          <p:cNvPr id="9" name="Framing intro">
            <a:extLst>
              <a:ext uri="{FF2B5EF4-FFF2-40B4-BE49-F238E27FC236}">
                <ns2:creationId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ns2:creationId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ns2:creationId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Business Setup accent">
            <a:extLst>
              <a:ext uri="{FF2B5EF4-FFF2-40B4-BE49-F238E27FC236}">
                <ns2:creationId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ns2:creationId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4" name="Signal bullet">
            <a:extLst>
              <a:ext uri="{FF2B5EF4-FFF2-40B4-BE49-F238E27FC236}">
                <ns2:creationId id="{7B56A51E-5F3E-422F-80C4-58E8EE88FB23}"/>
              </a:ext>
            </a:extLst>
          </p:cNvPr>
          <p:cNvSpPr>
            <a:spLocks noGrp="1"/>
          </p:cNvSpPr>
          <p:nvPr/>
        </p:nvSpPr>
        <p:spPr>
          <a:xfrm>
            <a:off x="78105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usiness Setup item">
            <a:extLst>
              <a:ext uri="{FF2B5EF4-FFF2-40B4-BE49-F238E27FC236}">
                <ns2:creationId id="{B4FC3418-FD5C-45BD-AC2C-BC074CB59259}"/>
              </a:ext>
            </a:extLst>
          </p:cNvPr>
          <p:cNvSpPr>
            <a:spLocks noGrp="1"/>
          </p:cNvSpPr>
          <p:nvPr/>
        </p:nvSpPr>
        <p:spPr>
          <a:xfrm>
            <a:off x="91440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</p:txBody>
      </p:sp>
      <p:sp>
        <p:nvSpPr>
          <p:cNvPr id="16" name="Signal bullet">
            <a:extLst>
              <a:ext uri="{FF2B5EF4-FFF2-40B4-BE49-F238E27FC236}">
                <ns2:creationId id="{B14A1CE9-D141-4F64-A7EF-D4B4BF92A59E}"/>
              </a:ext>
            </a:extLst>
          </p:cNvPr>
          <p:cNvSpPr>
            <a:spLocks noGrp="1"/>
          </p:cNvSpPr>
          <p:nvPr/>
        </p:nvSpPr>
        <p:spPr>
          <a:xfrm>
            <a:off x="78105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Business Setup item">
            <a:extLst>
              <a:ext uri="{FF2B5EF4-FFF2-40B4-BE49-F238E27FC236}">
                <ns2:creationId id="{B469ED38-7D8B-4DE8-9700-530B606571D5}"/>
              </a:ext>
            </a:extLst>
          </p:cNvPr>
          <p:cNvSpPr>
            <a:spLocks noGrp="1"/>
          </p:cNvSpPr>
          <p:nvPr/>
        </p:nvSpPr>
        <p:spPr>
          <a:xfrm>
            <a:off x="91440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18" name="Paid Usage card">
            <a:extLst>
              <a:ext uri="{FF2B5EF4-FFF2-40B4-BE49-F238E27FC236}">
                <ns2:creationId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ns2:creationId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ns2:creationId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1" name="Signal bullet">
            <a:extLst>
              <a:ext uri="{FF2B5EF4-FFF2-40B4-BE49-F238E27FC236}">
                <ns2:creationId id="{CA725DE6-45B1-4EFE-B3C9-EF75F8B52A9A}"/>
              </a:ext>
            </a:extLst>
          </p:cNvPr>
          <p:cNvSpPr>
            <a:spLocks noGrp="1"/>
          </p:cNvSpPr>
          <p:nvPr/>
        </p:nvSpPr>
        <p:spPr>
          <a:xfrm>
            <a:off x="300228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aid Usage item">
            <a:extLst>
              <a:ext uri="{FF2B5EF4-FFF2-40B4-BE49-F238E27FC236}">
                <ns2:creationId id="{0675CBDE-5BDB-4CA7-ABBF-BA7C7327CCA2}"/>
              </a:ext>
            </a:extLst>
          </p:cNvPr>
          <p:cNvSpPr>
            <a:spLocks noGrp="1"/>
          </p:cNvSpPr>
          <p:nvPr/>
        </p:nvSpPr>
        <p:spPr>
          <a:xfrm>
            <a:off x="313563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</p:txBody>
      </p:sp>
      <p:sp>
        <p:nvSpPr>
          <p:cNvPr id="23" name="Signal bullet">
            <a:extLst>
              <a:ext uri="{FF2B5EF4-FFF2-40B4-BE49-F238E27FC236}">
                <ns2:creationId id="{21856CE8-A264-4587-95B3-029FD2FBDEDD}"/>
              </a:ext>
            </a:extLst>
          </p:cNvPr>
          <p:cNvSpPr>
            <a:spLocks noGrp="1"/>
          </p:cNvSpPr>
          <p:nvPr/>
        </p:nvSpPr>
        <p:spPr>
          <a:xfrm>
            <a:off x="300228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Paid Usage item">
            <a:extLst>
              <a:ext uri="{FF2B5EF4-FFF2-40B4-BE49-F238E27FC236}">
                <ns2:creationId id="{77ECC5B7-96DB-4BA4-BF5D-832D68C65387}"/>
              </a:ext>
            </a:extLst>
          </p:cNvPr>
          <p:cNvSpPr>
            <a:spLocks noGrp="1"/>
          </p:cNvSpPr>
          <p:nvPr/>
        </p:nvSpPr>
        <p:spPr>
          <a:xfrm>
            <a:off x="313563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25" name="Seller Activity card">
            <a:extLst>
              <a:ext uri="{FF2B5EF4-FFF2-40B4-BE49-F238E27FC236}">
                <ns2:creationId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ns2:creationId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ns2:creationId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28" name="Signal bullet">
            <a:extLst>
              <a:ext uri="{FF2B5EF4-FFF2-40B4-BE49-F238E27FC236}">
                <ns2:creationId id="{144F21A3-D738-452D-AAE6-160D2E809261}"/>
              </a:ext>
            </a:extLst>
          </p:cNvPr>
          <p:cNvSpPr>
            <a:spLocks noGrp="1"/>
          </p:cNvSpPr>
          <p:nvPr/>
        </p:nvSpPr>
        <p:spPr>
          <a:xfrm>
            <a:off x="522351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eller Activity item">
            <a:extLst>
              <a:ext uri="{FF2B5EF4-FFF2-40B4-BE49-F238E27FC236}">
                <ns2:creationId id="{49F3CCD9-43DB-4DF4-9E52-3895C28C1A51}"/>
              </a:ext>
            </a:extLst>
          </p:cNvPr>
          <p:cNvSpPr>
            <a:spLocks noGrp="1"/>
          </p:cNvSpPr>
          <p:nvPr/>
        </p:nvSpPr>
        <p:spPr>
          <a:xfrm>
            <a:off x="535686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0" name="Signal bullet">
            <a:extLst>
              <a:ext uri="{FF2B5EF4-FFF2-40B4-BE49-F238E27FC236}">
                <ns2:creationId id="{8BC7A4E6-11F4-43B9-9D4F-3980FAEC70AE}"/>
              </a:ext>
            </a:extLst>
          </p:cNvPr>
          <p:cNvSpPr>
            <a:spLocks noGrp="1"/>
          </p:cNvSpPr>
          <p:nvPr/>
        </p:nvSpPr>
        <p:spPr>
          <a:xfrm>
            <a:off x="522351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eller Activity item">
            <a:extLst>
              <a:ext uri="{FF2B5EF4-FFF2-40B4-BE49-F238E27FC236}">
                <ns2:creationId id="{0E9B555A-9C31-4082-A516-9A9DEA35A176}"/>
              </a:ext>
            </a:extLst>
          </p:cNvPr>
          <p:cNvSpPr>
            <a:spLocks noGrp="1"/>
          </p:cNvSpPr>
          <p:nvPr/>
        </p:nvSpPr>
        <p:spPr>
          <a:xfrm>
            <a:off x="535686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32" name="Category Focus card">
            <a:extLst>
              <a:ext uri="{FF2B5EF4-FFF2-40B4-BE49-F238E27FC236}">
                <ns2:creationId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ns2:creationId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ns2:creationId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5" name="Signal bullet">
            <a:extLst>
              <a:ext uri="{FF2B5EF4-FFF2-40B4-BE49-F238E27FC236}">
                <ns2:creationId id="{7A6351F8-4C68-48D0-B0B9-9D66CF8A3D68}"/>
              </a:ext>
            </a:extLst>
          </p:cNvPr>
          <p:cNvSpPr>
            <a:spLocks noGrp="1"/>
          </p:cNvSpPr>
          <p:nvPr/>
        </p:nvSpPr>
        <p:spPr>
          <a:xfrm>
            <a:off x="744474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tegory Focus item">
            <a:extLst>
              <a:ext uri="{FF2B5EF4-FFF2-40B4-BE49-F238E27FC236}">
                <ns2:creationId id="{B1A97181-513A-4A9F-A03F-DD5DB8ED741A}"/>
              </a:ext>
            </a:extLst>
          </p:cNvPr>
          <p:cNvSpPr>
            <a:spLocks noGrp="1"/>
          </p:cNvSpPr>
          <p:nvPr/>
        </p:nvSpPr>
        <p:spPr>
          <a:xfrm>
            <a:off x="757809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category/subcategory</a:t>
            </a:r>
          </a:p>
        </p:txBody>
      </p:sp>
      <p:sp>
        <p:nvSpPr>
          <p:cNvPr id="37" name="Signal bullet">
            <a:extLst>
              <a:ext uri="{FF2B5EF4-FFF2-40B4-BE49-F238E27FC236}">
                <ns2:creationId id="{3BE1C13B-6D87-4F60-9FC9-A66B16638F60}"/>
              </a:ext>
            </a:extLst>
          </p:cNvPr>
          <p:cNvSpPr>
            <a:spLocks noGrp="1"/>
          </p:cNvSpPr>
          <p:nvPr/>
        </p:nvSpPr>
        <p:spPr>
          <a:xfrm>
            <a:off x="744474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tegory Focus item">
            <a:extLst>
              <a:ext uri="{FF2B5EF4-FFF2-40B4-BE49-F238E27FC236}">
                <ns2:creationId id="{0C6E2724-9D5D-4507-85DB-BC4B505BB9E6}"/>
              </a:ext>
            </a:extLst>
          </p:cNvPr>
          <p:cNvSpPr>
            <a:spLocks noGrp="1"/>
          </p:cNvSpPr>
          <p:nvPr/>
        </p:nvSpPr>
        <p:spPr>
          <a:xfrm>
            <a:off x="757809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Category-specific thresholds</a:t>
            </a:r>
          </a:p>
        </p:txBody>
      </p:sp>
      <p:sp>
        <p:nvSpPr>
          <p:cNvPr id="39" name="Buyer Demand card">
            <a:extLst>
              <a:ext uri="{FF2B5EF4-FFF2-40B4-BE49-F238E27FC236}">
                <ns2:creationId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ns2:creationId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ns2:creationId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2" name="Signal bullet">
            <a:extLst>
              <a:ext uri="{FF2B5EF4-FFF2-40B4-BE49-F238E27FC236}">
                <ns2:creationId id="{29AAEA38-388B-4218-AF99-760F3ACB07B3}"/>
              </a:ext>
            </a:extLst>
          </p:cNvPr>
          <p:cNvSpPr>
            <a:spLocks noGrp="1"/>
          </p:cNvSpPr>
          <p:nvPr/>
        </p:nvSpPr>
        <p:spPr>
          <a:xfrm>
            <a:off x="966597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uyer Demand item">
            <a:extLst>
              <a:ext uri="{FF2B5EF4-FFF2-40B4-BE49-F238E27FC236}">
                <ns2:creationId id="{6EF00164-93C6-4F9D-A165-828EA0E36D9A}"/>
              </a:ext>
            </a:extLst>
          </p:cNvPr>
          <p:cNvSpPr>
            <a:spLocks noGrp="1"/>
          </p:cNvSpPr>
          <p:nvPr/>
        </p:nvSpPr>
        <p:spPr>
          <a:xfrm>
            <a:off x="979932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</p:txBody>
      </p:sp>
      <p:sp>
        <p:nvSpPr>
          <p:cNvPr id="44" name="Signal bullet">
            <a:extLst>
              <a:ext uri="{FF2B5EF4-FFF2-40B4-BE49-F238E27FC236}">
                <ns2:creationId id="{25757DBF-E54D-41B9-8864-36A3772C014F}"/>
              </a:ext>
            </a:extLst>
          </p:cNvPr>
          <p:cNvSpPr>
            <a:spLocks noGrp="1"/>
          </p:cNvSpPr>
          <p:nvPr/>
        </p:nvSpPr>
        <p:spPr>
          <a:xfrm>
            <a:off x="966597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Buyer Demand item">
            <a:extLst>
              <a:ext uri="{FF2B5EF4-FFF2-40B4-BE49-F238E27FC236}">
                <ns2:creationId id="{C27D2C33-21D5-4658-8E6A-35747344CF5E}"/>
              </a:ext>
            </a:extLst>
          </p:cNvPr>
          <p:cNvSpPr>
            <a:spLocks noGrp="1"/>
          </p:cNvSpPr>
          <p:nvPr/>
        </p:nvSpPr>
        <p:spPr>
          <a:xfrm>
            <a:off x="979932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  <p:sp>
        <p:nvSpPr>
          <p:cNvPr id="46" name="Scoring Flow label">
            <a:extLst>
              <a:ext uri="{FF2B5EF4-FFF2-40B4-BE49-F238E27FC236}">
                <ns2:creationId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ns2:creationId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ns2:creationId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ns2:creationId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ns2:creationId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305752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ns2:creationId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ns2:creationId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ns2:creationId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ns2:creationId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67400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ns2:creationId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ns2:creationId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ns2:creationId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ns2:creationId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7727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ns2:creationId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ns2:creationId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ns2:creationId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</p:spTree>
    <p:extLst>
      <p:ext uri="{BB962C8B-B14F-4D97-AF65-F5344CB8AC3E}">
        <ns3:creationId val="156578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ns2:creationId id="{9B99C13B-D96C-4CE3-A99D-EEC47E04FC52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ns2:creationId id="{F418B9B4-1E2F-4CC1-B49D-5F6E73EACFA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p:txBody>
      </p:sp>
      <p:sp>
        <p:nvSpPr>
          <p:cNvPr id="5" name="Divider">
            <a:extLst>
              <a:ext uri="{FF2B5EF4-FFF2-40B4-BE49-F238E27FC236}">
                <ns2:creationId id="{389B6C05-0CB8-47D9-807C-9FB880C49BF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Divider">
            <a:extLst>
              <a:ext uri="{FF2B5EF4-FFF2-40B4-BE49-F238E27FC236}">
                <ns2:creationId id="{DAE51419-1FE7-4CE0-922B-B1D781F0F39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ns2:creationId id="{156E590D-3E7B-43ED-86D8-86950CA69CF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ns2:creationId id="{D948341B-6D56-43D2-9783-B62A329B314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16" name="Combined signal">
            <a:extLst>
              <a:ext uri="{FF2B5EF4-FFF2-40B4-BE49-F238E27FC236}">
                <ns2:creationId id="{D83D076D-E780-418E-AF42-7556841364D6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p:txBody>
      </p:sp>
      <p:sp>
        <p:nvSpPr>
          <p:cNvPr id="17" name="Potential Metrics">
            <a:extLst>
              <a:ext uri="{FF2B5EF4-FFF2-40B4-BE49-F238E27FC236}">
                <ns2:creationId id="{803860D4-8BEE-4C49-A0F7-6B5EC0893A0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8" name="Scoring window">
            <a:extLst>
              <a:ext uri="{FF2B5EF4-FFF2-40B4-BE49-F238E27FC236}">
                <ns2:creationId id="{71E17E3F-18A3-4169-9218-018DB913F7F4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p:txBody>
      </p:sp>
      <p:graphicFrame>
        <p:nvGraphicFramePr>
          <p:cNvPr id="19" name="Potential Metrics table"/>
          <p:cNvGraphicFramePr/>
          <p:nvPr>
            <p:extLst>
              <p:ext uri="{D42A27DB-BD31-4B8C-83A1-F6EECF244321}">
                <ns3:modId val="2713399914"/>
              </p:ext>
            </p:extLst>
          </p:nvPr>
        </p:nvGraphicFramePr>
        <p:xfrm>
          <a:off x="609600" y="2399549"/>
          <a:ext cx="10972800" cy="762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3238500">
                  <a:extLst>
                    <a:ext uri="{9D8B030D-6E8A-4147-A177-3AD203B41FA5}">
                      <ns2:colId val="20001"/>
                    </a:ext>
                  </a:extLst>
                </a:gridCol>
                <a:gridCol w="478155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Ad Related Info.User id</a:t>
                      </a: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100" b="1">
                          <a:solidFill>
                            <a:srgbClr val="FFD426"/>
                          </a:solidFill>
                          <a:latin typeface="Arial"/>
                          <a:ea typeface="Arial"/>
                          <a:cs typeface="Arial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p:graphicFrame>
      <p:sp>
        <p:nvSpPr>
          <p:cNvPr id="34" name="Business-prone examples label">
            <a:extLst>
              <a:ext uri="{FF2B5EF4-FFF2-40B4-BE49-F238E27FC236}">
                <ns2:creationId id="{659BC4DA-48DD-4F7A-AAA1-C8016FE1E228}"/>
              </a:ext>
            </a:extLst>
          </p:cNvPr>
          <p:cNvSpPr>
            <a:spLocks noGrp="1"/>
          </p:cNvSpPr>
          <p:nvPr/>
        </p:nvSpPr>
        <p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p:txBody>
      </p:sp>
      <p:sp>
        <p:nvSpPr>
          <p:cNvPr id="35" name="Example item divider">
            <a:extLst>
              <a:ext uri="{FF2B5EF4-FFF2-40B4-BE49-F238E27FC236}">
                <ns2:creationId id="{0746B772-4448-42AF-815E-C2D7BD502F99}"/>
              </a:ext>
            </a:extLst>
          </p:cNvPr>
          <p:cNvSpPr>
            <a:spLocks noGrp="1"/>
          </p:cNvSpPr>
          <p:nvPr/>
        </p:nvSpPr>
        <p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pPr marL="0" indent="0" algn="l" defTabSz="914400" rtl="0"/>
            <a:endParaRPr/>
          </a:p>
        </p:txBody>
      </p:sp>
      <p:sp>
        <p:nvSpPr>
          <p:cNvPr id="36" name="Example categories">
            <a:extLst>
              <a:ext uri="{FF2B5EF4-FFF2-40B4-BE49-F238E27FC236}">
                <ns2:creationId id="{9B73CDFC-1992-4118-968A-20482CD149D3}"/>
              </a:ext>
            </a:extLst>
          </p:cNvPr>
          <p:cNvSpPr>
            <a:spLocks noGrp="1"/>
          </p:cNvSpPr>
          <p:nvPr/>
        </p:nvSpPr>
        <p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High-value / dealer-like: Cars; Motorcycles; Caravans and Camping; Water Sports and Boats; Car Parts</a:t>
            </a:r>
          </a:p>
        </p:txBody>
      </p:sp>
      <p:sp>
        <p:nvSpPr>
          <p:cNvPr id="37" name="Example why">
            <a:extLst>
              <a:ext uri="{FF2B5EF4-FFF2-40B4-BE49-F238E27FC236}">
                <ns2:creationId id="{1E0A8FA6-A458-42C1-80BA-A4B07BDF1EF7}"/>
              </a:ext>
            </a:extLst>
          </p:cNvPr>
          <p:cNvSpPr>
            <a:spLocks noGrp="1"/>
          </p:cNvSpPr>
          <p:nvPr/>
        </p:nvSpPr>
        <p:spPr>
          <a:xfrm>
            <a:off x="6096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p:txBody>
      </p:sp>
      <p:sp>
        <p:nvSpPr>
          <p:cNvPr id="38" name="Example item divider">
            <a:extLst>
              <a:ext uri="{FF2B5EF4-FFF2-40B4-BE49-F238E27FC236}">
                <ns2:creationId id="{2246B849-9CAA-4CDA-9731-69F8CD0A2366}"/>
              </a:ext>
            </a:extLst>
          </p:cNvPr>
          <p:cNvSpPr>
            <a:spLocks noGrp="1"/>
          </p:cNvSpPr>
          <p:nvPr/>
        </p:nvSpPr>
        <p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Example categories">
            <a:extLst>
              <a:ext uri="{FF2B5EF4-FFF2-40B4-BE49-F238E27FC236}">
                <ns2:creationId id="{05E1252A-3BA3-47D5-A31B-89A38C20CC26}"/>
              </a:ext>
            </a:extLst>
          </p:cNvPr>
          <p:cNvSpPr>
            <a:spLocks noGrp="1"/>
          </p:cNvSpPr>
          <p:nvPr/>
        </p:nvSpPr>
        <p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Service / business: Business Goods; Services and Tradespeople; Jobs</a:t>
            </a:r>
          </a:p>
        </p:txBody>
      </p:sp>
      <p:sp>
        <p:nvSpPr>
          <p:cNvPr id="40" name="Example why">
            <a:extLst>
              <a:ext uri="{FF2B5EF4-FFF2-40B4-BE49-F238E27FC236}">
                <ns2:creationId id="{68867B21-8782-4DF8-8880-22929423EB02}"/>
              </a:ext>
            </a:extLst>
          </p:cNvPr>
          <p:cNvSpPr>
            <a:spLocks noGrp="1"/>
          </p:cNvSpPr>
          <p:nvPr/>
        </p:nvSpPr>
        <p:spPr>
          <a:xfrm>
            <a:off x="6504300" y="4499908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p:txBody>
      </p:sp>
      <p:sp>
        <p:nvSpPr>
          <p:cNvPr id="41" name="Example item divider">
            <a:extLst>
              <a:ext uri="{FF2B5EF4-FFF2-40B4-BE49-F238E27FC236}">
                <ns2:creationId id="{46290ABC-8BFD-49DD-91E3-CB896903A01E}"/>
              </a:ext>
            </a:extLst>
          </p:cNvPr>
          <p:cNvSpPr>
            <a:spLocks noGrp="1"/>
          </p:cNvSpPr>
          <p:nvPr/>
        </p:nvSpPr>
        <p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Example categories">
            <a:extLst>
              <a:ext uri="{FF2B5EF4-FFF2-40B4-BE49-F238E27FC236}">
                <ns2:creationId id="{81EB442F-FC8F-40E9-8077-ABF9D2585C70}"/>
              </a:ext>
            </a:extLst>
          </p:cNvPr>
          <p:cNvSpPr>
            <a:spLocks noGrp="1"/>
          </p:cNvSpPr>
          <p:nvPr/>
        </p:nvSpPr>
        <p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Consumer resale: Clothing - Women; Clothing - Men; Books; Children and Babies; CDs and DVDs; Games</a:t>
            </a:r>
          </a:p>
        </p:txBody>
      </p:sp>
      <p:sp>
        <p:nvSpPr>
          <p:cNvPr id="43" name="Example why">
            <a:extLst>
              <a:ext uri="{FF2B5EF4-FFF2-40B4-BE49-F238E27FC236}">
                <ns2:creationId id="{F4F683C7-B8B2-495B-9A05-8AE2430F2B8D}"/>
              </a:ext>
            </a:extLst>
          </p:cNvPr>
          <p:cNvSpPr>
            <a:spLocks noGrp="1"/>
          </p:cNvSpPr>
          <p:nvPr/>
        </p:nvSpPr>
        <p:spPr>
          <a:xfrm>
            <a:off x="6096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p:txBody>
      </p:sp>
      <p:sp>
        <p:nvSpPr>
          <p:cNvPr id="44" name="Example item divider">
            <a:extLst>
              <a:ext uri="{FF2B5EF4-FFF2-40B4-BE49-F238E27FC236}">
                <ns2:creationId id="{270BFA4F-4A2C-451F-878F-365194EE9BFD}"/>
              </a:ext>
            </a:extLst>
          </p:cNvPr>
          <p:cNvSpPr>
            <a:spLocks noGrp="1"/>
          </p:cNvSpPr>
          <p:nvPr/>
        </p:nvSpPr>
        <p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Example categories">
            <a:extLst>
              <a:ext uri="{FF2B5EF4-FFF2-40B4-BE49-F238E27FC236}">
                <ns2:creationId id="{E7993DFD-C6D0-4236-B790-67BBBC329E2F}"/>
              </a:ext>
            </a:extLst>
          </p:cNvPr>
          <p:cNvSpPr>
            <a:spLocks noGrp="1"/>
          </p:cNvSpPr>
          <p:nvPr/>
        </p:nvSpPr>
        <p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000">
                <a:solidFill>
                  <a:srgbClr val="A5A5A5"/>
                </a:solidFill>
                <a:latin typeface="Arial"/>
                <a:ea typeface="Arial"/>
                <a:cs typeface="Arial"/>
              </a:rPr>
              <a:t>Broad / mixed: Miscellaneous; Home and Furnishings; Garden and Terrace; Hobby and Leisure; Collectibles</a:t>
            </a:r>
          </a:p>
        </p:txBody>
      </p:sp>
      <p:sp>
        <p:nvSpPr>
          <p:cNvPr id="46" name="Example why">
            <a:extLst>
              <a:ext uri="{FF2B5EF4-FFF2-40B4-BE49-F238E27FC236}">
                <ns2:creationId id="{0B46B18E-296E-4763-8294-A758936DF528}"/>
              </a:ext>
            </a:extLst>
          </p:cNvPr>
          <p:cNvSpPr>
            <a:spLocks noGrp="1"/>
          </p:cNvSpPr>
          <p:nvPr/>
        </p:nvSpPr>
        <p:spPr>
          <a:xfrm>
            <a:off x="6504300" y="5404783"/>
            <a:ext cx="5295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p:txBody>
      </p:sp>
    </p:spTree>
    <p:extLst>
      <p:ext uri="{BB962C8B-B14F-4D97-AF65-F5344CB8AC3E}">
        <ns3:creationId val="16301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user_id, smb_score,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12C074E-E0E1-480A-AF43-C96D5509C210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970A0786-B0C0-4DEF-82E1-6822BF3E0C6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C205BF2C-C6B8-4843-97ED-0BFF2B9D4D14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>
              <a:ext uri="{FF2B5EF4-FFF2-40B4-BE49-F238E27FC236}">
                <ns2:creationId id="{4D6B6D69-4828-4FC2-8746-D4B37E9D8B5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>
              <a:ext uri="{FF2B5EF4-FFF2-40B4-BE49-F238E27FC236}">
                <ns2:creationId id="{7C2FE443-1366-4E89-BEE5-C60CD06CC394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6" name="">
            <a:extLst>
              <a:ext uri="{FF2B5EF4-FFF2-40B4-BE49-F238E27FC236}">
                <ns2:creationId id="{148BC242-79F7-4A89-ABD0-157B172BB116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Outreach should rank bundle readiness, not just historical spend.</a:t>
            </a:r>
          </a:p>
        </p:txBody>
      </p:sp>
      <p:sp>
        <p:nvSpPr>
          <p:cNvPr id="7" name="">
            <a:extLst>
              <a:ext uri="{FF2B5EF4-FFF2-40B4-BE49-F238E27FC236}">
                <ns2:creationId id="{471FC025-B4E9-469A-ABA7-DA5C07FDFC4F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65DE0F3F-360A-4116-9601-5D7300DDB2BC}"/>
              </a:ext>
            </a:extLst>
          </p:cNvPr>
          <p:cNvSpPr>
            <a:spLocks noGrp="1"/>
          </p:cNvSpPr>
          <p:nvPr/>
        </p:nvSpPr>
        <p:spPr>
          <a:xfrm>
            <a:off x="495300" y="4143375"/>
            <a:ext cx="2095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Sample context</a:t>
            </a:r>
          </a:p>
        </p:txBody>
      </p:sp>
      <p:sp>
        <p:nvSpPr>
          <p:cNvPr id="9" name="">
            <a:extLst>
              <a:ext uri="{FF2B5EF4-FFF2-40B4-BE49-F238E27FC236}">
                <ns2:creationId id="{6BA58DF7-54C9-4811-8D7A-1AB96B9219CA}"/>
              </a:ext>
            </a:extLst>
          </p:cNvPr>
          <p:cNvSpPr>
            <a:spLocks noGrp="1"/>
          </p:cNvSpPr>
          <p:nvPr/>
        </p:nvSpPr>
        <p:spPr>
          <a:xfrm>
            <a:off x="495300" y="4581525"/>
            <a:ext cx="76200" cy="762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0" name="">
            <a:extLst>
              <a:ext uri="{FF2B5EF4-FFF2-40B4-BE49-F238E27FC236}">
                <ns2:creationId id="{7B5EC70E-C925-4920-BB04-F620648DDB77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94869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Data covers 129,501 seller-month-category rows, 3,840 sellers, 24 months, and 32 categories.</a:t>
            </a:r>
          </a:p>
        </p:txBody>
      </p:sp>
      <p:sp>
        <p:nvSpPr>
          <p:cNvPr id="11" name="">
            <a:extLst>
              <a:ext uri="{FF2B5EF4-FFF2-40B4-BE49-F238E27FC236}">
                <ns2:creationId id="{6842D45A-F9E6-40B8-91D8-F2F4D7D09C12}"/>
              </a:ext>
            </a:extLst>
          </p:cNvPr>
          <p:cNvSpPr>
            <a:spLocks noGrp="1"/>
          </p:cNvSpPr>
          <p:nvPr/>
        </p:nvSpPr>
        <p:spPr>
          <a:xfrm>
            <a:off x="495300" y="4981575"/>
            <a:ext cx="76200" cy="762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2" name="">
            <a:extLst>
              <a:ext uri="{FF2B5EF4-FFF2-40B4-BE49-F238E27FC236}">
                <ns2:creationId id="{DA6466D8-012D-482D-8EE9-381FB93A4C7A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94869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Quality checks found no missing values, duplicate seller-month-category rows, or negative metric values.</a:t>
            </a:r>
          </a:p>
        </p:txBody>
      </p:sp>
    </p:spTree>
    <p:extLst>
      <p:ext uri="{BB962C8B-B14F-4D97-AF65-F5344CB8AC3E}">
        <ns3:creationId val="135233703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C601EFA2-B56C-47D4-9B0D-BB9990E17B5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1446B17-F82A-4AB7-91CC-0350DB928BA5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E4124865-F8F5-4959-98EC-8B877BA69F6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>
              <a:ext uri="{FF2B5EF4-FFF2-40B4-BE49-F238E27FC236}">
                <ns2:creationId id="{7179EF5A-EF87-48F2-9A4A-DA7C1D08EEB1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5" name="">
            <a:extLst>
              <a:ext uri="{FF2B5EF4-FFF2-40B4-BE49-F238E27FC236}">
                <ns2:creationId id="{B86DAE3E-4058-4FA0-910E-4D3D051B74AE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PRIORITIZATION PROOF</a:t>
            </a:r>
          </a:p>
        </p:txBody>
      </p:sp>
      <p:sp>
        <p:nvSpPr>
          <p:cNvPr id="6" name="">
            <a:extLst>
              <a:ext uri="{FF2B5EF4-FFF2-40B4-BE49-F238E27FC236}">
                <ns2:creationId id="{837FA033-AA98-4B64-A2E1-8EB76CE01AAE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Readiness scoring keeps commercial value while finding more current, broader sellers than fee rank alone.</a:t>
            </a:r>
          </a:p>
        </p:txBody>
      </p:sp>
      <p:sp>
        <p:nvSpPr>
          <p:cNvPr id="7" name="">
            <a:extLst>
              <a:ext uri="{FF2B5EF4-FFF2-40B4-BE49-F238E27FC236}">
                <ns2:creationId id="{D3EDF658-F511-478D-A62E-1490853E02BD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2381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960</a:t>
            </a:r>
          </a:p>
        </p:txBody>
      </p:sp>
      <p:sp>
        <p:nvSpPr>
          <p:cNvPr id="8" name="">
            <a:extLst>
              <a:ext uri="{FF2B5EF4-FFF2-40B4-BE49-F238E27FC236}">
                <ns2:creationId id="{CB9FE853-5362-4E4B-9E73-ABF47A6D97C2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2381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selected sellers in 5% sample top quartile</a:t>
            </a:r>
          </a:p>
        </p:txBody>
      </p:sp>
      <p:sp>
        <p:nvSpPr>
          <p:cNvPr id="9" name="">
            <a:extLst>
              <a:ext uri="{FF2B5EF4-FFF2-40B4-BE49-F238E27FC236}">
                <ns2:creationId id="{C1EBFBDA-C25E-4671-82C9-CCEDB4DA10B2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2714625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1.08M</a:t>
            </a:r>
          </a:p>
        </p:txBody>
      </p:sp>
      <p:sp>
        <p:nvSpPr>
          <p:cNvPr id="10" name="">
            <a:extLst>
              <a:ext uri="{FF2B5EF4-FFF2-40B4-BE49-F238E27FC236}">
                <ns2:creationId id="{31B31C0C-3366-4A8F-9F7F-C0B15E52E51F}"/>
              </a:ext>
            </a:extLst>
          </p:cNvPr>
          <p:cNvSpPr>
            <a:spLocks noGrp="1"/>
          </p:cNvSpPr>
          <p:nvPr/>
        </p:nvSpPr>
        <p:spPr>
          <a:xfrm>
            <a:off x="3333750" y="2590800"/>
            <a:ext cx="2714625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total fees retained by readiness selection</a:t>
            </a:r>
          </a:p>
        </p:txBody>
      </p:sp>
      <p:sp>
        <p:nvSpPr>
          <p:cNvPr id="11" name="">
            <a:extLst>
              <a:ext uri="{FF2B5EF4-FFF2-40B4-BE49-F238E27FC236}">
                <ns2:creationId id="{E0757A9A-089A-4567-B6E5-907A3CA6C1E9}"/>
              </a:ext>
            </a:extLst>
          </p:cNvPr>
          <p:cNvSpPr>
            <a:spLocks noGrp="1"/>
          </p:cNvSpPr>
          <p:nvPr/>
        </p:nvSpPr>
        <p:spPr>
          <a:xfrm>
            <a:off x="6572250" y="2171700"/>
            <a:ext cx="2857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74.2</a:t>
            </a:r>
          </a:p>
        </p:txBody>
      </p:sp>
      <p:sp>
        <p:nvSpPr>
          <p:cNvPr id="12" name="">
            <a:extLst>
              <a:ext uri="{FF2B5EF4-FFF2-40B4-BE49-F238E27FC236}">
                <ns2:creationId id="{B67D7E76-3927-444C-9FAF-DDA8B93C1EBC}"/>
              </a:ext>
            </a:extLst>
          </p:cNvPr>
          <p:cNvSpPr>
            <a:spLocks noGrp="1"/>
          </p:cNvSpPr>
          <p:nvPr/>
        </p:nvSpPr>
        <p:spPr>
          <a:xfrm>
            <a:off x="6572250" y="2590800"/>
            <a:ext cx="2857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average readiness score for selected sellers</a:t>
            </a:r>
          </a:p>
        </p:txBody>
      </p:sp>
      <p:sp>
        <p:nvSpPr>
          <p:cNvPr id="13" name="">
            <a:extLst>
              <a:ext uri="{FF2B5EF4-FFF2-40B4-BE49-F238E27FC236}">
                <ns2:creationId id="{3531DB90-2627-4885-B217-C9EB41CBA689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53340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Readiness vs total-fee rank: average signal score</a:t>
            </a:r>
          </a:p>
        </p:txBody>
      </p:sp>
      <p:sp>
        <p:nvSpPr>
          <p:cNvPr id="14" name="">
            <a:extLst>
              <a:ext uri="{FF2B5EF4-FFF2-40B4-BE49-F238E27FC236}">
                <ns2:creationId id="{93913DDA-E2A7-413E-B53A-FE4D895C7494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Recent paid usage</a:t>
            </a:r>
          </a:p>
        </p:txBody>
      </p:sp>
      <p:sp>
        <p:nvSpPr>
          <p:cNvPr id="15" name="">
            <a:extLst>
              <a:ext uri="{FF2B5EF4-FFF2-40B4-BE49-F238E27FC236}">
                <ns2:creationId id="{F39179F8-162D-479B-AD53-6415C04D9BB0}"/>
              </a:ext>
            </a:extLst>
          </p:cNvPr>
          <p:cNvSpPr>
            <a:spLocks noGrp="1"/>
          </p:cNvSpPr>
          <p:nvPr/>
        </p:nvSpPr>
        <p:spPr>
          <a:xfrm>
            <a:off x="2847975" y="38576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6" name="">
            <a:extLst>
              <a:ext uri="{FF2B5EF4-FFF2-40B4-BE49-F238E27FC236}">
                <ns2:creationId id="{9E42D0CB-7EB9-4497-8E02-1113A5ECC0F6}"/>
              </a:ext>
            </a:extLst>
          </p:cNvPr>
          <p:cNvSpPr>
            <a:spLocks noGrp="1"/>
          </p:cNvSpPr>
          <p:nvPr/>
        </p:nvSpPr>
        <p:spPr>
          <a:xfrm>
            <a:off x="2847975" y="3857625"/>
            <a:ext cx="2986088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17" name="">
            <a:extLst>
              <a:ext uri="{FF2B5EF4-FFF2-40B4-BE49-F238E27FC236}">
                <ns2:creationId id="{3EECAF34-B73F-4FD8-8275-7B21BA8F0FCE}"/>
              </a:ext>
            </a:extLst>
          </p:cNvPr>
          <p:cNvSpPr>
            <a:spLocks noGrp="1"/>
          </p:cNvSpPr>
          <p:nvPr/>
        </p:nvSpPr>
        <p:spPr>
          <a:xfrm>
            <a:off x="6562725" y="38004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82.5</a:t>
            </a:r>
          </a:p>
        </p:txBody>
      </p:sp>
      <p:sp>
        <p:nvSpPr>
          <p:cNvPr id="18" name="">
            <a:extLst>
              <a:ext uri="{FF2B5EF4-FFF2-40B4-BE49-F238E27FC236}">
                <ns2:creationId id="{077EBB15-FDEF-4F93-A67C-258D69F64C9A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19" name="">
            <a:extLst>
              <a:ext uri="{FF2B5EF4-FFF2-40B4-BE49-F238E27FC236}">
                <ns2:creationId id="{D0B5CDE8-A844-4966-8A76-713FD350E422}"/>
              </a:ext>
            </a:extLst>
          </p:cNvPr>
          <p:cNvSpPr>
            <a:spLocks noGrp="1"/>
          </p:cNvSpPr>
          <p:nvPr/>
        </p:nvSpPr>
        <p:spPr>
          <a:xfrm>
            <a:off x="2847975" y="42005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0" name="">
            <a:extLst>
              <a:ext uri="{FF2B5EF4-FFF2-40B4-BE49-F238E27FC236}">
                <ns2:creationId id="{A37B0292-FD09-4C35-8ED5-DF79A3C53034}"/>
              </a:ext>
            </a:extLst>
          </p:cNvPr>
          <p:cNvSpPr>
            <a:spLocks noGrp="1"/>
          </p:cNvSpPr>
          <p:nvPr/>
        </p:nvSpPr>
        <p:spPr>
          <a:xfrm>
            <a:off x="2847975" y="4200525"/>
            <a:ext cx="2801493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1" name="">
            <a:extLst>
              <a:ext uri="{FF2B5EF4-FFF2-40B4-BE49-F238E27FC236}">
                <ns2:creationId id="{358AA994-D779-43A4-A949-615484F15A92}"/>
              </a:ext>
            </a:extLst>
          </p:cNvPr>
          <p:cNvSpPr>
            <a:spLocks noGrp="1"/>
          </p:cNvSpPr>
          <p:nvPr/>
        </p:nvSpPr>
        <p:spPr>
          <a:xfrm>
            <a:off x="6562725" y="41433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77.4</a:t>
            </a:r>
          </a:p>
        </p:txBody>
      </p:sp>
      <p:sp>
        <p:nvSpPr>
          <p:cNvPr id="22" name="">
            <a:extLst>
              <a:ext uri="{FF2B5EF4-FFF2-40B4-BE49-F238E27FC236}">
                <ns2:creationId id="{729F9146-5F68-452C-A351-887899E5747D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Category breadth</a:t>
            </a:r>
          </a:p>
        </p:txBody>
      </p:sp>
      <p:sp>
        <p:nvSpPr>
          <p:cNvPr id="23" name="">
            <a:extLst>
              <a:ext uri="{FF2B5EF4-FFF2-40B4-BE49-F238E27FC236}">
                <ns2:creationId id="{C97FD40C-0613-46C3-A071-3D4D783FBBA9}"/>
              </a:ext>
            </a:extLst>
          </p:cNvPr>
          <p:cNvSpPr>
            <a:spLocks noGrp="1"/>
          </p:cNvSpPr>
          <p:nvPr/>
        </p:nvSpPr>
        <p:spPr>
          <a:xfrm>
            <a:off x="2847975" y="45434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4" name="">
            <a:extLst>
              <a:ext uri="{FF2B5EF4-FFF2-40B4-BE49-F238E27FC236}">
                <ns2:creationId id="{E469BD91-1B1F-4FC1-B03E-B571CBFB72EB}"/>
              </a:ext>
            </a:extLst>
          </p:cNvPr>
          <p:cNvSpPr>
            <a:spLocks noGrp="1"/>
          </p:cNvSpPr>
          <p:nvPr/>
        </p:nvSpPr>
        <p:spPr>
          <a:xfrm>
            <a:off x="2847975" y="4543425"/>
            <a:ext cx="2598801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5" name="">
            <a:extLst>
              <a:ext uri="{FF2B5EF4-FFF2-40B4-BE49-F238E27FC236}">
                <ns2:creationId id="{E06E6B60-05A4-4CB2-B16B-4B286E494885}"/>
              </a:ext>
            </a:extLst>
          </p:cNvPr>
          <p:cNvSpPr>
            <a:spLocks noGrp="1"/>
          </p:cNvSpPr>
          <p:nvPr/>
        </p:nvSpPr>
        <p:spPr>
          <a:xfrm>
            <a:off x="6562725" y="44862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71.8</a:t>
            </a:r>
          </a:p>
        </p:txBody>
      </p:sp>
      <p:sp>
        <p:nvSpPr>
          <p:cNvPr id="26" name="">
            <a:extLst>
              <a:ext uri="{FF2B5EF4-FFF2-40B4-BE49-F238E27FC236}">
                <ns2:creationId id="{DEFDB2BB-0DFB-4F07-B726-B663A56D6E00}"/>
              </a:ext>
            </a:extLst>
          </p:cNvPr>
          <p:cNvSpPr>
            <a:spLocks noGrp="1"/>
          </p:cNvSpPr>
          <p:nvPr/>
        </p:nvSpPr>
        <p:spPr>
          <a:xfrm>
            <a:off x="609600" y="483870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Recent growth</a:t>
            </a:r>
          </a:p>
        </p:txBody>
      </p:sp>
      <p:sp>
        <p:nvSpPr>
          <p:cNvPr id="27" name="">
            <a:extLst>
              <a:ext uri="{FF2B5EF4-FFF2-40B4-BE49-F238E27FC236}">
                <ns2:creationId id="{3469FC24-F04B-4FCF-AC44-195C0BE24653}"/>
              </a:ext>
            </a:extLst>
          </p:cNvPr>
          <p:cNvSpPr>
            <a:spLocks noGrp="1"/>
          </p:cNvSpPr>
          <p:nvPr/>
        </p:nvSpPr>
        <p:spPr>
          <a:xfrm>
            <a:off x="2847975" y="488632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8" name="">
            <a:extLst>
              <a:ext uri="{FF2B5EF4-FFF2-40B4-BE49-F238E27FC236}">
                <ns2:creationId id="{C112C46E-6E7D-4E6F-BDCB-67EC7083B3EE}"/>
              </a:ext>
            </a:extLst>
          </p:cNvPr>
          <p:cNvSpPr>
            <a:spLocks noGrp="1"/>
          </p:cNvSpPr>
          <p:nvPr/>
        </p:nvSpPr>
        <p:spPr>
          <a:xfrm>
            <a:off x="2847975" y="4886325"/>
            <a:ext cx="2160842" cy="11430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29" name="">
            <a:extLst>
              <a:ext uri="{FF2B5EF4-FFF2-40B4-BE49-F238E27FC236}">
                <ns2:creationId id="{CFDC10EA-D777-430A-BFE4-0A9C988BDD46}"/>
              </a:ext>
            </a:extLst>
          </p:cNvPr>
          <p:cNvSpPr>
            <a:spLocks noGrp="1"/>
          </p:cNvSpPr>
          <p:nvPr/>
        </p:nvSpPr>
        <p:spPr>
          <a:xfrm>
            <a:off x="6562725" y="482917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59.7</a:t>
            </a:r>
          </a:p>
        </p:txBody>
      </p:sp>
      <p:sp>
        <p:nvSpPr>
          <p:cNvPr id="30" name="">
            <a:extLst>
              <a:ext uri="{FF2B5EF4-FFF2-40B4-BE49-F238E27FC236}">
                <ns2:creationId id="{252A0759-7783-400A-93C0-7B2C1FDD39EC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Fee-rank breadth</a:t>
            </a:r>
          </a:p>
        </p:txBody>
      </p:sp>
      <p:sp>
        <p:nvSpPr>
          <p:cNvPr id="31" name="">
            <a:extLst>
              <a:ext uri="{FF2B5EF4-FFF2-40B4-BE49-F238E27FC236}">
                <ns2:creationId id="{80755B04-6A5D-4DBC-B824-0969E1B05BCC}"/>
              </a:ext>
            </a:extLst>
          </p:cNvPr>
          <p:cNvSpPr>
            <a:spLocks noGrp="1"/>
          </p:cNvSpPr>
          <p:nvPr/>
        </p:nvSpPr>
        <p:spPr>
          <a:xfrm>
            <a:off x="2847975" y="536257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2" name="">
            <a:extLst>
              <a:ext uri="{FF2B5EF4-FFF2-40B4-BE49-F238E27FC236}">
                <ns2:creationId id="{67AC3AE9-2F88-467E-992E-CDA26E2743ED}"/>
              </a:ext>
            </a:extLst>
          </p:cNvPr>
          <p:cNvSpPr>
            <a:spLocks noGrp="1"/>
          </p:cNvSpPr>
          <p:nvPr/>
        </p:nvSpPr>
        <p:spPr>
          <a:xfrm>
            <a:off x="2847975" y="5362575"/>
            <a:ext cx="1882140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33" name="">
            <a:extLst>
              <a:ext uri="{FF2B5EF4-FFF2-40B4-BE49-F238E27FC236}">
                <ns2:creationId id="{3412EB5D-A54E-443E-ABA2-EFE893071CC1}"/>
              </a:ext>
            </a:extLst>
          </p:cNvPr>
          <p:cNvSpPr>
            <a:spLocks noGrp="1"/>
          </p:cNvSpPr>
          <p:nvPr/>
        </p:nvSpPr>
        <p:spPr>
          <a:xfrm>
            <a:off x="6562725" y="53054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52.0</a:t>
            </a:r>
          </a:p>
        </p:txBody>
      </p:sp>
      <p:sp>
        <p:nvSpPr>
          <p:cNvPr id="34" name="">
            <a:extLst>
              <a:ext uri="{FF2B5EF4-FFF2-40B4-BE49-F238E27FC236}">
                <ns2:creationId id="{87DDAAB3-DC40-4BF5-9BDB-A24DEB95818E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Fee-rank growth</a:t>
            </a:r>
          </a:p>
        </p:txBody>
      </p:sp>
      <p:sp>
        <p:nvSpPr>
          <p:cNvPr id="35" name="">
            <a:extLst>
              <a:ext uri="{FF2B5EF4-FFF2-40B4-BE49-F238E27FC236}">
                <ns2:creationId id="{599685FA-28D6-415E-9143-C0FF5161BB33}"/>
              </a:ext>
            </a:extLst>
          </p:cNvPr>
          <p:cNvSpPr>
            <a:spLocks noGrp="1"/>
          </p:cNvSpPr>
          <p:nvPr/>
        </p:nvSpPr>
        <p:spPr>
          <a:xfrm>
            <a:off x="2847975" y="5705475"/>
            <a:ext cx="361950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6" name="">
            <a:extLst>
              <a:ext uri="{FF2B5EF4-FFF2-40B4-BE49-F238E27FC236}">
                <ns2:creationId id="{9EDEB8B9-8FFE-4CE5-9AA6-549976DE934D}"/>
              </a:ext>
            </a:extLst>
          </p:cNvPr>
          <p:cNvSpPr>
            <a:spLocks noGrp="1"/>
          </p:cNvSpPr>
          <p:nvPr/>
        </p:nvSpPr>
        <p:spPr>
          <a:xfrm>
            <a:off x="2847975" y="5705475"/>
            <a:ext cx="1639633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37" name="">
            <a:extLst>
              <a:ext uri="{FF2B5EF4-FFF2-40B4-BE49-F238E27FC236}">
                <ns2:creationId id="{4C879B92-3976-4086-B715-762D923A8793}"/>
              </a:ext>
            </a:extLst>
          </p:cNvPr>
          <p:cNvSpPr>
            <a:spLocks noGrp="1"/>
          </p:cNvSpPr>
          <p:nvPr/>
        </p:nvSpPr>
        <p:spPr>
          <a:xfrm>
            <a:off x="6562725" y="56483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45.3</a:t>
            </a:r>
          </a:p>
        </p:txBody>
      </p:sp>
      <p:sp>
        <p:nvSpPr>
          <p:cNvPr id="38" name="">
            <a:extLst>
              <a:ext uri="{FF2B5EF4-FFF2-40B4-BE49-F238E27FC236}">
                <ns2:creationId id="{9329FF66-037E-41B1-BE44-F64261FEFE82}"/>
              </a:ext>
            </a:extLst>
          </p:cNvPr>
          <p:cNvSpPr>
            <a:spLocks noGrp="1"/>
          </p:cNvSpPr>
          <p:nvPr/>
        </p:nvSpPr>
        <p:spPr>
          <a:xfrm>
            <a:off x="7429500" y="3752850"/>
            <a:ext cx="3429000" cy="14859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9" name="">
            <a:extLst>
              <a:ext uri="{FF2B5EF4-FFF2-40B4-BE49-F238E27FC236}">
                <ns2:creationId id="{A368A92E-37E7-4379-AF70-47829A4DF720}"/>
              </a:ext>
            </a:extLst>
          </p:cNvPr>
          <p:cNvSpPr>
            <a:spLocks noGrp="1"/>
          </p:cNvSpPr>
          <p:nvPr/>
        </p:nvSpPr>
        <p:spPr>
          <a:xfrm>
            <a:off x="7658100" y="3981450"/>
            <a:ext cx="20955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40" name="">
            <a:extLst>
              <a:ext uri="{FF2B5EF4-FFF2-40B4-BE49-F238E27FC236}">
                <ns2:creationId id="{F41E4668-8E1A-4944-912E-17D639C312DD}"/>
              </a:ext>
            </a:extLst>
          </p:cNvPr>
          <p:cNvSpPr>
            <a:spLocks noGrp="1"/>
          </p:cNvSpPr>
          <p:nvPr/>
        </p:nvSpPr>
        <p:spPr>
          <a:xfrm>
            <a:off x="7658100" y="4400550"/>
            <a:ext cx="2857500" cy="685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6000"/>
              </a:lnSpc>
              <a:buNone/>
              <a:defRPr sz="12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The call list should favor sellers with recent need, repeated activity, paid-product adoption, category breadth, and momentum. Fee-only rank overweights historic spend and misses readiness.</a:t>
            </a:r>
          </a:p>
        </p:txBody>
      </p:sp>
    </p:spTree>
    <p:extLst>
      <p:ext uri="{BB962C8B-B14F-4D97-AF65-F5344CB8AC3E}">
        <ns3:creationId val="1647450058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708A581-027A-4A9C-A236-674D40CFA7EB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0F1C4C64-B126-4BEC-86E6-14D305D0D64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Outreach Prioritization</a:t>
            </a:r>
          </a:p>
        </p:txBody>
      </p:sp>
      <p:sp>
        <p:nvSpPr>
          <p:cNvPr id="3" name="">
            <a:extLst>
              <a:ext uri="{FF2B5EF4-FFF2-40B4-BE49-F238E27FC236}">
                <ns2:creationId id="{B5357D23-2F26-4C50-94E2-C1688CE5946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>
              <a:ext uri="{FF2B5EF4-FFF2-40B4-BE49-F238E27FC236}">
                <ns2:creationId id="{32C2CB32-060A-4655-BED4-56A086FD16BF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4FB3FF"/>
            </a:solidFill>
          </a:ln>
        </p:spPr>
      </p:sp>
      <p:sp>
        <p:nvSpPr>
          <p:cNvPr id="5" name="">
            <a:extLst>
              <a:ext uri="{FF2B5EF4-FFF2-40B4-BE49-F238E27FC236}">
                <ns2:creationId id="{6E8A349F-7637-4998-8E86-FD8F1F93E691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BUNDLE POSITIONING</a:t>
            </a:r>
          </a:p>
        </p:txBody>
      </p:sp>
      <p:sp>
        <p:nvSpPr>
          <p:cNvPr id="6" name="">
            <a:extLst>
              <a:ext uri="{FF2B5EF4-FFF2-40B4-BE49-F238E27FC236}">
                <ns2:creationId id="{5A65630A-8811-4B3A-A0CE-763904B1E39E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 should go to sellers already buying visibility; Basic is the lower-friction path for active sellers.</a:t>
            </a:r>
          </a:p>
        </p:txBody>
      </p:sp>
      <p:sp>
        <p:nvSpPr>
          <p:cNvPr id="7" name="">
            <a:extLst>
              <a:ext uri="{FF2B5EF4-FFF2-40B4-BE49-F238E27FC236}">
                <ns2:creationId id="{4588BFA2-24B0-481C-8342-F791B7D9728C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Offer</a:t>
            </a:r>
          </a:p>
        </p:txBody>
      </p:sp>
      <p:sp>
        <p:nvSpPr>
          <p:cNvPr id="8" name="">
            <a:extLst>
              <a:ext uri="{FF2B5EF4-FFF2-40B4-BE49-F238E27FC236}">
                <ns2:creationId id="{D0D922A1-E01D-4885-A0B4-3964BD4104E8}"/>
              </a:ext>
            </a:extLst>
          </p:cNvPr>
          <p:cNvSpPr>
            <a:spLocks noGrp="1"/>
          </p:cNvSpPr>
          <p:nvPr/>
        </p:nvSpPr>
        <p:spPr>
          <a:xfrm>
            <a:off x="1828800" y="2362200"/>
            <a:ext cx="1238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Sellers</a:t>
            </a:r>
          </a:p>
        </p:txBody>
      </p:sp>
      <p:sp>
        <p:nvSpPr>
          <p:cNvPr id="9" name="">
            <a:extLst>
              <a:ext uri="{FF2B5EF4-FFF2-40B4-BE49-F238E27FC236}">
                <ns2:creationId id="{470E50DB-74C7-46B1-8706-17EC2DBBB9B0}"/>
              </a:ext>
            </a:extLst>
          </p:cNvPr>
          <p:cNvSpPr>
            <a:spLocks noGrp="1"/>
          </p:cNvSpPr>
          <p:nvPr/>
        </p:nvSpPr>
        <p:spPr>
          <a:xfrm>
            <a:off x="3067050" y="2362200"/>
            <a:ext cx="14763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Total fees</a:t>
            </a:r>
          </a:p>
        </p:txBody>
      </p:sp>
      <p:sp>
        <p:nvSpPr>
          <p:cNvPr id="10" name="">
            <a:extLst>
              <a:ext uri="{FF2B5EF4-FFF2-40B4-BE49-F238E27FC236}">
                <ns2:creationId id="{CB6FC288-0320-4CED-AD2A-80C05D2821B8}"/>
              </a:ext>
            </a:extLst>
          </p:cNvPr>
          <p:cNvSpPr>
            <a:spLocks noGrp="1"/>
          </p:cNvSpPr>
          <p:nvPr/>
        </p:nvSpPr>
        <p:spPr>
          <a:xfrm>
            <a:off x="4543425" y="2362200"/>
            <a:ext cx="16668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Recent paid usage</a:t>
            </a:r>
          </a:p>
        </p:txBody>
      </p:sp>
      <p:sp>
        <p:nvSpPr>
          <p:cNvPr id="11" name="">
            <a:extLst>
              <a:ext uri="{FF2B5EF4-FFF2-40B4-BE49-F238E27FC236}">
                <ns2:creationId id="{053911B4-8564-4627-87D9-9FDFFDC1938B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166687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Paid visibility</a:t>
            </a:r>
          </a:p>
        </p:txBody>
      </p:sp>
      <p:sp>
        <p:nvSpPr>
          <p:cNvPr id="12" name="">
            <a:extLst>
              <a:ext uri="{FF2B5EF4-FFF2-40B4-BE49-F238E27FC236}">
                <ns2:creationId id="{0703B9CD-A15C-4C8A-BAB6-21A1D12BEB41}"/>
              </a:ext>
            </a:extLst>
          </p:cNvPr>
          <p:cNvSpPr>
            <a:spLocks noGrp="1"/>
          </p:cNvSpPr>
          <p:nvPr/>
        </p:nvSpPr>
        <p:spPr>
          <a:xfrm>
            <a:off x="7877175" y="2362200"/>
            <a:ext cx="3619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13" name="">
            <a:extLst>
              <a:ext uri="{FF2B5EF4-FFF2-40B4-BE49-F238E27FC236}">
                <ns2:creationId id="{7BD9AB90-18AB-4C49-AAFE-AD28F48AF28C}"/>
              </a:ext>
            </a:extLst>
          </p:cNvPr>
          <p:cNvSpPr>
            <a:spLocks noGrp="1"/>
          </p:cNvSpPr>
          <p:nvPr/>
        </p:nvSpPr>
        <p:spPr>
          <a:xfrm>
            <a:off x="590550" y="2705100"/>
            <a:ext cx="10906125" cy="9906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437E421A-7964-4576-9A05-D445C56BA9F8}"/>
              </a:ext>
            </a:extLst>
          </p:cNvPr>
          <p:cNvSpPr>
            <a:spLocks noGrp="1"/>
          </p:cNvSpPr>
          <p:nvPr/>
        </p:nvSpPr>
        <p:spPr>
          <a:xfrm>
            <a:off x="704850" y="30289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</a:t>
            </a:r>
          </a:p>
        </p:txBody>
      </p:sp>
      <p:sp>
        <p:nvSpPr>
          <p:cNvPr id="15" name="">
            <a:extLst>
              <a:ext uri="{FF2B5EF4-FFF2-40B4-BE49-F238E27FC236}">
                <ns2:creationId id="{9AABE546-73AE-49D1-A6B9-B96E20CB5F71}"/>
              </a:ext>
            </a:extLst>
          </p:cNvPr>
          <p:cNvSpPr>
            <a:spLocks noGrp="1"/>
          </p:cNvSpPr>
          <p:nvPr/>
        </p:nvSpPr>
        <p:spPr>
          <a:xfrm>
            <a:off x="1943100" y="30289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576</a:t>
            </a:r>
          </a:p>
        </p:txBody>
      </p:sp>
      <p:sp>
        <p:nvSpPr>
          <p:cNvPr id="16" name="">
            <a:extLst>
              <a:ext uri="{FF2B5EF4-FFF2-40B4-BE49-F238E27FC236}">
                <ns2:creationId id="{31494243-D383-4D92-A7A0-BBC9CBD10B2F}"/>
              </a:ext>
            </a:extLst>
          </p:cNvPr>
          <p:cNvSpPr>
            <a:spLocks noGrp="1"/>
          </p:cNvSpPr>
          <p:nvPr/>
        </p:nvSpPr>
        <p:spPr>
          <a:xfrm>
            <a:off x="3181350" y="3028950"/>
            <a:ext cx="12477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254k</a:t>
            </a:r>
          </a:p>
        </p:txBody>
      </p:sp>
      <p:sp>
        <p:nvSpPr>
          <p:cNvPr id="17" name="">
            <a:extLst>
              <a:ext uri="{FF2B5EF4-FFF2-40B4-BE49-F238E27FC236}">
                <ns2:creationId id="{69B78D90-E2B1-4AD3-AD8A-7E0C706E9BF1}"/>
              </a:ext>
            </a:extLst>
          </p:cNvPr>
          <p:cNvSpPr>
            <a:spLocks noGrp="1"/>
          </p:cNvSpPr>
          <p:nvPr/>
        </p:nvSpPr>
        <p:spPr>
          <a:xfrm>
            <a:off x="4657725" y="30289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159.8</a:t>
            </a:r>
          </a:p>
        </p:txBody>
      </p:sp>
      <p:sp>
        <p:nvSpPr>
          <p:cNvPr id="18" name="">
            <a:extLst>
              <a:ext uri="{FF2B5EF4-FFF2-40B4-BE49-F238E27FC236}">
                <ns2:creationId id="{1B57C5AD-0FFE-401A-9340-4EA53CDE274F}"/>
              </a:ext>
            </a:extLst>
          </p:cNvPr>
          <p:cNvSpPr>
            <a:spLocks noGrp="1"/>
          </p:cNvSpPr>
          <p:nvPr/>
        </p:nvSpPr>
        <p:spPr>
          <a:xfrm>
            <a:off x="6324600" y="30289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47.6</a:t>
            </a:r>
          </a:p>
        </p:txBody>
      </p:sp>
      <p:sp>
        <p:nvSpPr>
          <p:cNvPr id="19" name="">
            <a:extLst>
              <a:ext uri="{FF2B5EF4-FFF2-40B4-BE49-F238E27FC236}">
                <ns2:creationId id="{FBD86FF9-FF41-4E70-9A26-1EBBCBE320E4}"/>
              </a:ext>
            </a:extLst>
          </p:cNvPr>
          <p:cNvSpPr>
            <a:spLocks noGrp="1"/>
          </p:cNvSpPr>
          <p:nvPr/>
        </p:nvSpPr>
        <p:spPr>
          <a:xfrm>
            <a:off x="7991475" y="2857500"/>
            <a:ext cx="339090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Active sellers with lower visibility usage; sell verified/professional page benefits first.</a:t>
            </a:r>
          </a:p>
        </p:txBody>
      </p:sp>
      <p:sp>
        <p:nvSpPr>
          <p:cNvPr id="20" name="">
            <a:extLst>
              <a:ext uri="{FF2B5EF4-FFF2-40B4-BE49-F238E27FC236}">
                <ns2:creationId id="{5D0EBBF3-E233-4EC6-BBB8-A6E95625DDDD}"/>
              </a:ext>
            </a:extLst>
          </p:cNvPr>
          <p:cNvSpPr>
            <a:spLocks noGrp="1"/>
          </p:cNvSpPr>
          <p:nvPr/>
        </p:nvSpPr>
        <p:spPr>
          <a:xfrm>
            <a:off x="590550" y="3962400"/>
            <a:ext cx="10906125" cy="9906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74F05A6F-9E58-4390-B3AF-9ACE90C00683}"/>
              </a:ext>
            </a:extLst>
          </p:cNvPr>
          <p:cNvSpPr>
            <a:spLocks noGrp="1"/>
          </p:cNvSpPr>
          <p:nvPr/>
        </p:nvSpPr>
        <p:spPr>
          <a:xfrm>
            <a:off x="704850" y="42862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Plus</a:t>
            </a:r>
          </a:p>
        </p:txBody>
      </p:sp>
      <p:sp>
        <p:nvSpPr>
          <p:cNvPr id="22" name="">
            <a:extLst>
              <a:ext uri="{FF2B5EF4-FFF2-40B4-BE49-F238E27FC236}">
                <ns2:creationId id="{EAD4FBF8-C0BC-4059-A468-8E66DB40DACC}"/>
              </a:ext>
            </a:extLst>
          </p:cNvPr>
          <p:cNvSpPr>
            <a:spLocks noGrp="1"/>
          </p:cNvSpPr>
          <p:nvPr/>
        </p:nvSpPr>
        <p:spPr>
          <a:xfrm>
            <a:off x="1943100" y="4286250"/>
            <a:ext cx="1009650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384</a:t>
            </a:r>
          </a:p>
        </p:txBody>
      </p:sp>
      <p:sp>
        <p:nvSpPr>
          <p:cNvPr id="23" name="">
            <a:extLst>
              <a:ext uri="{FF2B5EF4-FFF2-40B4-BE49-F238E27FC236}">
                <ns2:creationId id="{77F6AFCC-1493-4415-9965-9462D6CD0CD3}"/>
              </a:ext>
            </a:extLst>
          </p:cNvPr>
          <p:cNvSpPr>
            <a:spLocks noGrp="1"/>
          </p:cNvSpPr>
          <p:nvPr/>
        </p:nvSpPr>
        <p:spPr>
          <a:xfrm>
            <a:off x="3181350" y="4286250"/>
            <a:ext cx="12477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827k</a:t>
            </a:r>
          </a:p>
        </p:txBody>
      </p:sp>
      <p:sp>
        <p:nvSpPr>
          <p:cNvPr id="24" name="">
            <a:extLst>
              <a:ext uri="{FF2B5EF4-FFF2-40B4-BE49-F238E27FC236}">
                <ns2:creationId id="{09F9AC7A-82D7-45B3-8ECC-38882FB4A6EF}"/>
              </a:ext>
            </a:extLst>
          </p:cNvPr>
          <p:cNvSpPr>
            <a:spLocks noGrp="1"/>
          </p:cNvSpPr>
          <p:nvPr/>
        </p:nvSpPr>
        <p:spPr>
          <a:xfrm>
            <a:off x="4657725" y="42862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712.3</a:t>
            </a:r>
          </a:p>
        </p:txBody>
      </p:sp>
      <p:sp>
        <p:nvSpPr>
          <p:cNvPr id="25" name="">
            <a:extLst>
              <a:ext uri="{FF2B5EF4-FFF2-40B4-BE49-F238E27FC236}">
                <ns2:creationId id="{9A58026F-CC06-43F6-9EF8-F0A53D9937E6}"/>
              </a:ext>
            </a:extLst>
          </p:cNvPr>
          <p:cNvSpPr>
            <a:spLocks noGrp="1"/>
          </p:cNvSpPr>
          <p:nvPr/>
        </p:nvSpPr>
        <p:spPr>
          <a:xfrm>
            <a:off x="6324600" y="4286250"/>
            <a:ext cx="1438275" cy="3238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431.3</a:t>
            </a:r>
          </a:p>
        </p:txBody>
      </p:sp>
      <p:sp>
        <p:nvSpPr>
          <p:cNvPr id="26" name="">
            <a:extLst>
              <a:ext uri="{FF2B5EF4-FFF2-40B4-BE49-F238E27FC236}">
                <ns2:creationId id="{E0C04974-F90F-464B-A242-942E3D724B3B}"/>
              </a:ext>
            </a:extLst>
          </p:cNvPr>
          <p:cNvSpPr>
            <a:spLocks noGrp="1"/>
          </p:cNvSpPr>
          <p:nvPr/>
        </p:nvSpPr>
        <p:spPr>
          <a:xfrm>
            <a:off x="7991475" y="4114800"/>
            <a:ext cx="339090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High paid visibility and multi-product users; sell incremental reach and storefront depth.</a:t>
            </a:r>
          </a:p>
        </p:txBody>
      </p:sp>
      <p:sp>
        <p:nvSpPr>
          <p:cNvPr id="27" name="">
            <a:extLst>
              <a:ext uri="{FF2B5EF4-FFF2-40B4-BE49-F238E27FC236}">
                <ns2:creationId id="{9C6AB8A8-F0F0-47AA-A59E-0C62DB01E7A7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3905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4FB3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FB3FF"/>
                </a:solidFill>
                <a:latin typeface="Arial"/>
                <a:ea typeface="Arial"/>
                <a:cs typeface="Arial"/>
              </a:rPr>
              <a:t>3.8x</a:t>
            </a:r>
          </a:p>
        </p:txBody>
      </p:sp>
      <p:sp>
        <p:nvSpPr>
          <p:cNvPr id="28" name="">
            <a:extLst>
              <a:ext uri="{FF2B5EF4-FFF2-40B4-BE49-F238E27FC236}">
                <ns2:creationId id="{658691B9-D15A-4DF5-83C0-51889A1D9BA6}"/>
              </a:ext>
            </a:extLst>
          </p:cNvPr>
          <p:cNvSpPr>
            <a:spLocks noGrp="1"/>
          </p:cNvSpPr>
          <p:nvPr/>
        </p:nvSpPr>
        <p:spPr>
          <a:xfrm>
            <a:off x="723900" y="5800725"/>
            <a:ext cx="3905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sellers have higher average recent paid usage than Basic sellers.</a:t>
            </a:r>
          </a:p>
        </p:txBody>
      </p:sp>
    </p:spTree>
    <p:extLst>
      <p:ext uri="{BB962C8B-B14F-4D97-AF65-F5344CB8AC3E}">
        <ns3:creationId val="881416971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EB2E877-6068-44FF-B46C-511B8B94E37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3EB06866-6D86-49F5-A3DB-25F296B2EDCC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01E31D86-0060-418A-A038-549C5B29A4B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>
              <a:ext uri="{FF2B5EF4-FFF2-40B4-BE49-F238E27FC236}">
                <ns2:creationId id="{94CAD0C1-9941-4896-A15D-1EAE55F6125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>
              <a:ext uri="{FF2B5EF4-FFF2-40B4-BE49-F238E27FC236}">
                <ns2:creationId id="{CE2CCF48-DD30-4CC1-98DE-A7953637CAFD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6" name="">
            <a:extLst>
              <a:ext uri="{FF2B5EF4-FFF2-40B4-BE49-F238E27FC236}">
                <ns2:creationId id="{79749D4C-9613-4458-8BB6-1D07A3DF5356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Monitor separates launch traction, paid conversion, and future impact proof.</a:t>
            </a:r>
          </a:p>
        </p:txBody>
      </p:sp>
      <p:sp>
        <p:nvSpPr>
          <p:cNvPr id="7" name="">
            <a:extLst>
              <a:ext uri="{FF2B5EF4-FFF2-40B4-BE49-F238E27FC236}">
                <ns2:creationId id="{C78820D0-710C-4740-A4C2-7C500279F1C3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3F3169FB-2158-4A41-BE81-3B630AF5F335}"/>
              </a:ext>
            </a:extLst>
          </p:cNvPr>
          <p:cNvSpPr>
            <a:spLocks noGrp="1"/>
          </p:cNvSpPr>
          <p:nvPr/>
        </p:nvSpPr>
        <p:spPr>
          <a:xfrm>
            <a:off x="495300" y="3981450"/>
            <a:ext cx="2476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Dashboard architecture</a:t>
            </a:r>
          </a:p>
        </p:txBody>
      </p:sp>
      <p:sp>
        <p:nvSpPr>
          <p:cNvPr id="9" name="">
            <a:extLst>
              <a:ext uri="{FF2B5EF4-FFF2-40B4-BE49-F238E27FC236}">
                <ns2:creationId id="{52EC16DD-5353-4DCC-8559-F76F8F219E3A}"/>
              </a:ext>
            </a:extLst>
          </p:cNvPr>
          <p:cNvSpPr>
            <a:spLocks noGrp="1"/>
          </p:cNvSpPr>
          <p:nvPr/>
        </p:nvSpPr>
        <p:spPr>
          <a:xfrm>
            <a:off x="495300" y="446722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0" name="">
            <a:extLst>
              <a:ext uri="{FF2B5EF4-FFF2-40B4-BE49-F238E27FC236}">
                <ns2:creationId id="{E4D0BA69-B9BA-46EF-AC68-27F3BA8514B2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Sales overview: registrations, paid base, trial pipeline, modeled revenue, and Plus mix.</a:t>
            </a:r>
          </a:p>
        </p:txBody>
      </p:sp>
      <p:sp>
        <p:nvSpPr>
          <p:cNvPr id="11" name="">
            <a:extLst>
              <a:ext uri="{FF2B5EF4-FFF2-40B4-BE49-F238E27FC236}">
                <ns2:creationId id="{F0912657-347F-4C03-88A0-60F182DDE721}"/>
              </a:ext>
            </a:extLst>
          </p:cNvPr>
          <p:cNvSpPr>
            <a:spLocks noGrp="1"/>
          </p:cNvSpPr>
          <p:nvPr/>
        </p:nvSpPr>
        <p:spPr>
          <a:xfrm>
            <a:off x="495300" y="486727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2" name="">
            <a:extLst>
              <a:ext uri="{FF2B5EF4-FFF2-40B4-BE49-F238E27FC236}">
                <ns2:creationId id="{F5E3978C-7EF5-4BF3-912D-FFD6D0F3205E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Customer quality: cohort health and segment diagnosis by customer type and first bundle.</a:t>
            </a:r>
          </a:p>
        </p:txBody>
      </p:sp>
      <p:sp>
        <p:nvSpPr>
          <p:cNvPr id="13" name="">
            <a:extLst>
              <a:ext uri="{FF2B5EF4-FFF2-40B4-BE49-F238E27FC236}">
                <ns2:creationId id="{2766001D-412E-4F87-B1C0-62E1C157B06D}"/>
              </a:ext>
            </a:extLst>
          </p:cNvPr>
          <p:cNvSpPr>
            <a:spLocks noGrp="1"/>
          </p:cNvSpPr>
          <p:nvPr/>
        </p:nvSpPr>
        <p:spPr>
          <a:xfrm>
            <a:off x="495300" y="5934075"/>
            <a:ext cx="76200" cy="762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14" name="">
            <a:extLst>
              <a:ext uri="{FF2B5EF4-FFF2-40B4-BE49-F238E27FC236}">
                <ns2:creationId id="{CF513032-04F4-4618-9194-73A29B31FA98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Business impact: placeholders for incrementality, seller value, sales steering, and guardrails.</a:t>
            </a:r>
          </a:p>
        </p:txBody>
      </p:sp>
    </p:spTree>
    <p:extLst>
      <p:ext uri="{BB962C8B-B14F-4D97-AF65-F5344CB8AC3E}">
        <ns3:creationId val="1788051063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6E39EED1-D7B2-43D8-9987-7AC1AFA185F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53A5EB44-8E9D-43C1-9CC4-4D529ED1586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A36A3E26-C814-4FA1-A421-588FD3B494B5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>
              <a:ext uri="{FF2B5EF4-FFF2-40B4-BE49-F238E27FC236}">
                <ns2:creationId id="{0E401CDF-5CD1-4B22-A8F2-9AA6D31CDC0B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5" name="">
            <a:extLst>
              <a:ext uri="{FF2B5EF4-FFF2-40B4-BE49-F238E27FC236}">
                <ns2:creationId id="{0FB5743E-779E-468E-AB55-D349A5489B4E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LAUNCH TRACTION</a:t>
            </a:r>
          </a:p>
        </p:txBody>
      </p:sp>
      <p:sp>
        <p:nvSpPr>
          <p:cNvPr id="6" name="">
            <a:extLst>
              <a:ext uri="{FF2B5EF4-FFF2-40B4-BE49-F238E27FC236}">
                <ns2:creationId id="{7A21DD06-7AF4-4644-A146-6AF98BFEFD5B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By 2025-04-29, the bundle base is monetized and Plus is a material part of paid adoption.</a:t>
            </a:r>
          </a:p>
        </p:txBody>
      </p:sp>
      <p:sp>
        <p:nvSpPr>
          <p:cNvPr id="7" name="">
            <a:extLst>
              <a:ext uri="{FF2B5EF4-FFF2-40B4-BE49-F238E27FC236}">
                <ns2:creationId id="{F631BA94-1F99-4223-B025-D15E953755AB}"/>
              </a:ext>
            </a:extLst>
          </p:cNvPr>
          <p:cNvSpPr>
            <a:spLocks noGrp="1"/>
          </p:cNvSpPr>
          <p:nvPr/>
        </p:nvSpPr>
        <p:spPr>
          <a:xfrm>
            <a:off x="590550" y="2305050"/>
            <a:ext cx="2095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2,709</a:t>
            </a:r>
          </a:p>
        </p:txBody>
      </p:sp>
      <p:sp>
        <p:nvSpPr>
          <p:cNvPr id="8" name="">
            <a:extLst>
              <a:ext uri="{FF2B5EF4-FFF2-40B4-BE49-F238E27FC236}">
                <ns2:creationId id="{C31E62E0-70D4-41CB-BBE8-F4F6CB856A6F}"/>
              </a:ext>
            </a:extLst>
          </p:cNvPr>
          <p:cNvSpPr>
            <a:spLocks noGrp="1"/>
          </p:cNvSpPr>
          <p:nvPr/>
        </p:nvSpPr>
        <p:spPr>
          <a:xfrm>
            <a:off x="590550" y="2724150"/>
            <a:ext cx="2095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paid sellers</a:t>
            </a:r>
          </a:p>
        </p:txBody>
      </p:sp>
      <p:sp>
        <p:nvSpPr>
          <p:cNvPr id="9" name="">
            <a:extLst>
              <a:ext uri="{FF2B5EF4-FFF2-40B4-BE49-F238E27FC236}">
                <ns2:creationId id="{95430210-CC2D-4671-99AC-22B208465E82}"/>
              </a:ext>
            </a:extLst>
          </p:cNvPr>
          <p:cNvSpPr>
            <a:spLocks noGrp="1"/>
          </p:cNvSpPr>
          <p:nvPr/>
        </p:nvSpPr>
        <p:spPr>
          <a:xfrm>
            <a:off x="3105150" y="2305050"/>
            <a:ext cx="2476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40.9%</a:t>
            </a:r>
          </a:p>
        </p:txBody>
      </p:sp>
      <p:sp>
        <p:nvSpPr>
          <p:cNvPr id="10" name="">
            <a:extLst>
              <a:ext uri="{FF2B5EF4-FFF2-40B4-BE49-F238E27FC236}">
                <ns2:creationId id="{273964E1-BD2A-4CFA-AAA5-3D26A860BB25}"/>
              </a:ext>
            </a:extLst>
          </p:cNvPr>
          <p:cNvSpPr>
            <a:spLocks noGrp="1"/>
          </p:cNvSpPr>
          <p:nvPr/>
        </p:nvSpPr>
        <p:spPr>
          <a:xfrm>
            <a:off x="3105150" y="2724150"/>
            <a:ext cx="2476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share of active paid sellers</a:t>
            </a:r>
          </a:p>
        </p:txBody>
      </p:sp>
      <p:sp>
        <p:nvSpPr>
          <p:cNvPr id="11" name="">
            <a:extLst>
              <a:ext uri="{FF2B5EF4-FFF2-40B4-BE49-F238E27FC236}">
                <ns2:creationId id="{FC4C677D-7F92-4B66-9B9F-694220B7E404}"/>
              </a:ext>
            </a:extLst>
          </p:cNvPr>
          <p:cNvSpPr>
            <a:spLocks noGrp="1"/>
          </p:cNvSpPr>
          <p:nvPr/>
        </p:nvSpPr>
        <p:spPr>
          <a:xfrm>
            <a:off x="6038850" y="2305050"/>
            <a:ext cx="3143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EUR 88,323</a:t>
            </a:r>
          </a:p>
        </p:txBody>
      </p:sp>
      <p:sp>
        <p:nvSpPr>
          <p:cNvPr id="12" name="">
            <a:extLst>
              <a:ext uri="{FF2B5EF4-FFF2-40B4-BE49-F238E27FC236}">
                <ns2:creationId id="{3B33CFB3-7F95-43F5-A015-FC2F29CE8036}"/>
              </a:ext>
            </a:extLst>
          </p:cNvPr>
          <p:cNvSpPr>
            <a:spLocks noGrp="1"/>
          </p:cNvSpPr>
          <p:nvPr/>
        </p:nvSpPr>
        <p:spPr>
          <a:xfrm>
            <a:off x="6038850" y="2724150"/>
            <a:ext cx="314325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latest complete modeled 4-week revenue</a:t>
            </a:r>
          </a:p>
        </p:txBody>
      </p:sp>
      <p:sp>
        <p:nvSpPr>
          <p:cNvPr id="13" name="">
            <a:extLst>
              <a:ext uri="{FF2B5EF4-FFF2-40B4-BE49-F238E27FC236}">
                <ns2:creationId id="{09447831-DDF3-4FA5-8176-B537D92D3B8A}"/>
              </a:ext>
            </a:extLst>
          </p:cNvPr>
          <p:cNvSpPr>
            <a:spLocks noGrp="1"/>
          </p:cNvSpPr>
          <p:nvPr/>
        </p:nvSpPr>
        <p:spPr>
          <a:xfrm>
            <a:off x="9620250" y="2305050"/>
            <a:ext cx="1714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4" name="">
            <a:extLst>
              <a:ext uri="{FF2B5EF4-FFF2-40B4-BE49-F238E27FC236}">
                <ns2:creationId id="{FA4C3AF8-8D00-4F83-8E7C-D01C51181D45}"/>
              </a:ext>
            </a:extLst>
          </p:cNvPr>
          <p:cNvSpPr>
            <a:spLocks noGrp="1"/>
          </p:cNvSpPr>
          <p:nvPr/>
        </p:nvSpPr>
        <p:spPr>
          <a:xfrm>
            <a:off x="9620250" y="2724150"/>
            <a:ext cx="1714500" cy="4000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trial sellers at reference date</a:t>
            </a:r>
          </a:p>
        </p:txBody>
      </p:sp>
      <p:sp>
        <p:nvSpPr>
          <p:cNvPr id="15" name="">
            <a:extLst>
              <a:ext uri="{FF2B5EF4-FFF2-40B4-BE49-F238E27FC236}">
                <ns2:creationId id="{BEC9F1C6-BD43-4CE4-B722-BA8A75D941B5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228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Revenue caveat</a:t>
            </a:r>
          </a:p>
        </p:txBody>
      </p:sp>
      <p:sp>
        <p:nvSpPr>
          <p:cNvPr id="16" name="">
            <a:extLst>
              <a:ext uri="{FF2B5EF4-FFF2-40B4-BE49-F238E27FC236}">
                <ns2:creationId id="{E93EDDE7-0518-4C90-A914-4DF7FD45DC47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0" cy="762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42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Revenue is modeled from bundle intervals, list prices, free-trial timing, and switching assumptions. It is not actual invoiced or collected revenue.</a:t>
            </a:r>
          </a:p>
        </p:txBody>
      </p:sp>
      <p:sp>
        <p:nvSpPr>
          <p:cNvPr id="17" name="">
            <a:extLst>
              <a:ext uri="{FF2B5EF4-FFF2-40B4-BE49-F238E27FC236}">
                <ns2:creationId id="{41CAE3B5-B879-4123-AD78-9C34DA9A1B76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171950" cy="13525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8" name="">
            <a:extLst>
              <a:ext uri="{FF2B5EF4-FFF2-40B4-BE49-F238E27FC236}">
                <ns2:creationId id="{76011026-FEB3-44B5-9BE1-8ED4D622CCE0}"/>
              </a:ext>
            </a:extLst>
          </p:cNvPr>
          <p:cNvSpPr>
            <a:spLocks noGrp="1"/>
          </p:cNvSpPr>
          <p:nvPr/>
        </p:nvSpPr>
        <p:spPr>
          <a:xfrm>
            <a:off x="6819900" y="3943350"/>
            <a:ext cx="2286000" cy="247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Current adoption mix</a:t>
            </a:r>
          </a:p>
        </p:txBody>
      </p:sp>
      <p:sp>
        <p:nvSpPr>
          <p:cNvPr id="19" name="">
            <a:extLst>
              <a:ext uri="{FF2B5EF4-FFF2-40B4-BE49-F238E27FC236}">
                <ns2:creationId id="{1A10D74E-FBFB-441D-A2A4-1286B8335930}"/>
              </a:ext>
            </a:extLst>
          </p:cNvPr>
          <p:cNvSpPr>
            <a:spLocks noGrp="1"/>
          </p:cNvSpPr>
          <p:nvPr/>
        </p:nvSpPr>
        <p:spPr>
          <a:xfrm>
            <a:off x="6819900" y="44386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 paid share</a:t>
            </a:r>
          </a:p>
        </p:txBody>
      </p:sp>
      <p:sp>
        <p:nvSpPr>
          <p:cNvPr id="20" name="">
            <a:extLst>
              <a:ext uri="{FF2B5EF4-FFF2-40B4-BE49-F238E27FC236}">
                <ns2:creationId id="{B5FBF7F9-5366-4498-A0AF-BC5E97506191}"/>
              </a:ext>
            </a:extLst>
          </p:cNvPr>
          <p:cNvSpPr>
            <a:spLocks noGrp="1"/>
          </p:cNvSpPr>
          <p:nvPr/>
        </p:nvSpPr>
        <p:spPr>
          <a:xfrm>
            <a:off x="9058275" y="4486275"/>
            <a:ext cx="200025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FBB251DD-0F6D-4C79-A838-6479B8D6AC3A}"/>
              </a:ext>
            </a:extLst>
          </p:cNvPr>
          <p:cNvSpPr>
            <a:spLocks noGrp="1"/>
          </p:cNvSpPr>
          <p:nvPr/>
        </p:nvSpPr>
        <p:spPr>
          <a:xfrm>
            <a:off x="9058275" y="4486275"/>
            <a:ext cx="818102" cy="11430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22" name="">
            <a:extLst>
              <a:ext uri="{FF2B5EF4-FFF2-40B4-BE49-F238E27FC236}">
                <ns2:creationId id="{792DDCAA-4766-46E3-96CC-57C3C3D011B8}"/>
              </a:ext>
            </a:extLst>
          </p:cNvPr>
          <p:cNvSpPr>
            <a:spLocks noGrp="1"/>
          </p:cNvSpPr>
          <p:nvPr/>
        </p:nvSpPr>
        <p:spPr>
          <a:xfrm>
            <a:off x="11153775" y="44291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40.9%</a:t>
            </a:r>
          </a:p>
        </p:txBody>
      </p:sp>
      <p:sp>
        <p:nvSpPr>
          <p:cNvPr id="23" name="">
            <a:extLst>
              <a:ext uri="{FF2B5EF4-FFF2-40B4-BE49-F238E27FC236}">
                <ns2:creationId id="{B095F9E2-6E36-47FC-830B-F4A95F42AD27}"/>
              </a:ext>
            </a:extLst>
          </p:cNvPr>
          <p:cNvSpPr>
            <a:spLocks noGrp="1"/>
          </p:cNvSpPr>
          <p:nvPr/>
        </p:nvSpPr>
        <p:spPr>
          <a:xfrm>
            <a:off x="6819900" y="4819650"/>
            <a:ext cx="2095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 / other paid share</a:t>
            </a:r>
          </a:p>
        </p:txBody>
      </p:sp>
      <p:sp>
        <p:nvSpPr>
          <p:cNvPr id="24" name="">
            <a:extLst>
              <a:ext uri="{FF2B5EF4-FFF2-40B4-BE49-F238E27FC236}">
                <ns2:creationId id="{480026D7-B147-436E-A6A9-AC6CEF696AB7}"/>
              </a:ext>
            </a:extLst>
          </p:cNvPr>
          <p:cNvSpPr>
            <a:spLocks noGrp="1"/>
          </p:cNvSpPr>
          <p:nvPr/>
        </p:nvSpPr>
        <p:spPr>
          <a:xfrm>
            <a:off x="9058275" y="4867275"/>
            <a:ext cx="2000250" cy="1143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5" name="">
            <a:extLst>
              <a:ext uri="{FF2B5EF4-FFF2-40B4-BE49-F238E27FC236}">
                <ns2:creationId id="{B97BA225-6C85-4B1D-BEBE-743B403666BB}"/>
              </a:ext>
            </a:extLst>
          </p:cNvPr>
          <p:cNvSpPr>
            <a:spLocks noGrp="1"/>
          </p:cNvSpPr>
          <p:nvPr/>
        </p:nvSpPr>
        <p:spPr>
          <a:xfrm>
            <a:off x="9058275" y="4867275"/>
            <a:ext cx="1182148" cy="114300"/>
          </a:xfrm>
          <a:prstGeom prst="rect">
            <a:avLst/>
          </a:prstGeom>
          <a:ln w="9525">
            <a:solidFill>
              <a:srgbClr val="777777"/>
            </a:solidFill>
          </a:ln>
        </p:spPr>
      </p:sp>
      <p:sp>
        <p:nvSpPr>
          <p:cNvPr id="26" name="">
            <a:extLst>
              <a:ext uri="{FF2B5EF4-FFF2-40B4-BE49-F238E27FC236}">
                <ns2:creationId id="{B527090A-1113-466B-9ED8-0442968E5907}"/>
              </a:ext>
            </a:extLst>
          </p:cNvPr>
          <p:cNvSpPr>
            <a:spLocks noGrp="1"/>
          </p:cNvSpPr>
          <p:nvPr/>
        </p:nvSpPr>
        <p:spPr>
          <a:xfrm>
            <a:off x="11153775" y="4810125"/>
            <a:ext cx="857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59.1%</a:t>
            </a:r>
          </a:p>
        </p:txBody>
      </p:sp>
    </p:spTree>
    <p:extLst>
      <p:ext uri="{BB962C8B-B14F-4D97-AF65-F5344CB8AC3E}">
        <ns3:creationId val="145348525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99CBF261-0E8E-460E-892C-8F44F641025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6756070-CF99-4CB3-9342-779C2062718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Sales Dashboard</a:t>
            </a:r>
          </a:p>
        </p:txBody>
      </p:sp>
      <p:sp>
        <p:nvSpPr>
          <p:cNvPr id="3" name="">
            <a:extLst>
              <a:ext uri="{FF2B5EF4-FFF2-40B4-BE49-F238E27FC236}">
                <ns2:creationId id="{62FFC49C-D61A-4A58-B7D1-12489ABBD5EE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>
              <a:ext uri="{FF2B5EF4-FFF2-40B4-BE49-F238E27FC236}">
                <ns2:creationId id="{AE0FA920-87A1-40A2-B49E-90E04E2AFC79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3DDC97"/>
            </a:solidFill>
          </a:ln>
        </p:spPr>
      </p:sp>
      <p:sp>
        <p:nvSpPr>
          <p:cNvPr id="5" name="">
            <a:extLst>
              <a:ext uri="{FF2B5EF4-FFF2-40B4-BE49-F238E27FC236}">
                <ns2:creationId id="{A74340D4-3DF5-4E30-A60E-910244EFCD89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CUSTOMER QUALITY</a:t>
            </a:r>
          </a:p>
        </p:txBody>
      </p:sp>
      <p:sp>
        <p:nvSpPr>
          <p:cNvPr id="6" name="">
            <a:extLst>
              <a:ext uri="{FF2B5EF4-FFF2-40B4-BE49-F238E27FC236}">
                <ns2:creationId id="{018E351F-1CF9-470C-B584-D721E943D9E6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Early paid conversion is consistently high, but the dashboard still needs incrementality data.</a:t>
            </a:r>
          </a:p>
        </p:txBody>
      </p:sp>
      <p:sp>
        <p:nvSpPr>
          <p:cNvPr id="7" name="">
            <a:extLst>
              <a:ext uri="{FF2B5EF4-FFF2-40B4-BE49-F238E27FC236}">
                <ns2:creationId id="{7FAA2DC9-41C8-49A5-8F6E-D32734885AC4}"/>
              </a:ext>
            </a:extLst>
          </p:cNvPr>
          <p:cNvSpPr>
            <a:spLocks noGrp="1"/>
          </p:cNvSpPr>
          <p:nvPr/>
        </p:nvSpPr>
        <p:spPr>
          <a:xfrm>
            <a:off x="609600" y="2343150"/>
            <a:ext cx="8763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8" name="">
            <a:extLst>
              <a:ext uri="{FF2B5EF4-FFF2-40B4-BE49-F238E27FC236}">
                <ns2:creationId id="{7B170CCF-EDE2-4D27-AACE-329B519855A4}"/>
              </a:ext>
            </a:extLst>
          </p:cNvPr>
          <p:cNvSpPr>
            <a:spLocks noGrp="1"/>
          </p:cNvSpPr>
          <p:nvPr/>
        </p:nvSpPr>
        <p:spPr>
          <a:xfrm>
            <a:off x="1485900" y="234315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First bundle</a:t>
            </a:r>
          </a:p>
        </p:txBody>
      </p:sp>
      <p:sp>
        <p:nvSpPr>
          <p:cNvPr id="9" name="">
            <a:extLst>
              <a:ext uri="{FF2B5EF4-FFF2-40B4-BE49-F238E27FC236}">
                <ns2:creationId id="{531C0F48-CB93-4A47-B6DD-F7B18720F331}"/>
              </a:ext>
            </a:extLst>
          </p:cNvPr>
          <p:cNvSpPr>
            <a:spLocks noGrp="1"/>
          </p:cNvSpPr>
          <p:nvPr/>
        </p:nvSpPr>
        <p:spPr>
          <a:xfrm>
            <a:off x="3105150" y="234315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Registrations</a:t>
            </a:r>
          </a:p>
        </p:txBody>
      </p:sp>
      <p:sp>
        <p:nvSpPr>
          <p:cNvPr id="10" name="">
            <a:extLst>
              <a:ext uri="{FF2B5EF4-FFF2-40B4-BE49-F238E27FC236}">
                <ns2:creationId id="{EACAD853-0501-4CA7-BD66-9489E833CF0A}"/>
              </a:ext>
            </a:extLst>
          </p:cNvPr>
          <p:cNvSpPr>
            <a:spLocks noGrp="1"/>
          </p:cNvSpPr>
          <p:nvPr/>
        </p:nvSpPr>
        <p:spPr>
          <a:xfrm>
            <a:off x="4724400" y="2343150"/>
            <a:ext cx="1381125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D28 paid</a:t>
            </a:r>
          </a:p>
        </p:txBody>
      </p:sp>
      <p:sp>
        <p:nvSpPr>
          <p:cNvPr id="11" name="">
            <a:extLst>
              <a:ext uri="{FF2B5EF4-FFF2-40B4-BE49-F238E27FC236}">
                <ns2:creationId id="{9ACECC91-AAF9-4D17-9AFB-3A601FFE0A6A}"/>
              </a:ext>
            </a:extLst>
          </p:cNvPr>
          <p:cNvSpPr>
            <a:spLocks noGrp="1"/>
          </p:cNvSpPr>
          <p:nvPr/>
        </p:nvSpPr>
        <p:spPr>
          <a:xfrm>
            <a:off x="6105525" y="2343150"/>
            <a:ext cx="1381125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Plus share</a:t>
            </a:r>
          </a:p>
        </p:txBody>
      </p:sp>
      <p:sp>
        <p:nvSpPr>
          <p:cNvPr id="12" name="">
            <a:extLst>
              <a:ext uri="{FF2B5EF4-FFF2-40B4-BE49-F238E27FC236}">
                <ns2:creationId id="{3561F51A-6FE5-4F9F-B725-6CD0BA64FCC7}"/>
              </a:ext>
            </a:extLst>
          </p:cNvPr>
          <p:cNvSpPr>
            <a:spLocks noGrp="1"/>
          </p:cNvSpPr>
          <p:nvPr/>
        </p:nvSpPr>
        <p:spPr>
          <a:xfrm>
            <a:off x="7486650" y="2343150"/>
            <a:ext cx="14287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Active paid</a:t>
            </a:r>
          </a:p>
        </p:txBody>
      </p:sp>
      <p:sp>
        <p:nvSpPr>
          <p:cNvPr id="13" name="">
            <a:extLst>
              <a:ext uri="{FF2B5EF4-FFF2-40B4-BE49-F238E27FC236}">
                <ns2:creationId id="{1992A340-DB35-4DD1-A958-2E70580F44C9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AA22D604-D65A-46A7-9692-5C9B13D1E61F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15" name="">
            <a:extLst>
              <a:ext uri="{FF2B5EF4-FFF2-40B4-BE49-F238E27FC236}">
                <ns2:creationId id="{10E0C256-5BB3-43EE-BED3-2BDE48EDAD1E}"/>
              </a:ext>
            </a:extLst>
          </p:cNvPr>
          <p:cNvSpPr>
            <a:spLocks noGrp="1"/>
          </p:cNvSpPr>
          <p:nvPr/>
        </p:nvSpPr>
        <p:spPr>
          <a:xfrm>
            <a:off x="1485900" y="27622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Basic-first</a:t>
            </a:r>
          </a:p>
        </p:txBody>
      </p:sp>
      <p:sp>
        <p:nvSpPr>
          <p:cNvPr id="16" name="">
            <a:extLst>
              <a:ext uri="{FF2B5EF4-FFF2-40B4-BE49-F238E27FC236}">
                <ns2:creationId id="{427EBF61-A9AC-4982-AAE3-4334921A3B90}"/>
              </a:ext>
            </a:extLst>
          </p:cNvPr>
          <p:cNvSpPr>
            <a:spLocks noGrp="1"/>
          </p:cNvSpPr>
          <p:nvPr/>
        </p:nvSpPr>
        <p:spPr>
          <a:xfrm>
            <a:off x="3105150" y="27622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621</a:t>
            </a:r>
          </a:p>
        </p:txBody>
      </p:sp>
      <p:sp>
        <p:nvSpPr>
          <p:cNvPr id="17" name="">
            <a:extLst>
              <a:ext uri="{FF2B5EF4-FFF2-40B4-BE49-F238E27FC236}">
                <ns2:creationId id="{E15FE489-A370-45AF-A534-47B87B115C62}"/>
              </a:ext>
            </a:extLst>
          </p:cNvPr>
          <p:cNvSpPr>
            <a:spLocks noGrp="1"/>
          </p:cNvSpPr>
          <p:nvPr/>
        </p:nvSpPr>
        <p:spPr>
          <a:xfrm>
            <a:off x="4724400" y="27622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90.0%</a:t>
            </a:r>
          </a:p>
        </p:txBody>
      </p:sp>
      <p:sp>
        <p:nvSpPr>
          <p:cNvPr id="18" name="">
            <a:extLst>
              <a:ext uri="{FF2B5EF4-FFF2-40B4-BE49-F238E27FC236}">
                <ns2:creationId id="{28E4A92A-C187-43F9-8873-D419763469D3}"/>
              </a:ext>
            </a:extLst>
          </p:cNvPr>
          <p:cNvSpPr>
            <a:spLocks noGrp="1"/>
          </p:cNvSpPr>
          <p:nvPr/>
        </p:nvSpPr>
        <p:spPr>
          <a:xfrm>
            <a:off x="6105525" y="27622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22.2%</a:t>
            </a:r>
          </a:p>
        </p:txBody>
      </p:sp>
      <p:sp>
        <p:nvSpPr>
          <p:cNvPr id="19" name="">
            <a:extLst>
              <a:ext uri="{FF2B5EF4-FFF2-40B4-BE49-F238E27FC236}">
                <ns2:creationId id="{32D935B4-1B2E-4017-BD35-0B0367F79550}"/>
              </a:ext>
            </a:extLst>
          </p:cNvPr>
          <p:cNvSpPr>
            <a:spLocks noGrp="1"/>
          </p:cNvSpPr>
          <p:nvPr/>
        </p:nvSpPr>
        <p:spPr>
          <a:xfrm>
            <a:off x="7486650" y="276225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396</a:t>
            </a:r>
          </a:p>
        </p:txBody>
      </p:sp>
      <p:sp>
        <p:nvSpPr>
          <p:cNvPr id="20" name="">
            <a:extLst>
              <a:ext uri="{FF2B5EF4-FFF2-40B4-BE49-F238E27FC236}">
                <ns2:creationId id="{906D66E1-6B90-43B8-A501-01D0F3D4FA7C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1" name="">
            <a:extLst>
              <a:ext uri="{FF2B5EF4-FFF2-40B4-BE49-F238E27FC236}">
                <ns2:creationId id="{840F85EC-947C-4FBD-9287-3AC482EB8697}"/>
              </a:ext>
            </a:extLst>
          </p:cNvPr>
          <p:cNvSpPr>
            <a:spLocks noGrp="1"/>
          </p:cNvSpPr>
          <p:nvPr/>
        </p:nvSpPr>
        <p:spPr>
          <a:xfrm>
            <a:off x="609600" y="331470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2" name="">
            <a:extLst>
              <a:ext uri="{FF2B5EF4-FFF2-40B4-BE49-F238E27FC236}">
                <ns2:creationId id="{831AF9C0-7738-4CF4-B1E2-08F58016B8B8}"/>
              </a:ext>
            </a:extLst>
          </p:cNvPr>
          <p:cNvSpPr>
            <a:spLocks noGrp="1"/>
          </p:cNvSpPr>
          <p:nvPr/>
        </p:nvSpPr>
        <p:spPr>
          <a:xfrm>
            <a:off x="1485900" y="33147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Plus-first</a:t>
            </a:r>
          </a:p>
        </p:txBody>
      </p:sp>
      <p:sp>
        <p:nvSpPr>
          <p:cNvPr id="23" name="">
            <a:extLst>
              <a:ext uri="{FF2B5EF4-FFF2-40B4-BE49-F238E27FC236}">
                <ns2:creationId id="{899194EB-6034-412C-BE0A-1962A03D7133}"/>
              </a:ext>
            </a:extLst>
          </p:cNvPr>
          <p:cNvSpPr>
            <a:spLocks noGrp="1"/>
          </p:cNvSpPr>
          <p:nvPr/>
        </p:nvSpPr>
        <p:spPr>
          <a:xfrm>
            <a:off x="3105150" y="33147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318</a:t>
            </a:r>
          </a:p>
        </p:txBody>
      </p:sp>
      <p:sp>
        <p:nvSpPr>
          <p:cNvPr id="24" name="">
            <a:extLst>
              <a:ext uri="{FF2B5EF4-FFF2-40B4-BE49-F238E27FC236}">
                <ns2:creationId id="{70171536-F2EF-422E-B59D-D28A878CA6AB}"/>
              </a:ext>
            </a:extLst>
          </p:cNvPr>
          <p:cNvSpPr>
            <a:spLocks noGrp="1"/>
          </p:cNvSpPr>
          <p:nvPr/>
        </p:nvSpPr>
        <p:spPr>
          <a:xfrm>
            <a:off x="4724400" y="33147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88.4%</a:t>
            </a:r>
          </a:p>
        </p:txBody>
      </p:sp>
      <p:sp>
        <p:nvSpPr>
          <p:cNvPr id="25" name="">
            <a:extLst>
              <a:ext uri="{FF2B5EF4-FFF2-40B4-BE49-F238E27FC236}">
                <ns2:creationId id="{4B2ED4E1-ABDC-41B0-875E-AF2ECD69B3C6}"/>
              </a:ext>
            </a:extLst>
          </p:cNvPr>
          <p:cNvSpPr>
            <a:spLocks noGrp="1"/>
          </p:cNvSpPr>
          <p:nvPr/>
        </p:nvSpPr>
        <p:spPr>
          <a:xfrm>
            <a:off x="6105525" y="33147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74.1%</a:t>
            </a:r>
          </a:p>
        </p:txBody>
      </p:sp>
      <p:sp>
        <p:nvSpPr>
          <p:cNvPr id="26" name="">
            <a:extLst>
              <a:ext uri="{FF2B5EF4-FFF2-40B4-BE49-F238E27FC236}">
                <ns2:creationId id="{FCD9C6A7-4782-4A7A-9446-F98AB2524C15}"/>
              </a:ext>
            </a:extLst>
          </p:cNvPr>
          <p:cNvSpPr>
            <a:spLocks noGrp="1"/>
          </p:cNvSpPr>
          <p:nvPr/>
        </p:nvSpPr>
        <p:spPr>
          <a:xfrm>
            <a:off x="7486650" y="331470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220</a:t>
            </a:r>
          </a:p>
        </p:txBody>
      </p:sp>
      <p:sp>
        <p:nvSpPr>
          <p:cNvPr id="27" name="">
            <a:extLst>
              <a:ext uri="{FF2B5EF4-FFF2-40B4-BE49-F238E27FC236}">
                <ns2:creationId id="{7CEE7027-E3B0-4B8C-B4CA-34E8EB3DFA48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8" name="">
            <a:extLst>
              <a:ext uri="{FF2B5EF4-FFF2-40B4-BE49-F238E27FC236}">
                <ns2:creationId id="{52C5F4E2-867B-4D61-97F4-5C7F8A9712C4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SYI</a:t>
            </a:r>
          </a:p>
        </p:txBody>
      </p:sp>
      <p:sp>
        <p:nvSpPr>
          <p:cNvPr id="29" name="">
            <a:extLst>
              <a:ext uri="{FF2B5EF4-FFF2-40B4-BE49-F238E27FC236}">
                <ns2:creationId id="{B5A20259-2DD3-43AF-9F68-699EB838F70E}"/>
              </a:ext>
            </a:extLst>
          </p:cNvPr>
          <p:cNvSpPr>
            <a:spLocks noGrp="1"/>
          </p:cNvSpPr>
          <p:nvPr/>
        </p:nvSpPr>
        <p:spPr>
          <a:xfrm>
            <a:off x="1485900" y="38671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Basic-first</a:t>
            </a:r>
          </a:p>
        </p:txBody>
      </p:sp>
      <p:sp>
        <p:nvSpPr>
          <p:cNvPr id="30" name="">
            <a:extLst>
              <a:ext uri="{FF2B5EF4-FFF2-40B4-BE49-F238E27FC236}">
                <ns2:creationId id="{B5EB3738-3CCA-4959-BC60-AEF0C27F10B5}"/>
              </a:ext>
            </a:extLst>
          </p:cNvPr>
          <p:cNvSpPr>
            <a:spLocks noGrp="1"/>
          </p:cNvSpPr>
          <p:nvPr/>
        </p:nvSpPr>
        <p:spPr>
          <a:xfrm>
            <a:off x="3105150" y="386715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2,170</a:t>
            </a:r>
          </a:p>
        </p:txBody>
      </p:sp>
      <p:sp>
        <p:nvSpPr>
          <p:cNvPr id="31" name="">
            <a:extLst>
              <a:ext uri="{FF2B5EF4-FFF2-40B4-BE49-F238E27FC236}">
                <ns2:creationId id="{EBFC9702-5DE6-4D51-9945-3BA331061DB1}"/>
              </a:ext>
            </a:extLst>
          </p:cNvPr>
          <p:cNvSpPr>
            <a:spLocks noGrp="1"/>
          </p:cNvSpPr>
          <p:nvPr/>
        </p:nvSpPr>
        <p:spPr>
          <a:xfrm>
            <a:off x="4724400" y="38671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89.2%</a:t>
            </a:r>
          </a:p>
        </p:txBody>
      </p:sp>
      <p:sp>
        <p:nvSpPr>
          <p:cNvPr id="32" name="">
            <a:extLst>
              <a:ext uri="{FF2B5EF4-FFF2-40B4-BE49-F238E27FC236}">
                <ns2:creationId id="{86C823CD-F66D-4226-B7BD-31B7C7780824}"/>
              </a:ext>
            </a:extLst>
          </p:cNvPr>
          <p:cNvSpPr>
            <a:spLocks noGrp="1"/>
          </p:cNvSpPr>
          <p:nvPr/>
        </p:nvSpPr>
        <p:spPr>
          <a:xfrm>
            <a:off x="6105525" y="386715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26.4%</a:t>
            </a:r>
          </a:p>
        </p:txBody>
      </p:sp>
      <p:sp>
        <p:nvSpPr>
          <p:cNvPr id="33" name="">
            <a:extLst>
              <a:ext uri="{FF2B5EF4-FFF2-40B4-BE49-F238E27FC236}">
                <ns2:creationId id="{5DBBB534-397B-461D-9673-B1863C53FD51}"/>
              </a:ext>
            </a:extLst>
          </p:cNvPr>
          <p:cNvSpPr>
            <a:spLocks noGrp="1"/>
          </p:cNvSpPr>
          <p:nvPr/>
        </p:nvSpPr>
        <p:spPr>
          <a:xfrm>
            <a:off x="7486650" y="386715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1,449</a:t>
            </a:r>
          </a:p>
        </p:txBody>
      </p:sp>
      <p:sp>
        <p:nvSpPr>
          <p:cNvPr id="34" name="">
            <a:extLst>
              <a:ext uri="{FF2B5EF4-FFF2-40B4-BE49-F238E27FC236}">
                <ns2:creationId id="{799940D7-5775-4EEC-8A56-3F2BF1AC8DF5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8667750" cy="4191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35" name="">
            <a:extLst>
              <a:ext uri="{FF2B5EF4-FFF2-40B4-BE49-F238E27FC236}">
                <ns2:creationId id="{ED9822DC-B18F-4820-8E4D-757524CE19E2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876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SYI</a:t>
            </a:r>
          </a:p>
        </p:txBody>
      </p:sp>
      <p:sp>
        <p:nvSpPr>
          <p:cNvPr id="36" name="">
            <a:extLst>
              <a:ext uri="{FF2B5EF4-FFF2-40B4-BE49-F238E27FC236}">
                <ns2:creationId id="{D7AD0FB9-8320-46F4-AC7C-BB31B20D1621}"/>
              </a:ext>
            </a:extLst>
          </p:cNvPr>
          <p:cNvSpPr>
            <a:spLocks noGrp="1"/>
          </p:cNvSpPr>
          <p:nvPr/>
        </p:nvSpPr>
        <p:spPr>
          <a:xfrm>
            <a:off x="1485900" y="44196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Plus-first</a:t>
            </a:r>
          </a:p>
        </p:txBody>
      </p:sp>
      <p:sp>
        <p:nvSpPr>
          <p:cNvPr id="37" name="">
            <a:extLst>
              <a:ext uri="{FF2B5EF4-FFF2-40B4-BE49-F238E27FC236}">
                <ns2:creationId id="{6F4958F9-D816-427C-8050-E15FF8D3BAEC}"/>
              </a:ext>
            </a:extLst>
          </p:cNvPr>
          <p:cNvSpPr>
            <a:spLocks noGrp="1"/>
          </p:cNvSpPr>
          <p:nvPr/>
        </p:nvSpPr>
        <p:spPr>
          <a:xfrm>
            <a:off x="3105150" y="4419600"/>
            <a:ext cx="16192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967</a:t>
            </a:r>
          </a:p>
        </p:txBody>
      </p:sp>
      <p:sp>
        <p:nvSpPr>
          <p:cNvPr id="38" name="">
            <a:extLst>
              <a:ext uri="{FF2B5EF4-FFF2-40B4-BE49-F238E27FC236}">
                <ns2:creationId id="{5BDFA86A-8095-4429-9F07-E99BDC7C9283}"/>
              </a:ext>
            </a:extLst>
          </p:cNvPr>
          <p:cNvSpPr>
            <a:spLocks noGrp="1"/>
          </p:cNvSpPr>
          <p:nvPr/>
        </p:nvSpPr>
        <p:spPr>
          <a:xfrm>
            <a:off x="4724400" y="44196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3DDC9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DC97"/>
                </a:solidFill>
                <a:latin typeface="Arial"/>
                <a:ea typeface="Arial"/>
                <a:cs typeface="Arial"/>
              </a:rPr>
              <a:t>88.8%</a:t>
            </a:r>
          </a:p>
        </p:txBody>
      </p:sp>
      <p:sp>
        <p:nvSpPr>
          <p:cNvPr id="39" name="">
            <a:extLst>
              <a:ext uri="{FF2B5EF4-FFF2-40B4-BE49-F238E27FC236}">
                <ns2:creationId id="{7C04C3C6-0923-4AEB-A501-69D58A8F03E1}"/>
              </a:ext>
            </a:extLst>
          </p:cNvPr>
          <p:cNvSpPr>
            <a:spLocks noGrp="1"/>
          </p:cNvSpPr>
          <p:nvPr/>
        </p:nvSpPr>
        <p:spPr>
          <a:xfrm>
            <a:off x="6105525" y="4419600"/>
            <a:ext cx="1381125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73.4%</a:t>
            </a:r>
          </a:p>
        </p:txBody>
      </p:sp>
      <p:sp>
        <p:nvSpPr>
          <p:cNvPr id="40" name="">
            <a:extLst>
              <a:ext uri="{FF2B5EF4-FFF2-40B4-BE49-F238E27FC236}">
                <ns2:creationId id="{803BBFAC-E339-4308-9984-CA1A830BCEB2}"/>
              </a:ext>
            </a:extLst>
          </p:cNvPr>
          <p:cNvSpPr>
            <a:spLocks noGrp="1"/>
          </p:cNvSpPr>
          <p:nvPr/>
        </p:nvSpPr>
        <p:spPr>
          <a:xfrm>
            <a:off x="7486650" y="4419600"/>
            <a:ext cx="142875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644</a:t>
            </a:r>
          </a:p>
        </p:txBody>
      </p:sp>
      <p:sp>
        <p:nvSpPr>
          <p:cNvPr id="41" name="">
            <a:extLst>
              <a:ext uri="{FF2B5EF4-FFF2-40B4-BE49-F238E27FC236}">
                <ns2:creationId id="{D6F125C9-CFA0-4690-90FB-AAD9AB69ACDC}"/>
              </a:ext>
            </a:extLst>
          </p:cNvPr>
          <p:cNvSpPr>
            <a:spLocks noGrp="1"/>
          </p:cNvSpPr>
          <p:nvPr/>
        </p:nvSpPr>
        <p:spPr>
          <a:xfrm>
            <a:off x="9639300" y="2571750"/>
            <a:ext cx="1619250" cy="20955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42" name="">
            <a:extLst>
              <a:ext uri="{FF2B5EF4-FFF2-40B4-BE49-F238E27FC236}">
                <ns2:creationId id="{CD8D68D1-71EB-4A60-8DBC-DE7D346CFCA7}"/>
              </a:ext>
            </a:extLst>
          </p:cNvPr>
          <p:cNvSpPr>
            <a:spLocks noGrp="1"/>
          </p:cNvSpPr>
          <p:nvPr/>
        </p:nvSpPr>
        <p:spPr>
          <a:xfrm>
            <a:off x="9810750" y="2800350"/>
            <a:ext cx="1238250" cy="4953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Missing to prove impact</a:t>
            </a:r>
          </a:p>
        </p:txBody>
      </p:sp>
      <p:sp>
        <p:nvSpPr>
          <p:cNvPr id="43" name="">
            <a:extLst>
              <a:ext uri="{FF2B5EF4-FFF2-40B4-BE49-F238E27FC236}">
                <ns2:creationId id="{DEB53C67-A33B-4E15-B719-E3E6B0FA23DF}"/>
              </a:ext>
            </a:extLst>
          </p:cNvPr>
          <p:cNvSpPr>
            <a:spLocks noGrp="1"/>
          </p:cNvSpPr>
          <p:nvPr/>
        </p:nvSpPr>
        <p:spPr>
          <a:xfrm>
            <a:off x="9810750" y="3505200"/>
            <a:ext cx="1200150" cy="1028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Invoices, matched non-adopters, seller outcomes, guardrail quality metrics, and category/seller-size steering data.</a:t>
            </a:r>
          </a:p>
        </p:txBody>
      </p:sp>
    </p:spTree>
    <p:extLst>
      <p:ext uri="{BB962C8B-B14F-4D97-AF65-F5344CB8AC3E}">
        <ns3:creationId val="654677130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0FE7CDAC-D946-4E39-8089-1D9D271E58B9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C59FD5A2-911C-40DE-A241-835340B1717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3" name="">
            <a:extLst>
              <a:ext uri="{FF2B5EF4-FFF2-40B4-BE49-F238E27FC236}">
                <ns2:creationId id="{874A707E-E6F0-4182-8D3C-43CC23A17F1C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>
              <a:ext uri="{FF2B5EF4-FFF2-40B4-BE49-F238E27FC236}">
                <ns2:creationId id="{031093CB-B685-4FD7-A0DF-FE18CD133B9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36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>
              <a:ext uri="{FF2B5EF4-FFF2-40B4-BE49-F238E27FC236}">
                <ns2:creationId id="{D7CC42E7-71B4-4774-92A0-90E8FAC511A3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74295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6" name="">
            <a:extLst>
              <a:ext uri="{FF2B5EF4-FFF2-40B4-BE49-F238E27FC236}">
                <ns2:creationId id="{7ED2E150-A736-479A-A5F7-770BA6131D2D}"/>
              </a:ext>
            </a:extLst>
          </p:cNvPr>
          <p:cNvSpPr>
            <a:spLocks noGrp="1"/>
          </p:cNvSpPr>
          <p:nvPr/>
        </p:nvSpPr>
        <p:spPr>
          <a:xfrm>
            <a:off x="1257300" y="361950"/>
            <a:ext cx="9429750" cy="7905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The campaign should target high-likelihood, high-readiness non-adopters.</a:t>
            </a:r>
          </a:p>
        </p:txBody>
      </p:sp>
      <p:sp>
        <p:nvSpPr>
          <p:cNvPr id="7" name="">
            <a:extLst>
              <a:ext uri="{FF2B5EF4-FFF2-40B4-BE49-F238E27FC236}">
                <ns2:creationId id="{DA83CB11-D861-4FD7-9808-961AE71C73AC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81153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E10C1F51-C378-430F-BC73-936B6F11AB14}"/>
              </a:ext>
            </a:extLst>
          </p:cNvPr>
          <p:cNvSpPr>
            <a:spLocks noGrp="1"/>
          </p:cNvSpPr>
          <p:nvPr/>
        </p:nvSpPr>
        <p:spPr>
          <a:xfrm>
            <a:off x="495300" y="3981450"/>
            <a:ext cx="24765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40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Target definition</a:t>
            </a:r>
          </a:p>
        </p:txBody>
      </p:sp>
      <p:sp>
        <p:nvSpPr>
          <p:cNvPr id="9" name="">
            <a:extLst>
              <a:ext uri="{FF2B5EF4-FFF2-40B4-BE49-F238E27FC236}">
                <ns2:creationId id="{5081C9A7-237E-47B6-A7F3-F53A7AF89E25}"/>
              </a:ext>
            </a:extLst>
          </p:cNvPr>
          <p:cNvSpPr>
            <a:spLocks noGrp="1"/>
          </p:cNvSpPr>
          <p:nvPr/>
        </p:nvSpPr>
        <p:spPr>
          <a:xfrm>
            <a:off x="495300" y="446722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0" name="">
            <a:extLst>
              <a:ext uri="{FF2B5EF4-FFF2-40B4-BE49-F238E27FC236}">
                <ns2:creationId id="{2351A4A5-2E04-4568-B358-01FFF8B9DF48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Active SMB sellers without a bundle.</a:t>
            </a:r>
          </a:p>
        </p:txBody>
      </p:sp>
      <p:sp>
        <p:nvSpPr>
          <p:cNvPr id="11" name="">
            <a:extLst>
              <a:ext uri="{FF2B5EF4-FFF2-40B4-BE49-F238E27FC236}">
                <ns2:creationId id="{1F930114-BA90-4148-B3D2-CA860C8D6184}"/>
              </a:ext>
            </a:extLst>
          </p:cNvPr>
          <p:cNvSpPr>
            <a:spLocks noGrp="1"/>
          </p:cNvSpPr>
          <p:nvPr/>
        </p:nvSpPr>
        <p:spPr>
          <a:xfrm>
            <a:off x="495300" y="486727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2" name="">
            <a:extLst>
              <a:ext uri="{FF2B5EF4-FFF2-40B4-BE49-F238E27FC236}">
                <ns2:creationId id="{E2E9068C-5354-45B6-81B0-815DEEDC629C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First filter by high SMB likelihood from Identify.</a:t>
            </a:r>
          </a:p>
        </p:txBody>
      </p:sp>
      <p:sp>
        <p:nvSpPr>
          <p:cNvPr id="13" name="">
            <a:extLst>
              <a:ext uri="{FF2B5EF4-FFF2-40B4-BE49-F238E27FC236}">
                <ns2:creationId id="{7B671FDD-C79C-4663-A831-14DBA10DF319}"/>
              </a:ext>
            </a:extLst>
          </p:cNvPr>
          <p:cNvSpPr>
            <a:spLocks noGrp="1"/>
          </p:cNvSpPr>
          <p:nvPr/>
        </p:nvSpPr>
        <p:spPr>
          <a:xfrm>
            <a:off x="495300" y="5934075"/>
            <a:ext cx="76200" cy="7620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14" name="">
            <a:extLst>
              <a:ext uri="{FF2B5EF4-FFF2-40B4-BE49-F238E27FC236}">
                <ns2:creationId id="{6D80E1E6-7F73-4D7F-BFA6-F4A12E82BC47}"/>
              </a:ext>
            </a:extLst>
          </p:cNvPr>
          <p:cNvSpPr>
            <a:spLocks noGrp="1"/>
          </p:cNvSpPr>
          <p:nvPr/>
        </p:nvSpPr>
        <p:spPr>
          <a:xfrm>
            <a:off x="723900" y="5181600"/>
            <a:ext cx="96774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4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4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Use Prioritize readiness score, then adapt Basic vs Plus positioning.</a:t>
            </a:r>
          </a:p>
        </p:txBody>
      </p:sp>
    </p:spTree>
    <p:extLst>
      <p:ext uri="{BB962C8B-B14F-4D97-AF65-F5344CB8AC3E}">
        <ns3:creationId val="1113131483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49E2EDC2-10FD-4C87-B9D5-BA3FF8D6082A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4E3D2E17-A03A-468E-8E05-8E5D7136289A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Marketing Campaign</a:t>
            </a:r>
          </a:p>
        </p:txBody>
      </p:sp>
      <p:sp>
        <p:nvSpPr>
          <p:cNvPr id="3" name="">
            <a:extLst>
              <a:ext uri="{FF2B5EF4-FFF2-40B4-BE49-F238E27FC236}">
                <ns2:creationId id="{210366E1-031E-42DF-BD5B-A9FA43FF6B86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>
              <a:ext uri="{FF2B5EF4-FFF2-40B4-BE49-F238E27FC236}">
                <ns2:creationId id="{3DCE105F-582E-4E84-9F5B-2BA80971833C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90500" cy="19050"/>
          </a:xfrm>
          <a:prstGeom prst="rect">
            <a:avLst/>
          </a:prstGeom>
          <a:ln w="9525">
            <a:solidFill>
              <a:srgbClr val="FF7A59"/>
            </a:solidFill>
          </a:ln>
        </p:spPr>
      </p:sp>
      <p:sp>
        <p:nvSpPr>
          <p:cNvPr id="5" name="">
            <a:extLst>
              <a:ext uri="{FF2B5EF4-FFF2-40B4-BE49-F238E27FC236}">
                <ns2:creationId id="{C218E9A6-A6C7-4B88-8695-298FAFE709EF}"/>
              </a:ext>
            </a:extLst>
          </p:cNvPr>
          <p:cNvSpPr>
            <a:spLocks noGrp="1"/>
          </p:cNvSpPr>
          <p:nvPr/>
        </p:nvSpPr>
        <p:spPr>
          <a:xfrm>
            <a:off x="800100" y="361950"/>
            <a:ext cx="4000500" cy="209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ctr"/>
          <a:lstStyle/>
          <a:p>
            <a:pPr algn="l">
              <a:lnSpc>
                <a:spcPct val="105000"/>
              </a:lnSpc>
              <a:buNone/>
              <a:defRPr sz="1050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CAMPAIGN MECHANIC</a:t>
            </a:r>
          </a:p>
        </p:txBody>
      </p:sp>
      <p:sp>
        <p:nvSpPr>
          <p:cNvPr id="6" name="">
            <a:extLst>
              <a:ext uri="{FF2B5EF4-FFF2-40B4-BE49-F238E27FC236}">
                <ns2:creationId id="{ECEA9FDF-1E9B-4C9F-BDB5-7CDB4C86771C}"/>
              </a:ext>
            </a:extLst>
          </p:cNvPr>
          <p:cNvSpPr>
            <a:spLocks noGrp="1"/>
          </p:cNvSpPr>
          <p:nvPr/>
        </p:nvSpPr>
        <p:spPr>
          <a:xfrm>
            <a:off x="457200" y="638175"/>
            <a:ext cx="9334500" cy="1066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2000"/>
              </a:lnSpc>
              <a:buNone/>
              <a:defRPr sz="31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CRM and in-platform prompts cover the journey from seller intent to controlled adoption.</a:t>
            </a:r>
          </a:p>
        </p:txBody>
      </p:sp>
      <p:sp>
        <p:nvSpPr>
          <p:cNvPr id="7" name="">
            <a:extLst>
              <a:ext uri="{FF2B5EF4-FFF2-40B4-BE49-F238E27FC236}">
                <ns2:creationId id="{BADD5C60-4AB7-4976-88E7-DDF99E3CD787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8" name="">
            <a:extLst>
              <a:ext uri="{FF2B5EF4-FFF2-40B4-BE49-F238E27FC236}">
                <ns2:creationId id="{75665D95-6180-417A-8424-E38C676D8F49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9" name="">
            <a:extLst>
              <a:ext uri="{FF2B5EF4-FFF2-40B4-BE49-F238E27FC236}">
                <ns2:creationId id="{703F576B-68E2-48E5-B880-BDCA951870AC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Repeated listing, paid-feature use, competitive category, or buyer interest.</a:t>
            </a:r>
          </a:p>
        </p:txBody>
      </p:sp>
      <p:sp>
        <p:nvSpPr>
          <p:cNvPr id="10" name="">
            <a:extLst>
              <a:ext uri="{FF2B5EF4-FFF2-40B4-BE49-F238E27FC236}">
                <ns2:creationId id="{07790FF5-9256-4BFA-9B7C-24F93E2E84DA}"/>
              </a:ext>
            </a:extLst>
          </p:cNvPr>
          <p:cNvSpPr>
            <a:spLocks noGrp="1"/>
          </p:cNvSpPr>
          <p:nvPr/>
        </p:nvSpPr>
        <p:spPr>
          <a:xfrm>
            <a:off x="28194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1" name="">
            <a:extLst>
              <a:ext uri="{FF2B5EF4-FFF2-40B4-BE49-F238E27FC236}">
                <ns2:creationId id="{5C1F3A00-81FF-422D-920E-A42959B9C57A}"/>
              </a:ext>
            </a:extLst>
          </p:cNvPr>
          <p:cNvSpPr>
            <a:spLocks noGrp="1"/>
          </p:cNvSpPr>
          <p:nvPr/>
        </p:nvSpPr>
        <p:spPr>
          <a:xfrm>
            <a:off x="33909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2" name="">
            <a:extLst>
              <a:ext uri="{FF2B5EF4-FFF2-40B4-BE49-F238E27FC236}">
                <ns2:creationId id="{E12BFD8E-D692-47A9-BED9-0F7C3394FBAF}"/>
              </a:ext>
            </a:extLst>
          </p:cNvPr>
          <p:cNvSpPr>
            <a:spLocks noGrp="1"/>
          </p:cNvSpPr>
          <p:nvPr/>
        </p:nvSpPr>
        <p:spPr>
          <a:xfrm>
            <a:off x="35623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Message</a:t>
            </a:r>
          </a:p>
        </p:txBody>
      </p:sp>
      <p:sp>
        <p:nvSpPr>
          <p:cNvPr id="13" name="">
            <a:extLst>
              <a:ext uri="{FF2B5EF4-FFF2-40B4-BE49-F238E27FC236}">
                <ns2:creationId id="{736F3300-DEBF-41F7-AB33-FC20AB2D8813}"/>
              </a:ext>
            </a:extLst>
          </p:cNvPr>
          <p:cNvSpPr>
            <a:spLocks noGrp="1"/>
          </p:cNvSpPr>
          <p:nvPr/>
        </p:nvSpPr>
        <p:spPr>
          <a:xfrm>
            <a:off x="35623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Position the bundle as visibility plus professional seller trust.</a:t>
            </a:r>
          </a:p>
        </p:txBody>
      </p:sp>
      <p:sp>
        <p:nvSpPr>
          <p:cNvPr id="14" name="">
            <a:extLst>
              <a:ext uri="{FF2B5EF4-FFF2-40B4-BE49-F238E27FC236}">
                <ns2:creationId id="{BCCB7496-B4AF-445C-8DE8-D78BD92B5136}"/>
              </a:ext>
            </a:extLst>
          </p:cNvPr>
          <p:cNvSpPr>
            <a:spLocks noGrp="1"/>
          </p:cNvSpPr>
          <p:nvPr/>
        </p:nvSpPr>
        <p:spPr>
          <a:xfrm>
            <a:off x="56007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5" name="">
            <a:extLst>
              <a:ext uri="{FF2B5EF4-FFF2-40B4-BE49-F238E27FC236}">
                <ns2:creationId id="{59B74BCF-366B-437A-AD6B-AC876CDCE7CD}"/>
              </a:ext>
            </a:extLst>
          </p:cNvPr>
          <p:cNvSpPr>
            <a:spLocks noGrp="1"/>
          </p:cNvSpPr>
          <p:nvPr/>
        </p:nvSpPr>
        <p:spPr>
          <a:xfrm>
            <a:off x="61722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6" name="">
            <a:extLst>
              <a:ext uri="{FF2B5EF4-FFF2-40B4-BE49-F238E27FC236}">
                <ns2:creationId id="{CC30A3E8-F951-4EEE-BF57-9026C0BFBB74}"/>
              </a:ext>
            </a:extLst>
          </p:cNvPr>
          <p:cNvSpPr>
            <a:spLocks noGrp="1"/>
          </p:cNvSpPr>
          <p:nvPr/>
        </p:nvSpPr>
        <p:spPr>
          <a:xfrm>
            <a:off x="63436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17" name="">
            <a:extLst>
              <a:ext uri="{FF2B5EF4-FFF2-40B4-BE49-F238E27FC236}">
                <ns2:creationId id="{1A9E6EAF-5615-48D4-A9D0-40BF8EA612FE}"/>
              </a:ext>
            </a:extLst>
          </p:cNvPr>
          <p:cNvSpPr>
            <a:spLocks noGrp="1"/>
          </p:cNvSpPr>
          <p:nvPr/>
        </p:nvSpPr>
        <p:spPr>
          <a:xfrm>
            <a:off x="63436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Lifecycle CRM plus seller dashboard, listing flow, listing management, and paid-feature purchase flow.</a:t>
            </a:r>
          </a:p>
        </p:txBody>
      </p:sp>
      <p:sp>
        <p:nvSpPr>
          <p:cNvPr id="18" name="">
            <a:extLst>
              <a:ext uri="{FF2B5EF4-FFF2-40B4-BE49-F238E27FC236}">
                <ns2:creationId id="{FD4CF4ED-4DF4-4817-A46D-6122AF1826FB}"/>
              </a:ext>
            </a:extLst>
          </p:cNvPr>
          <p:cNvSpPr>
            <a:spLocks noGrp="1"/>
          </p:cNvSpPr>
          <p:nvPr/>
        </p:nvSpPr>
        <p:spPr>
          <a:xfrm>
            <a:off x="8382000" y="3390900"/>
            <a:ext cx="476250" cy="0"/>
          </a:xfrm>
          <a:prstGeom prst="line">
            <a:avLst/>
          </a:prstGeom>
          <a:ln w="19050">
            <a:solidFill>
              <a:srgbClr val="FF7A59"/>
            </a:solidFill>
          </a:ln>
        </p:spPr>
      </p:sp>
      <p:sp>
        <p:nvSpPr>
          <p:cNvPr id="19" name="">
            <a:extLst>
              <a:ext uri="{FF2B5EF4-FFF2-40B4-BE49-F238E27FC236}">
                <ns2:creationId id="{8A67B987-EDBB-44FF-8C76-7B72F7E726B1}"/>
              </a:ext>
            </a:extLst>
          </p:cNvPr>
          <p:cNvSpPr>
            <a:spLocks noGrp="1"/>
          </p:cNvSpPr>
          <p:nvPr/>
        </p:nvSpPr>
        <p:spPr>
          <a:xfrm>
            <a:off x="8953500" y="2628900"/>
            <a:ext cx="2190750" cy="152400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20" name="">
            <a:extLst>
              <a:ext uri="{FF2B5EF4-FFF2-40B4-BE49-F238E27FC236}">
                <ns2:creationId id="{82DBE2B3-51CB-4B60-B367-136AB78E75D5}"/>
              </a:ext>
            </a:extLst>
          </p:cNvPr>
          <p:cNvSpPr>
            <a:spLocks noGrp="1"/>
          </p:cNvSpPr>
          <p:nvPr/>
        </p:nvSpPr>
        <p:spPr>
          <a:xfrm>
            <a:off x="9124950" y="2876550"/>
            <a:ext cx="1809750" cy="304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F7A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1" name="">
            <a:extLst>
              <a:ext uri="{FF2B5EF4-FFF2-40B4-BE49-F238E27FC236}">
                <ns2:creationId id="{5ED83E8C-E72E-4BD3-A84D-AD2617FB8E25}"/>
              </a:ext>
            </a:extLst>
          </p:cNvPr>
          <p:cNvSpPr>
            <a:spLocks noGrp="1"/>
          </p:cNvSpPr>
          <p:nvPr/>
        </p:nvSpPr>
        <p:spPr>
          <a:xfrm>
            <a:off x="9124950" y="3333750"/>
            <a:ext cx="1809750" cy="5905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Incremental adoption against holdout, then revenue uplift and quality guardrails.</a:t>
            </a:r>
          </a:p>
        </p:txBody>
      </p:sp>
      <p:sp>
        <p:nvSpPr>
          <p:cNvPr id="22" name="">
            <a:extLst>
              <a:ext uri="{FF2B5EF4-FFF2-40B4-BE49-F238E27FC236}">
                <ns2:creationId id="{8103B654-A85F-417A-9DB9-96724EE48767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17145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Primary KPI</a:t>
            </a:r>
          </a:p>
        </p:txBody>
      </p:sp>
      <p:sp>
        <p:nvSpPr>
          <p:cNvPr id="23" name="">
            <a:extLst>
              <a:ext uri="{FF2B5EF4-FFF2-40B4-BE49-F238E27FC236}">
                <ns2:creationId id="{AF616637-726F-4AA8-9A1E-A12115EAC207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6000750" cy="5143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Incremental SMB Bundle adoption rate: adoption difference between exposed sellers and a holdout/control group.</a:t>
            </a:r>
          </a:p>
        </p:txBody>
      </p:sp>
      <p:sp>
        <p:nvSpPr>
          <p:cNvPr id="24" name="">
            <a:extLst>
              <a:ext uri="{FF2B5EF4-FFF2-40B4-BE49-F238E27FC236}">
                <ns2:creationId id="{A8A68785-FEF8-4FC6-A99B-C953159862ED}"/>
              </a:ext>
            </a:extLst>
          </p:cNvPr>
          <p:cNvSpPr>
            <a:spLocks noGrp="1"/>
          </p:cNvSpPr>
          <p:nvPr/>
        </p:nvSpPr>
        <p:spPr>
          <a:xfrm>
            <a:off x="7048500" y="5010150"/>
            <a:ext cx="4000500" cy="666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4000"/>
              </a:lnSpc>
              <a:buNone/>
              <a:defRPr sz="12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Secondary KPIs: click-through rate, trial start rate, bundle revenue uplift. Guardrails: early cancellation or downgrade, seller opt-out or complaint rate.</a:t>
            </a:r>
          </a:p>
        </p:txBody>
      </p:sp>
    </p:spTree>
    <p:extLst>
      <p:ext uri="{BB962C8B-B14F-4D97-AF65-F5344CB8AC3E}">
        <ns3:creationId val="1416733793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137DF101-FE13-4979-AF92-27229E832D18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" name="">
            <a:extLst>
              <a:ext uri="{FF2B5EF4-FFF2-40B4-BE49-F238E27FC236}">
                <ns2:creationId id="{2422924D-1E86-4125-88E6-7F2137389FCD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Cross-question synthesis</a:t>
            </a:r>
          </a:p>
        </p:txBody>
      </p:sp>
      <p:sp>
        <p:nvSpPr>
          <p:cNvPr id="3" name="">
            <a:extLst>
              <a:ext uri="{FF2B5EF4-FFF2-40B4-BE49-F238E27FC236}">
                <ns2:creationId id="{FADAED1E-A041-4843-B366-9354DB32FB44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">
            <a:extLst>
              <a:ext uri="{FF2B5EF4-FFF2-40B4-BE49-F238E27FC236}">
                <ns2:creationId id="{815AA307-E94D-47B6-8A1A-38BC21DA97C3}"/>
              </a:ext>
            </a:extLst>
          </p:cNvPr>
          <p:cNvSpPr>
            <a:spLocks noGrp="1"/>
          </p:cNvSpPr>
          <p:nvPr/>
        </p:nvSpPr>
        <p:spPr>
          <a:xfrm>
            <a:off x="552450" y="600075"/>
            <a:ext cx="7524750" cy="6858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0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The operating loop is ready.</a:t>
            </a:r>
          </a:p>
        </p:txBody>
      </p:sp>
      <p:sp>
        <p:nvSpPr>
          <p:cNvPr id="5" name="">
            <a:extLst>
              <a:ext uri="{FF2B5EF4-FFF2-40B4-BE49-F238E27FC236}">
                <ns2:creationId id="{9BC8BB56-B0ED-4FA2-A4B2-1F8E1F40ECC9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763000" cy="8191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2000"/>
              </a:lnSpc>
              <a:buNone/>
              <a:defRPr sz="187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Assignment 2 links analytics to action: identify likely SMBs, prioritize commercial readiness, monitor paid adoption, then scale promotion with controlled measurement.</a:t>
            </a:r>
          </a:p>
        </p:txBody>
      </p:sp>
      <p:sp>
        <p:nvSpPr>
          <p:cNvPr id="6" name="">
            <a:extLst>
              <a:ext uri="{FF2B5EF4-FFF2-40B4-BE49-F238E27FC236}">
                <ns2:creationId id="{47AC6BA8-119C-46BB-BC19-1768CD674697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7" name="">
            <a:extLst>
              <a:ext uri="{FF2B5EF4-FFF2-40B4-BE49-F238E27FC236}">
                <ns2:creationId id="{D2DC0345-922A-4530-9995-68FE7444EA33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8" name="">
            <a:extLst>
              <a:ext uri="{FF2B5EF4-FFF2-40B4-BE49-F238E27FC236}">
                <ns2:creationId id="{EC66A31B-4C7F-403D-BB7C-FC6B1E93F4F6}"/>
              </a:ext>
            </a:extLst>
          </p:cNvPr>
          <p:cNvSpPr>
            <a:spLocks noGrp="1"/>
          </p:cNvSpPr>
          <p:nvPr/>
        </p:nvSpPr>
        <p:spPr>
          <a:xfrm>
            <a:off x="8572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Explainable SMB likelihood</a:t>
            </a:r>
          </a:p>
        </p:txBody>
      </p:sp>
      <p:sp>
        <p:nvSpPr>
          <p:cNvPr id="9" name="">
            <a:extLst>
              <a:ext uri="{FF2B5EF4-FFF2-40B4-BE49-F238E27FC236}">
                <ns2:creationId id="{B7807B8A-B32C-4804-B326-73F728A96F71}"/>
              </a:ext>
            </a:extLst>
          </p:cNvPr>
          <p:cNvSpPr>
            <a:spLocks noGrp="1"/>
          </p:cNvSpPr>
          <p:nvPr/>
        </p:nvSpPr>
        <p:spPr>
          <a:xfrm>
            <a:off x="234315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0" name="">
            <a:extLst>
              <a:ext uri="{FF2B5EF4-FFF2-40B4-BE49-F238E27FC236}">
                <ns2:creationId id="{2E76497E-A772-446B-92B5-CA51BAF70F6F}"/>
              </a:ext>
            </a:extLst>
          </p:cNvPr>
          <p:cNvSpPr>
            <a:spLocks noGrp="1"/>
          </p:cNvSpPr>
          <p:nvPr/>
        </p:nvSpPr>
        <p:spPr>
          <a:xfrm>
            <a:off x="283845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1" name="">
            <a:extLst>
              <a:ext uri="{FF2B5EF4-FFF2-40B4-BE49-F238E27FC236}">
                <ns2:creationId id="{B5E09C2A-8D5E-4E9B-8791-DA16B2E46159}"/>
              </a:ext>
            </a:extLst>
          </p:cNvPr>
          <p:cNvSpPr>
            <a:spLocks noGrp="1"/>
          </p:cNvSpPr>
          <p:nvPr/>
        </p:nvSpPr>
        <p:spPr>
          <a:xfrm>
            <a:off x="300990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2" name="">
            <a:extLst>
              <a:ext uri="{FF2B5EF4-FFF2-40B4-BE49-F238E27FC236}">
                <ns2:creationId id="{420D0FC7-B5EE-4FFE-801C-6E959EFC4C07}"/>
              </a:ext>
            </a:extLst>
          </p:cNvPr>
          <p:cNvSpPr>
            <a:spLocks noGrp="1"/>
          </p:cNvSpPr>
          <p:nvPr/>
        </p:nvSpPr>
        <p:spPr>
          <a:xfrm>
            <a:off x="300990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Readiness score and bundle fit</a:t>
            </a:r>
          </a:p>
        </p:txBody>
      </p:sp>
      <p:sp>
        <p:nvSpPr>
          <p:cNvPr id="13" name="">
            <a:extLst>
              <a:ext uri="{FF2B5EF4-FFF2-40B4-BE49-F238E27FC236}">
                <ns2:creationId id="{677ED116-B710-4DAD-9A72-AB543A56B3DA}"/>
              </a:ext>
            </a:extLst>
          </p:cNvPr>
          <p:cNvSpPr>
            <a:spLocks noGrp="1"/>
          </p:cNvSpPr>
          <p:nvPr/>
        </p:nvSpPr>
        <p:spPr>
          <a:xfrm>
            <a:off x="449580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4" name="">
            <a:extLst>
              <a:ext uri="{FF2B5EF4-FFF2-40B4-BE49-F238E27FC236}">
                <ns2:creationId id="{F36B3C68-CE59-4864-BD94-62FB3DF87976}"/>
              </a:ext>
            </a:extLst>
          </p:cNvPr>
          <p:cNvSpPr>
            <a:spLocks noGrp="1"/>
          </p:cNvSpPr>
          <p:nvPr/>
        </p:nvSpPr>
        <p:spPr>
          <a:xfrm>
            <a:off x="499110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5" name="">
            <a:extLst>
              <a:ext uri="{FF2B5EF4-FFF2-40B4-BE49-F238E27FC236}">
                <ns2:creationId id="{E2A67A41-4E46-4C70-A397-891510E47373}"/>
              </a:ext>
            </a:extLst>
          </p:cNvPr>
          <p:cNvSpPr>
            <a:spLocks noGrp="1"/>
          </p:cNvSpPr>
          <p:nvPr/>
        </p:nvSpPr>
        <p:spPr>
          <a:xfrm>
            <a:off x="51625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16" name="">
            <a:extLst>
              <a:ext uri="{FF2B5EF4-FFF2-40B4-BE49-F238E27FC236}">
                <ns2:creationId id="{1A52468B-C4BD-44E5-B02C-08E3318E8C56}"/>
              </a:ext>
            </a:extLst>
          </p:cNvPr>
          <p:cNvSpPr>
            <a:spLocks noGrp="1"/>
          </p:cNvSpPr>
          <p:nvPr/>
        </p:nvSpPr>
        <p:spPr>
          <a:xfrm>
            <a:off x="51625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Basic or Plus outreach</a:t>
            </a:r>
          </a:p>
        </p:txBody>
      </p:sp>
      <p:sp>
        <p:nvSpPr>
          <p:cNvPr id="17" name="">
            <a:extLst>
              <a:ext uri="{FF2B5EF4-FFF2-40B4-BE49-F238E27FC236}">
                <ns2:creationId id="{466E1777-3414-4276-A7CA-A52D3EF8D4FC}"/>
              </a:ext>
            </a:extLst>
          </p:cNvPr>
          <p:cNvSpPr>
            <a:spLocks noGrp="1"/>
          </p:cNvSpPr>
          <p:nvPr/>
        </p:nvSpPr>
        <p:spPr>
          <a:xfrm>
            <a:off x="664845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18" name="">
            <a:extLst>
              <a:ext uri="{FF2B5EF4-FFF2-40B4-BE49-F238E27FC236}">
                <ns2:creationId id="{F9A9444D-2017-4593-80E0-186F849E26CB}"/>
              </a:ext>
            </a:extLst>
          </p:cNvPr>
          <p:cNvSpPr>
            <a:spLocks noGrp="1"/>
          </p:cNvSpPr>
          <p:nvPr/>
        </p:nvSpPr>
        <p:spPr>
          <a:xfrm>
            <a:off x="7143750" y="3143250"/>
            <a:ext cx="1638300" cy="1047750"/>
          </a:xfrm>
          <a:prstGeom prst="rect">
            <a:avLst/>
          </a:prstGeom>
          <a:ln w="9525">
            <a:solidFill>
              <a:srgbClr val="3A3A3A"/>
            </a:solidFill>
          </a:ln>
        </p:spPr>
      </p:sp>
      <p:sp>
        <p:nvSpPr>
          <p:cNvPr id="19" name="">
            <a:extLst>
              <a:ext uri="{FF2B5EF4-FFF2-40B4-BE49-F238E27FC236}">
                <ns2:creationId id="{1E6BCB3E-CFD0-4D86-92D8-DFEE7CA26347}"/>
              </a:ext>
            </a:extLst>
          </p:cNvPr>
          <p:cNvSpPr>
            <a:spLocks noGrp="1"/>
          </p:cNvSpPr>
          <p:nvPr/>
        </p:nvSpPr>
        <p:spPr>
          <a:xfrm>
            <a:off x="731520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0" name="">
            <a:extLst>
              <a:ext uri="{FF2B5EF4-FFF2-40B4-BE49-F238E27FC236}">
                <ns2:creationId id="{056D0279-6645-4E27-A5E6-1190F79DAB8F}"/>
              </a:ext>
            </a:extLst>
          </p:cNvPr>
          <p:cNvSpPr>
            <a:spLocks noGrp="1"/>
          </p:cNvSpPr>
          <p:nvPr/>
        </p:nvSpPr>
        <p:spPr>
          <a:xfrm>
            <a:off x="731520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Paid base, revenue proxy, quality</a:t>
            </a:r>
          </a:p>
        </p:txBody>
      </p:sp>
      <p:sp>
        <p:nvSpPr>
          <p:cNvPr id="21" name="">
            <a:extLst>
              <a:ext uri="{FF2B5EF4-FFF2-40B4-BE49-F238E27FC236}">
                <ns2:creationId id="{EBA44059-7495-4E78-A677-8F47419E964E}"/>
              </a:ext>
            </a:extLst>
          </p:cNvPr>
          <p:cNvSpPr>
            <a:spLocks noGrp="1"/>
          </p:cNvSpPr>
          <p:nvPr/>
        </p:nvSpPr>
        <p:spPr>
          <a:xfrm>
            <a:off x="8801100" y="3667125"/>
            <a:ext cx="419100" cy="0"/>
          </a:xfrm>
          <a:prstGeom prst="line">
            <a:avLst/>
          </a:prstGeom>
          <a:ln w="9525">
            <a:solidFill>
              <a:srgbClr val="3A3A3A"/>
            </a:solidFill>
          </a:ln>
        </p:spPr>
      </p:sp>
      <p:sp>
        <p:nvSpPr>
          <p:cNvPr id="22" name="">
            <a:extLst>
              <a:ext uri="{FF2B5EF4-FFF2-40B4-BE49-F238E27FC236}">
                <ns2:creationId id="{2876B73E-70B8-49A9-A092-091DE692F6C8}"/>
              </a:ext>
            </a:extLst>
          </p:cNvPr>
          <p:cNvSpPr>
            <a:spLocks noGrp="1"/>
          </p:cNvSpPr>
          <p:nvPr/>
        </p:nvSpPr>
        <p:spPr>
          <a:xfrm>
            <a:off x="9296400" y="3143250"/>
            <a:ext cx="1638300" cy="1047750"/>
          </a:xfrm>
          <a:prstGeom prst="rect">
            <a:avLst/>
          </a:prstGeom>
          <a:ln w="9525">
            <a:solidFill>
              <a:srgbClr val="F4C430"/>
            </a:solidFill>
          </a:ln>
        </p:spPr>
      </p:sp>
      <p:sp>
        <p:nvSpPr>
          <p:cNvPr id="23" name="">
            <a:extLst>
              <a:ext uri="{FF2B5EF4-FFF2-40B4-BE49-F238E27FC236}">
                <ns2:creationId id="{A0344C27-0156-4053-9025-EDCAB46A5EFE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2573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4" name="">
            <a:extLst>
              <a:ext uri="{FF2B5EF4-FFF2-40B4-BE49-F238E27FC236}">
                <ns2:creationId id="{A054D825-02CB-405B-BE85-6753AF9235A9}"/>
              </a:ext>
            </a:extLst>
          </p:cNvPr>
          <p:cNvSpPr>
            <a:spLocks noGrp="1"/>
          </p:cNvSpPr>
          <p:nvPr/>
        </p:nvSpPr>
        <p:spPr>
          <a:xfrm>
            <a:off x="9467850" y="3695700"/>
            <a:ext cx="12573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125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CRM and in-platform campaign</a:t>
            </a:r>
          </a:p>
        </p:txBody>
      </p:sp>
      <p:sp>
        <p:nvSpPr>
          <p:cNvPr id="25" name="">
            <a:extLst>
              <a:ext uri="{FF2B5EF4-FFF2-40B4-BE49-F238E27FC236}">
                <ns2:creationId id="{049DD8B2-1269-4681-A786-26790F50564E}"/>
              </a:ext>
            </a:extLst>
          </p:cNvPr>
          <p:cNvSpPr>
            <a:spLocks noGrp="1"/>
          </p:cNvSpPr>
          <p:nvPr/>
        </p:nvSpPr>
        <p:spPr>
          <a:xfrm>
            <a:off x="723900" y="4953000"/>
            <a:ext cx="16192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5A5"/>
                </a:solidFill>
                <a:latin typeface="Arial"/>
                <a:ea typeface="Arial"/>
                <a:cs typeface="Arial"/>
              </a:rPr>
              <a:t>Next upgrade</a:t>
            </a:r>
          </a:p>
        </p:txBody>
      </p:sp>
      <p:sp>
        <p:nvSpPr>
          <p:cNvPr id="26" name="">
            <a:extLst>
              <a:ext uri="{FF2B5EF4-FFF2-40B4-BE49-F238E27FC236}">
                <ns2:creationId id="{C3F15D64-3D42-49E8-8F74-6F212A430624}"/>
              </a:ext>
            </a:extLst>
          </p:cNvPr>
          <p:cNvSpPr>
            <a:spLocks noGrp="1"/>
          </p:cNvSpPr>
          <p:nvPr/>
        </p:nvSpPr>
        <p:spPr>
          <a:xfrm>
            <a:off x="723900" y="5257800"/>
            <a:ext cx="8096250" cy="4191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10000"/>
              </a:lnSpc>
              <a:buNone/>
              <a:defRPr sz="16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Move from modeled launch metrics to causal impact: actual invoices, matched controls, seller outcome lift, and marketplace quality guardrails.</a:t>
            </a:r>
          </a:p>
        </p:txBody>
      </p:sp>
    </p:spTree>
    <p:extLst>
      <p:ext uri="{BB962C8B-B14F-4D97-AF65-F5344CB8AC3E}">
        <ns3:creationId val="1149913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2026-06-12T23:24:48.2340000Z</dcterms:created>
  <dcterms:modified xsi:type="dcterms:W3CDTF">2026-06-12T23:24:48.2340000Z</dcterms:modified>
</coreProperties>
</file>