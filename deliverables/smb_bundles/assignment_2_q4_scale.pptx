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73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 focuses on high-potential SMB sellers who are likely to benefit from bundled visibility products and can be prioritized using the earlier SMB likelihood and readiness scores.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4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campaign for high-potential SMB sellers.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Reactivation campaign for SMB sellers who churned.</a:t>
            </a:r>
            <a:endParaRPr lang="en-US" sz="1300" dirty="0"/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campaign </a:t>
            </a:r>
            <a:r>
              <a:rPr lang="en-US" sz="14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en-US" sz="130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to Plus.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High-potential SMBs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+ readiness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01568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prompts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behavior-triggered outreach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51576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adoption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vs Plus positioning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1352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25712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25712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holdout-based KPIs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starts with active sellers who do not yet have an SMB bundle, then narrows toward sellers with the strongest evidence of business behavior and bundle readiness.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1792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Definition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2423160"/>
            <a:ext cx="10149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SMB sellers without an SMB bundle.</a:t>
            </a:r>
            <a:endParaRPr lang="en-US" sz="1350" dirty="0"/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filter for sellers with a high SMB likelihood score from question #1, so the campaign focuses on likely business sellers instead of consumers.</a:t>
            </a:r>
            <a:endParaRPr lang="en-US" sz="1350" dirty="0"/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prioritize within that audience using the Q2 readiness score from question #2, because it captures recent activity, paid-product adoption, consistency, category breadth, growth, and fees.</a:t>
            </a:r>
            <a:endParaRPr lang="en-US" sz="1350" dirty="0"/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sellers who score high on both SMB likelihood and bundle readiness; use Basic vs Plus positioning based on the Q2 bundle-fit recommendation.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4645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" y="50749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" y="521208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seller pool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54681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current bundle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90672" y="5385816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02152" y="50749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66744" y="521208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likelihood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66744" y="54681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business signal filter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71032" y="5385816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82512" y="50749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7104" y="521208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47104" y="54681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outreach ranking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51392" y="5385816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62872" y="507492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27464" y="52120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27464" y="54681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vs Plus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750" dirty="0"/>
          </a:p>
        </p:txBody>
      </p:sp>
      <p:sp>
        <p:nvSpPr>
          <p:cNvPr id="8" name="Channels intro"/>
          <p:cNvSpPr/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complementary channels: lifecycle CRM for behavior-triggered outreach and in-platform prompts for high-intent seller moments.</a:t>
            </a:r>
            <a:endParaRPr lang="en-US" sz="1500" dirty="0"/>
          </a:p>
        </p:txBody>
      </p:sp>
      <p:sp>
        <p:nvSpPr>
          <p:cNvPr id="9" name="Channel mix label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800" dirty="0"/>
          </a:p>
        </p:txBody>
      </p:sp>
      <p:sp>
        <p:nvSpPr>
          <p:cNvPr id="10" name="Lifecycle CRM card"/>
          <p:cNvSpPr/>
          <p:nvPr/>
        </p:nvSpPr>
        <p:spPr>
          <a:xfrm>
            <a:off x="621792" y="2606040"/>
            <a:ext cx="5029200" cy="1828800"/>
          </a:xfrm>
          <a:prstGeom prst="roundRect">
            <a:avLst/>
          </a:pr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 CRM accent"/>
          <p:cNvSpPr/>
          <p:nvPr/>
        </p:nvSpPr>
        <p:spPr>
          <a:xfrm>
            <a:off x="62179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 CRM title"/>
          <p:cNvSpPr/>
          <p:nvPr/>
        </p:nvSpPr>
        <p:spPr>
          <a:xfrm>
            <a:off x="80467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CRM</a:t>
            </a:r>
            <a:endParaRPr lang="en-US" sz="1700" dirty="0"/>
          </a:p>
        </p:txBody>
      </p:sp>
      <p:sp>
        <p:nvSpPr>
          <p:cNvPr id="13" name="Lifecycle CRM body"/>
          <p:cNvSpPr/>
          <p:nvPr/>
        </p:nvSpPr>
        <p:spPr>
          <a:xfrm>
            <a:off x="80467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CRM journeys triggered by seller behavior, such as repeated listing, paid-feature use, competitive-category activity, or buyer interest without a bundle.</a:t>
            </a:r>
            <a:endParaRPr lang="en-US" sz="1250" dirty="0"/>
          </a:p>
        </p:txBody>
      </p:sp>
      <p:sp>
        <p:nvSpPr>
          <p:cNvPr id="14" name="Lifecycle CRM role"/>
          <p:cNvSpPr/>
          <p:nvPr/>
        </p:nvSpPr>
        <p:spPr>
          <a:xfrm>
            <a:off x="80467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proactive reach when seller behavior signals commercial intent.</a:t>
            </a:r>
            <a:endParaRPr lang="en-US" sz="1100" dirty="0"/>
          </a:p>
        </p:txBody>
      </p:sp>
      <p:sp>
        <p:nvSpPr>
          <p:cNvPr id="15" name="In-platform Prompts card"/>
          <p:cNvSpPr/>
          <p:nvPr/>
        </p:nvSpPr>
        <p:spPr>
          <a:xfrm>
            <a:off x="6291072" y="2606040"/>
            <a:ext cx="5029200" cy="1828800"/>
          </a:xfrm>
          <a:prstGeom prst="roundRect">
            <a:avLst/>
          </a:pr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-platform Prompts accent"/>
          <p:cNvSpPr/>
          <p:nvPr/>
        </p:nvSpPr>
        <p:spPr>
          <a:xfrm>
            <a:off x="629107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-platform Prompts title"/>
          <p:cNvSpPr/>
          <p:nvPr/>
        </p:nvSpPr>
        <p:spPr>
          <a:xfrm>
            <a:off x="647395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In-platform Prompts</a:t>
            </a:r>
            <a:endParaRPr lang="en-US" sz="1700" dirty="0"/>
          </a:p>
        </p:txBody>
      </p:sp>
      <p:sp>
        <p:nvSpPr>
          <p:cNvPr id="18" name="In-platform Prompts body"/>
          <p:cNvSpPr/>
          <p:nvPr/>
        </p:nvSpPr>
        <p:spPr>
          <a:xfrm>
            <a:off x="647395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high-intent seller surfaces: seller dashboard, listing creation, listing management, and paid-feature purchase flows.</a:t>
            </a:r>
            <a:endParaRPr lang="en-US" sz="1250" dirty="0"/>
          </a:p>
        </p:txBody>
      </p:sp>
      <p:sp>
        <p:nvSpPr>
          <p:cNvPr id="19" name="In-platform Prompts role"/>
          <p:cNvSpPr/>
          <p:nvPr/>
        </p:nvSpPr>
        <p:spPr>
          <a:xfrm>
            <a:off x="647395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contextual nudge while sellers are already managing supply or visibility spend.</a:t>
            </a:r>
            <a:endParaRPr lang="en-US" sz="1100" dirty="0"/>
          </a:p>
        </p:txBody>
      </p:sp>
      <p:sp>
        <p:nvSpPr>
          <p:cNvPr id="20" name="How channels work label"/>
          <p:cNvSpPr/>
          <p:nvPr/>
        </p:nvSpPr>
        <p:spPr>
          <a:xfrm>
            <a:off x="621792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 Together</a:t>
            </a:r>
            <a:endParaRPr lang="en-US" sz="1800" dirty="0"/>
          </a:p>
        </p:txBody>
      </p:sp>
      <p:sp>
        <p:nvSpPr>
          <p:cNvPr id="21" name="How channels work body"/>
          <p:cNvSpPr/>
          <p:nvPr/>
        </p:nvSpPr>
        <p:spPr>
          <a:xfrm>
            <a:off x="621792" y="52730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creates the targeted outreach path; in-platform prompts reinforce the message at the moment of seller intent.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Lifecycle CRM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email / CRM journeys triggered by seller behavior.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Triggers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21792" y="2212848"/>
          <a:ext cx="10652760" cy="214884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ns3:colId val="20000"/>
                    </a:ext>
                  </a:extLst>
                </a:gridCol>
                <a:gridCol w="713232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lists repeatedly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Promote bundle when commercial intent is 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uses paid features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 bundle as a structured visibility product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operates in competitive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Promote differentiation benefit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receives buyer interest but has no bundle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Promote visibility/professionalization as next 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In-platform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 in high-intent seller surfaces.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Surfaces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21792" y="2212848"/>
          <a:ext cx="10652760" cy="2148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ns3:colId val="20000"/>
                    </a:ext>
                  </a:extLst>
                </a:gridCol>
                <a:gridCol w="736092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is already reviewing 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creation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is investing effort in supply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management page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is optimizing existing 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Paid-feature purchase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is already considering visibility spend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Key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Primary KPI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21792" y="1700784"/>
          <a:ext cx="10652760" cy="126187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ns3:colId val="20000"/>
                    </a:ext>
                  </a:extLst>
                </a:gridCol>
                <a:gridCol w="4160520">
                  <a:extLst>
                    <a:ext uri="{9D8B030D-6E8A-4147-A177-3AD203B41FA5}">
                      <ns3:colId val="20001"/>
                    </a:ext>
                  </a:extLst>
                </a:gridCol>
                <a:gridCol w="406908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SMB Bundle adoption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Difference in adoption between exposed sellers and a holdout/control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measures whether the campaign creates additional bundle adoption beyond what would have happened anyway.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Secondary KPIs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21792" y="3675888"/>
          <a:ext cx="10652760" cy="208483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ns3:colId val="20000"/>
                    </a:ext>
                  </a:extLst>
                </a:gridCol>
                <a:gridCol w="4343400">
                  <a:extLst>
                    <a:ext uri="{9D8B030D-6E8A-4147-A177-3AD203B41FA5}">
                      <ns3:colId val="20001"/>
                    </a:ext>
                  </a:extLst>
                </a:gridCol>
                <a:gridCol w="416052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Click-through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exposed sellers who click through to bundle details or pricing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whether the message and timing create genuine interest among the intended sellers.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start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exposed sellers who begin the bundle sign-up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whether interested sellers are willing to take a concrete next step toward adoption.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revenue uplift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bundle revenue from exposed sellers vs. holdout/control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Confirms that adoption translates into commercial impact, not only free or low-value sign-ups.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6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Guardrail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44200" y="62362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the campaign does not overfit to short-term adoption at the expense of seller fit, product trust, or support burden.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Guardrail KPIs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621792" y="2395728"/>
          <a:ext cx="10652760" cy="17830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ns3:colId val="20000"/>
                    </a:ext>
                  </a:extLst>
                </a:gridCol>
                <a:gridCol w="4343400">
                  <a:extLst>
                    <a:ext uri="{9D8B030D-6E8A-4147-A177-3AD203B41FA5}">
                      <ns3:colId val="20001"/>
                    </a:ext>
                  </a:extLst>
                </a:gridCol>
                <a:gridCol w="397764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cancellation / downgrade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new bundle adopters who cancel or downgrade shortly after adoption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 against pushing sellers into bundles that do not fit their needs or expectations.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opt-out or complaint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exposed sellers who unsubscribe, dismiss repeatedly, or contact support negatively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D8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Ensures the campaign does not create excessive seller friction or damage trust.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1792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Discipline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4864608"/>
            <a:ext cx="3246120" cy="877824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4864608"/>
            <a:ext cx="3246120" cy="36576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6384" y="5029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6384" y="5358384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exposed sellers vs. a holdout/control group for adoption and revenue.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87952" y="4864608"/>
            <a:ext cx="3246120" cy="877824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187952" y="4864608"/>
            <a:ext cx="3246120" cy="36576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52544" y="5029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52544" y="5358384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cancellation or downgrade shortly after adoption.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54112" y="4864608"/>
            <a:ext cx="3246120" cy="877824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754112" y="4864608"/>
            <a:ext cx="3246120" cy="36576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18704" y="5029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918704" y="5358384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unsubscribe, repeated dismissal, and support complaints.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797</Words>
  <Application>Microsoft Macintosh PowerPoint</Application>
  <PresentationFormat>Widescreen</PresentationFormat>
  <Paragraphs>138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Marktplaats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 Q4 Scale</dc:title>
  <dc:subject>SMB Bundle Strategy - Scale</dc:subject>
  <dc:creator>Omer Tal</dc:creator>
  <cp:lastModifiedBy>Omer Tal</cp:lastModifiedBy>
  <cp:revision>8</cp:revision>
  <dcterms:created xsi:type="dcterms:W3CDTF">2026-06-14T09:21:56Z</dcterms:created>
  <dcterms:modified xsi:type="dcterms:W3CDTF">2026-06-14T11:22:09Z</dcterms:modified>
</cp:coreProperties>
</file>