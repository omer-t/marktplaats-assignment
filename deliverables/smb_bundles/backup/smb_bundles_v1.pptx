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5D54025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6715009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66FA96F5.xml" ContentType="application/vnd.ms-powerpoint.comments+xml"/>
  <Override PartName="/ppt/notesSlides/notesSlide9.xml" ContentType="application/vnd.openxmlformats-officedocument.presentationml.notesSlide+xml"/>
  <Override PartName="/ppt/comments/modernComment_108_4490B3C.xml" ContentType="application/vnd.ms-powerpoint.comments+xml"/>
  <Override PartName="/ppt/notesSlides/notesSlide10.xml" ContentType="application/vnd.openxmlformats-officedocument.presentationml.notesSlide+xml"/>
  <Override PartName="/ppt/comments/modernComment_10C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12_0.xml" ContentType="application/vnd.ms-powerpoint.comments+xml"/>
  <Override PartName="/ppt/comments/modernComment_113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0B_0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116_0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modernComment_119_0.xml" ContentType="application/vnd.ms-powerpoint.comment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1B_0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20_0.xml" ContentType="application/vnd.ms-powerpoint.comments+xml"/>
  <Override PartName="/ppt/notesSlides/notesSlide31.xml" ContentType="application/vnd.openxmlformats-officedocument.presentationml.notesSlide+xml"/>
  <Override PartName="/ppt/comments/modernComment_122_0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24_0.xml" ContentType="application/vnd.ms-powerpoint.comments+xml"/>
  <Override PartName="/ppt/notesSlides/notesSlide34.xml" ContentType="application/vnd.openxmlformats-officedocument.presentationml.notesSlide+xml"/>
  <Override PartName="/ppt/comments/modernComment_125_0.xml" ContentType="application/vnd.ms-powerpoint.comments+xml"/>
  <Override PartName="/ppt/notesSlides/notesSlide3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6" r:id="rId20"/>
    <p:sldId id="267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CF2D40D-CC4A-DA46-8B0B-7BD7D12B9110}">
          <p14:sldIdLst>
            <p14:sldId id="256"/>
          </p14:sldIdLst>
        </p14:section>
        <p14:section name="01" id="{8A42B897-BD93-0D42-9E76-A91BAE859D1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02" id="{66CD8977-3BB4-E24F-BED0-ECC361A94601}">
          <p14:sldIdLst>
            <p14:sldId id="265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66"/>
            <p14:sldId id="267"/>
          </p14:sldIdLst>
        </p14:section>
        <p14:section name="03" id="{6EAE459C-A110-A047-A623-91F6CFE88A76}">
          <p14:sldIdLst>
            <p14:sldId id="276"/>
            <p14:sldId id="277"/>
          </p14:sldIdLst>
        </p14:section>
        <p14:section name="Untitled Section" id="{E95D2F5E-1F42-374F-9A16-B8E3B27C3DCC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4" id="{CF3F5FB2-E360-384F-AAED-6180E48D1DED}">
          <p14:sldIdLst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Closing" id="{91A2B39C-2633-F548-9454-66D659C11FBF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60"/>
    <p:restoredTop sz="86371"/>
  </p:normalViewPr>
  <p:slideViewPr>
    <p:cSldViewPr snapToGrid="0">
      <p:cViewPr varScale="1">
        <p:scale>
          <a:sx n="194" d="100"/>
          <a:sy n="194" d="100"/>
        </p:scale>
        <p:origin x="312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1CCA5-542A-E544-AD4E-AA7A7AC4E213}" authorId="{415BEED1-CB72-B48E-F02F-A910FFABA975}" created="2026-06-15T19:48:12.3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11" creationId="{00000000-0000-0000-0000-000000000000}"/>
      <ac:txMk cp="196" len="75">
        <ac:context len="272" hash="1452923450"/>
      </ac:txMk>
    </ac:txMkLst>
    <p188:pos x="6324323" y="743989"/>
    <p188:txBody>
      <a:bodyPr/>
      <a:lstStyle/>
      <a:p>
        <a:r>
          <a:rPr lang="en-US"/>
          <a:t>Remove or rephrase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created="2026-06-15T20:15:01.7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8"/>
      <ac:spMk id="30" creationId="{00000000-0000-0000-0000-000000000000}"/>
    </ac:deMkLst>
    <p188:txBody>
      <a:bodyPr/>
      <a:lstStyle/>
      <a:p>
        <a:r>
          <a:rPr lang="en-US"/>
          <a:t>Focus on this</a:t>
        </a:r>
      </a:p>
    </p188:txBody>
  </p188:cm>
</p188:cmLst>
</file>

<file path=ppt/comments/modernComment_11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D02F3-DA95-284C-996F-FF48BCCDF6BD}" authorId="{415BEED1-CB72-B48E-F02F-A910FFABA975}" created="2026-06-15T19:56:50.0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spMk id="13" creationId="{A90C4CDA-20E1-4A66-06B2-6B57882CCD19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2_5D540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created="2026-06-15T20:10:53.9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46" creationId="{47D1F815-DDE6-4E60-B387-97C475589306}"/>
    </ac:deMkLst>
    <p188:txBody>
      <a:bodyPr/>
      <a:lstStyle/>
      <a:p>
        <a:r>
          <a:rPr lang="en-US"/>
          <a:t>remove</a:t>
        </a:r>
      </a:p>
    </p188:txBody>
  </p188:cm>
  <p188:cm id="{254AA85D-B778-034B-B2D2-D1BC2066CA44}" authorId="{415BEED1-CB72-B48E-F02F-A910FFABA975}" created="2026-06-15T20:11:12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10" creationId="{2178FA77-A0E9-4651-8A84-AC52DF717621}"/>
    </ac:deMkLst>
    <p188:txBody>
      <a:bodyPr/>
      <a:lstStyle/>
      <a:p>
        <a:r>
          <a:rPr lang="en-US"/>
          <a:t>do not get into details</a:t>
        </a:r>
      </a:p>
    </p188:txBody>
  </p188:cm>
</p188:cmLst>
</file>

<file path=ppt/comments/modernComment_104_67150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0:12:44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29429648" sldId="260"/>
      <ac:graphicFrameMk id="17" creationId="{00000000-0000-0000-0000-000000000000}"/>
    </ac:deMkLst>
    <p188:txBody>
      <a:bodyPr/>
      <a:lstStyle/>
      <a:p>
        <a:r>
          <a:rPr lang="en-US"/>
          <a:t>reorder: CPC, Invoice amount first</a:t>
        </a:r>
      </a:p>
    </p188:txBody>
  </p188:cm>
</p188:cmLst>
</file>

<file path=ppt/comments/modernComment_107_66FA96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57C0FB-C6B6-B64D-9351-EF8663339985}" authorId="{415BEED1-CB72-B48E-F02F-A910FFABA975}" created="2026-06-15T19:31:56.213">
    <pc:sldMkLst xmlns:pc="http://schemas.microsoft.com/office/powerpoint/2013/main/command">
      <pc:docMk/>
      <pc:sldMk cId="1727698677" sldId="262"/>
    </pc:sldMkLst>
    <p188:txBody>
      <a:bodyPr/>
      <a:lstStyle/>
      <a:p>
        <a:r>
          <a:rPr lang="en-US"/>
          <a:t>Remove this signal</a:t>
        </a:r>
      </a:p>
    </p188:txBody>
  </p188:cm>
</p188:cmLst>
</file>

<file path=ppt/comments/modernComment_108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created="2026-06-15T19:33:23.0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4"/>
      <ac:graphicFrameMk id="10" creationId="{00000000-0000-0000-0000-000000000000}"/>
      <ac:tblMk/>
      <ac:tcMk rowId="10003" colId="20001"/>
      <ac:txMk cp="0" len="45">
        <ac:context len="46" hash="2602481956"/>
      </ac:txMk>
    </ac:txMkLst>
    <p188:pos x="4442883" y="1454083"/>
    <p188:txBody>
      <a:bodyPr/>
      <a:lstStyle/>
      <a:p>
        <a:r>
          <a:rPr lang="en-US"/>
          <a:t>rephrase</a:t>
        </a:r>
      </a:p>
    </p188:txBody>
  </p188:cm>
  <p188:cm id="{C8FDF3E7-26C1-A548-A8B3-ED9686E3BE31}" authorId="{415BEED1-CB72-B48E-F02F-A910FFABA975}" created="2026-06-15T19:33:49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4"/>
      <ac:spMk id="12" creationId="{E6D23BF3-2401-4FDA-BDDF-486C1AD3B8B9}"/>
      <ac:txMk cp="0" len="101">
        <ac:context len="102" hash="1162065837"/>
      </ac:txMk>
    </ac:txMkLst>
    <p188:pos x="6525683" y="338600"/>
    <p188:txBody>
      <a:bodyPr/>
      <a:lstStyle/>
      <a:p>
        <a:r>
          <a:rPr lang="en-US"/>
          <a:t>rephrase</a:t>
        </a:r>
      </a:p>
    </p188:txBody>
  </p188:cm>
</p188:cmLst>
</file>

<file path=ppt/comments/modernComment_11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F10BF8-CC85-0945-A848-863966AA2DA4}" authorId="{415BEED1-CB72-B48E-F02F-A910FFABA975}" created="2026-06-15T19:43:16.9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4"/>
      <ac:graphicFrameMk id="10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56E0D-8A77-C94D-B843-CDD9B45B9AAD}" authorId="{415BEED1-CB72-B48E-F02F-A910FFABA975}" created="2026-06-15T19:49:21.1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24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1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84F299-764A-F143-BE81-B532CE6611A3}" authorId="{415BEED1-CB72-B48E-F02F-A910FFABA975}" created="2026-06-15T19:52:39.8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8"/>
      <ac:spMk id="29" creationId="{A1B36AC2-DD7B-52CC-4B11-0FB1FD870343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1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EE5E7-B8E8-C34F-8705-6ED94DEE77F9}" authorId="{415BEED1-CB72-B48E-F02F-A910FFABA975}" created="2026-06-15T19:54:25.6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1"/>
      <ac:spMk id="11" creationId="{58492A07-403A-0E9C-FBBA-EBE9C0ACDA9C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2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created="2026-06-15T20:01:35.4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8" creationId="{00000000-0000-0000-0000-000000000000}"/>
      <ac:txMk cp="86" len="8">
        <ac:context len="171" hash="1001647102"/>
      </ac:txMk>
    </ac:txMkLst>
    <p188:pos x="8273555" y="291164"/>
    <p188:replyLst>
      <p188:reply id="{80BBFAAB-B82B-3943-B17D-6B5FFD7525CF}" authorId="{415BEED1-CB72-B48E-F02F-A910FFABA975}" created="2026-06-15T20:02:40.039">
        <p188:txBody>
          <a:bodyPr/>
          <a:lstStyle/>
          <a:p>
            <a:r>
              <a:rPr lang="en-US"/>
              <a:t>repetitive</a:t>
            </a:r>
          </a:p>
        </p188:txBody>
      </p188:reply>
    </p188:replyLst>
    <p188:txBody>
      <a:bodyPr/>
      <a:lstStyle/>
      <a:p>
        <a:r>
          <a:rPr lang="en-US"/>
          <a:t>change phrasing</a:t>
        </a:r>
      </a:p>
    </p188:txBody>
  </p188:cm>
  <p188:cm id="{4621D3D1-8D56-824E-83F2-1E10370050AA}" authorId="{415BEED1-CB72-B48E-F02F-A910FFABA975}" created="2026-06-15T20:01:53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10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2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created="2026-06-15T20:05:46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0"/>
      <ac:spMk id="21" creationId="{00000000-0000-0000-0000-000000000000}"/>
    </ac:deMkLst>
    <p188:txBody>
      <a:bodyPr/>
      <a:lstStyle/>
      <a:p>
        <a:r>
          <a:rPr lang="en-US"/>
          <a:t>Move into cards</a:t>
        </a:r>
      </a:p>
    </p188:txBody>
  </p188:cm>
</p188:cmLst>
</file>

<file path=ppt/comments/modernComment_12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created="2026-06-15T20:07:21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2"/>
      <ac:spMk id="27" creationId="{00000000-0000-0000-0000-000000000000}"/>
    </ac:deMkLst>
    <p188:txBody>
      <a:bodyPr/>
      <a:lstStyle/>
      <a:p>
        <a:r>
          <a:rPr lang="en-US"/>
          <a:t>rephrase</a:t>
        </a:r>
      </a:p>
    </p188:txBody>
  </p188:cm>
  <p188:cm id="{8A48312C-DB11-0342-9988-3F272BF9A2C8}" authorId="{415BEED1-CB72-B48E-F02F-A910FFABA975}" created="2026-06-15T20:07:42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2"/>
      <ac:spMk id="33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2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created="2026-06-15T20:08:20.8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3"/>
      <ac:spMk id="19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  <p188:cm id="{2D7510F2-75F2-3640-B288-1A78C48EA7CE}" authorId="{415BEED1-CB72-B48E-F02F-A910FFABA975}" created="2026-06-15T20:09:13.8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3"/>
      <ac:spMk id="32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4343-87FA-54D9-5BE6-37B511EE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BEE2F-4F27-3C69-6E57-A1B1FE500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FE572-FD21-D2F6-7670-A81980571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54CCA-6375-311E-431A-D42C2EBEC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70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4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74689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5D5402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6715009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66FA96F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4490B3C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3_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_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2_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5_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</a:t>
            </a:r>
            <a:r>
              <a:rPr sz="1700" b="0" dirty="0" err="1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Marktplaats</a:t>
            </a:r>
            <a:endParaRPr sz="17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</a:t>
            </a:r>
            <a:r>
              <a:rPr lang="en-US"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attributes</a:t>
            </a:r>
            <a:endParaRPr sz="12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120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  <a:r>
              <a:rPr lang="en-US"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, </a:t>
            </a: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/ 08</a:t>
            </a:r>
          </a:p>
        </p:txBody>
      </p:sp>
    </p:spTree>
    <p:extLst>
      <p:ext uri="{BB962C8B-B14F-4D97-AF65-F5344CB8AC3E}">
        <p14:creationId xmlns:p14="http://schemas.microsoft.com/office/powerpoint/2010/main" val="146947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9" name="Buyer Demand card">
            <a:extLst>
              <a:ext uri="{FF2B5EF4-FFF2-40B4-BE49-F238E27FC236}">
                <a16:creationId xmlns:a16="http://schemas.microsoft.com/office/drawing/2014/main"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a16:creationId xmlns:a16="http://schemas.microsoft.com/office/drawing/2014/main"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a16:creationId xmlns:a16="http://schemas.microsoft.com/office/drawing/2014/main"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6" name="Scoring Flow label">
            <a:extLst>
              <a:ext uri="{FF2B5EF4-FFF2-40B4-BE49-F238E27FC236}">
                <a16:creationId xmlns:a16="http://schemas.microsoft.com/office/drawing/2014/main"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a16:creationId xmlns:a16="http://schemas.microsoft.com/office/drawing/2014/main"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a16:creationId xmlns:a16="http://schemas.microsoft.com/office/drawing/2014/main"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a16:creationId xmlns:a16="http://schemas.microsoft.com/office/drawing/2014/main"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a16:creationId xmlns:a16="http://schemas.microsoft.com/office/drawing/2014/main"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305752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a16:creationId xmlns:a16="http://schemas.microsoft.com/office/drawing/2014/main"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a16:creationId xmlns:a16="http://schemas.microsoft.com/office/drawing/2014/main"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a16:creationId xmlns:a16="http://schemas.microsoft.com/office/drawing/2014/main"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a16:creationId xmlns:a16="http://schemas.microsoft.com/office/drawing/2014/main"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67400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a16:creationId xmlns:a16="http://schemas.microsoft.com/office/drawing/2014/main"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a16:creationId xmlns:a16="http://schemas.microsoft.com/office/drawing/2014/main"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a16:creationId xmlns:a16="http://schemas.microsoft.com/office/drawing/2014/main"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a16:creationId xmlns:a16="http://schemas.microsoft.com/office/drawing/2014/main"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7727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a16:creationId xmlns:a16="http://schemas.microsoft.com/office/drawing/2014/main"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a16:creationId xmlns:a16="http://schemas.microsoft.com/office/drawing/2014/main"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a16:creationId xmlns:a16="http://schemas.microsoft.com/office/drawing/2014/main"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  <p:sp>
        <p:nvSpPr>
          <p:cNvPr id="62" name="Business Markers list"/>
          <p:cNvSpPr>
            <a:spLocks noGrp="1"/>
          </p:cNvSpPr>
          <p:nvPr/>
        </p:nvSpPr>
        <p:spPr>
          <a:xfrm>
            <a:off x="609600" y="3149037"/>
            <a:ext cx="191335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63" name="Paid Usage list"/>
          <p:cNvSpPr>
            <a:spLocks noGrp="1"/>
          </p:cNvSpPr>
          <p:nvPr/>
        </p:nvSpPr>
        <p:spPr>
          <a:xfrm>
            <a:off x="2830830" y="3149037"/>
            <a:ext cx="178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Pr</a:t>
            </a:r>
            <a:r>
              <a:rPr lang="en-US"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o</a:t>
            </a: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 CPC, invoices</a:t>
            </a:r>
          </a:p>
        </p:txBody>
      </p:sp>
      <p:sp>
        <p:nvSpPr>
          <p:cNvPr id="64" name="Seller Activity list"/>
          <p:cNvSpPr>
            <a:spLocks noGrp="1"/>
          </p:cNvSpPr>
          <p:nvPr/>
        </p:nvSpPr>
        <p:spPr>
          <a:xfrm>
            <a:off x="5052060" y="3149037"/>
            <a:ext cx="1973580" cy="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65" name="Category Focus list"/>
          <p:cNvSpPr>
            <a:spLocks noGrp="1"/>
          </p:cNvSpPr>
          <p:nvPr/>
        </p:nvSpPr>
        <p:spPr>
          <a:xfrm>
            <a:off x="7273290" y="3149037"/>
            <a:ext cx="197358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Category-specific thresholds</a:t>
            </a:r>
          </a:p>
        </p:txBody>
      </p:sp>
      <p:sp>
        <p:nvSpPr>
          <p:cNvPr id="66" name="Buyer Demand list"/>
          <p:cNvSpPr>
            <a:spLocks noGrp="1"/>
          </p:cNvSpPr>
          <p:nvPr/>
        </p:nvSpPr>
        <p:spPr>
          <a:xfrm>
            <a:off x="9494520" y="3149037"/>
            <a:ext cx="178000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/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user_id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smb_score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630" y="900135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D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Identify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2064" y="1645920"/>
            <a:ext cx="10499964" cy="830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Prioritize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12064" y="27980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sellers by outreach readiness and bundle fit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30" y="4096512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8D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Monitor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630" y="4590288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Scale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  <a:endParaRPr sz="3600"/>
          </a:p>
        </p:txBody>
      </p:sp>
      <p:sp>
        <p:nvSpPr>
          <p:cNvPr id="4" name="Title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1. Framin</a:t>
            </a:r>
            <a:r>
              <a:rPr lang="en-US" sz="360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g</a:t>
            </a:r>
            <a:endParaRPr sz="3600" dirty="0"/>
          </a:p>
        </p:txBody>
      </p:sp>
      <p:sp>
        <p:nvSpPr>
          <p:cNvPr id="5" name="Top Divider"/>
          <p:cNvSpPr/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49" name="Metric Rail"/>
          <p:cNvGrpSpPr/>
          <p:nvPr/>
        </p:nvGrpSpPr>
        <p:grpSpPr>
          <a:xfrm>
            <a:off x="566928" y="1417320"/>
            <a:ext cx="10707624" cy="868680"/>
            <a:chOff x="566928" y="1417320"/>
            <a:chExt cx="10707624" cy="868680"/>
          </a:xfrm>
        </p:grpSpPr>
        <p:sp>
          <p:nvSpPr>
            <p:cNvPr id="6" name="Metric Card 1"/>
            <p:cNvSpPr/>
            <p:nvPr/>
          </p:nvSpPr>
          <p:spPr>
            <a:xfrm>
              <a:off x="566928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Metric Value 1"/>
            <p:cNvSpPr/>
            <p:nvPr/>
          </p:nvSpPr>
          <p:spPr>
            <a:xfrm>
              <a:off x="658368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3,840</a:t>
              </a:r>
              <a:endParaRPr sz="3100"/>
            </a:p>
          </p:txBody>
        </p:sp>
        <p:sp>
          <p:nvSpPr>
            <p:cNvPr id="8" name="Metric Label 1"/>
            <p:cNvSpPr/>
            <p:nvPr/>
          </p:nvSpPr>
          <p:spPr>
            <a:xfrm>
              <a:off x="658368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sample sellers</a:t>
              </a:r>
              <a:endParaRPr sz="1200"/>
            </a:p>
          </p:txBody>
        </p:sp>
        <p:sp>
          <p:nvSpPr>
            <p:cNvPr id="9" name="Metric Card 2"/>
            <p:cNvSpPr/>
            <p:nvPr/>
          </p:nvSpPr>
          <p:spPr>
            <a:xfrm>
              <a:off x="3328416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Metric Value 2"/>
            <p:cNvSpPr/>
            <p:nvPr/>
          </p:nvSpPr>
          <p:spPr>
            <a:xfrm>
              <a:off x="3419856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83%</a:t>
              </a:r>
              <a:endParaRPr sz="3100"/>
            </a:p>
          </p:txBody>
        </p:sp>
        <p:sp>
          <p:nvSpPr>
            <p:cNvPr id="11" name="Metric Label 2"/>
            <p:cNvSpPr/>
            <p:nvPr/>
          </p:nvSpPr>
          <p:spPr>
            <a:xfrm>
              <a:off x="3419856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likely SMBs</a:t>
              </a:r>
              <a:endParaRPr sz="1200"/>
            </a:p>
          </p:txBody>
        </p:sp>
        <p:sp>
          <p:nvSpPr>
            <p:cNvPr id="12" name="Metric Card 3"/>
            <p:cNvSpPr/>
            <p:nvPr/>
          </p:nvSpPr>
          <p:spPr>
            <a:xfrm>
              <a:off x="6089904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Metric Value 3"/>
            <p:cNvSpPr/>
            <p:nvPr/>
          </p:nvSpPr>
          <p:spPr>
            <a:xfrm>
              <a:off x="6181344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960</a:t>
              </a:r>
              <a:endParaRPr sz="3100"/>
            </a:p>
          </p:txBody>
        </p:sp>
        <p:sp>
          <p:nvSpPr>
            <p:cNvPr id="14" name="Metric Label 3"/>
            <p:cNvSpPr/>
            <p:nvPr/>
          </p:nvSpPr>
          <p:spPr>
            <a:xfrm>
              <a:off x="6181344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first-batch target</a:t>
              </a:r>
              <a:endParaRPr sz="1200"/>
            </a:p>
          </p:txBody>
        </p:sp>
        <p:sp>
          <p:nvSpPr>
            <p:cNvPr id="15" name="Metric Card 4"/>
            <p:cNvSpPr/>
            <p:nvPr/>
          </p:nvSpPr>
          <p:spPr>
            <a:xfrm>
              <a:off x="8851392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Metric Value 4"/>
            <p:cNvSpPr/>
            <p:nvPr/>
          </p:nvSpPr>
          <p:spPr>
            <a:xfrm>
              <a:off x="8942832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25%</a:t>
              </a:r>
              <a:endParaRPr sz="3100"/>
            </a:p>
          </p:txBody>
        </p:sp>
        <p:sp>
          <p:nvSpPr>
            <p:cNvPr id="17" name="Metric Label 4"/>
            <p:cNvSpPr/>
            <p:nvPr/>
          </p:nvSpPr>
          <p:spPr>
            <a:xfrm>
              <a:off x="8942832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of sample prioritized</a:t>
              </a:r>
              <a:endParaRPr sz="1200"/>
            </a:p>
          </p:txBody>
        </p:sp>
      </p:grpSp>
      <p:grpSp>
        <p:nvGrpSpPr>
          <p:cNvPr id="47" name="Basic Bundle Card"/>
          <p:cNvGrpSpPr/>
          <p:nvPr/>
        </p:nvGrpSpPr>
        <p:grpSpPr>
          <a:xfrm>
            <a:off x="566928" y="2686081"/>
            <a:ext cx="5074920" cy="1785335"/>
            <a:chOff x="566928" y="2606040"/>
            <a:chExt cx="5074920" cy="1920240"/>
          </a:xfrm>
        </p:grpSpPr>
        <p:sp>
          <p:nvSpPr>
            <p:cNvPr id="18" name="Basic Card"/>
            <p:cNvSpPr/>
            <p:nvPr/>
          </p:nvSpPr>
          <p:spPr>
            <a:xfrm>
              <a:off x="56692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Basic Accent"/>
            <p:cNvSpPr/>
            <p:nvPr/>
          </p:nvSpPr>
          <p:spPr>
            <a:xfrm>
              <a:off x="56692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Basic Title"/>
            <p:cNvSpPr/>
            <p:nvPr/>
          </p:nvSpPr>
          <p:spPr>
            <a:xfrm>
              <a:off x="76809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Basic</a:t>
              </a:r>
              <a:endParaRPr sz="2850"/>
            </a:p>
          </p:txBody>
        </p:sp>
        <p:sp>
          <p:nvSpPr>
            <p:cNvPr id="21" name="Basic Badge"/>
            <p:cNvSpPr/>
            <p:nvPr/>
          </p:nvSpPr>
          <p:spPr>
            <a:xfrm>
              <a:off x="3872088" y="2816352"/>
              <a:ext cx="1449719" cy="301752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Basic Badge Text"/>
            <p:cNvSpPr/>
            <p:nvPr/>
          </p:nvSpPr>
          <p:spPr>
            <a:xfrm>
              <a:off x="3968044" y="2848356"/>
              <a:ext cx="126232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</a:t>
              </a:r>
              <a:endParaRPr sz="1050" dirty="0"/>
            </a:p>
          </p:txBody>
        </p:sp>
        <p:sp>
          <p:nvSpPr>
            <p:cNvPr id="23" name="Basic Body"/>
            <p:cNvSpPr/>
            <p:nvPr/>
          </p:nvSpPr>
          <p:spPr>
            <a:xfrm>
              <a:off x="76809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Verified seller icon, professional seller page, and extra pictures for more visibility.</a:t>
              </a:r>
              <a:endParaRPr sz="1400" b="0" dirty="0"/>
            </a:p>
          </p:txBody>
        </p:sp>
      </p:grpSp>
      <p:grpSp>
        <p:nvGrpSpPr>
          <p:cNvPr id="48" name="Plus Bundle Card"/>
          <p:cNvGrpSpPr/>
          <p:nvPr/>
        </p:nvGrpSpPr>
        <p:grpSpPr>
          <a:xfrm>
            <a:off x="6236208" y="2686081"/>
            <a:ext cx="5074920" cy="1785335"/>
            <a:chOff x="6236208" y="2606040"/>
            <a:chExt cx="5074920" cy="1920240"/>
          </a:xfrm>
        </p:grpSpPr>
        <p:sp>
          <p:nvSpPr>
            <p:cNvPr id="24" name="Plus Card"/>
            <p:cNvSpPr/>
            <p:nvPr/>
          </p:nvSpPr>
          <p:spPr>
            <a:xfrm>
              <a:off x="623620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Plus Accent"/>
            <p:cNvSpPr/>
            <p:nvPr/>
          </p:nvSpPr>
          <p:spPr>
            <a:xfrm>
              <a:off x="623620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Plus Title"/>
            <p:cNvSpPr/>
            <p:nvPr/>
          </p:nvSpPr>
          <p:spPr>
            <a:xfrm>
              <a:off x="643737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Plus</a:t>
              </a:r>
              <a:endParaRPr sz="2850"/>
            </a:p>
          </p:txBody>
        </p:sp>
        <p:sp>
          <p:nvSpPr>
            <p:cNvPr id="27" name="Plus Badge"/>
            <p:cNvSpPr/>
            <p:nvPr/>
          </p:nvSpPr>
          <p:spPr>
            <a:xfrm>
              <a:off x="8193024" y="2816351"/>
              <a:ext cx="2798064" cy="445039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Plus Badge Text"/>
            <p:cNvSpPr/>
            <p:nvPr/>
          </p:nvSpPr>
          <p:spPr>
            <a:xfrm>
              <a:off x="8330184" y="2848356"/>
              <a:ext cx="256946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 +</a:t>
              </a:r>
            </a:p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attention + cross-promotion</a:t>
              </a:r>
              <a:endParaRPr sz="1050" dirty="0"/>
            </a:p>
          </p:txBody>
        </p:sp>
        <p:sp>
          <p:nvSpPr>
            <p:cNvPr id="29" name="Plus Body"/>
            <p:cNvSpPr/>
            <p:nvPr/>
          </p:nvSpPr>
          <p:spPr>
            <a:xfrm>
              <a:off x="643737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ea typeface="Arial"/>
                  <a:cs typeface="Arial"/>
                </a:rPr>
                <a:t>Everything in Basic, plus visibility stickers and links from every ad to the seller's other ads.</a:t>
              </a:r>
              <a:endParaRPr sz="1400" b="0" dirty="0"/>
            </a:p>
          </p:txBody>
        </p:sp>
      </p:grpSp>
      <p:grpSp>
        <p:nvGrpSpPr>
          <p:cNvPr id="50" name="Approach Stri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Approach Strip"/>
            <p:cNvSpPr/>
            <p:nvPr/>
          </p:nvSpPr>
          <p:spPr>
            <a:xfrm>
              <a:off x="566928" y="4892040"/>
              <a:ext cx="11018520" cy="777240"/>
            </a:xfrm>
            <a:prstGeom prst="roundRect">
              <a:avLst/>
            </a:prstGeom>
            <a:solidFill>
              <a:srgbClr val="0B0B0B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pproach Label"/>
            <p:cNvSpPr/>
            <p:nvPr/>
          </p:nvSpPr>
          <p:spPr>
            <a:xfrm>
              <a:off x="713232" y="5047488"/>
              <a:ext cx="109728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6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Approach</a:t>
              </a:r>
              <a:endParaRPr sz="1650"/>
            </a:p>
          </p:txBody>
        </p:sp>
        <p:sp>
          <p:nvSpPr>
            <p:cNvPr id="32" name="Approach Text"/>
            <p:cNvSpPr/>
            <p:nvPr/>
          </p:nvSpPr>
          <p:spPr>
            <a:xfrm>
              <a:off x="1828800" y="5047488"/>
              <a:ext cx="905256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6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650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Review activity, fees, and anomalies; then build a broader outreach readiness score.</a:t>
              </a:r>
              <a:endParaRPr sz="1650" dirty="0"/>
            </a:p>
          </p:txBody>
        </p:sp>
      </p:grpSp>
      <p:sp>
        <p:nvSpPr>
          <p:cNvPr id="44" name="Bottom Divider"/>
          <p:cNvSpPr/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Footer Label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  <a:endParaRPr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46" name="Page Marker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12</a:t>
            </a:r>
            <a:endParaRPr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Snapshot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  <p:pic>
        <p:nvPicPr>
          <p:cNvPr id="9" name="Image 0" descr="/Users/omertal/PycharmProjects/Marketplaats/outputs/manual-20260615-q2-refresh/assets/cell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22" y="1325879"/>
            <a:ext cx="5895961" cy="47096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2927" y="1684006"/>
            <a:ext cx="4160520" cy="9026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 strong: no missing values, duplicate seller-month-category rows, or negative metrics.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87519-4260-BEAD-7FB3-39618BDA98CA}"/>
              </a:ext>
            </a:extLst>
          </p:cNvPr>
          <p:cNvSpPr/>
          <p:nvPr/>
        </p:nvSpPr>
        <p:spPr>
          <a:xfrm>
            <a:off x="682927" y="288019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Overview</a:t>
            </a:r>
            <a:endParaRPr lang="en-US" sz="18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3870BB8-745D-3407-8E36-A6856B7FBCE5}"/>
              </a:ext>
            </a:extLst>
          </p:cNvPr>
          <p:cNvSpPr/>
          <p:nvPr/>
        </p:nvSpPr>
        <p:spPr>
          <a:xfrm>
            <a:off x="682927" y="3398343"/>
            <a:ext cx="4160520" cy="19786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2023 has a visible spike, partly driven by seller </a:t>
            </a:r>
            <a:r>
              <a:rPr lang="en-US" sz="1200" dirty="0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65950787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r>
              <a:rPr lang="en-US" sz="1200" dirty="0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Auto-</a:t>
            </a:r>
            <a:r>
              <a:rPr lang="en-US" sz="1200" dirty="0" err="1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onderdelen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explains most extreme November fee spike.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excluding that seller, November remains elevated in ads and fees. The remaining lift is broader across sellers/categories, not another single obvious anomaly.</a:t>
            </a:r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Snapshot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38862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480" dirty="0"/>
          </a:p>
        </p:txBody>
      </p:sp>
      <p:pic>
        <p:nvPicPr>
          <p:cNvPr id="11" name="Image 0" descr="/Users/omertal/PycharmProjects/Marketplaats/outputs/manual-20260615-q2-refresh/assets/cell_15.png">
            <a:extLst>
              <a:ext uri="{FF2B5EF4-FFF2-40B4-BE49-F238E27FC236}">
                <a16:creationId xmlns:a16="http://schemas.microsoft.com/office/drawing/2014/main" id="{DF505DD6-05DC-7E85-C690-DBFDF273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1352" y="3618891"/>
            <a:ext cx="6812280" cy="23752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39C13FC-DB28-C6B4-4BEC-222495F201AB}"/>
              </a:ext>
            </a:extLst>
          </p:cNvPr>
          <p:cNvGrpSpPr/>
          <p:nvPr/>
        </p:nvGrpSpPr>
        <p:grpSpPr>
          <a:xfrm>
            <a:off x="3252836" y="1219475"/>
            <a:ext cx="4909312" cy="2389632"/>
            <a:chOff x="3252836" y="1219475"/>
            <a:chExt cx="4909312" cy="2389632"/>
          </a:xfrm>
        </p:grpSpPr>
        <p:pic>
          <p:nvPicPr>
            <p:cNvPr id="10" name="Image 0" descr="/Users/omertal/PycharmProjects/Marketplaats/outputs/manual-20260615-q2-refresh/assets/cell_11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252836" y="1219475"/>
              <a:ext cx="4909312" cy="238963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50AC65-64C4-2993-C5DB-43EC7977CE48}"/>
                </a:ext>
              </a:extLst>
            </p:cNvPr>
            <p:cNvSpPr/>
            <p:nvPr/>
          </p:nvSpPr>
          <p:spPr>
            <a:xfrm>
              <a:off x="6683363" y="3135993"/>
              <a:ext cx="1055511" cy="412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Outreach Prioritization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270990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by total fees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394440"/>
            <a:ext cx="4624606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Ranking sellers by total fees is as a baseline initial prioritization approach: </a:t>
            </a:r>
            <a:r>
              <a:rPr lang="en-US" sz="1900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target</a:t>
            </a:r>
            <a:r>
              <a:rPr lang="en-US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 sellers with the strongest historical willingness to pay.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631809"/>
            <a:ext cx="4624606" cy="7670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activity is highly skewed: a small group drives much of the volume and fees.</a:t>
            </a:r>
            <a:endParaRPr lang="en-US" sz="1650" dirty="0">
              <a:solidFill>
                <a:srgbClr val="F3F4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Clr>
                <a:srgbClr val="4FB3FF"/>
              </a:buClr>
            </a:pPr>
            <a:endParaRPr lang="en-US" sz="1650" dirty="0"/>
          </a:p>
        </p:txBody>
      </p:sp>
      <p:pic>
        <p:nvPicPr>
          <p:cNvPr id="12" name="Image 0" descr="/Users/omertal/PycharmProjects/Marketplaats/outputs/manual-20260615-q2-refresh/assets/cell_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881" y="1651977"/>
            <a:ext cx="6200150" cy="3845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73476"/>
            <a:ext cx="10972800" cy="9541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rank outreach readiness, not just historical spend.</a:t>
            </a:r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first outreach batch should prioritize sellers who are both commercially valuable and likely to see value in a bundle.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convert each signal to a seller percentile rank, then take a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average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six scores.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sellers in the top 25% of Outreach-Readiness score are the outreach-ready group.</a:t>
            </a:r>
          </a:p>
          <a:p>
            <a:pPr>
              <a:buClr>
                <a:srgbClr val="4FB3FF"/>
              </a:buClr>
            </a:pPr>
            <a:endParaRPr lang="en-US" sz="1200" dirty="0"/>
          </a:p>
        </p:txBody>
      </p:sp>
      <p:sp>
        <p:nvSpPr>
          <p:cNvPr id="10" name="Signal Cards Heading"/>
          <p:cNvSpPr/>
          <p:nvPr/>
        </p:nvSpPr>
        <p:spPr>
          <a:xfrm>
            <a:off x="566928" y="2616463"/>
            <a:ext cx="6583680" cy="29260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80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used in the outreach-readiness score</a:t>
            </a:r>
            <a:endParaRPr lang="en-US" sz="1800" dirty="0"/>
          </a:p>
        </p:txBody>
      </p:sp>
      <p:grpSp>
        <p:nvGrpSpPr>
          <p:cNvPr id="112" name="Signal Card - Recent paid usage"/>
          <p:cNvGrpSpPr/>
          <p:nvPr/>
        </p:nvGrpSpPr>
        <p:grpSpPr>
          <a:xfrm>
            <a:off x="0" y="8313"/>
            <a:ext cx="12192000" cy="6858000"/>
            <a:chOff x="0" y="0"/>
            <a:chExt cx="12192000" cy="6858000"/>
          </a:xfrm>
        </p:grpSpPr>
        <p:sp>
          <p:nvSpPr>
            <p:cNvPr id="12" name="Recent paid usage Card"/>
            <p:cNvSpPr/>
            <p:nvPr/>
          </p:nvSpPr>
          <p:spPr>
            <a:xfrm>
              <a:off x="566928" y="324612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ent paid usage Accent"/>
            <p:cNvSpPr/>
            <p:nvPr/>
          </p:nvSpPr>
          <p:spPr>
            <a:xfrm>
              <a:off x="56692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ent paid usage Title"/>
            <p:cNvSpPr/>
            <p:nvPr/>
          </p:nvSpPr>
          <p:spPr>
            <a:xfrm>
              <a:off x="69494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paid usage</a:t>
              </a:r>
              <a:endParaRPr lang="en-US" sz="1450" dirty="0"/>
            </a:p>
          </p:txBody>
        </p:sp>
        <p:sp>
          <p:nvSpPr>
            <p:cNvPr id="15" name="Recent paid usage Purpose"/>
            <p:cNvSpPr/>
            <p:nvPr/>
          </p:nvSpPr>
          <p:spPr>
            <a:xfrm>
              <a:off x="69494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Current paid-product need / activity</a:t>
              </a:r>
              <a:endParaRPr lang="en-US" sz="1000" dirty="0"/>
            </a:p>
          </p:txBody>
        </p:sp>
        <p:sp>
          <p:nvSpPr>
            <p:cNvPr id="16" name="Recent paid usage Divider"/>
            <p:cNvSpPr/>
            <p:nvPr/>
          </p:nvSpPr>
          <p:spPr>
            <a:xfrm>
              <a:off x="69494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ent paid usage Definition"/>
            <p:cNvSpPr/>
            <p:nvPr/>
          </p:nvSpPr>
          <p:spPr>
            <a:xfrm>
              <a:off x="69494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Paid marketplace actions in the last 6 months</a:t>
              </a:r>
              <a:endParaRPr lang="en-US" sz="950" dirty="0"/>
            </a:p>
          </p:txBody>
        </p:sp>
      </p:grpSp>
      <p:grpSp>
        <p:nvGrpSpPr>
          <p:cNvPr id="118" name="Signal Card - Consistency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Consistency Card"/>
            <p:cNvSpPr/>
            <p:nvPr/>
          </p:nvSpPr>
          <p:spPr>
            <a:xfrm>
              <a:off x="4407408" y="324612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Consistency Accent"/>
            <p:cNvSpPr/>
            <p:nvPr/>
          </p:nvSpPr>
          <p:spPr>
            <a:xfrm>
              <a:off x="440740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Consistency Title"/>
            <p:cNvSpPr/>
            <p:nvPr/>
          </p:nvSpPr>
          <p:spPr>
            <a:xfrm>
              <a:off x="453542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Consistency</a:t>
              </a:r>
              <a:endParaRPr lang="en-US" sz="1450" dirty="0"/>
            </a:p>
          </p:txBody>
        </p:sp>
        <p:sp>
          <p:nvSpPr>
            <p:cNvPr id="21" name="Consistency Purpose"/>
            <p:cNvSpPr/>
            <p:nvPr/>
          </p:nvSpPr>
          <p:spPr>
            <a:xfrm>
              <a:off x="453542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Reliability as a subscription candidate</a:t>
              </a:r>
              <a:endParaRPr lang="en-US" sz="1000" dirty="0"/>
            </a:p>
          </p:txBody>
        </p:sp>
        <p:sp>
          <p:nvSpPr>
            <p:cNvPr id="22" name="Consistency Divider"/>
            <p:cNvSpPr/>
            <p:nvPr/>
          </p:nvSpPr>
          <p:spPr>
            <a:xfrm>
              <a:off x="453542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Consistency Definition"/>
            <p:cNvSpPr/>
            <p:nvPr/>
          </p:nvSpPr>
          <p:spPr>
            <a:xfrm>
              <a:off x="453542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months with seller activity across 2023-2024</a:t>
              </a:r>
              <a:endParaRPr lang="en-US" sz="950" dirty="0"/>
            </a:p>
          </p:txBody>
        </p:sp>
      </p:grpSp>
      <p:grpSp>
        <p:nvGrpSpPr>
          <p:cNvPr id="124" name="Signal Card - Category breadth"/>
          <p:cNvGrpSpPr/>
          <p:nvPr/>
        </p:nvGrpSpPr>
        <p:grpSpPr>
          <a:xfrm>
            <a:off x="0" y="8313"/>
            <a:ext cx="12192000" cy="6858000"/>
            <a:chOff x="0" y="0"/>
            <a:chExt cx="12192000" cy="6858000"/>
          </a:xfrm>
        </p:grpSpPr>
        <p:sp>
          <p:nvSpPr>
            <p:cNvPr id="24" name="Category breadth Card"/>
            <p:cNvSpPr/>
            <p:nvPr/>
          </p:nvSpPr>
          <p:spPr>
            <a:xfrm>
              <a:off x="8247888" y="324612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Category breadth Accent"/>
            <p:cNvSpPr/>
            <p:nvPr/>
          </p:nvSpPr>
          <p:spPr>
            <a:xfrm>
              <a:off x="824788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Category breadth Title"/>
            <p:cNvSpPr/>
            <p:nvPr/>
          </p:nvSpPr>
          <p:spPr>
            <a:xfrm>
              <a:off x="837590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Category breadth</a:t>
              </a:r>
              <a:endParaRPr lang="en-US" sz="1450" dirty="0"/>
            </a:p>
          </p:txBody>
        </p:sp>
        <p:sp>
          <p:nvSpPr>
            <p:cNvPr id="27" name="Category breadth Purpose"/>
            <p:cNvSpPr/>
            <p:nvPr/>
          </p:nvSpPr>
          <p:spPr>
            <a:xfrm>
              <a:off x="837590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Fit for professional seller page / bundle value</a:t>
              </a:r>
              <a:endParaRPr lang="en-US" sz="1000" dirty="0"/>
            </a:p>
          </p:txBody>
        </p:sp>
        <p:sp>
          <p:nvSpPr>
            <p:cNvPr id="28" name="Category breadth Divider"/>
            <p:cNvSpPr/>
            <p:nvPr/>
          </p:nvSpPr>
          <p:spPr>
            <a:xfrm>
              <a:off x="837590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Category breadth Definition"/>
            <p:cNvSpPr/>
            <p:nvPr/>
          </p:nvSpPr>
          <p:spPr>
            <a:xfrm>
              <a:off x="837590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categories used across 2023-2024</a:t>
              </a:r>
              <a:endParaRPr lang="en-US" sz="950" dirty="0"/>
            </a:p>
          </p:txBody>
        </p:sp>
      </p:grpSp>
      <p:grpSp>
        <p:nvGrpSpPr>
          <p:cNvPr id="130" name="Signal Card - Recent growth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ent growth Card"/>
            <p:cNvSpPr/>
            <p:nvPr/>
          </p:nvSpPr>
          <p:spPr>
            <a:xfrm>
              <a:off x="566928" y="452628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ent growth Accent"/>
            <p:cNvSpPr/>
            <p:nvPr/>
          </p:nvSpPr>
          <p:spPr>
            <a:xfrm>
              <a:off x="56692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ent growth Title"/>
            <p:cNvSpPr/>
            <p:nvPr/>
          </p:nvSpPr>
          <p:spPr>
            <a:xfrm>
              <a:off x="69494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growth</a:t>
              </a:r>
              <a:endParaRPr lang="en-US" sz="1450" dirty="0"/>
            </a:p>
          </p:txBody>
        </p:sp>
        <p:sp>
          <p:nvSpPr>
            <p:cNvPr id="33" name="Recent growth Purpose"/>
            <p:cNvSpPr/>
            <p:nvPr/>
          </p:nvSpPr>
          <p:spPr>
            <a:xfrm>
              <a:off x="69494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Momentum</a:t>
              </a:r>
              <a:endParaRPr lang="en-US" sz="1000" dirty="0"/>
            </a:p>
          </p:txBody>
        </p:sp>
        <p:sp>
          <p:nvSpPr>
            <p:cNvPr id="34" name="Recent growth Divider"/>
            <p:cNvSpPr/>
            <p:nvPr/>
          </p:nvSpPr>
          <p:spPr>
            <a:xfrm>
              <a:off x="69494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ent growth Definition"/>
            <p:cNvSpPr/>
            <p:nvPr/>
          </p:nvSpPr>
          <p:spPr>
            <a:xfrm>
              <a:off x="69494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paid usage vs prior 6 months, with +1 smoothing</a:t>
              </a:r>
              <a:endParaRPr lang="en-US" sz="950" dirty="0"/>
            </a:p>
          </p:txBody>
        </p:sp>
      </p:grpSp>
      <p:grpSp>
        <p:nvGrpSpPr>
          <p:cNvPr id="136" name="Signal Card - Total fee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Total fees Card"/>
            <p:cNvSpPr/>
            <p:nvPr/>
          </p:nvSpPr>
          <p:spPr>
            <a:xfrm>
              <a:off x="4407408" y="452628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otal fees Accent"/>
            <p:cNvSpPr/>
            <p:nvPr/>
          </p:nvSpPr>
          <p:spPr>
            <a:xfrm>
              <a:off x="440740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otal fees Title"/>
            <p:cNvSpPr/>
            <p:nvPr/>
          </p:nvSpPr>
          <p:spPr>
            <a:xfrm>
              <a:off x="453542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Total fees</a:t>
              </a:r>
              <a:endParaRPr lang="en-US" sz="1450" dirty="0"/>
            </a:p>
          </p:txBody>
        </p:sp>
        <p:sp>
          <p:nvSpPr>
            <p:cNvPr id="39" name="Total fees Purpose"/>
            <p:cNvSpPr/>
            <p:nvPr/>
          </p:nvSpPr>
          <p:spPr>
            <a:xfrm>
              <a:off x="453542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Historical willingness to pay</a:t>
              </a:r>
              <a:endParaRPr lang="en-US" sz="1000" dirty="0"/>
            </a:p>
          </p:txBody>
        </p:sp>
        <p:sp>
          <p:nvSpPr>
            <p:cNvPr id="40" name="Total fees Divider"/>
            <p:cNvSpPr/>
            <p:nvPr/>
          </p:nvSpPr>
          <p:spPr>
            <a:xfrm>
              <a:off x="453542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otal fees Definition"/>
            <p:cNvSpPr/>
            <p:nvPr/>
          </p:nvSpPr>
          <p:spPr>
            <a:xfrm>
              <a:off x="453542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Total fees paid across 2023-2024</a:t>
              </a:r>
              <a:endParaRPr lang="en-US" sz="950" dirty="0"/>
            </a:p>
          </p:txBody>
        </p:sp>
      </p:grpSp>
      <p:grpSp>
        <p:nvGrpSpPr>
          <p:cNvPr id="142" name="Signal Card - Paid product breadth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Paid product breadth Card"/>
            <p:cNvSpPr/>
            <p:nvPr/>
          </p:nvSpPr>
          <p:spPr>
            <a:xfrm>
              <a:off x="8247888" y="452628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Paid product breadth Accent"/>
            <p:cNvSpPr/>
            <p:nvPr/>
          </p:nvSpPr>
          <p:spPr>
            <a:xfrm>
              <a:off x="824788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Paid product breadth Title"/>
            <p:cNvSpPr/>
            <p:nvPr/>
          </p:nvSpPr>
          <p:spPr>
            <a:xfrm>
              <a:off x="837590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Paid product breadth</a:t>
              </a:r>
              <a:endParaRPr lang="en-US" sz="1450" dirty="0"/>
            </a:p>
          </p:txBody>
        </p:sp>
        <p:sp>
          <p:nvSpPr>
            <p:cNvPr id="45" name="Paid product breadth Purpose"/>
            <p:cNvSpPr/>
            <p:nvPr/>
          </p:nvSpPr>
          <p:spPr>
            <a:xfrm>
              <a:off x="837590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Familiarity with multiple paid products</a:t>
              </a:r>
              <a:endParaRPr lang="en-US" sz="1000" dirty="0"/>
            </a:p>
          </p:txBody>
        </p:sp>
        <p:sp>
          <p:nvSpPr>
            <p:cNvPr id="46" name="Paid product breadth Divider"/>
            <p:cNvSpPr/>
            <p:nvPr/>
          </p:nvSpPr>
          <p:spPr>
            <a:xfrm>
              <a:off x="837590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Paid product breadth Definition"/>
            <p:cNvSpPr/>
            <p:nvPr/>
          </p:nvSpPr>
          <p:spPr>
            <a:xfrm>
              <a:off x="837590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distinct paid marketplace product types used across 2023-2024</a:t>
              </a:r>
              <a:endParaRPr lang="en-US" sz="950" dirty="0"/>
            </a:p>
          </p:txBody>
        </p:sp>
      </p:grpSp>
      <p:sp>
        <p:nvSpPr>
          <p:cNvPr id="2" name="Scale Note">
            <a:extLst>
              <a:ext uri="{FF2B5EF4-FFF2-40B4-BE49-F238E27FC236}">
                <a16:creationId xmlns:a16="http://schemas.microsoft.com/office/drawing/2014/main" id="{84D987C4-8570-D048-F5D6-7587B1B39360}"/>
              </a:ext>
            </a:extLst>
          </p:cNvPr>
          <p:cNvSpPr/>
          <p:nvPr/>
        </p:nvSpPr>
        <p:spPr>
          <a:xfrm>
            <a:off x="566928" y="5732271"/>
            <a:ext cx="7283196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  <p:pic>
        <p:nvPicPr>
          <p:cNvPr id="11" name="Image 0" descr="/Users/omertal/PycharmProjects/Marketplaats/outputs/manual-20260615-q2-refresh/assets/cell_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7008" y="1975481"/>
            <a:ext cx="8138160" cy="354330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243474C-66DE-79D9-9C84-E5A9E4FA6E74}"/>
              </a:ext>
            </a:extLst>
          </p:cNvPr>
          <p:cNvSpPr/>
          <p:nvPr/>
        </p:nvSpPr>
        <p:spPr>
          <a:xfrm>
            <a:off x="1963266" y="133921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Profile by Outreach Scoring Method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  <p:pic>
        <p:nvPicPr>
          <p:cNvPr id="9" name="Image 0" descr="/Users/omertal/PycharmProjects/Marketplaats/outputs/manual-20260615-q2-refresh/assets/cell_2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5847" y="2163935"/>
            <a:ext cx="3817620" cy="31089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870448" y="1298448"/>
          <a:ext cx="5669280" cy="445643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Neither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Overlap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Outreach- ready group only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Total-fee group only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Fees per Seller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€1,907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€382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6mo Fees per Seller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€310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Active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Recent Paid Usage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Category 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Product Breadth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6mo Paid Action Growth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F6C36C44-B6ED-4BE8-46F2-27DF3F2ECFFD}"/>
              </a:ext>
            </a:extLst>
          </p:cNvPr>
          <p:cNvSpPr/>
          <p:nvPr/>
        </p:nvSpPr>
        <p:spPr>
          <a:xfrm>
            <a:off x="821775" y="1445297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Group Selection Summary</a:t>
            </a:r>
            <a:endParaRPr lang="en-US" sz="18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  <a:endParaRPr lang="en-US" sz="3600" dirty="0"/>
          </a:p>
        </p:txBody>
      </p:sp>
      <p:sp>
        <p:nvSpPr>
          <p:cNvPr id="4" name="Title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Bundle Choice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Top Divider"/>
          <p:cNvSpPr/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Intro"/>
          <p:cNvSpPr/>
          <p:nvPr/>
        </p:nvSpPr>
        <p:spPr>
          <a:xfrm>
            <a:off x="566928" y="1353312"/>
            <a:ext cx="106984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selecting the outreach-ready group, use a separate bundle-fit score to suggest which bundle to pitch.</a:t>
            </a:r>
            <a:endParaRPr lang="en-US" sz="1350" dirty="0"/>
          </a:p>
        </p:txBody>
      </p:sp>
      <p:sp>
        <p:nvSpPr>
          <p:cNvPr id="22" name="Used Header"/>
          <p:cNvSpPr/>
          <p:nvPr/>
        </p:nvSpPr>
        <p:spPr>
          <a:xfrm>
            <a:off x="566928" y="2646411"/>
            <a:ext cx="356616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Used in bundle-fit score</a:t>
            </a:r>
            <a:endParaRPr lang="en-US" sz="1550" dirty="0"/>
          </a:p>
        </p:txBody>
      </p:sp>
      <p:sp>
        <p:nvSpPr>
          <p:cNvPr id="23" name="Used Sub"/>
          <p:cNvSpPr/>
          <p:nvPr/>
        </p:nvSpPr>
        <p:spPr>
          <a:xfrm>
            <a:off x="566928" y="2944368"/>
            <a:ext cx="3474720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5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directly maps to Plus value</a:t>
            </a:r>
            <a:endParaRPr lang="en-US" sz="950" dirty="0"/>
          </a:p>
        </p:txBody>
      </p:sp>
      <p:sp>
        <p:nvSpPr>
          <p:cNvPr id="24" name="Unused Header"/>
          <p:cNvSpPr/>
          <p:nvPr/>
        </p:nvSpPr>
        <p:spPr>
          <a:xfrm>
            <a:off x="6236208" y="2646411"/>
            <a:ext cx="384048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Not used for bundle choice</a:t>
            </a:r>
            <a:endParaRPr lang="en-US" sz="1550" dirty="0"/>
          </a:p>
        </p:txBody>
      </p:sp>
      <p:sp>
        <p:nvSpPr>
          <p:cNvPr id="26" name="Row - Paid visibility usage"/>
          <p:cNvSpPr/>
          <p:nvPr/>
        </p:nvSpPr>
        <p:spPr>
          <a:xfrm>
            <a:off x="566928" y="3182112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 Accent - Paid visibility usage"/>
          <p:cNvSpPr/>
          <p:nvPr/>
        </p:nvSpPr>
        <p:spPr>
          <a:xfrm>
            <a:off x="566928" y="3182112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28" name="Signal - Paid visibility usage"/>
          <p:cNvSpPr/>
          <p:nvPr/>
        </p:nvSpPr>
        <p:spPr>
          <a:xfrm>
            <a:off x="676656" y="3232404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visibility usage</a:t>
            </a:r>
            <a:endParaRPr lang="en-US" sz="1050" dirty="0"/>
          </a:p>
        </p:txBody>
      </p:sp>
      <p:sp>
        <p:nvSpPr>
          <p:cNvPr id="29" name="Usage - Paid visibility usage"/>
          <p:cNvSpPr/>
          <p:nvPr/>
        </p:nvSpPr>
        <p:spPr>
          <a:xfrm>
            <a:off x="676656" y="3424428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paid visibility actions*</a:t>
            </a:r>
            <a:endParaRPr lang="en-US" sz="850" dirty="0"/>
          </a:p>
        </p:txBody>
      </p:sp>
      <p:sp>
        <p:nvSpPr>
          <p:cNvPr id="30" name="Reason - Paid visibility usage"/>
          <p:cNvSpPr/>
          <p:nvPr/>
        </p:nvSpPr>
        <p:spPr>
          <a:xfrm>
            <a:off x="2815986" y="3255264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benefits: more visibility and cross-ad promotion.</a:t>
            </a:r>
            <a:endParaRPr lang="en-US" sz="850" dirty="0"/>
          </a:p>
        </p:txBody>
      </p:sp>
      <p:sp>
        <p:nvSpPr>
          <p:cNvPr id="31" name="Row - Paid product breadth"/>
          <p:cNvSpPr/>
          <p:nvPr/>
        </p:nvSpPr>
        <p:spPr>
          <a:xfrm>
            <a:off x="566928" y="3840480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ow Accent - Paid product breadth"/>
          <p:cNvSpPr/>
          <p:nvPr/>
        </p:nvSpPr>
        <p:spPr>
          <a:xfrm>
            <a:off x="566928" y="3840480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33" name="Signal - Paid product breadth"/>
          <p:cNvSpPr/>
          <p:nvPr/>
        </p:nvSpPr>
        <p:spPr>
          <a:xfrm>
            <a:off x="676656" y="3890772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  <a:endParaRPr lang="en-US" sz="1050" dirty="0"/>
          </a:p>
        </p:txBody>
      </p:sp>
      <p:sp>
        <p:nvSpPr>
          <p:cNvPr id="34" name="Usage - Paid product breadth"/>
          <p:cNvSpPr/>
          <p:nvPr/>
        </p:nvSpPr>
        <p:spPr>
          <a:xfrm>
            <a:off x="676656" y="4082796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distinct paid product types</a:t>
            </a:r>
            <a:endParaRPr lang="en-US" sz="850" dirty="0"/>
          </a:p>
        </p:txBody>
      </p:sp>
      <p:sp>
        <p:nvSpPr>
          <p:cNvPr id="35" name="Reason - Paid product breadth"/>
          <p:cNvSpPr/>
          <p:nvPr/>
        </p:nvSpPr>
        <p:spPr>
          <a:xfrm>
            <a:off x="2815986" y="3913632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Sellers using multiple paid products already understand paid value.</a:t>
            </a:r>
            <a:endParaRPr lang="en-US" sz="850" dirty="0"/>
          </a:p>
        </p:txBody>
      </p:sp>
      <p:sp>
        <p:nvSpPr>
          <p:cNvPr id="36" name="Row - Listing volume"/>
          <p:cNvSpPr/>
          <p:nvPr/>
        </p:nvSpPr>
        <p:spPr>
          <a:xfrm>
            <a:off x="566928" y="4498848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ow Accent - Listing volume"/>
          <p:cNvSpPr/>
          <p:nvPr/>
        </p:nvSpPr>
        <p:spPr>
          <a:xfrm>
            <a:off x="566928" y="4498848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38" name="Signal - Listing volume"/>
          <p:cNvSpPr/>
          <p:nvPr/>
        </p:nvSpPr>
        <p:spPr>
          <a:xfrm>
            <a:off x="676656" y="4549140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</a:t>
            </a:r>
            <a:endParaRPr lang="en-US" sz="1050" dirty="0"/>
          </a:p>
        </p:txBody>
      </p:sp>
      <p:sp>
        <p:nvSpPr>
          <p:cNvPr id="39" name="Usage - Listing volume"/>
          <p:cNvSpPr/>
          <p:nvPr/>
        </p:nvSpPr>
        <p:spPr>
          <a:xfrm>
            <a:off x="676656" y="4741164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Total ad insertions (free + paid)</a:t>
            </a:r>
            <a:endParaRPr lang="en-US" sz="850" dirty="0"/>
          </a:p>
        </p:txBody>
      </p:sp>
      <p:sp>
        <p:nvSpPr>
          <p:cNvPr id="40" name="Reason - Listing volume"/>
          <p:cNvSpPr/>
          <p:nvPr/>
        </p:nvSpPr>
        <p:spPr>
          <a:xfrm>
            <a:off x="2815986" y="4572000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cross-ad value: more ads means more inventory to promote from each listing.</a:t>
            </a:r>
            <a:endParaRPr lang="en-US" sz="850" dirty="0"/>
          </a:p>
        </p:txBody>
      </p:sp>
      <p:sp>
        <p:nvSpPr>
          <p:cNvPr id="41" name="Row - Category breadth"/>
          <p:cNvSpPr/>
          <p:nvPr/>
        </p:nvSpPr>
        <p:spPr>
          <a:xfrm>
            <a:off x="6236208" y="3182112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ow Accent - Category breadth"/>
          <p:cNvSpPr/>
          <p:nvPr/>
        </p:nvSpPr>
        <p:spPr>
          <a:xfrm>
            <a:off x="6236208" y="3182112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43" name="Signal - Category breadth"/>
          <p:cNvSpPr/>
          <p:nvPr/>
        </p:nvSpPr>
        <p:spPr>
          <a:xfrm>
            <a:off x="6345936" y="3232404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 breadth</a:t>
            </a:r>
            <a:endParaRPr lang="en-US" sz="1050" dirty="0"/>
          </a:p>
        </p:txBody>
      </p:sp>
      <p:sp>
        <p:nvSpPr>
          <p:cNvPr id="45" name="Reason - Category breadth"/>
          <p:cNvSpPr/>
          <p:nvPr/>
        </p:nvSpPr>
        <p:spPr>
          <a:xfrm>
            <a:off x="8524585" y="3255264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 is a clearer fit for cross-ad promotion.</a:t>
            </a:r>
            <a:endParaRPr lang="en-US" sz="850" dirty="0"/>
          </a:p>
        </p:txBody>
      </p:sp>
      <p:sp>
        <p:nvSpPr>
          <p:cNvPr id="46" name="Row - Recent paid usage"/>
          <p:cNvSpPr/>
          <p:nvPr/>
        </p:nvSpPr>
        <p:spPr>
          <a:xfrm>
            <a:off x="6236208" y="3630168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Row Accent - Recent paid usage"/>
          <p:cNvSpPr/>
          <p:nvPr/>
        </p:nvSpPr>
        <p:spPr>
          <a:xfrm>
            <a:off x="6236208" y="3630168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48" name="Signal - Recent paid usage"/>
          <p:cNvSpPr/>
          <p:nvPr/>
        </p:nvSpPr>
        <p:spPr>
          <a:xfrm>
            <a:off x="6345936" y="3680460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paid usage</a:t>
            </a:r>
            <a:endParaRPr lang="en-US" sz="1050" dirty="0"/>
          </a:p>
        </p:txBody>
      </p:sp>
      <p:sp>
        <p:nvSpPr>
          <p:cNvPr id="50" name="Reason - Recent paid usage"/>
          <p:cNvSpPr/>
          <p:nvPr/>
        </p:nvSpPr>
        <p:spPr>
          <a:xfrm>
            <a:off x="8524585" y="3703320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Too broad for bundle choice; the bundle-fit score uses visibility-specific usage instead.</a:t>
            </a:r>
            <a:endParaRPr lang="en-US" sz="850" dirty="0"/>
          </a:p>
        </p:txBody>
      </p:sp>
      <p:sp>
        <p:nvSpPr>
          <p:cNvPr id="51" name="Row - Consistency"/>
          <p:cNvSpPr/>
          <p:nvPr/>
        </p:nvSpPr>
        <p:spPr>
          <a:xfrm>
            <a:off x="6236208" y="4078224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ow Accent - Consistency"/>
          <p:cNvSpPr/>
          <p:nvPr/>
        </p:nvSpPr>
        <p:spPr>
          <a:xfrm>
            <a:off x="6236208" y="4078224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53" name="Signal - Consistency"/>
          <p:cNvSpPr/>
          <p:nvPr/>
        </p:nvSpPr>
        <p:spPr>
          <a:xfrm>
            <a:off x="6345936" y="4128516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Consistency</a:t>
            </a:r>
            <a:endParaRPr lang="en-US" sz="1050" dirty="0"/>
          </a:p>
        </p:txBody>
      </p:sp>
      <p:sp>
        <p:nvSpPr>
          <p:cNvPr id="55" name="Reason - Consistency"/>
          <p:cNvSpPr/>
          <p:nvPr/>
        </p:nvSpPr>
        <p:spPr>
          <a:xfrm>
            <a:off x="8524585" y="4151376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Does not distinguish Basic vs Plus.</a:t>
            </a:r>
            <a:endParaRPr lang="en-US" sz="850" dirty="0"/>
          </a:p>
        </p:txBody>
      </p:sp>
      <p:sp>
        <p:nvSpPr>
          <p:cNvPr id="56" name="Row - Recent growth"/>
          <p:cNvSpPr/>
          <p:nvPr/>
        </p:nvSpPr>
        <p:spPr>
          <a:xfrm>
            <a:off x="6236208" y="4526280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Row Accent - Recent growth"/>
          <p:cNvSpPr/>
          <p:nvPr/>
        </p:nvSpPr>
        <p:spPr>
          <a:xfrm>
            <a:off x="6236208" y="4526280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58" name="Signal - Recent growth"/>
          <p:cNvSpPr/>
          <p:nvPr/>
        </p:nvSpPr>
        <p:spPr>
          <a:xfrm>
            <a:off x="6345936" y="4576572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growth</a:t>
            </a:r>
            <a:endParaRPr lang="en-US" sz="1050" dirty="0"/>
          </a:p>
        </p:txBody>
      </p:sp>
      <p:sp>
        <p:nvSpPr>
          <p:cNvPr id="60" name="Reason - Recent growth"/>
          <p:cNvSpPr/>
          <p:nvPr/>
        </p:nvSpPr>
        <p:spPr>
          <a:xfrm>
            <a:off x="8524585" y="4599432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Does not distinguish Basic vs Plus.</a:t>
            </a:r>
            <a:endParaRPr lang="en-US" sz="850" dirty="0"/>
          </a:p>
        </p:txBody>
      </p:sp>
      <p:sp>
        <p:nvSpPr>
          <p:cNvPr id="61" name="Row - Total fees"/>
          <p:cNvSpPr/>
          <p:nvPr/>
        </p:nvSpPr>
        <p:spPr>
          <a:xfrm>
            <a:off x="6236208" y="4974336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Row Accent - Total fees"/>
          <p:cNvSpPr/>
          <p:nvPr/>
        </p:nvSpPr>
        <p:spPr>
          <a:xfrm>
            <a:off x="6236208" y="4974336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63" name="Signal - Total fees"/>
          <p:cNvSpPr/>
          <p:nvPr/>
        </p:nvSpPr>
        <p:spPr>
          <a:xfrm>
            <a:off x="6345936" y="5024628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Total fees</a:t>
            </a:r>
            <a:endParaRPr lang="en-US" sz="1050" dirty="0"/>
          </a:p>
        </p:txBody>
      </p:sp>
      <p:sp>
        <p:nvSpPr>
          <p:cNvPr id="65" name="Reason - Total fees"/>
          <p:cNvSpPr/>
          <p:nvPr/>
        </p:nvSpPr>
        <p:spPr>
          <a:xfrm>
            <a:off x="8524585" y="5047488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Shows willingness to pay, but would make Plus selection too spend-driven.</a:t>
            </a:r>
            <a:endParaRPr lang="en-US" sz="850" dirty="0"/>
          </a:p>
        </p:txBody>
      </p:sp>
      <p:sp>
        <p:nvSpPr>
          <p:cNvPr id="66" name="Scale Note"/>
          <p:cNvSpPr/>
          <p:nvPr/>
        </p:nvSpPr>
        <p:spPr>
          <a:xfrm>
            <a:off x="566928" y="5149626"/>
            <a:ext cx="5230368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  <a:endParaRPr lang="en-US" sz="900" dirty="0"/>
          </a:p>
        </p:txBody>
      </p:sp>
      <p:sp>
        <p:nvSpPr>
          <p:cNvPr id="67" name="Visibility Note"/>
          <p:cNvSpPr/>
          <p:nvPr/>
        </p:nvSpPr>
        <p:spPr>
          <a:xfrm>
            <a:off x="566928" y="5578115"/>
            <a:ext cx="5230368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* Paid visibility actions: Dagtoppers, Homepage, Paid URL, Ad Upcalls, and Urgency actions.</a:t>
            </a:r>
            <a:endParaRPr lang="en-US" sz="900" dirty="0"/>
          </a:p>
        </p:txBody>
      </p:sp>
      <p:sp>
        <p:nvSpPr>
          <p:cNvPr id="68" name="Bottom Divider"/>
          <p:cNvSpPr/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Footer Label"/>
          <p:cNvSpPr/>
          <p:nvPr/>
        </p:nvSpPr>
        <p:spPr>
          <a:xfrm>
            <a:off x="457200" y="6286500"/>
            <a:ext cx="723903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  <a:endParaRPr lang="en-US" sz="900" dirty="0"/>
          </a:p>
        </p:txBody>
      </p:sp>
      <p:sp>
        <p:nvSpPr>
          <p:cNvPr id="70" name="Page Marker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10 / 12</a:t>
            </a:r>
            <a:endParaRPr lang="en-US" sz="90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A649E5E-CF4C-870C-B69B-270BED998BCE}"/>
              </a:ext>
            </a:extLst>
          </p:cNvPr>
          <p:cNvSpPr/>
          <p:nvPr/>
        </p:nvSpPr>
        <p:spPr>
          <a:xfrm>
            <a:off x="566928" y="1826316"/>
            <a:ext cx="9043416" cy="78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simple average of percentile ranks for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visibility usage</a:t>
            </a:r>
            <a:r>
              <a:rPr lang="en-US" sz="1200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paid product breadth + listing volume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Plus fits sellers already using visibility products or managing enough listings to benefit from cross-ad promotion.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Sellers in the top 40% of bundle fit score inside the outreach ready group are targeted for 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rest for 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765E1-B54E-67C6-D4BF-EEEAE1038609}"/>
              </a:ext>
            </a:extLst>
          </p:cNvPr>
          <p:cNvSpPr txBox="1"/>
          <p:nvPr/>
        </p:nvSpPr>
        <p:spPr>
          <a:xfrm>
            <a:off x="5458416" y="3156102"/>
            <a:ext cx="457751" cy="10772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D345-45DE-8BB8-A6A0-7A4DE5E9B646}"/>
              </a:ext>
            </a:extLst>
          </p:cNvPr>
          <p:cNvSpPr txBox="1"/>
          <p:nvPr/>
        </p:nvSpPr>
        <p:spPr>
          <a:xfrm>
            <a:off x="5458417" y="4479134"/>
            <a:ext cx="457751" cy="10772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New Signal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Bundle Choice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534095"/>
            <a:ext cx="11018520" cy="8004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split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target Plus for the highest bundle-fit sellers in the outreach ready group; use the top 40% as a practical starting point.</a:t>
            </a:r>
            <a:endParaRPr lang="en-US" sz="122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use no fixed 40%; show sellers ranked by bundle fit score and let Sales choose based on capacity.</a:t>
            </a:r>
            <a:endParaRPr lang="en-US" sz="122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calibrate this split with response, conversion, and upgrade data after outreach starts.</a:t>
            </a:r>
            <a:endParaRPr lang="en-US" sz="12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66926" y="2542032"/>
          <a:ext cx="3758331" cy="3079830"/>
        </p:xfrm>
        <a:graphic>
          <a:graphicData uri="http://schemas.openxmlformats.org/drawingml/2006/table">
            <a:tbl>
              <a:tblPr/>
              <a:tblGrid>
                <a:gridCol w="198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for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for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 Sellers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fees per seller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€2,230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€389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visibility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68.9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product breadth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70.7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listing volume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69.1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bundle fit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outreach readiness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77.5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Image 0" descr="/Users/omertal/PycharmProjects/Marketplaats/outputs/manual-20260615-q2-refresh/assets/cell_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1734" y="2748219"/>
            <a:ext cx="6949440" cy="281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Recommendations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outreach ready group for the first outreach batch.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10789920" cy="8610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commercial value in the model, but avoids over-indexing on historical spend.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sellers who are active, consistent, multi-category, growing, and already familiar with paid products.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traits are closer to likely outreach response than fee history alone.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Outcome-Based Ranking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4370832"/>
            <a:ext cx="10789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initial outreach, supervised learning could replace the manual score.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response, conversion, and post-signup value.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ranking explainable for Sales and leadership.</a:t>
            </a:r>
            <a:endParaRPr lang="en-US" sz="14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DDF34-6AED-1808-0AA8-239A1EE6EC7A}"/>
              </a:ext>
            </a:extLst>
          </p:cNvPr>
          <p:cNvSpPr txBox="1"/>
          <p:nvPr/>
        </p:nvSpPr>
        <p:spPr>
          <a:xfrm>
            <a:off x="457200" y="3157849"/>
            <a:ext cx="8579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seller-level CSV available as </a:t>
            </a:r>
            <a:r>
              <a:rPr lang="en-US" sz="1400" b="1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q2_scored_sellers.csv</a:t>
            </a:r>
            <a:endParaRPr lang="en-US" sz="14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D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Identify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Prioritize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  <a:ln/>
        </p:spPr>
        <p:txBody>
          <a:bodyPr lIns="0" tIns="0" rIns="0" bIns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Monitor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2200" b="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bundle adoption, revenue, and customer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Scale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46536" y="6291072"/>
            <a:ext cx="590702" cy="22860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Dashboard Framing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444752"/>
            <a:ext cx="10378440" cy="142646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monitor whether SMB Bundles are gaining traction, converting to paid usage, and creating measurable value.</a:t>
            </a:r>
            <a:endParaRPr lang="en-US" sz="122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controls such as filters and breakdown dimensions for deep-dive.</a:t>
            </a:r>
            <a:endParaRPr lang="en-US" sz="122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data enrichments:</a:t>
            </a:r>
          </a:p>
          <a:p>
            <a:pPr marL="749200" lvl="1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revenue and seller-outcome data to assess impact</a:t>
            </a:r>
          </a:p>
          <a:p>
            <a:pPr marL="749200" lvl="1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cs typeface="Arial" pitchFamily="34" charset="-120"/>
              </a:rPr>
              <a:t>SMB likelihood, Outreach readiness, and various seller activity dataset for detailed segmentation</a:t>
            </a:r>
            <a:endParaRPr lang="en-US" sz="122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57B41A-A5C7-7B4E-FAA6-71A4C0656DCA}"/>
              </a:ext>
            </a:extLst>
          </p:cNvPr>
          <p:cNvSpPr/>
          <p:nvPr/>
        </p:nvSpPr>
        <p:spPr>
          <a:xfrm>
            <a:off x="658368" y="3048714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Three Dashboard Views</a:t>
            </a:r>
            <a:endParaRPr lang="en-US" sz="1800" dirty="0">
              <a:solidFill>
                <a:srgbClr val="3DDC97"/>
              </a:solidFill>
            </a:endParaRPr>
          </a:p>
        </p:txBody>
      </p:sp>
      <p:sp>
        <p:nvSpPr>
          <p:cNvPr id="11" name="Dashboard Card Background 1"/>
          <p:cNvSpPr/>
          <p:nvPr/>
        </p:nvSpPr>
        <p:spPr>
          <a:xfrm>
            <a:off x="6583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Dashboard Card Header 1"/>
          <p:cNvSpPr/>
          <p:nvPr/>
        </p:nvSpPr>
        <p:spPr>
          <a:xfrm>
            <a:off x="6583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Dashboard Card Accent 1"/>
          <p:cNvSpPr/>
          <p:nvPr/>
        </p:nvSpPr>
        <p:spPr>
          <a:xfrm>
            <a:off x="6583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Dashboard Card Text 1"/>
          <p:cNvSpPr txBox="1"/>
          <p:nvPr/>
        </p:nvSpPr>
        <p:spPr>
          <a:xfrm>
            <a:off x="8412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Sales Overview</a:t>
            </a:r>
          </a:p>
          <a:p>
            <a:pPr algn="l"/>
            <a:endParaRPr lang="en-US" sz="1580" dirty="0">
              <a:solidFill>
                <a:srgbClr val="F2F2F2"/>
              </a:solidFill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Track launch traction and monetized adoption</a:t>
            </a:r>
            <a:endParaRPr lang="en-US" sz="116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gaining commercial traction?</a:t>
            </a:r>
            <a:endParaRPr lang="en-US" sz="1120" dirty="0">
              <a:solidFill>
                <a:srgbClr val="F2F2F2"/>
              </a:solidFill>
            </a:endParaRPr>
          </a:p>
        </p:txBody>
      </p:sp>
      <p:sp>
        <p:nvSpPr>
          <p:cNvPr id="15" name="Dashboard Card Background 2"/>
          <p:cNvSpPr/>
          <p:nvPr/>
        </p:nvSpPr>
        <p:spPr>
          <a:xfrm>
            <a:off x="43159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Dashboard Card Header 2"/>
          <p:cNvSpPr/>
          <p:nvPr/>
        </p:nvSpPr>
        <p:spPr>
          <a:xfrm>
            <a:off x="43159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Dashboard Card Accent 2"/>
          <p:cNvSpPr/>
          <p:nvPr/>
        </p:nvSpPr>
        <p:spPr>
          <a:xfrm>
            <a:off x="43159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Dashboard Card Text 2"/>
          <p:cNvSpPr txBox="1"/>
          <p:nvPr/>
        </p:nvSpPr>
        <p:spPr>
          <a:xfrm>
            <a:off x="44988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Customer Quality</a:t>
            </a:r>
            <a:endParaRPr lang="en-US" sz="158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Monitor conversion, retention, and segment differences</a:t>
            </a:r>
          </a:p>
          <a:p>
            <a:pPr algn="l"/>
            <a:endParaRPr lang="en-US" sz="1160" dirty="0">
              <a:solidFill>
                <a:srgbClr val="F2F2F2"/>
              </a:solidFill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registrations becoming retained paid customers?</a:t>
            </a:r>
            <a:endParaRPr lang="en-US" sz="1120" dirty="0">
              <a:solidFill>
                <a:srgbClr val="F2F2F2"/>
              </a:solidFill>
            </a:endParaRPr>
          </a:p>
        </p:txBody>
      </p:sp>
      <p:sp>
        <p:nvSpPr>
          <p:cNvPr id="19" name="Dashboard Card Background 3"/>
          <p:cNvSpPr/>
          <p:nvPr/>
        </p:nvSpPr>
        <p:spPr>
          <a:xfrm>
            <a:off x="79735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Dashboard Card Header 3"/>
          <p:cNvSpPr/>
          <p:nvPr/>
        </p:nvSpPr>
        <p:spPr>
          <a:xfrm>
            <a:off x="79735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Dashboard Card Accent 3"/>
          <p:cNvSpPr/>
          <p:nvPr/>
        </p:nvSpPr>
        <p:spPr>
          <a:xfrm>
            <a:off x="79735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Dashboard Card Text 3"/>
          <p:cNvSpPr txBox="1"/>
          <p:nvPr/>
        </p:nvSpPr>
        <p:spPr>
          <a:xfrm>
            <a:off x="81564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Business Impact</a:t>
            </a:r>
            <a:endParaRPr lang="en-US" sz="158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Quantify value for Marktplaats and sellers</a:t>
            </a:r>
            <a:endParaRPr lang="en-US" sz="116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creating measurable value?</a:t>
            </a:r>
            <a:endParaRPr lang="en-US" sz="1120" dirty="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3656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7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1AA4C55-897C-E486-30E1-7CC79E3B2262}"/>
              </a:ext>
            </a:extLst>
          </p:cNvPr>
          <p:cNvSpPr/>
          <p:nvPr/>
        </p:nvSpPr>
        <p:spPr>
          <a:xfrm>
            <a:off x="713232" y="2465401"/>
            <a:ext cx="10332720" cy="32003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latest headline readout?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0B1B998A-0D92-C82C-22E5-E59587629547}"/>
              </a:ext>
            </a:extLst>
          </p:cNvPr>
          <p:cNvSpPr/>
          <p:nvPr/>
        </p:nvSpPr>
        <p:spPr>
          <a:xfrm>
            <a:off x="68580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0FBC6D7-CDC2-10D3-715E-1BB9DC3F3D2F}"/>
              </a:ext>
            </a:extLst>
          </p:cNvPr>
          <p:cNvSpPr/>
          <p:nvPr/>
        </p:nvSpPr>
        <p:spPr>
          <a:xfrm>
            <a:off x="68580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35B6179-AACE-BD6F-9523-6370C8F0F73A}"/>
              </a:ext>
            </a:extLst>
          </p:cNvPr>
          <p:cNvSpPr/>
          <p:nvPr/>
        </p:nvSpPr>
        <p:spPr>
          <a:xfrm>
            <a:off x="81381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2025-04-29</a:t>
            </a:r>
            <a:endParaRPr lang="en-US" sz="162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3338F3-8A09-4622-72FE-0F09C16E79B9}"/>
              </a:ext>
            </a:extLst>
          </p:cNvPr>
          <p:cNvSpPr/>
          <p:nvPr/>
        </p:nvSpPr>
        <p:spPr>
          <a:xfrm>
            <a:off x="81381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date</a:t>
            </a:r>
            <a:endParaRPr lang="en-US" sz="82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495EE56-9E33-219F-E644-73947C8D84CA}"/>
              </a:ext>
            </a:extLst>
          </p:cNvPr>
          <p:cNvSpPr/>
          <p:nvPr/>
        </p:nvSpPr>
        <p:spPr>
          <a:xfrm>
            <a:off x="438912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A20CD5D-96C4-11A3-2522-DB759D8D769A}"/>
              </a:ext>
            </a:extLst>
          </p:cNvPr>
          <p:cNvSpPr/>
          <p:nvPr/>
        </p:nvSpPr>
        <p:spPr>
          <a:xfrm>
            <a:off x="438912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92F90E2-5031-97FE-EB2F-553CB0B4F51A}"/>
              </a:ext>
            </a:extLst>
          </p:cNvPr>
          <p:cNvSpPr/>
          <p:nvPr/>
        </p:nvSpPr>
        <p:spPr>
          <a:xfrm>
            <a:off x="451713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2,709 (+0% w/w)</a:t>
            </a:r>
            <a:endParaRPr lang="en-US" sz="162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4485A5A-0068-34BB-AAEC-D237C1C349B7}"/>
              </a:ext>
            </a:extLst>
          </p:cNvPr>
          <p:cNvSpPr/>
          <p:nvPr/>
        </p:nvSpPr>
        <p:spPr>
          <a:xfrm>
            <a:off x="451713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paid bundles</a:t>
            </a:r>
            <a:endParaRPr lang="en-US" sz="82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8D8C2EB-B52A-DFFA-973A-DA8CF0E43B2E}"/>
              </a:ext>
            </a:extLst>
          </p:cNvPr>
          <p:cNvSpPr/>
          <p:nvPr/>
        </p:nvSpPr>
        <p:spPr>
          <a:xfrm>
            <a:off x="809244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F162971-27EE-C838-5AF6-9EA8FB901361}"/>
              </a:ext>
            </a:extLst>
          </p:cNvPr>
          <p:cNvSpPr/>
          <p:nvPr/>
        </p:nvSpPr>
        <p:spPr>
          <a:xfrm>
            <a:off x="809244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F8602653-2773-72C8-9182-F99647EC3033}"/>
              </a:ext>
            </a:extLst>
          </p:cNvPr>
          <p:cNvSpPr/>
          <p:nvPr/>
        </p:nvSpPr>
        <p:spPr>
          <a:xfrm>
            <a:off x="822045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(+0% w/w)</a:t>
            </a:r>
            <a:endParaRPr lang="en-US" sz="162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F6A79B8-933C-9B1C-D67D-FDF3218B4F79}"/>
              </a:ext>
            </a:extLst>
          </p:cNvPr>
          <p:cNvSpPr/>
          <p:nvPr/>
        </p:nvSpPr>
        <p:spPr>
          <a:xfrm>
            <a:off x="822045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trial bundles</a:t>
            </a:r>
            <a:endParaRPr lang="en-US" sz="820" dirty="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87AAA9F5-7048-69FE-0136-1CEB2A5576AC}"/>
              </a:ext>
            </a:extLst>
          </p:cNvPr>
          <p:cNvSpPr/>
          <p:nvPr/>
        </p:nvSpPr>
        <p:spPr>
          <a:xfrm>
            <a:off x="68580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41B56EDB-1C32-5A67-F18B-71DCA26C624F}"/>
              </a:ext>
            </a:extLst>
          </p:cNvPr>
          <p:cNvSpPr/>
          <p:nvPr/>
        </p:nvSpPr>
        <p:spPr>
          <a:xfrm>
            <a:off x="68580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E00D1E40-2ACC-8D27-0854-2E741812B355}"/>
              </a:ext>
            </a:extLst>
          </p:cNvPr>
          <p:cNvSpPr/>
          <p:nvPr/>
        </p:nvSpPr>
        <p:spPr>
          <a:xfrm>
            <a:off x="813816" y="42667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(+156% vs prior 4wk)</a:t>
            </a:r>
            <a:endParaRPr lang="en-US" sz="162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0602E78-9123-E509-A44D-635478E78DFC}"/>
              </a:ext>
            </a:extLst>
          </p:cNvPr>
          <p:cNvSpPr/>
          <p:nvPr/>
        </p:nvSpPr>
        <p:spPr>
          <a:xfrm>
            <a:off x="81381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registration in 4wk</a:t>
            </a:r>
            <a:endParaRPr lang="en-US" sz="82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4A9DA027-9F43-37E4-CD56-8BAD890AE15D}"/>
              </a:ext>
            </a:extLst>
          </p:cNvPr>
          <p:cNvSpPr/>
          <p:nvPr/>
        </p:nvSpPr>
        <p:spPr>
          <a:xfrm>
            <a:off x="438912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90A8EF38-54B4-3B5A-5D0F-8BBE8AC4EDC0}"/>
              </a:ext>
            </a:extLst>
          </p:cNvPr>
          <p:cNvSpPr/>
          <p:nvPr/>
        </p:nvSpPr>
        <p:spPr>
          <a:xfrm>
            <a:off x="438912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A3BF420-1CEF-DBE1-0C5D-A4B8D4C04422}"/>
              </a:ext>
            </a:extLst>
          </p:cNvPr>
          <p:cNvSpPr/>
          <p:nvPr/>
        </p:nvSpPr>
        <p:spPr>
          <a:xfrm>
            <a:off x="4517136" y="4266764"/>
            <a:ext cx="2944368" cy="237744"/>
          </a:xfrm>
          <a:prstGeom prst="rect">
            <a:avLst/>
          </a:prstGeom>
          <a:noFill/>
          <a:ln/>
        </p:spPr>
        <p:txBody>
          <a:bodyPr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 (+0.1pp w/w)</a:t>
            </a:r>
            <a:endParaRPr lang="en-US" sz="1620" dirty="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A1B36AC2-DD7B-52CC-4B11-0FB1FD870343}"/>
              </a:ext>
            </a:extLst>
          </p:cNvPr>
          <p:cNvSpPr/>
          <p:nvPr/>
        </p:nvSpPr>
        <p:spPr>
          <a:xfrm>
            <a:off x="451713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of active paid bundles</a:t>
            </a:r>
            <a:endParaRPr lang="en-US" sz="820" dirty="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8A3EB60E-EF41-EFDF-211E-526BDAC44B28}"/>
              </a:ext>
            </a:extLst>
          </p:cNvPr>
          <p:cNvSpPr/>
          <p:nvPr/>
        </p:nvSpPr>
        <p:spPr>
          <a:xfrm>
            <a:off x="809244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7ADE43E9-A3E2-3F76-3607-16A5C334F2D3}"/>
              </a:ext>
            </a:extLst>
          </p:cNvPr>
          <p:cNvSpPr/>
          <p:nvPr/>
        </p:nvSpPr>
        <p:spPr>
          <a:xfrm>
            <a:off x="809244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13645EE-733D-B030-9D50-6AF388D9521E}"/>
              </a:ext>
            </a:extLst>
          </p:cNvPr>
          <p:cNvSpPr/>
          <p:nvPr/>
        </p:nvSpPr>
        <p:spPr>
          <a:xfrm>
            <a:off x="8220456" y="42667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€88,373 (+0% vs prior 4wk)</a:t>
            </a:r>
            <a:endParaRPr lang="en-US" sz="1620" dirty="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0AEFDED-4714-8C71-92CE-D2C0323C4AAB}"/>
              </a:ext>
            </a:extLst>
          </p:cNvPr>
          <p:cNvSpPr/>
          <p:nvPr/>
        </p:nvSpPr>
        <p:spPr>
          <a:xfrm>
            <a:off x="822045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revenue in 4wk</a:t>
            </a:r>
            <a:endParaRPr lang="en-US" sz="82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E83545F-8161-3F4E-4497-E6EF9BDF1AB7}"/>
              </a:ext>
            </a:extLst>
          </p:cNvPr>
          <p:cNvSpPr/>
          <p:nvPr/>
        </p:nvSpPr>
        <p:spPr>
          <a:xfrm>
            <a:off x="771753" y="188932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65037"/>
            <a:ext cx="10378440" cy="69561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launch demand growing, stable, or fading?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registrations = trial starts, not paid subscriptions start.</a:t>
            </a:r>
            <a:endParaRPr lang="en-US" sz="120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 (SYI/Pro), bundle type.</a:t>
            </a:r>
            <a:endParaRPr lang="en-US" sz="1200" dirty="0"/>
          </a:p>
        </p:txBody>
      </p:sp>
      <p:pic>
        <p:nvPicPr>
          <p:cNvPr id="16" name="Image 0" descr="/Users/omertal/PycharmProjects/Marketplaats/outputs/019ec668-313f-7a42-b45f-b7e468004534/presentations/q3-verbatim-refresh/assets/weekly_new_regist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97145"/>
            <a:ext cx="7635240" cy="3200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B6868E87-5826-9A5F-B86F-E312696514EE}"/>
              </a:ext>
            </a:extLst>
          </p:cNvPr>
          <p:cNvSpPr/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Registrations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922724"/>
            <a:ext cx="10378440" cy="56940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bundle base turning into paid adoption?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 (SYI/Pro), , bundle.</a:t>
            </a:r>
            <a:endParaRPr lang="en-US" sz="1200" dirty="0"/>
          </a:p>
        </p:txBody>
      </p:sp>
      <p:pic>
        <p:nvPicPr>
          <p:cNvPr id="16" name="Image 0" descr="/Users/omertal/PycharmProjects/Marketplaats/outputs/019ec668-313f-7a42-b45f-b7e468004534/presentations/q3-verbatim-refresh/assets/active_bund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8436"/>
            <a:ext cx="7738110" cy="3200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F9658F8-8548-26DF-6B8C-5704492E8516}"/>
              </a:ext>
            </a:extLst>
          </p:cNvPr>
          <p:cNvSpPr/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Bundles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95520"/>
            <a:ext cx="10378440" cy="54321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paid base shifting toward Plus?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 and customer type.</a:t>
            </a:r>
            <a:endParaRPr lang="en-US" sz="1200" dirty="0"/>
          </a:p>
        </p:txBody>
      </p:sp>
      <p:pic>
        <p:nvPicPr>
          <p:cNvPr id="14" name="Image 0" descr="/Users/omertal/PycharmProjects/Marketplaats/outputs/019ec668-313f-7a42-b45f-b7e468004534/presentations/q3-verbatim-refresh/assets/plus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2581320"/>
            <a:ext cx="6000001" cy="333756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8492A07-403A-0E9C-FBBA-EBE9C0ACDA9C}"/>
              </a:ext>
            </a:extLst>
          </p:cNvPr>
          <p:cNvSpPr/>
          <p:nvPr/>
        </p:nvSpPr>
        <p:spPr>
          <a:xfrm>
            <a:off x="771753" y="143289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7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BB1421-DDB5-9E85-3D1C-FD586F742C58}"/>
              </a:ext>
            </a:extLst>
          </p:cNvPr>
          <p:cNvSpPr/>
          <p:nvPr/>
        </p:nvSpPr>
        <p:spPr>
          <a:xfrm>
            <a:off x="771753" y="1953222"/>
            <a:ext cx="5390148" cy="4681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cohorts stay active paid after trial and later billing cycles?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blank cells are immature checkpoints, not zero conversion.</a:t>
            </a:r>
            <a:endParaRPr lang="en-US" sz="1200" dirty="0"/>
          </a:p>
        </p:txBody>
      </p:sp>
      <p:pic>
        <p:nvPicPr>
          <p:cNvPr id="10" name="Image 0" descr="/Users/omertal/PycharmProjects/Marketplaats/outputs/019ec668-313f-7a42-b45f-b7e468004534/presentations/q3-cohort-heatmap-png/assets/cohort_heatmap.png">
            <a:extLst>
              <a:ext uri="{FF2B5EF4-FFF2-40B4-BE49-F238E27FC236}">
                <a16:creationId xmlns:a16="http://schemas.microsoft.com/office/drawing/2014/main" id="{5043DC03-D2C3-15AC-EA01-812389B22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32227"/>
            <a:ext cx="6986016" cy="314553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06444A7-9A74-279D-60CE-0E3F27417A54}"/>
              </a:ext>
            </a:extLst>
          </p:cNvPr>
          <p:cNvSpPr/>
          <p:nvPr/>
        </p:nvSpPr>
        <p:spPr>
          <a:xfrm>
            <a:off x="835829" y="145327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Health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750" dirty="0"/>
          </a:p>
        </p:txBody>
      </p:sp>
      <p:graphicFrame>
        <p:nvGraphicFramePr>
          <p:cNvPr id="11" name="Native Segment Enrichment Opportunity Table">
            <a:extLst>
              <a:ext uri="{FF2B5EF4-FFF2-40B4-BE49-F238E27FC236}">
                <a16:creationId xmlns:a16="http://schemas.microsoft.com/office/drawing/2014/main" id="{16D02375-431C-5A18-B25E-FBA2D93FAE72}"/>
              </a:ext>
            </a:extLst>
          </p:cNvPr>
          <p:cNvGraphicFramePr/>
          <p:nvPr/>
        </p:nvGraphicFramePr>
        <p:xfrm>
          <a:off x="6975742" y="2286000"/>
          <a:ext cx="4541521" cy="2008430"/>
        </p:xfrm>
        <a:graphic>
          <a:graphicData uri="http://schemas.openxmlformats.org/drawingml/2006/table">
            <a:tbl>
              <a:tblPr firstRow="1" bandRow="1"/>
              <a:tblGrid>
                <a:gridCol w="162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289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Potential merge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Why it helps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SMB likelihood score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Separates likely business sellers from lighter consumer-like sellers.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readiness score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Shows whether sales-prioritized sellers convert and retain better.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Historical spend tier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Distinguishes high and low-spend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Seller size / activity tier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Identifies whether bundles work better for large or small sellers.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batch / channel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Connects launch execution to registration and paid conversion quality.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7">
            <a:extLst>
              <a:ext uri="{FF2B5EF4-FFF2-40B4-BE49-F238E27FC236}">
                <a16:creationId xmlns:a16="http://schemas.microsoft.com/office/drawing/2014/main" id="{E511A023-960A-587F-CD6E-7395818DC30D}"/>
              </a:ext>
            </a:extLst>
          </p:cNvPr>
          <p:cNvSpPr/>
          <p:nvPr/>
        </p:nvSpPr>
        <p:spPr>
          <a:xfrm>
            <a:off x="7290365" y="169468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Segmentation Merge</a:t>
            </a:r>
            <a:endParaRPr lang="en-US" sz="1800" dirty="0">
              <a:solidFill>
                <a:srgbClr val="3DDC97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90C4CDA-20E1-4A66-06B2-6B57882CCD19}"/>
              </a:ext>
            </a:extLst>
          </p:cNvPr>
          <p:cNvSpPr/>
          <p:nvPr/>
        </p:nvSpPr>
        <p:spPr>
          <a:xfrm>
            <a:off x="1279031" y="169468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Health Snapshot</a:t>
            </a:r>
            <a:endParaRPr lang="en-US" sz="1800" dirty="0">
              <a:solidFill>
                <a:srgbClr val="3DDC97"/>
              </a:solidFill>
            </a:endParaRPr>
          </a:p>
        </p:txBody>
      </p:sp>
      <p:graphicFrame>
        <p:nvGraphicFramePr>
          <p:cNvPr id="14" name="Native Segmentation Health Snapshot Table"/>
          <p:cNvGraphicFramePr/>
          <p:nvPr/>
        </p:nvGraphicFramePr>
        <p:xfrm>
          <a:off x="588578" y="2286000"/>
          <a:ext cx="6082245" cy="1691640"/>
        </p:xfrm>
        <a:graphic>
          <a:graphicData uri="http://schemas.openxmlformats.org/drawingml/2006/table">
            <a:tbl>
              <a:tblPr firstRow="1" bandRow="1"/>
              <a:tblGrid>
                <a:gridCol w="998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4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dimension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value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Registrations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Paid conversion at 28d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% Plus of active paid bundles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Active paid bundles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Current no-bundle share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SYI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3,137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89.1%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40.9%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2,093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33.3%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939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89.5%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34.4%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Basic-first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2,791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89.4%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25.5%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1,845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33.9%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Plus-first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1,285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88.7%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864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5063-ADD3-E4C1-9025-57F8E991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BCBA3-485D-0558-7581-02CD4A1946AD}"/>
              </a:ext>
            </a:extLst>
          </p:cNvPr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E0E7D-5FCB-B0B3-C8A3-E5665E907814}"/>
              </a:ext>
            </a:extLst>
          </p:cNvPr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F010D-5742-E6DD-7CAC-8B81CAAF9623}"/>
              </a:ext>
            </a:extLst>
          </p:cNvPr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F38785-A7A0-008C-F42E-02F57BCCE287}"/>
              </a:ext>
            </a:extLst>
          </p:cNvPr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9E207-5DBF-DF91-B077-A025146CB8D3}"/>
              </a:ext>
            </a:extLst>
          </p:cNvPr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D9A72-3C4F-04BE-543A-9DEABE220422}"/>
              </a:ext>
            </a:extLst>
          </p:cNvPr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61B29F-6FBF-D771-CD5F-1B6C231F8C58}"/>
              </a:ext>
            </a:extLst>
          </p:cNvPr>
          <p:cNvSpPr/>
          <p:nvPr/>
        </p:nvSpPr>
        <p:spPr>
          <a:xfrm>
            <a:off x="713232" y="2078918"/>
            <a:ext cx="10332720" cy="74163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segments changed sharply in the last 4 weeks? </a:t>
            </a: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where follow-up is most urgent.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displayed metrics can be dynamically selected, as well as comparison time window.</a:t>
            </a: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dummy data. </a:t>
            </a:r>
            <a:endParaRPr lang="en-US" sz="1200" dirty="0"/>
          </a:p>
        </p:txBody>
      </p:sp>
      <p:pic>
        <p:nvPicPr>
          <p:cNvPr id="8" name="Image 0" descr="/Users/omertal/PycharmProjects/Marketplaats/outputs/019ec668-313f-7a42-b45f-b7e468004534/presentations/q3-verbatim-refresh/assets/segment_change_alerts.png">
            <a:extLst>
              <a:ext uri="{FF2B5EF4-FFF2-40B4-BE49-F238E27FC236}">
                <a16:creationId xmlns:a16="http://schemas.microsoft.com/office/drawing/2014/main" id="{25AFA8D2-BB0F-35EA-55A9-731200317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082448"/>
            <a:ext cx="5760720" cy="2692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FB4888C-4C22-D83C-3207-DB830EBE601B}"/>
              </a:ext>
            </a:extLst>
          </p:cNvPr>
          <p:cNvSpPr/>
          <p:nvPr/>
        </p:nvSpPr>
        <p:spPr>
          <a:xfrm>
            <a:off x="771753" y="158607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Change Alerts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449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7356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9966960" cy="81335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bundles creating measurable value for Marktplaats and sellers?</a:t>
            </a:r>
            <a:endParaRPr lang="en-US" sz="1400" b="1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 supports: modeled paid revenue and bundle revenue mix.</a:t>
            </a:r>
            <a:endParaRPr lang="en-US" sz="1400" dirty="0">
              <a:solidFill>
                <a:srgbClr val="A8A8A8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missing: actual invoiced revenue and seller outcome data.</a:t>
            </a:r>
            <a:endParaRPr lang="en-US" sz="1400" dirty="0">
              <a:solidFill>
                <a:srgbClr val="A8A8A8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0B213D9-F323-42EE-7B73-B36DCDBEE3C9}"/>
              </a:ext>
            </a:extLst>
          </p:cNvPr>
          <p:cNvSpPr/>
          <p:nvPr/>
        </p:nvSpPr>
        <p:spPr>
          <a:xfrm>
            <a:off x="4158843" y="2649474"/>
            <a:ext cx="6277571" cy="541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paid adoption translating into subscription revenue?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modeled from intervals and list prices; not invoiced or incremental revenue.</a:t>
            </a:r>
            <a:endParaRPr lang="en-US" sz="1200" dirty="0"/>
          </a:p>
        </p:txBody>
      </p:sp>
      <p:pic>
        <p:nvPicPr>
          <p:cNvPr id="10" name="Image 0" descr="/Users/omertal/PycharmProjects/Marketplaats/outputs/019ec668-313f-7a42-b45f-b7e468004534/presentations/q3-verbatim-refresh/assets/modeled_paid_revenue.png">
            <a:extLst>
              <a:ext uri="{FF2B5EF4-FFF2-40B4-BE49-F238E27FC236}">
                <a16:creationId xmlns:a16="http://schemas.microsoft.com/office/drawing/2014/main" id="{4B2ADD72-2B2B-8A40-706E-C5CD58764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251626"/>
            <a:ext cx="6774180" cy="2720340"/>
          </a:xfrm>
          <a:prstGeom prst="rect">
            <a:avLst/>
          </a:prstGeom>
        </p:spPr>
      </p:pic>
      <p:pic>
        <p:nvPicPr>
          <p:cNvPr id="11" name="Image 1" descr="/Users/omertal/PycharmProjects/Marketplaats/outputs/019ec668-313f-7a42-b45f-b7e468004534/presentations/q3-verbatim-refresh/assets/latest_revenue_by_bundle.png">
            <a:extLst>
              <a:ext uri="{FF2B5EF4-FFF2-40B4-BE49-F238E27FC236}">
                <a16:creationId xmlns:a16="http://schemas.microsoft.com/office/drawing/2014/main" id="{43D5609A-95FC-D5C4-18C0-2C8803DD0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545" y="3288707"/>
            <a:ext cx="3202940" cy="184086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E05CE03-24EE-389B-775A-73B47F056831}"/>
              </a:ext>
            </a:extLst>
          </p:cNvPr>
          <p:cNvSpPr/>
          <p:nvPr/>
        </p:nvSpPr>
        <p:spPr>
          <a:xfrm>
            <a:off x="953774" y="260486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DDC97"/>
                </a:solidFill>
                <a:latin typeface="Arial" pitchFamily="34" charset="0"/>
                <a:cs typeface="Arial" pitchFamily="34" charset="-120"/>
              </a:rPr>
              <a:t>Modeled Bundle Revenue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73513"/>
            <a:ext cx="5577104" cy="8686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bundles help sellers generate more leads?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breakdown by bundle type, </a:t>
            </a: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dummy data, requires seller-level lead data</a:t>
            </a:r>
            <a:endParaRPr lang="en-US" sz="1200" dirty="0"/>
          </a:p>
        </p:txBody>
      </p:sp>
      <p:pic>
        <p:nvPicPr>
          <p:cNvPr id="14" name="Image 0" descr="/Users/omertal/PycharmProjects/Marketplaats/outputs/019ec668-313f-7a42-b45f-b7e468004534/presentations/q3-verbatim-refresh/assets/seller_leads_up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2936"/>
            <a:ext cx="5109210" cy="32232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6C844CF1-7CFA-C0E8-8EBA-570160ED3754}"/>
              </a:ext>
            </a:extLst>
          </p:cNvPr>
          <p:cNvSpPr/>
          <p:nvPr/>
        </p:nvSpPr>
        <p:spPr>
          <a:xfrm>
            <a:off x="953774" y="1376285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DDC97"/>
                </a:solidFill>
                <a:latin typeface="Arial" pitchFamily="34" charset="0"/>
                <a:cs typeface="Arial" pitchFamily="34" charset="-120"/>
              </a:rPr>
              <a:t>Seller Outcome Uplift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/>
          <p:cNvSpPr/>
          <p:nvPr/>
        </p:nvSpPr>
        <p:spPr>
          <a:xfrm>
            <a:off x="609600" y="900112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/>
          <p:cNvSpPr/>
          <p:nvPr/>
        </p:nvSpPr>
        <p:spPr>
          <a:xfrm>
            <a:off x="609600" y="1400175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/>
          <p:cNvSpPr/>
          <p:nvPr/>
        </p:nvSpPr>
        <p:spPr>
          <a:xfrm>
            <a:off x="512445" y="3960000"/>
            <a:ext cx="10000298" cy="450000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220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  <a:endParaRPr sz="2200" dirty="0">
              <a:solidFill>
                <a:srgbClr val="A7A7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ection 03 Inactive"/>
          <p:cNvSpPr/>
          <p:nvPr/>
        </p:nvSpPr>
        <p:spPr>
          <a:xfrm>
            <a:off x="609600" y="1900238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/>
          <p:cNvSpPr/>
          <p:nvPr/>
        </p:nvSpPr>
        <p:spPr>
          <a:xfrm>
            <a:off x="512445" y="2840000"/>
            <a:ext cx="10500360" cy="829628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SMB bundles to active sellers with a high SMB likelihood score, then sequence outreach by readiness so the strongest candidates receive the first conversion push.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/>
          <p:cNvSpPr/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SMB likelihood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business signal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01568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first-wave priority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51576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+ Tier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1352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25712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25712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holdout-based KPIs</a:t>
            </a:r>
            <a:endParaRPr lang="en-US" sz="10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audience: </a:t>
            </a:r>
            <a:r>
              <a:rPr lang="en-US" sz="14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sellers without a bundle.</a:t>
            </a:r>
            <a:endParaRPr lang="en-US" sz="1420" dirty="0">
              <a:solidFill>
                <a:srgbClr val="F3F4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lang="en-US" sz="1420" dirty="0">
              <a:solidFill>
                <a:srgbClr val="F3F4F6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Start with Tier 1; scale to other tiers if successful.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Segments</a:t>
            </a:r>
            <a:endParaRPr lang="en-US" sz="1800" dirty="0"/>
          </a:p>
        </p:txBody>
      </p:sp>
      <p:graphicFrame>
        <p:nvGraphicFramePr>
          <p:cNvPr id="27" name="Audience segment table"/>
          <p:cNvGraphicFramePr>
            <a:graphicFrameLocks noGrp="1"/>
          </p:cNvGraphicFramePr>
          <p:nvPr/>
        </p:nvGraphicFramePr>
        <p:xfrm>
          <a:off x="621792" y="3120502"/>
          <a:ext cx="8626711" cy="1891788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5487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1528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3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8" name="Channels intro"/>
          <p:cNvSpPr/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complementary channels: lifecycle CRM for behavior-triggered outreach and in-platform prompts for high-intent seller moments.</a:t>
            </a:r>
            <a:endParaRPr lang="en-US" sz="1500" dirty="0"/>
          </a:p>
        </p:txBody>
      </p:sp>
      <p:sp>
        <p:nvSpPr>
          <p:cNvPr id="9" name="Channel mix label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800" dirty="0"/>
          </a:p>
        </p:txBody>
      </p:sp>
      <p:sp>
        <p:nvSpPr>
          <p:cNvPr id="10" name="Lifecycle CRM card"/>
          <p:cNvSpPr/>
          <p:nvPr/>
        </p:nvSpPr>
        <p:spPr>
          <a:xfrm>
            <a:off x="62179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 CRM accent"/>
          <p:cNvSpPr/>
          <p:nvPr/>
        </p:nvSpPr>
        <p:spPr>
          <a:xfrm>
            <a:off x="62179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 CRM title"/>
          <p:cNvSpPr/>
          <p:nvPr/>
        </p:nvSpPr>
        <p:spPr>
          <a:xfrm>
            <a:off x="80467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CRM</a:t>
            </a:r>
            <a:endParaRPr lang="en-US" sz="1700" dirty="0"/>
          </a:p>
        </p:txBody>
      </p:sp>
      <p:sp>
        <p:nvSpPr>
          <p:cNvPr id="13" name="Lifecycle CRM body"/>
          <p:cNvSpPr/>
          <p:nvPr/>
        </p:nvSpPr>
        <p:spPr>
          <a:xfrm>
            <a:off x="80467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CRM journeys triggered by seller behavior, such as repeated listing, paid-feature use, competitive-category activity.</a:t>
            </a:r>
            <a:endParaRPr lang="en-US" sz="1250" dirty="0"/>
          </a:p>
        </p:txBody>
      </p:sp>
      <p:sp>
        <p:nvSpPr>
          <p:cNvPr id="15" name="In-platform Prompts card"/>
          <p:cNvSpPr/>
          <p:nvPr/>
        </p:nvSpPr>
        <p:spPr>
          <a:xfrm>
            <a:off x="629107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-platform Prompts accent"/>
          <p:cNvSpPr/>
          <p:nvPr/>
        </p:nvSpPr>
        <p:spPr>
          <a:xfrm>
            <a:off x="629107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-platform Prompts title"/>
          <p:cNvSpPr/>
          <p:nvPr/>
        </p:nvSpPr>
        <p:spPr>
          <a:xfrm>
            <a:off x="647395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In-platform Prompts</a:t>
            </a:r>
            <a:endParaRPr lang="en-US" sz="1700" dirty="0"/>
          </a:p>
        </p:txBody>
      </p:sp>
      <p:sp>
        <p:nvSpPr>
          <p:cNvPr id="18" name="In-platform Prompts body"/>
          <p:cNvSpPr/>
          <p:nvPr/>
        </p:nvSpPr>
        <p:spPr>
          <a:xfrm>
            <a:off x="647395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high-intent seller surfaces: seller dashboard, listing creation, listing management, and paid-feature purchase flows.</a:t>
            </a:r>
            <a:endParaRPr lang="en-US" sz="1250" dirty="0"/>
          </a:p>
        </p:txBody>
      </p:sp>
      <p:sp>
        <p:nvSpPr>
          <p:cNvPr id="20" name="How channels work label"/>
          <p:cNvSpPr/>
          <p:nvPr/>
        </p:nvSpPr>
        <p:spPr>
          <a:xfrm>
            <a:off x="621792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 Together</a:t>
            </a:r>
            <a:endParaRPr lang="en-US" sz="1800" dirty="0"/>
          </a:p>
        </p:txBody>
      </p:sp>
      <p:sp>
        <p:nvSpPr>
          <p:cNvPr id="21" name="How channels work body"/>
          <p:cNvSpPr/>
          <p:nvPr/>
        </p:nvSpPr>
        <p:spPr>
          <a:xfrm>
            <a:off x="621792" y="52730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creates the targeted outreach path; in-platform prompts reinforce the message at the moment of seller intent.</a:t>
            </a:r>
            <a:endParaRPr lang="en-US" sz="13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Lifecycle CRM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email / CRM journeys triggered by seller behavior.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Triggers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In-platform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 in high-intent seller surfaces.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Surfaces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144000" cy="714375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1255"/>
            <a:ext cx="6400800" cy="164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n-US" sz="75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  <p:sp>
        <p:nvSpPr>
          <p:cNvPr id="8" name="Combined KPI intro"/>
          <p:cNvSpPr/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incremental adoption, diagnose channel response, and monitor seller-fit guardrails.</a:t>
            </a:r>
            <a:endParaRPr lang="en-US" sz="1500" dirty="0"/>
          </a:p>
        </p:txBody>
      </p:sp>
      <p:sp>
        <p:nvSpPr>
          <p:cNvPr id="9" name="Primary KPI section label"/>
          <p:cNvSpPr/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</a:t>
            </a:r>
            <a:endParaRPr lang="en-US" sz="1450" dirty="0"/>
          </a:p>
        </p:txBody>
      </p:sp>
      <p:sp>
        <p:nvSpPr>
          <p:cNvPr id="10" name="Primary KPI card"/>
          <p:cNvSpPr/>
          <p:nvPr/>
        </p:nvSpPr>
        <p:spPr>
          <a:xfrm>
            <a:off x="628650" y="2028825"/>
            <a:ext cx="10582275" cy="9906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imary KPI red accent"/>
          <p:cNvSpPr/>
          <p:nvPr/>
        </p:nvSpPr>
        <p:spPr>
          <a:xfrm>
            <a:off x="628650" y="2105025"/>
            <a:ext cx="47625" cy="8382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rimary KPI name"/>
          <p:cNvSpPr/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SMB Bundle
adoption rate (paid)</a:t>
            </a:r>
            <a:endParaRPr lang="en-US" sz="1500" dirty="0"/>
          </a:p>
        </p:txBody>
      </p:sp>
      <p:sp>
        <p:nvSpPr>
          <p:cNvPr id="13" name="Primary KPI definition"/>
          <p:cNvSpPr/>
          <p:nvPr/>
        </p:nvSpPr>
        <p:spPr>
          <a:xfrm>
            <a:off x="4343400" y="2305050"/>
            <a:ext cx="4000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adoption rate minus holdout adoption rate</a:t>
            </a:r>
            <a:endParaRPr lang="en-US" sz="1150" dirty="0"/>
          </a:p>
        </p:txBody>
      </p:sp>
      <p:sp>
        <p:nvSpPr>
          <p:cNvPr id="14" name="Primary KPI why"/>
          <p:cNvSpPr/>
          <p:nvPr/>
        </p:nvSpPr>
        <p:spPr>
          <a:xfrm>
            <a:off x="8439150" y="2305050"/>
            <a:ext cx="2381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real lift from natural adoption.</a:t>
            </a:r>
            <a:endParaRPr lang="en-US" sz="1150" dirty="0"/>
          </a:p>
        </p:txBody>
      </p:sp>
      <p:sp>
        <p:nvSpPr>
          <p:cNvPr id="15" name="Secondary KPI section label"/>
          <p:cNvSpPr/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KPIs</a:t>
            </a:r>
            <a:endParaRPr lang="en-US" sz="1450" dirty="0"/>
          </a:p>
        </p:txBody>
      </p:sp>
      <p:sp>
        <p:nvSpPr>
          <p:cNvPr id="16" name="Click-through rate card"/>
          <p:cNvSpPr/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lick-through rate accent"/>
          <p:cNvSpPr/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lick-through rate kpi"/>
          <p:cNvSpPr/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1000" dirty="0"/>
          </a:p>
        </p:txBody>
      </p:sp>
      <p:sp>
        <p:nvSpPr>
          <p:cNvPr id="19" name="Click-through rate definition"/>
          <p:cNvSpPr/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click
through</a:t>
            </a:r>
            <a:endParaRPr lang="en-US" sz="900" dirty="0"/>
          </a:p>
        </p:txBody>
      </p:sp>
      <p:sp>
        <p:nvSpPr>
          <p:cNvPr id="20" name="Click-through rate why"/>
          <p:cNvSpPr/>
          <p:nvPr/>
        </p:nvSpPr>
        <p:spPr>
          <a:xfrm>
            <a:off x="4797779" y="37719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channel and
placement relevance.</a:t>
            </a:r>
            <a:endParaRPr lang="en-US" sz="900" dirty="0"/>
          </a:p>
        </p:txBody>
      </p:sp>
      <p:sp>
        <p:nvSpPr>
          <p:cNvPr id="21" name="Trial start rate card"/>
          <p:cNvSpPr/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rial start rate accent"/>
          <p:cNvSpPr/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l start rate kpi"/>
          <p:cNvSpPr/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start rate</a:t>
            </a:r>
            <a:endParaRPr lang="en-US" sz="1000" dirty="0"/>
          </a:p>
        </p:txBody>
      </p:sp>
      <p:sp>
        <p:nvSpPr>
          <p:cNvPr id="24" name="Trial start rate definition"/>
          <p:cNvSpPr/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start a
bundle trial</a:t>
            </a:r>
            <a:endParaRPr lang="en-US" sz="900" dirty="0"/>
          </a:p>
        </p:txBody>
      </p:sp>
      <p:sp>
        <p:nvSpPr>
          <p:cNvPr id="25" name="Trial start rate why"/>
          <p:cNvSpPr/>
          <p:nvPr/>
        </p:nvSpPr>
        <p:spPr>
          <a:xfrm>
            <a:off x="4797779" y="462915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interest
becomes action.</a:t>
            </a:r>
            <a:endParaRPr lang="en-US" sz="900" dirty="0"/>
          </a:p>
        </p:txBody>
      </p:sp>
      <p:sp>
        <p:nvSpPr>
          <p:cNvPr id="26" name="Bundle revenue uplift card"/>
          <p:cNvSpPr/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undle revenue uplift accent"/>
          <p:cNvSpPr/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undle revenue uplift kpi"/>
          <p:cNvSpPr/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revenue
uplift</a:t>
            </a:r>
            <a:endParaRPr lang="en-US" sz="1000" dirty="0"/>
          </a:p>
        </p:txBody>
      </p:sp>
      <p:sp>
        <p:nvSpPr>
          <p:cNvPr id="29" name="Bundle revenue uplift definition"/>
          <p:cNvSpPr/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bundle revenue minus holdout
bundle revenue</a:t>
            </a:r>
            <a:endParaRPr lang="en-US" sz="900" dirty="0"/>
          </a:p>
        </p:txBody>
      </p:sp>
      <p:sp>
        <p:nvSpPr>
          <p:cNvPr id="30" name="Bundle revenue uplift why"/>
          <p:cNvSpPr/>
          <p:nvPr/>
        </p:nvSpPr>
        <p:spPr>
          <a:xfrm>
            <a:off x="4797779" y="54864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adoption to business
value.</a:t>
            </a:r>
            <a:endParaRPr lang="en-US" sz="900" dirty="0"/>
          </a:p>
        </p:txBody>
      </p:sp>
      <p:sp>
        <p:nvSpPr>
          <p:cNvPr id="31" name="Guardrail section label"/>
          <p:cNvSpPr/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KPIs</a:t>
            </a:r>
            <a:endParaRPr lang="en-US" sz="1450" dirty="0"/>
          </a:p>
        </p:txBody>
      </p:sp>
      <p:sp>
        <p:nvSpPr>
          <p:cNvPr id="32" name="Guardrail intro"/>
          <p:cNvSpPr/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6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the campaign does not overfit to short-term adoption
at the expense of seller fit, product trust, or support burden.</a:t>
            </a:r>
            <a:endParaRPr lang="en-US" sz="760" dirty="0"/>
          </a:p>
        </p:txBody>
      </p:sp>
      <p:sp>
        <p:nvSpPr>
          <p:cNvPr id="33" name="Early cancellation / downgrade rate card"/>
          <p:cNvSpPr/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Early cancellation / downgrade rate accent"/>
          <p:cNvSpPr/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arly cancellation / downgrade rate kpi"/>
          <p:cNvSpPr/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cancellation /
downgrade rate</a:t>
            </a:r>
            <a:endParaRPr lang="en-US" sz="900" dirty="0"/>
          </a:p>
        </p:txBody>
      </p:sp>
      <p:sp>
        <p:nvSpPr>
          <p:cNvPr id="36" name="Early cancellation / downgrade rate definition"/>
          <p:cNvSpPr/>
          <p:nvPr/>
        </p:nvSpPr>
        <p:spPr>
          <a:xfrm>
            <a:off x="8486777" y="4476750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adopters who cancel or downgrade early</a:t>
            </a:r>
            <a:endParaRPr lang="en-US" sz="900" dirty="0"/>
          </a:p>
        </p:txBody>
      </p:sp>
      <p:sp>
        <p:nvSpPr>
          <p:cNvPr id="37" name="Early cancellation / downgrade rate why"/>
          <p:cNvSpPr/>
          <p:nvPr/>
        </p:nvSpPr>
        <p:spPr>
          <a:xfrm>
            <a:off x="10096500" y="4476750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poor-fit or over-pushed sellers.</a:t>
            </a:r>
            <a:endParaRPr lang="en-US" sz="900" dirty="0"/>
          </a:p>
        </p:txBody>
      </p:sp>
      <p:sp>
        <p:nvSpPr>
          <p:cNvPr id="38" name="Seller opt-out or complaint rate card"/>
          <p:cNvSpPr/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eller opt-out or complaint rate accent"/>
          <p:cNvSpPr/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eller opt-out or complaint rate kpi"/>
          <p:cNvSpPr/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opt-out or
complaint rate</a:t>
            </a:r>
            <a:endParaRPr lang="en-US" sz="900" dirty="0"/>
          </a:p>
        </p:txBody>
      </p:sp>
      <p:sp>
        <p:nvSpPr>
          <p:cNvPr id="41" name="Seller opt-out or complaint rate definition"/>
          <p:cNvSpPr/>
          <p:nvPr/>
        </p:nvSpPr>
        <p:spPr>
          <a:xfrm>
            <a:off x="8486777" y="5419725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opt out or complain</a:t>
            </a:r>
            <a:endParaRPr lang="en-US" sz="900" dirty="0"/>
          </a:p>
        </p:txBody>
      </p:sp>
      <p:sp>
        <p:nvSpPr>
          <p:cNvPr id="42" name="Seller opt-out or complaint rate why"/>
          <p:cNvSpPr/>
          <p:nvPr/>
        </p:nvSpPr>
        <p:spPr>
          <a:xfrm>
            <a:off x="10096500" y="5419725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campaign pressure before trust suffers.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 hidden="1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1143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 hidden="1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899394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3528</Words>
  <Application>Microsoft Macintosh PowerPoint</Application>
  <DocSecurity>0</DocSecurity>
  <PresentationFormat>Widescreen</PresentationFormat>
  <Paragraphs>739</Paragraphs>
  <Slides>39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Menlo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7</cp:revision>
  <dcterms:created xsi:type="dcterms:W3CDTF">2026-06-13T17:23:37Z</dcterms:created>
  <dcterms:modified xsi:type="dcterms:W3CDTF">2026-06-15T21:01:55Z</dcterms:modified>
</cp:coreProperties>
</file>