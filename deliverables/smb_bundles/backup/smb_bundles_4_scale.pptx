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7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3_0.xml" ContentType="application/vnd.ms-powerpoint.comments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5BEED1-CB72-B48E-F02F-A910FFABA975}" name="Omer Tal" initials="OT" userId="4873ff6cd3b5db5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3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81551D-2049-824D-A2A5-59F8CB8CAE0E}" authorId="{415BEED1-CB72-B48E-F02F-A910FFABA975}" created="2026-06-15T20:01:35.4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8" creationId="{00000000-0000-0000-0000-000000000000}"/>
      <ac:txMk cp="86" len="8">
        <ac:context len="171" hash="1001647102"/>
      </ac:txMk>
    </ac:txMkLst>
    <p188:pos x="8273555" y="291164"/>
    <p188:replyLst>
      <p188:reply id="{80BBFAAB-B82B-3943-B17D-6B5FFD7525CF}" authorId="{415BEED1-CB72-B48E-F02F-A910FFABA975}" created="2026-06-15T20:02:40.039">
        <p188:txBody>
          <a:bodyPr/>
          <a:lstStyle/>
          <a:p>
            <a:r>
              <a:rPr lang="en-US"/>
              <a:t>repetitive</a:t>
            </a:r>
          </a:p>
        </p188:txBody>
      </p188:reply>
    </p188:replyLst>
    <p188:txBody>
      <a:bodyPr/>
      <a:lstStyle/>
      <a:p>
        <a:r>
          <a:rPr lang="en-US"/>
          <a:t>change phrasing</a:t>
        </a:r>
      </a:p>
    </p188:txBody>
  </p188:cm>
  <p188:cm id="{4621D3D1-8D56-824E-83F2-1E10370050AA}" authorId="{415BEED1-CB72-B48E-F02F-A910FFABA975}" created="2026-06-15T20:01:53.7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0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894092-4E94-5C46-9A2E-8705F2F1AE62}" authorId="{415BEED1-CB72-B48E-F02F-A910FFABA975}" created="2026-06-15T20:07:21.57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7" creationId="{00000000-0000-0000-0000-000000000000}"/>
    </ac:deMkLst>
    <p188:txBody>
      <a:bodyPr/>
      <a:lstStyle/>
      <a:p>
        <a:r>
          <a:rPr lang="en-US"/>
          <a:t>rephrase</a:t>
        </a:r>
      </a:p>
    </p188:txBody>
  </p188:cm>
  <p188:cm id="{8A48312C-DB11-0342-9988-3F272BF9A2C8}" authorId="{415BEED1-CB72-B48E-F02F-A910FFABA975}" created="2026-06-15T20:07:42.6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33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4E2295-FF4C-E64E-8DF0-BCAB05440C20}" authorId="{415BEED1-CB72-B48E-F02F-A910FFABA975}" created="2026-06-15T20:08:20.8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19" creationId="{00000000-0000-0000-0000-000000000000}"/>
    </ac:deMkLst>
    <p188:txBody>
      <a:bodyPr/>
      <a:lstStyle/>
      <a:p>
        <a:r>
          <a:rPr lang="en-US"/>
          <a:t>increase size</a:t>
        </a:r>
      </a:p>
    </p188:txBody>
  </p188:cm>
  <p188:cm id="{2D7510F2-75F2-3640-B288-1A78C48EA7CE}" authorId="{415BEED1-CB72-B48E-F02F-A910FFABA975}" created="2026-06-15T20:09:13.8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32" creationId="{00000000-0000-0000-0000-000000000000}"/>
    </ac:deMkLst>
    <p188:txBody>
      <a:bodyPr/>
      <a:lstStyle/>
      <a:p>
        <a:r>
          <a:rPr lang="en-US"/>
          <a:t>rephrase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9F5FE1-42C7-E845-8568-2B426FD2D456}" authorId="{415BEED1-CB72-B48E-F02F-A910FFABA975}" created="2026-06-15T20:05:46.5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3"/>
      <ac:spMk id="21" creationId="{00000000-0000-0000-0000-000000000000}"/>
    </ac:deMkLst>
    <p188:txBody>
      <a:bodyPr/>
      <a:lstStyle/>
      <a:p>
        <a:r>
          <a:rPr lang="en-US"/>
          <a:t>Move into cards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01 Inactive"/>
          <p:cNvSpPr/>
          <p:nvPr/>
        </p:nvSpPr>
        <p:spPr>
          <a:xfrm>
            <a:off x="609600" y="900112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  Identify</a:t>
            </a:r>
          </a:p>
        </p:txBody>
      </p:sp>
      <p:sp>
        <p:nvSpPr>
          <p:cNvPr id="5" name="Section 02 Inactive"/>
          <p:cNvSpPr/>
          <p:nvPr/>
        </p:nvSpPr>
        <p:spPr>
          <a:xfrm>
            <a:off x="609600" y="1400175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  Prioritize</a:t>
            </a:r>
          </a:p>
        </p:txBody>
      </p:sp>
      <p:sp>
        <p:nvSpPr>
          <p:cNvPr id="6" name="Section 04 Subtitle"/>
          <p:cNvSpPr/>
          <p:nvPr/>
        </p:nvSpPr>
        <p:spPr>
          <a:xfrm>
            <a:off x="512445" y="3960000"/>
            <a:ext cx="10000298" cy="450000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lang="en-US" sz="2200" dirty="0">
                <a:solidFill>
                  <a:srgbClr val="A7A7A7"/>
                </a:solidFill>
                <a:latin typeface="Arial"/>
                <a:ea typeface="Arial"/>
                <a:cs typeface="Arial"/>
              </a:rPr>
              <a:t>Use Lifecycle and in-product prompts to grow adoption</a:t>
            </a:r>
            <a:endParaRPr sz="2200" dirty="0">
              <a:solidFill>
                <a:srgbClr val="A7A7A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Section 03 Inactive"/>
          <p:cNvSpPr/>
          <p:nvPr/>
        </p:nvSpPr>
        <p:spPr>
          <a:xfrm>
            <a:off x="609600" y="1900238"/>
            <a:ext cx="3600450" cy="389572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  Monitor</a:t>
            </a:r>
          </a:p>
        </p:txBody>
      </p:sp>
      <p:sp>
        <p:nvSpPr>
          <p:cNvPr id="8" name="Section 04 Active"/>
          <p:cNvSpPr/>
          <p:nvPr/>
        </p:nvSpPr>
        <p:spPr>
          <a:xfrm>
            <a:off x="512445" y="2840000"/>
            <a:ext cx="10500360" cy="829628"/>
          </a:xfrm>
          <a:noFill/>
          <a:ln>
            <a:noFill/>
          </a:ln>
        </p:spPr>
        <p:txBody>
          <a:bodyPr lIns="0" tIns="0" rIns="0" bIns="0" anchor="t"/>
          <a:lstStyle/>
          <a:p>
            <a:r>
              <a:rPr sz="70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   Scale</a:t>
            </a:r>
          </a:p>
        </p:txBody>
      </p:sp>
      <p:sp>
        <p:nvSpPr>
          <p:cNvPr id="9" name="Bottom Separator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24242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Q4 preview page marker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126468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SMB bundles to active sellers with a high SMB likelihood score, then sequence outreach by readiness so the strongest candidates receive the first conversion push.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Campaign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Promote SMB bundles to active sellers with a high SMB likelihood score (from question #1).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 dirty="0">
                <a:solidFill>
                  <a:srgbClr val="D9D9D9"/>
                </a:solidFill>
              </a:rPr>
              <a:t>Start with sellers who also have a high readiness score (from question #2), then expand to broader seller groups.</a:t>
            </a:r>
          </a:p>
        </p:txBody>
      </p:sp>
      <p:sp>
        <p:nvSpPr>
          <p:cNvPr id="11" name="Text 9"/>
          <p:cNvSpPr/>
          <p:nvPr/>
        </p:nvSpPr>
        <p:spPr>
          <a:xfrm>
            <a:off x="6492239" y="2148840"/>
            <a:ext cx="3304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Future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5420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Reactivation campaign for SMB sellers with declining performance.</a:t>
            </a:r>
          </a:p>
          <a:p>
            <a:pPr marL="285750" indent="-285750">
              <a:buClr>
                <a:srgbClr val="FF785A"/>
              </a:buClr>
              <a:buSzPct val="100000"/>
              <a:buFont typeface="Wingdings" pitchFamily="2" charset="2"/>
              <a:buChar char="§"/>
            </a:pPr>
            <a:r>
              <a:rPr sz="1350">
                <a:solidFill>
                  <a:srgbClr val="D9D9D9"/>
                </a:solidFill>
              </a:rPr>
              <a:t>Upsell campaign from Basic to Plus.</a:t>
            </a:r>
          </a:p>
        </p:txBody>
      </p:sp>
      <p:sp>
        <p:nvSpPr>
          <p:cNvPr id="13" name="Text 11"/>
          <p:cNvSpPr/>
          <p:nvPr/>
        </p:nvSpPr>
        <p:spPr>
          <a:xfrm>
            <a:off x="621792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SMB likelihood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business signal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01568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readiness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first-wave priority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51576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1344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45936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5936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+ Tier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31352" y="4507992"/>
            <a:ext cx="201168" cy="164592"/>
          </a:xfrm>
          <a:prstGeom prst="chevron">
            <a:avLst/>
          </a:prstGeom>
          <a:solidFill>
            <a:srgbClr val="FF785A"/>
          </a:solidFill>
          <a:ln w="12700">
            <a:solidFill>
              <a:srgbClr val="FF78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4251960"/>
            <a:ext cx="2148840" cy="676656"/>
          </a:xfrm>
          <a:prstGeom prst="roundRect">
            <a:avLst>
              <a:gd name="adj" fmla="val 10811"/>
            </a:avLst>
          </a:prstGeom>
          <a:solidFill>
            <a:srgbClr val="0A0A0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25712" y="43891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25712" y="4645152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holdout-based KPIs</a:t>
            </a:r>
            <a:endParaRPr lang="en-US" sz="10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 Audience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599"/>
            <a:ext cx="10561320" cy="1117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audience: </a:t>
            </a:r>
            <a:r>
              <a:rPr lang="en-US" sz="142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sellers without a bundle.</a:t>
            </a:r>
            <a:endParaRPr lang="en-US" sz="1420" dirty="0">
              <a:solidFill>
                <a:srgbClr val="F3F4F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SMB-likelihood and Outreach-Readiness scores to narrow the audience focus.</a:t>
            </a:r>
          </a:p>
          <a:p>
            <a:pPr marL="0" indent="0">
              <a:buNone/>
            </a:pPr>
            <a:endParaRPr lang="en-US" sz="1420" dirty="0">
              <a:solidFill>
                <a:srgbClr val="F3F4F6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20" dirty="0">
                <a:solidFill>
                  <a:srgbClr val="F3F4F6"/>
                </a:solidFill>
                <a:latin typeface="Arial" pitchFamily="34" charset="0"/>
                <a:cs typeface="Arial" pitchFamily="34" charset="-120"/>
              </a:rPr>
              <a:t>Start with Tier 1; scale to other tiers if successful.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1792" y="2713598"/>
            <a:ext cx="274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Segments</a:t>
            </a:r>
            <a:endParaRPr lang="en-US" sz="1800" dirty="0"/>
          </a:p>
        </p:txBody>
      </p:sp>
      <p:graphicFrame>
        <p:nvGraphicFramePr>
          <p:cNvPr id="27" name="Audience 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46758"/>
              </p:ext>
            </p:extLst>
          </p:nvPr>
        </p:nvGraphicFramePr>
        <p:xfrm>
          <a:off x="621792" y="3120502"/>
          <a:ext cx="8626711" cy="1891788"/>
        </p:xfrm>
        <a:graphic>
          <a:graphicData uri="http://schemas.openxmlformats.org/drawingml/2006/table">
            <a:tbl>
              <a:tblPr/>
              <a:tblGrid>
                <a:gridCol w="1146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Segment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 dirty="0">
                          <a:solidFill>
                            <a:srgbClr val="F2F2F2"/>
                          </a:solidFill>
                        </a:rPr>
                        <a:t>Audience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60" b="1">
                          <a:solidFill>
                            <a:srgbClr val="F2F2F2"/>
                          </a:solidFill>
                        </a:rPr>
                        <a:t>Campaign role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1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High SMB likelihood + high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Direct conversion push: upgrade now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2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High SMB likelihood + medium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Education and nurture: explain bundle benefits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5487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Tier 3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Medium SMB likelihood + medium/low readiness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Light-touch awareness and interest validation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15287"/>
                  </a:ext>
                </a:extLst>
              </a:tr>
              <a:tr h="3700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>
                          <a:solidFill>
                            <a:srgbClr val="D9D9D9"/>
                          </a:solidFill>
                        </a:rPr>
                        <a:t>Excluded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Low SMB likelihood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20" b="0" dirty="0">
                          <a:solidFill>
                            <a:srgbClr val="D9D9D9"/>
                          </a:solidFill>
                        </a:rPr>
                        <a:t>Avoid intrusive promotion to likely consumers</a:t>
                      </a:r>
                    </a:p>
                  </a:txBody>
                  <a:tcPr marL="42000" marR="42000" marT="36000" marB="36000" anchor="ctr">
                    <a:lnL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03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8" name="Channels intro"/>
          <p:cNvSpPr/>
          <p:nvPr/>
        </p:nvSpPr>
        <p:spPr>
          <a:xfrm>
            <a:off x="621792" y="1417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two complementary channels: lifecycle CRM for behavior-triggered outreach and in-platform prompts for high-intent seller moments.</a:t>
            </a:r>
            <a:endParaRPr lang="en-US" sz="1500" dirty="0"/>
          </a:p>
        </p:txBody>
      </p:sp>
      <p:sp>
        <p:nvSpPr>
          <p:cNvPr id="9" name="Channel mix label"/>
          <p:cNvSpPr/>
          <p:nvPr/>
        </p:nvSpPr>
        <p:spPr>
          <a:xfrm>
            <a:off x="621792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800" dirty="0"/>
          </a:p>
        </p:txBody>
      </p:sp>
      <p:sp>
        <p:nvSpPr>
          <p:cNvPr id="10" name="Lifecycle CRM card"/>
          <p:cNvSpPr/>
          <p:nvPr/>
        </p:nvSpPr>
        <p:spPr>
          <a:xfrm>
            <a:off x="62179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Lifecycle CRM accent"/>
          <p:cNvSpPr/>
          <p:nvPr/>
        </p:nvSpPr>
        <p:spPr>
          <a:xfrm>
            <a:off x="62179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fecycle CRM title"/>
          <p:cNvSpPr/>
          <p:nvPr/>
        </p:nvSpPr>
        <p:spPr>
          <a:xfrm>
            <a:off x="80467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CRM</a:t>
            </a:r>
            <a:endParaRPr lang="en-US" sz="1700" dirty="0"/>
          </a:p>
        </p:txBody>
      </p:sp>
      <p:sp>
        <p:nvSpPr>
          <p:cNvPr id="13" name="Lifecycle CRM body"/>
          <p:cNvSpPr/>
          <p:nvPr/>
        </p:nvSpPr>
        <p:spPr>
          <a:xfrm>
            <a:off x="80467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CRM journeys triggered by seller behavior, such as repeated listing, paid-feature use, competitive-category activity.</a:t>
            </a:r>
            <a:endParaRPr lang="en-US" sz="1250" dirty="0"/>
          </a:p>
        </p:txBody>
      </p:sp>
      <p:sp>
        <p:nvSpPr>
          <p:cNvPr id="15" name="In-platform Prompts card"/>
          <p:cNvSpPr/>
          <p:nvPr/>
        </p:nvSpPr>
        <p:spPr>
          <a:xfrm>
            <a:off x="6291072" y="2606040"/>
            <a:ext cx="5029200" cy="1828800"/>
          </a:xfrm>
          <a:custGeom>
            <a:avLst/>
            <a:gdLst/>
            <a:ahLst/>
            <a:cxnLst/>
            <a:rect l="0" t="0" r="0" b="0"/>
            <a:pathLst>
              <a:path w="5029200" h="1828800">
                <a:moveTo>
                  <a:pt x="0" y="0"/>
                </a:moveTo>
                <a:lnTo>
                  <a:pt x="5029200" y="0"/>
                </a:lnTo>
                <a:lnTo>
                  <a:pt x="5029200" y="1693800"/>
                </a:lnTo>
                <a:cubicBezTo>
                  <a:pt x="5029200" y="1768360"/>
                  <a:pt x="4968760" y="1828800"/>
                  <a:pt x="4894200" y="1828800"/>
                </a:cubicBezTo>
                <a:lnTo>
                  <a:pt x="135000" y="1828800"/>
                </a:lnTo>
                <a:cubicBezTo>
                  <a:pt x="60440" y="1828800"/>
                  <a:pt x="0" y="1768360"/>
                  <a:pt x="0" y="1693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E0E0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-platform Prompts accent"/>
          <p:cNvSpPr/>
          <p:nvPr/>
        </p:nvSpPr>
        <p:spPr>
          <a:xfrm>
            <a:off x="6291072" y="2606040"/>
            <a:ext cx="5029200" cy="38100"/>
          </a:xfrm>
          <a:prstGeom prst="rect">
            <a:avLst/>
          </a:prstGeom>
          <a:solidFill>
            <a:srgbClr val="FF785A"/>
          </a:solidFill>
          <a:ln w="12700">
            <a:solidFill>
              <a:srgbClr val="FF78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In-platform Prompts title"/>
          <p:cNvSpPr/>
          <p:nvPr/>
        </p:nvSpPr>
        <p:spPr>
          <a:xfrm>
            <a:off x="6473952" y="282549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In-platform Prompts</a:t>
            </a:r>
            <a:endParaRPr lang="en-US" sz="1700" dirty="0"/>
          </a:p>
        </p:txBody>
      </p:sp>
      <p:sp>
        <p:nvSpPr>
          <p:cNvPr id="18" name="In-platform Prompts body"/>
          <p:cNvSpPr/>
          <p:nvPr/>
        </p:nvSpPr>
        <p:spPr>
          <a:xfrm>
            <a:off x="6473952" y="3264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in high-intent seller surfaces: seller dashboard, listing creation, listing management, and paid-feature purchase flows.</a:t>
            </a:r>
            <a:endParaRPr lang="en-US" sz="1250" dirty="0"/>
          </a:p>
        </p:txBody>
      </p:sp>
      <p:sp>
        <p:nvSpPr>
          <p:cNvPr id="20" name="How channels work label"/>
          <p:cNvSpPr/>
          <p:nvPr/>
        </p:nvSpPr>
        <p:spPr>
          <a:xfrm>
            <a:off x="621792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Work Together</a:t>
            </a:r>
            <a:endParaRPr lang="en-US" sz="1800" dirty="0"/>
          </a:p>
        </p:txBody>
      </p:sp>
      <p:sp>
        <p:nvSpPr>
          <p:cNvPr id="21" name="How channels work body"/>
          <p:cNvSpPr/>
          <p:nvPr/>
        </p:nvSpPr>
        <p:spPr>
          <a:xfrm>
            <a:off x="621792" y="52730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creates the targeted outreach path; in-platform prompts reinforce the message at the moment of seller intent.</a:t>
            </a:r>
            <a:endParaRPr lang="en-US" sz="13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Lifecycle CRM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email / CRM journeys triggered by seller behavior.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Triggers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lists repeatedly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bundle when commercial intent is high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uses paid features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Position bundle as a structured visibility product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operates in competitive category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differentiation benefit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 dirty="0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receives buyer interest but has no bundle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Promote visibility/professionalization as next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noFill/>
          <a:ln/>
        </p:spPr>
        <p:txBody>
          <a:bodyPr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In-platform Prompts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620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9743E6-45F5-5FCD-A928-9E2EA9A5B01C}"/>
              </a:ext>
            </a:extLst>
          </p:cNvPr>
          <p:cNvSpPr>
            <a:spLocks noGrp="1"/>
          </p:cNvSpPr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lang="en-US" sz="900" b="0" dirty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prompts in high-intent seller surfaces.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40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Surfaces</a:t>
            </a:r>
            <a:endParaRPr lang="en-US" sz="1800" dirty="0"/>
          </a:p>
        </p:txBody>
      </p:sp>
      <p:sp>
        <p:nvSpPr>
          <p:cNvPr id="10" name="2x2 card 1"/>
          <p:cNvSpPr/>
          <p:nvPr/>
        </p:nvSpPr>
        <p:spPr>
          <a:xfrm>
            <a:off x="62865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2x2 card accent 1"/>
          <p:cNvSpPr/>
          <p:nvPr/>
        </p:nvSpPr>
        <p:spPr>
          <a:xfrm>
            <a:off x="62865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2x2 card label 1"/>
          <p:cNvSpPr/>
          <p:nvPr/>
        </p:nvSpPr>
        <p:spPr>
          <a:xfrm>
            <a:off x="85865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3" name="2x2 card title 1"/>
          <p:cNvSpPr/>
          <p:nvPr/>
        </p:nvSpPr>
        <p:spPr>
          <a:xfrm>
            <a:off x="85865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Seller dashboard</a:t>
            </a:r>
          </a:p>
        </p:txBody>
      </p:sp>
      <p:sp>
        <p:nvSpPr>
          <p:cNvPr id="14" name="2x2 card body label 1"/>
          <p:cNvSpPr/>
          <p:nvPr/>
        </p:nvSpPr>
        <p:spPr>
          <a:xfrm>
            <a:off x="85865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15" name="2x2 card body 1"/>
          <p:cNvSpPr/>
          <p:nvPr/>
        </p:nvSpPr>
        <p:spPr>
          <a:xfrm>
            <a:off x="85865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Natural moment to link bundles to better performance</a:t>
            </a:r>
          </a:p>
        </p:txBody>
      </p:sp>
      <p:sp>
        <p:nvSpPr>
          <p:cNvPr id="16" name="2x2 card 2"/>
          <p:cNvSpPr/>
          <p:nvPr/>
        </p:nvSpPr>
        <p:spPr>
          <a:xfrm>
            <a:off x="6210300" y="22479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2x2 card accent 2"/>
          <p:cNvSpPr/>
          <p:nvPr/>
        </p:nvSpPr>
        <p:spPr>
          <a:xfrm>
            <a:off x="6210300" y="22479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2x2 card label 2"/>
          <p:cNvSpPr/>
          <p:nvPr/>
        </p:nvSpPr>
        <p:spPr>
          <a:xfrm>
            <a:off x="6440300" y="2492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9" name="2x2 card title 2"/>
          <p:cNvSpPr/>
          <p:nvPr/>
        </p:nvSpPr>
        <p:spPr>
          <a:xfrm>
            <a:off x="6440300" y="27129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creation flow</a:t>
            </a:r>
          </a:p>
        </p:txBody>
      </p:sp>
      <p:sp>
        <p:nvSpPr>
          <p:cNvPr id="20" name="2x2 card body label 2"/>
          <p:cNvSpPr/>
          <p:nvPr/>
        </p:nvSpPr>
        <p:spPr>
          <a:xfrm>
            <a:off x="6440300" y="31779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1" name="2x2 card body 2"/>
          <p:cNvSpPr/>
          <p:nvPr/>
        </p:nvSpPr>
        <p:spPr>
          <a:xfrm>
            <a:off x="6440300" y="33879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can improve listings from day one</a:t>
            </a:r>
          </a:p>
        </p:txBody>
      </p:sp>
      <p:sp>
        <p:nvSpPr>
          <p:cNvPr id="22" name="2x2 card 3"/>
          <p:cNvSpPr/>
          <p:nvPr/>
        </p:nvSpPr>
        <p:spPr>
          <a:xfrm>
            <a:off x="62865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2x2 card accent 3"/>
          <p:cNvSpPr/>
          <p:nvPr/>
        </p:nvSpPr>
        <p:spPr>
          <a:xfrm>
            <a:off x="62865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2x2 card label 3"/>
          <p:cNvSpPr/>
          <p:nvPr/>
        </p:nvSpPr>
        <p:spPr>
          <a:xfrm>
            <a:off x="85865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5" name="2x2 card title 3"/>
          <p:cNvSpPr/>
          <p:nvPr/>
        </p:nvSpPr>
        <p:spPr>
          <a:xfrm>
            <a:off x="85865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Listing management page</a:t>
            </a:r>
          </a:p>
        </p:txBody>
      </p:sp>
      <p:sp>
        <p:nvSpPr>
          <p:cNvPr id="26" name="2x2 card body label 3"/>
          <p:cNvSpPr/>
          <p:nvPr/>
        </p:nvSpPr>
        <p:spPr>
          <a:xfrm>
            <a:off x="85865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27" name="2x2 card body 3"/>
          <p:cNvSpPr/>
          <p:nvPr/>
        </p:nvSpPr>
        <p:spPr>
          <a:xfrm>
            <a:off x="85865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broader upgrade than one-off ad fixes</a:t>
            </a:r>
          </a:p>
        </p:txBody>
      </p:sp>
      <p:sp>
        <p:nvSpPr>
          <p:cNvPr id="28" name="2x2 card 4"/>
          <p:cNvSpPr/>
          <p:nvPr/>
        </p:nvSpPr>
        <p:spPr>
          <a:xfrm>
            <a:off x="6210300" y="4114800"/>
            <a:ext cx="4953000" cy="1543050"/>
          </a:xfrm>
          <a:custGeom>
            <a:avLst/>
            <a:gdLst/>
            <a:ahLst/>
            <a:cxnLst/>
            <a:rect l="0" t="0" r="0" b="0"/>
            <a:pathLst>
              <a:path w="4953000" h="1543050">
                <a:moveTo>
                  <a:pt x="0" y="0"/>
                </a:moveTo>
                <a:lnTo>
                  <a:pt x="4953000" y="0"/>
                </a:lnTo>
                <a:lnTo>
                  <a:pt x="4953000" y="1473050"/>
                </a:lnTo>
                <a:cubicBezTo>
                  <a:pt x="4953000" y="1511711"/>
                  <a:pt x="4921661" y="1543050"/>
                  <a:pt x="4883000" y="1543050"/>
                </a:cubicBezTo>
                <a:lnTo>
                  <a:pt x="70000" y="1543050"/>
                </a:lnTo>
                <a:cubicBezTo>
                  <a:pt x="31339" y="1543050"/>
                  <a:pt x="0" y="1511711"/>
                  <a:pt x="0" y="1473050"/>
                </a:cubicBezTo>
                <a:lnTo>
                  <a:pt x="0" y="0"/>
                </a:lnTo>
                <a:close/>
              </a:path>
            </a:pathLst>
          </a:custGeom>
          <a:solidFill>
            <a:srgbClr val="0D0D0D"/>
          </a:solidFill>
          <a:ln>
            <a:solidFill>
              <a:srgbClr val="3030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2x2 card accent 4"/>
          <p:cNvSpPr/>
          <p:nvPr/>
        </p:nvSpPr>
        <p:spPr>
          <a:xfrm>
            <a:off x="6210300" y="4114800"/>
            <a:ext cx="4953000" cy="381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2x2 card label 4"/>
          <p:cNvSpPr/>
          <p:nvPr/>
        </p:nvSpPr>
        <p:spPr>
          <a:xfrm>
            <a:off x="6440300" y="4359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1" name="2x2 card title 4"/>
          <p:cNvSpPr/>
          <p:nvPr/>
        </p:nvSpPr>
        <p:spPr>
          <a:xfrm>
            <a:off x="6440300" y="4579800"/>
            <a:ext cx="4493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450" b="1">
                <a:solidFill>
                  <a:srgbClr val="F2F2F2"/>
                </a:solidFill>
                <a:latin typeface="Arial"/>
                <a:ea typeface="Arial"/>
                <a:cs typeface="Arial"/>
              </a:rPr>
              <a:t>Paid-feature purchase flow</a:t>
            </a:r>
          </a:p>
        </p:txBody>
      </p:sp>
      <p:sp>
        <p:nvSpPr>
          <p:cNvPr id="32" name="2x2 card body label 4"/>
          <p:cNvSpPr/>
          <p:nvPr/>
        </p:nvSpPr>
        <p:spPr>
          <a:xfrm>
            <a:off x="6440300" y="5044800"/>
            <a:ext cx="4493000" cy="1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850" b="1">
                <a:solidFill>
                  <a:srgbClr val="A7A7A7"/>
                </a:solidFill>
                <a:latin typeface="Arial"/>
                <a:ea typeface="Arial"/>
                <a:cs typeface="Arial"/>
              </a:rPr>
              <a:t>Why this moment works</a:t>
            </a:r>
          </a:p>
        </p:txBody>
      </p:sp>
      <p:sp>
        <p:nvSpPr>
          <p:cNvPr id="33" name="2x2 card body 4"/>
          <p:cNvSpPr/>
          <p:nvPr/>
        </p:nvSpPr>
        <p:spPr>
          <a:xfrm>
            <a:off x="6440300" y="5254800"/>
            <a:ext cx="4493000" cy="3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fontAlgn="base"/>
            <a:r>
              <a:rPr sz="1250" b="0" dirty="0">
                <a:solidFill>
                  <a:srgbClr val="D9D9D9"/>
                </a:solidFill>
                <a:latin typeface="Arial"/>
                <a:ea typeface="Arial"/>
                <a:cs typeface="Arial"/>
              </a:rPr>
              <a:t>Bundle is a structured alternative to single visibility purchases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7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57300" y="323850"/>
            <a:ext cx="9144000" cy="714375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KPIs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85850"/>
            <a:ext cx="10972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210300"/>
            <a:ext cx="112776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31255"/>
            <a:ext cx="6400800" cy="164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n-US" sz="75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Proposal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46536" y="6291072"/>
            <a:ext cx="590550" cy="228600"/>
          </a:xfrm>
          <a:prstGeom prst="rect">
            <a:avLst/>
          </a:prstGeom>
          <a:noFill/>
          <a:ln>
            <a:noFill/>
          </a:ln>
        </p:spPr>
        <p:txBody>
          <a:bodyPr wrap="square" lIns="57150" tIns="38100" rIns="57150" bIns="38100" anchor="t">
            <a:normAutofit/>
          </a:bodyPr>
          <a:lstStyle/>
          <a:p>
            <a:pPr marL="0" indent="0" algn="r">
              <a:buNone/>
            </a:pPr>
            <a:r>
              <a:rPr lang="en-US" sz="900" b="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  <p:sp>
        <p:nvSpPr>
          <p:cNvPr id="8" name="Combined KPI intro"/>
          <p:cNvSpPr/>
          <p:nvPr/>
        </p:nvSpPr>
        <p:spPr>
          <a:xfrm>
            <a:off x="628650" y="1219200"/>
            <a:ext cx="9810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incremental adoption, diagnose channel response, and monitor seller-fit guardrails.</a:t>
            </a:r>
            <a:endParaRPr lang="en-US" sz="1500" dirty="0"/>
          </a:p>
        </p:txBody>
      </p:sp>
      <p:sp>
        <p:nvSpPr>
          <p:cNvPr id="9" name="Primary KPI section label"/>
          <p:cNvSpPr/>
          <p:nvPr/>
        </p:nvSpPr>
        <p:spPr>
          <a:xfrm>
            <a:off x="628650" y="1724025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</a:t>
            </a:r>
            <a:endParaRPr lang="en-US" sz="1450" dirty="0"/>
          </a:p>
        </p:txBody>
      </p:sp>
      <p:sp>
        <p:nvSpPr>
          <p:cNvPr id="10" name="Primary KPI card"/>
          <p:cNvSpPr/>
          <p:nvPr/>
        </p:nvSpPr>
        <p:spPr>
          <a:xfrm>
            <a:off x="628650" y="2028825"/>
            <a:ext cx="10582275" cy="9906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rimary KPI red accent"/>
          <p:cNvSpPr/>
          <p:nvPr/>
        </p:nvSpPr>
        <p:spPr>
          <a:xfrm>
            <a:off x="628650" y="2105025"/>
            <a:ext cx="47625" cy="838200"/>
          </a:xfrm>
          <a:prstGeom prst="rect">
            <a:avLst/>
          </a:prstGeom>
          <a:solidFill>
            <a:srgbClr val="FF73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rimary KPI name"/>
          <p:cNvSpPr/>
          <p:nvPr/>
        </p:nvSpPr>
        <p:spPr>
          <a:xfrm>
            <a:off x="876300" y="2371725"/>
            <a:ext cx="2952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SMB Bundle
adoption rate (paid)</a:t>
            </a:r>
            <a:endParaRPr lang="en-US" sz="1500" dirty="0"/>
          </a:p>
        </p:txBody>
      </p:sp>
      <p:sp>
        <p:nvSpPr>
          <p:cNvPr id="13" name="Primary KPI definition"/>
          <p:cNvSpPr/>
          <p:nvPr/>
        </p:nvSpPr>
        <p:spPr>
          <a:xfrm>
            <a:off x="4343400" y="2305050"/>
            <a:ext cx="4000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adoption rate minus holdout adoption rate</a:t>
            </a:r>
            <a:endParaRPr lang="en-US" sz="1150" dirty="0"/>
          </a:p>
        </p:txBody>
      </p:sp>
      <p:sp>
        <p:nvSpPr>
          <p:cNvPr id="14" name="Primary KPI why"/>
          <p:cNvSpPr/>
          <p:nvPr/>
        </p:nvSpPr>
        <p:spPr>
          <a:xfrm>
            <a:off x="8439150" y="2305050"/>
            <a:ext cx="238125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800" dirty="0"/>
          </a:p>
          <a:p>
            <a:pPr marL="0" indent="0">
              <a:buNone/>
            </a:pPr>
            <a:r>
              <a:rPr lang="en-US" sz="115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real lift from natural adoption.</a:t>
            </a:r>
            <a:endParaRPr lang="en-US" sz="1150" dirty="0"/>
          </a:p>
        </p:txBody>
      </p:sp>
      <p:sp>
        <p:nvSpPr>
          <p:cNvPr id="15" name="Secondary KPI section label"/>
          <p:cNvSpPr/>
          <p:nvPr/>
        </p:nvSpPr>
        <p:spPr>
          <a:xfrm>
            <a:off x="628650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KPIs</a:t>
            </a:r>
            <a:endParaRPr lang="en-US" sz="1450" dirty="0"/>
          </a:p>
        </p:txBody>
      </p:sp>
      <p:sp>
        <p:nvSpPr>
          <p:cNvPr id="16" name="Click-through rate card"/>
          <p:cNvSpPr/>
          <p:nvPr/>
        </p:nvSpPr>
        <p:spPr>
          <a:xfrm>
            <a:off x="628650" y="36385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lick-through rate accent"/>
          <p:cNvSpPr/>
          <p:nvPr/>
        </p:nvSpPr>
        <p:spPr>
          <a:xfrm>
            <a:off x="628650" y="37052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lick-through rate kpi"/>
          <p:cNvSpPr/>
          <p:nvPr/>
        </p:nvSpPr>
        <p:spPr>
          <a:xfrm>
            <a:off x="857250" y="38862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</a:t>
            </a:r>
            <a:endParaRPr lang="en-US" sz="1000" dirty="0"/>
          </a:p>
        </p:txBody>
      </p:sp>
      <p:sp>
        <p:nvSpPr>
          <p:cNvPr id="19" name="Click-through rate definition"/>
          <p:cNvSpPr/>
          <p:nvPr/>
        </p:nvSpPr>
        <p:spPr>
          <a:xfrm>
            <a:off x="2619375" y="37719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click
through</a:t>
            </a:r>
            <a:endParaRPr lang="en-US" sz="900" dirty="0"/>
          </a:p>
        </p:txBody>
      </p:sp>
      <p:sp>
        <p:nvSpPr>
          <p:cNvPr id="20" name="Click-through rate why"/>
          <p:cNvSpPr/>
          <p:nvPr/>
        </p:nvSpPr>
        <p:spPr>
          <a:xfrm>
            <a:off x="4797779" y="37719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channel and
placement relevance.</a:t>
            </a:r>
            <a:endParaRPr lang="en-US" sz="900" dirty="0"/>
          </a:p>
        </p:txBody>
      </p:sp>
      <p:sp>
        <p:nvSpPr>
          <p:cNvPr id="21" name="Trial start rate card"/>
          <p:cNvSpPr/>
          <p:nvPr/>
        </p:nvSpPr>
        <p:spPr>
          <a:xfrm>
            <a:off x="628650" y="449580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rial start rate accent"/>
          <p:cNvSpPr/>
          <p:nvPr/>
        </p:nvSpPr>
        <p:spPr>
          <a:xfrm>
            <a:off x="628650" y="456247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rial start rate kpi"/>
          <p:cNvSpPr/>
          <p:nvPr/>
        </p:nvSpPr>
        <p:spPr>
          <a:xfrm>
            <a:off x="857250" y="474345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start rate</a:t>
            </a:r>
            <a:endParaRPr lang="en-US" sz="1000" dirty="0"/>
          </a:p>
        </p:txBody>
      </p:sp>
      <p:sp>
        <p:nvSpPr>
          <p:cNvPr id="24" name="Trial start rate definition"/>
          <p:cNvSpPr/>
          <p:nvPr/>
        </p:nvSpPr>
        <p:spPr>
          <a:xfrm>
            <a:off x="2619375" y="462915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start a
bundle trial</a:t>
            </a:r>
            <a:endParaRPr lang="en-US" sz="900" dirty="0"/>
          </a:p>
        </p:txBody>
      </p:sp>
      <p:sp>
        <p:nvSpPr>
          <p:cNvPr id="25" name="Trial start rate why"/>
          <p:cNvSpPr/>
          <p:nvPr/>
        </p:nvSpPr>
        <p:spPr>
          <a:xfrm>
            <a:off x="4797779" y="462915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interest
becomes action.</a:t>
            </a:r>
            <a:endParaRPr lang="en-US" sz="900" dirty="0"/>
          </a:p>
        </p:txBody>
      </p:sp>
      <p:sp>
        <p:nvSpPr>
          <p:cNvPr id="26" name="Bundle revenue uplift card"/>
          <p:cNvSpPr/>
          <p:nvPr/>
        </p:nvSpPr>
        <p:spPr>
          <a:xfrm>
            <a:off x="628650" y="5353050"/>
            <a:ext cx="6048375" cy="7429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undle revenue uplift accent"/>
          <p:cNvSpPr/>
          <p:nvPr/>
        </p:nvSpPr>
        <p:spPr>
          <a:xfrm>
            <a:off x="628650" y="5419725"/>
            <a:ext cx="47625" cy="6096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undle revenue uplift kpi"/>
          <p:cNvSpPr/>
          <p:nvPr/>
        </p:nvSpPr>
        <p:spPr>
          <a:xfrm>
            <a:off x="857250" y="5600700"/>
            <a:ext cx="15716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revenue
uplift</a:t>
            </a:r>
            <a:endParaRPr lang="en-US" sz="1000" dirty="0"/>
          </a:p>
        </p:txBody>
      </p:sp>
      <p:sp>
        <p:nvSpPr>
          <p:cNvPr id="29" name="Bundle revenue uplift definition"/>
          <p:cNvSpPr/>
          <p:nvPr/>
        </p:nvSpPr>
        <p:spPr>
          <a:xfrm>
            <a:off x="2619375" y="5486400"/>
            <a:ext cx="23812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bundle revenue minus holdout
bundle revenue</a:t>
            </a:r>
            <a:endParaRPr lang="en-US" sz="900" dirty="0"/>
          </a:p>
        </p:txBody>
      </p:sp>
      <p:sp>
        <p:nvSpPr>
          <p:cNvPr id="30" name="Bundle revenue uplift why"/>
          <p:cNvSpPr/>
          <p:nvPr/>
        </p:nvSpPr>
        <p:spPr>
          <a:xfrm>
            <a:off x="4797779" y="5486400"/>
            <a:ext cx="177447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adoption to business
value.</a:t>
            </a:r>
            <a:endParaRPr lang="en-US" sz="900" dirty="0"/>
          </a:p>
        </p:txBody>
      </p:sp>
      <p:sp>
        <p:nvSpPr>
          <p:cNvPr id="31" name="Guardrail section label"/>
          <p:cNvSpPr/>
          <p:nvPr/>
        </p:nvSpPr>
        <p:spPr>
          <a:xfrm>
            <a:off x="7000875" y="337185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73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KPIs</a:t>
            </a:r>
            <a:endParaRPr lang="en-US" sz="1450" dirty="0"/>
          </a:p>
        </p:txBody>
      </p:sp>
      <p:sp>
        <p:nvSpPr>
          <p:cNvPr id="32" name="Guardrail intro"/>
          <p:cNvSpPr/>
          <p:nvPr/>
        </p:nvSpPr>
        <p:spPr>
          <a:xfrm>
            <a:off x="7000875" y="36957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6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ensure the campaign does not overfit to short-term adoption
at the expense of seller fit, product trust, or support burden.</a:t>
            </a:r>
            <a:endParaRPr lang="en-US" sz="760" dirty="0"/>
          </a:p>
        </p:txBody>
      </p:sp>
      <p:sp>
        <p:nvSpPr>
          <p:cNvPr id="33" name="Early cancellation / downgrade rate card"/>
          <p:cNvSpPr/>
          <p:nvPr/>
        </p:nvSpPr>
        <p:spPr>
          <a:xfrm>
            <a:off x="7000875" y="4343400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Early cancellation / downgrade rate accent"/>
          <p:cNvSpPr/>
          <p:nvPr/>
        </p:nvSpPr>
        <p:spPr>
          <a:xfrm>
            <a:off x="7000875" y="4410075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Early cancellation / downgrade rate kpi"/>
          <p:cNvSpPr/>
          <p:nvPr/>
        </p:nvSpPr>
        <p:spPr>
          <a:xfrm>
            <a:off x="7229475" y="4591050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cancellation /
downgrade rate</a:t>
            </a:r>
            <a:endParaRPr lang="en-US" sz="900" dirty="0"/>
          </a:p>
        </p:txBody>
      </p:sp>
      <p:sp>
        <p:nvSpPr>
          <p:cNvPr id="36" name="Early cancellation / downgrade rate definition"/>
          <p:cNvSpPr/>
          <p:nvPr/>
        </p:nvSpPr>
        <p:spPr>
          <a:xfrm>
            <a:off x="8486777" y="4476750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adopters who cancel or downgrade early</a:t>
            </a:r>
            <a:endParaRPr lang="en-US" sz="900" dirty="0"/>
          </a:p>
        </p:txBody>
      </p:sp>
      <p:sp>
        <p:nvSpPr>
          <p:cNvPr id="37" name="Early cancellation / downgrade rate why"/>
          <p:cNvSpPr/>
          <p:nvPr/>
        </p:nvSpPr>
        <p:spPr>
          <a:xfrm>
            <a:off x="10096500" y="4476750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poor-fit or over-pushed sellers.</a:t>
            </a:r>
            <a:endParaRPr lang="en-US" sz="900" dirty="0"/>
          </a:p>
        </p:txBody>
      </p:sp>
      <p:sp>
        <p:nvSpPr>
          <p:cNvPr id="38" name="Seller opt-out or complaint rate card"/>
          <p:cNvSpPr/>
          <p:nvPr/>
        </p:nvSpPr>
        <p:spPr>
          <a:xfrm>
            <a:off x="7000875" y="5286375"/>
            <a:ext cx="4219575" cy="78105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eller opt-out or complaint rate accent"/>
          <p:cNvSpPr/>
          <p:nvPr/>
        </p:nvSpPr>
        <p:spPr>
          <a:xfrm>
            <a:off x="7000875" y="5353050"/>
            <a:ext cx="47625" cy="647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Seller opt-out or complaint rate kpi"/>
          <p:cNvSpPr/>
          <p:nvPr/>
        </p:nvSpPr>
        <p:spPr>
          <a:xfrm>
            <a:off x="7229475" y="5534025"/>
            <a:ext cx="1428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opt-out or
complaint rate</a:t>
            </a:r>
            <a:endParaRPr lang="en-US" sz="900" dirty="0"/>
          </a:p>
        </p:txBody>
      </p:sp>
      <p:sp>
        <p:nvSpPr>
          <p:cNvPr id="41" name="Seller opt-out or complaint rate definition"/>
          <p:cNvSpPr/>
          <p:nvPr/>
        </p:nvSpPr>
        <p:spPr>
          <a:xfrm>
            <a:off x="8486777" y="5419725"/>
            <a:ext cx="1475667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0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exposed sellers who opt out or complain</a:t>
            </a:r>
            <a:endParaRPr lang="en-US" sz="900" dirty="0"/>
          </a:p>
        </p:txBody>
      </p:sp>
      <p:sp>
        <p:nvSpPr>
          <p:cNvPr id="42" name="Seller opt-out or complaint rate why"/>
          <p:cNvSpPr/>
          <p:nvPr/>
        </p:nvSpPr>
        <p:spPr>
          <a:xfrm>
            <a:off x="10096500" y="5419725"/>
            <a:ext cx="938389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62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20" dirty="0"/>
          </a:p>
          <a:p>
            <a:pPr marL="0" indent="0">
              <a:buNone/>
            </a:pPr>
            <a:r>
              <a:rPr lang="en-US" sz="900" b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campaign pressure before trust suffers.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708</Words>
  <Application>Microsoft Macintosh PowerPoint</Application>
  <PresentationFormat>Widescreen</PresentationFormat>
  <Paragraphs>150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Marktplaats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2 Q4 Scale</dc:title>
  <dc:subject>SMB Bundle Strategy - Scale</dc:subject>
  <dc:creator>Omer Tal</dc:creator>
  <cp:lastModifiedBy>Omer Tal</cp:lastModifiedBy>
  <cp:revision>16</cp:revision>
  <dcterms:created xsi:type="dcterms:W3CDTF">2026-06-14T09:21:56Z</dcterms:created>
  <dcterms:modified xsi:type="dcterms:W3CDTF">2026-06-15T21:00:20Z</dcterms:modified>
</cp:coreProperties>
</file>