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4490B3C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09_280B8FF3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modernComment_11F_4812BF25.xml" ContentType="application/vnd.ms-powerpoint.comment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omments/modernComment_121_7ECBF192.xml" ContentType="application/vnd.ms-powerpoint.comment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omments/modernComment_123_219B2F79.xml" ContentType="application/vnd.ms-powerpoint.comments+xml"/>
  <Override PartName="/ppt/notesSlides/notesSlide35.xml" ContentType="application/vnd.openxmlformats-officedocument.presentationml.notesSlide+xml"/>
  <Override PartName="/ppt/comments/modernComment_124_6A676452.xml" ContentType="application/vnd.ms-powerpoint.comments+xml"/>
  <Override PartName="/ppt/notesSlides/notesSlide3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5BEED1-CB72-B48E-F02F-A910FFABA975}" name="Omer Tal" initials="OT" userId="4873ff6cd3b5db5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35B"/>
    <a:srgbClr val="A8A8A8"/>
    <a:srgbClr val="FFD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55"/>
    <p:restoredTop sz="86450"/>
  </p:normalViewPr>
  <p:slideViewPr>
    <p:cSldViewPr snapToGrid="0">
      <p:cViewPr varScale="1">
        <p:scale>
          <a:sx n="194" d="100"/>
          <a:sy n="194" d="100"/>
        </p:scale>
        <p:origin x="572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70" d="100"/>
          <a:sy n="170" d="100"/>
        </p:scale>
        <p:origin x="1010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omments/modernComment_11F_4812BF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81551D-2049-824D-A2A5-59F8CB8CAE0E}" authorId="{415BEED1-CB72-B48E-F02F-A910FFABA975}" status="resolved" created="2026-06-15T22:01:35.470+02: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09188133" sldId="287"/>
      <ac:spMk id="8" creationId="{B3580C83-C660-4734-B7B3-7B44E1A2D974}"/>
      <ac:txMk cp="73" len="1">
        <ac:context len="124" hash="2615114701"/>
      </ac:txMk>
    </ac:txMkLst>
    <p188:pos x="8273555" y="291164"/>
    <p188:replyLst>
      <p188:reply id="{80BBFAAB-B82B-3943-B17D-6B5FFD7525CF}" authorId="{415BEED1-CB72-B48E-F02F-A910FFABA975}" status="resolved" created="2026-06-15T22:02:40.039+02:00">
        <p188:txBody>
          <a:bodyPr/>
          <a:lstStyle/>
          <a:p>
            <a:r>
              <a:t>repetitive</a:t>
            </a:r>
          </a:p>
        </p188:txBody>
      </p188:reply>
    </p188:replyLst>
    <p188:txBody>
      <a:bodyPr/>
      <a:lstStyle/>
      <a:p>
        <a:r>
          <a:t>change phrasing</a:t>
        </a:r>
      </a:p>
    </p188:txBody>
  </p188:cm>
  <p188:cm id="{4621D3D1-8D56-824E-83F2-1E10370050AA}" authorId="{415BEED1-CB72-B48E-F02F-A910FFABA975}" status="resolved" created="2026-06-15T22:01:53.742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09188133" sldId="287"/>
      <ac:spMk id="10" creationId="{30C629E9-7216-425D-8DEF-C908AA3B87D1}"/>
    </ac:deMkLst>
    <p188:txBody>
      <a:bodyPr/>
      <a:lstStyle/>
      <a:p>
        <a:r>
          <a:t>increase size</a:t>
        </a:r>
      </a:p>
    </p188:txBody>
  </p188:cm>
</p188:cmLst>
</file>

<file path=ppt/comments/modernComment_107_4490B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7A623E-11A8-EB4D-A9D4-A9CFC9D399BF}" authorId="{415BEED1-CB72-B48E-F02F-A910FFABA975}" status="resolved" created="2026-06-15T21:33:23.080+02:00">
    <pc:sldMkLst xmlns:pc="http://schemas.microsoft.com/office/powerpoint/2013/main/command">
      <pc:docMk/>
      <pc:sldMk cId="71895868" sldId="263"/>
    </pc:sldMkLst>
    <p188:pos x="4442883" y="1454083"/>
    <p188:txBody>
      <a:bodyPr/>
      <a:lstStyle/>
      <a:p>
        <a:r>
          <a:t>rephrase</a:t>
        </a:r>
      </a:p>
    </p188:txBody>
  </p188:cm>
  <p188:cm id="{C8FDF3E7-26C1-A548-A8B3-ED9686E3BE31}" authorId="{415BEED1-CB72-B48E-F02F-A910FFABA975}" status="resolved" created="2026-06-15T21:33:49.879+02: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3"/>
      <ac:spMk id="12" creationId="{E6D23BF3-2401-4FDA-BDDF-486C1AD3B8B9}"/>
      <ac:txMk cp="0" len="98">
        <ac:context len="99" hash="258035471"/>
      </ac:txMk>
    </ac:txMkLst>
    <p188:pos x="6525683" y="338600"/>
    <p188:txBody>
      <a:bodyPr/>
      <a:lstStyle/>
      <a:p>
        <a:r>
          <a:t>rephrase</a:t>
        </a:r>
      </a:p>
    </p188:txBody>
  </p188:cm>
</p188:cmLst>
</file>

<file path=ppt/comments/modernComment_109_280B8F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F9493B-9852-AE4A-82B5-722D2DDECA51}" authorId="{415BEED1-CB72-B48E-F02F-A910FFABA975}" status="resolved" created="2026-06-15T22:15:01.720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71846387" sldId="265"/>
      <ac:spMk id="30"/>
    </ac:deMkLst>
    <p188:txBody>
      <a:bodyPr/>
      <a:lstStyle/>
      <a:p>
        <a:r>
          <a:t>Focus on this</a:t>
        </a:r>
      </a:p>
    </p188:txBody>
  </p188:cm>
</p188:cmLst>
</file>

<file path=ppt/comments/modernComment_121_7ECBF1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9F5FE1-42C7-E845-8568-2B426FD2D456}" authorId="{415BEED1-CB72-B48E-F02F-A910FFABA975}" status="resolved" created="2026-06-15T22:05:46.588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27294866" sldId="289"/>
      <ac:spMk id="21"/>
    </ac:deMkLst>
    <p188:txBody>
      <a:bodyPr/>
      <a:lstStyle/>
      <a:p>
        <a:r>
          <a:t>Move into cards</a:t>
        </a:r>
      </a:p>
    </p188:txBody>
  </p188:cm>
</p188:cmLst>
</file>

<file path=ppt/comments/modernComment_123_219B2F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894092-4E94-5C46-9A2E-8705F2F1AE62}" authorId="{415BEED1-CB72-B48E-F02F-A910FFABA975}" status="resolved" created="2026-06-15T22:07:21.574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63818361" sldId="291"/>
      <ac:spMk id="27" creationId="{A367DAF1-B132-4F32-A691-3AF566524443}"/>
    </ac:deMkLst>
    <p188:txBody>
      <a:bodyPr/>
      <a:lstStyle/>
      <a:p>
        <a:r>
          <a:t>rephrase</a:t>
        </a:r>
      </a:p>
    </p188:txBody>
  </p188:cm>
  <p188:cm id="{8A48312C-DB11-0342-9988-3F272BF9A2C8}" authorId="{415BEED1-CB72-B48E-F02F-A910FFABA975}" status="resolved" created="2026-06-15T22:07:42.653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63818361" sldId="291"/>
      <ac:spMk id="33" creationId="{3F03697E-AA5C-45D3-9A0D-55B9F0E98F14}"/>
    </ac:deMkLst>
    <p188:txBody>
      <a:bodyPr/>
      <a:lstStyle/>
      <a:p>
        <a:r>
          <a:t>rephrase</a:t>
        </a:r>
      </a:p>
    </p188:txBody>
  </p188:cm>
</p188:cmLst>
</file>

<file path=ppt/comments/modernComment_124_6A6764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4E2295-FF4C-E64E-8DF0-BCAB05440C20}" authorId="{415BEED1-CB72-B48E-F02F-A910FFABA975}" status="resolved" created="2026-06-15T22:08:20.866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5160786" sldId="292"/>
      <ac:spMk id="19" creationId="{4929772A-F6B1-4293-8486-C4687F822E24}"/>
    </ac:deMkLst>
    <p188:txBody>
      <a:bodyPr/>
      <a:lstStyle/>
      <a:p>
        <a:r>
          <a:t>increase size</a:t>
        </a:r>
      </a:p>
    </p188:txBody>
  </p188:cm>
  <p188:cm id="{2D7510F2-75F2-3640-B288-1A78C48EA7CE}" authorId="{415BEED1-CB72-B48E-F02F-A910FFABA975}" status="resolved" created="2026-06-15T22:09:13.855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5160786" sldId="292"/>
      <ac:spMk id="32" creationId="{CE67C8D6-4DDC-4441-A5C7-0E8FEB5D6D1F}"/>
    </ac:deMkLst>
    <p188:txBody>
      <a:bodyPr/>
      <a:lstStyle/>
      <a:p>
        <a:r>
          <a:t>rephrase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3C2AB0-80EF-9234-CEF5-0CFD52D01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B0416-1A3B-BF48-2DF2-9CDE1F2731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3B52B-BA28-C749-B1BF-A47BED4E397D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20ECA-BE82-CD59-220F-65C85EBF9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EF5A-53F7-D588-9675-DC9BDDDC9B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934EF-BE19-D347-8160-04920B9C4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93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5EAF4-DDC0-4DD8-9E60-99DC588E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E3882-6FEA-48EB-87FD-CDE532064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B40D-0C30-4D28-832F-EBF8A575FE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64DE79-268F-4C1A-8933-263129D2AF90}" type="datetimeFigureOut">
              <a:rPr smtClean="0"/>
              <a:t>6/16/26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CC1D-954B-4589-A014-61E5090562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4643A-9AC3-4528-96A8-49D595C6A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4490B3C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280B8FF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_4812BF2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7ECBF19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3_219B2F79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4_6A67645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548640"/>
            <a:ext cx="10561320" cy="713232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Tal, 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00000"/>
            <a:ext cx="10500000" cy="83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70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2020000"/>
            <a:ext cx="10000000" cy="3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609600" y="3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609600" y="35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09600" y="4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5203E570-D97F-4F23-A638-322A3A3ECCD9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947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518099F-4F90-437E-8EBF-7E409739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B90A983-65B5-4926-8687-4CC0E482D0D9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A2F27A1E-0E1B-4633-A7B5-632E07FEEDE1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Framing intro">
            <a:extLst>
              <a:ext uri="{FF2B5EF4-FFF2-40B4-BE49-F238E27FC236}">
                <a16:creationId xmlns:a16="http://schemas.microsoft.com/office/drawing/2014/main"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Score is inferred from repeated commercial </a:t>
            </a:r>
            <a:r>
              <a:rPr lang="en-US" sz="160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markers and </a:t>
            </a:r>
            <a:r>
              <a:rPr sz="160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behavior across signal categories.</a:t>
            </a:r>
          </a:p>
        </p:txBody>
      </p:sp>
      <p:sp>
        <p:nvSpPr>
          <p:cNvPr id="10" name="Signal Map label">
            <a:extLst>
              <a:ext uri="{FF2B5EF4-FFF2-40B4-BE49-F238E27FC236}">
                <a16:creationId xmlns:a16="http://schemas.microsoft.com/office/drawing/2014/main"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548139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a16:creationId xmlns:a16="http://schemas.microsoft.com/office/drawing/2014/main"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910089"/>
            <a:ext cx="2087880" cy="714614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pPr marL="0" indent="0" algn="l" defTabSz="914400" rtl="0">
              <a:buNone/>
            </a:pPr>
            <a:endParaRPr/>
          </a:p>
        </p:txBody>
      </p:sp>
      <p:sp>
        <p:nvSpPr>
          <p:cNvPr id="12" name="Business Setup accent">
            <a:extLst>
              <a:ext uri="{FF2B5EF4-FFF2-40B4-BE49-F238E27FC236}">
                <a16:creationId xmlns:a16="http://schemas.microsoft.com/office/drawing/2014/main"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a16:creationId xmlns:a16="http://schemas.microsoft.com/office/drawing/2014/main"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8" name="Paid Usage card">
            <a:extLst>
              <a:ext uri="{FF2B5EF4-FFF2-40B4-BE49-F238E27FC236}">
                <a16:creationId xmlns:a16="http://schemas.microsoft.com/office/drawing/2014/main"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910089"/>
            <a:ext cx="2087880" cy="714614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9" name="Paid Usage accent">
            <a:extLst>
              <a:ext uri="{FF2B5EF4-FFF2-40B4-BE49-F238E27FC236}">
                <a16:creationId xmlns:a16="http://schemas.microsoft.com/office/drawing/2014/main"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a16:creationId xmlns:a16="http://schemas.microsoft.com/office/drawing/2014/main"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5" name="Seller Activity card">
            <a:extLst>
              <a:ext uri="{FF2B5EF4-FFF2-40B4-BE49-F238E27FC236}">
                <a16:creationId xmlns:a16="http://schemas.microsoft.com/office/drawing/2014/main"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910089"/>
            <a:ext cx="2087880" cy="714614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a16:creationId xmlns:a16="http://schemas.microsoft.com/office/drawing/2014/main"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a16:creationId xmlns:a16="http://schemas.microsoft.com/office/drawing/2014/main"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32" name="Category Focus card">
            <a:extLst>
              <a:ext uri="{FF2B5EF4-FFF2-40B4-BE49-F238E27FC236}">
                <a16:creationId xmlns:a16="http://schemas.microsoft.com/office/drawing/2014/main"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910089"/>
            <a:ext cx="2087880" cy="714614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a16:creationId xmlns:a16="http://schemas.microsoft.com/office/drawing/2014/main"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a16:creationId xmlns:a16="http://schemas.microsoft.com/office/drawing/2014/main"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</p:spTree>
    <p:extLst>
      <p:ext uri="{BB962C8B-B14F-4D97-AF65-F5344CB8AC3E}">
        <p14:creationId xmlns:p14="http://schemas.microsoft.com/office/powerpoint/2010/main" val="1565786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00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</a:t>
            </a:r>
            <a:r>
              <a:rPr sz="1400">
                <a:solidFill>
                  <a:srgbClr val="F7F7F2"/>
                </a:solidFill>
                <a:latin typeface="Arial"/>
                <a:ea typeface="Arial"/>
                <a:cs typeface="Arial"/>
              </a:rPr>
              <a:t>that</a:t>
            </a:r>
            <a:r>
              <a:rPr sz="1300">
                <a:solidFill>
                  <a:srgbClr val="F7F7F2"/>
                </a:solidFill>
                <a:latin typeface="Arial"/>
                <a:ea typeface="Arial"/>
                <a:cs typeface="Arial"/>
              </a:rPr>
              <a:t>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24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36E6BD43-3AF0-4A5F-BC14-1F23D089C627}" type="slidenum"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4</a:t>
            </a:fld>
            <a:endParaRPr sz="900" b="0" dirty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24" name="Markdown table"/>
          <p:cNvGraphicFramePr/>
          <p:nvPr/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C51A1496-EB3B-46CE-9185-D49D950E9BC0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5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E55AC3-5F4A-16B6-F175-35B3711B1ED3}"/>
              </a:ext>
            </a:extLst>
          </p:cNvPr>
          <p:cNvSpPr/>
          <p:nvPr/>
        </p:nvSpPr>
        <p:spPr>
          <a:xfrm>
            <a:off x="257387" y="3217333"/>
            <a:ext cx="89335" cy="89335"/>
          </a:xfrm>
          <a:prstGeom prst="rect">
            <a:avLst/>
          </a:prstGeom>
          <a:solidFill>
            <a:srgbClr val="FFD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61ED6D-02B0-F769-6E84-B58AC25DDFE6}"/>
              </a:ext>
            </a:extLst>
          </p:cNvPr>
          <p:cNvSpPr/>
          <p:nvPr/>
        </p:nvSpPr>
        <p:spPr>
          <a:xfrm>
            <a:off x="264801" y="3958544"/>
            <a:ext cx="89335" cy="89335"/>
          </a:xfrm>
          <a:prstGeom prst="rect">
            <a:avLst/>
          </a:prstGeom>
          <a:solidFill>
            <a:srgbClr val="FFD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00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24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6B5149B0-1323-4C81-A2A5-8A50EA823A1B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6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9B99C13B-D96C-4CE3-A99D-EEC47E04FC5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418B9B4-1E2F-4CC1-B49D-5F6E73EA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389B6C05-0CB8-47D9-807C-9FB880C49BF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DAE51419-1FE7-4CE0-922B-B1D781F0F39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56E590D-3E7B-43ED-86D8-86950CA69CF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948341B-6D56-43D2-9783-B62A329B3143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F5EF9EBF-C901-4601-B5BA-C2F650B1B330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7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ombined signal">
            <a:extLst>
              <a:ext uri="{FF2B5EF4-FFF2-40B4-BE49-F238E27FC236}">
                <a16:creationId xmlns:a16="http://schemas.microsoft.com/office/drawing/2014/main" id="{D83D076D-E780-418E-AF42-7556841364D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show repeated supply within the same category or subcategory.</a:t>
            </a:r>
          </a:p>
        </p:txBody>
      </p:sp>
      <p:sp>
        <p:nvSpPr>
          <p:cNvPr id="17" name="Potential Metrics">
            <a:extLst>
              <a:ext uri="{FF2B5EF4-FFF2-40B4-BE49-F238E27FC236}">
                <a16:creationId xmlns:a16="http://schemas.microsoft.com/office/drawing/2014/main" id="{803860D4-8BEE-4C49-A0F7-6B5EC0893A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8" name="Scoring window">
            <a:extLst>
              <a:ext uri="{FF2B5EF4-FFF2-40B4-BE49-F238E27FC236}">
                <a16:creationId xmlns:a16="http://schemas.microsoft.com/office/drawing/2014/main" id="{71E17E3F-18A3-4169-9218-018DB913F7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p:txBody>
      </p:sp>
      <p:graphicFrame>
        <p:nvGraphicFramePr>
          <p:cNvPr id="57" name="Potential Metrics table"/>
          <p:cNvGraphicFramePr/>
          <p:nvPr/>
        </p:nvGraphicFramePr>
        <p:xfrm>
          <a:off x="609600" y="2399549"/>
          <a:ext cx="10972800" cy="76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Category-adjusted repeated listings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are more meaningful in some categories than others.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Business-prone examples label">
            <a:extLst>
              <a:ext uri="{FF2B5EF4-FFF2-40B4-BE49-F238E27FC236}">
                <a16:creationId xmlns:a16="http://schemas.microsoft.com/office/drawing/2014/main" id="{659BC4DA-48DD-4F7A-AAA1-C8016FE1E228}"/>
              </a:ext>
            </a:extLst>
          </p:cNvPr>
          <p:cNvSpPr>
            <a:spLocks noGrp="1"/>
          </p:cNvSpPr>
          <p:nvPr/>
        </p:nvSpPr>
        <p:spPr>
          <a:xfrm>
            <a:off x="609600" y="3704332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Threshold Examples</a:t>
            </a:r>
          </a:p>
        </p:txBody>
      </p:sp>
      <p:sp>
        <p:nvSpPr>
          <p:cNvPr id="35" name="Example item divider">
            <a:extLst>
              <a:ext uri="{FF2B5EF4-FFF2-40B4-BE49-F238E27FC236}">
                <a16:creationId xmlns:a16="http://schemas.microsoft.com/office/drawing/2014/main" id="{0746B772-4448-42AF-815E-C2D7BD502F99}"/>
              </a:ext>
            </a:extLst>
          </p:cNvPr>
          <p:cNvSpPr>
            <a:spLocks noGrp="1"/>
          </p:cNvSpPr>
          <p:nvPr/>
        </p:nvSpPr>
        <p:spPr>
          <a:xfrm>
            <a:off x="6096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6" name="Example categories">
            <a:extLst>
              <a:ext uri="{FF2B5EF4-FFF2-40B4-BE49-F238E27FC236}">
                <a16:creationId xmlns:a16="http://schemas.microsoft.com/office/drawing/2014/main" id="{9B73CDFC-1992-4118-968A-20482CD149D3}"/>
              </a:ext>
            </a:extLst>
          </p:cNvPr>
          <p:cNvSpPr>
            <a:spLocks noGrp="1"/>
          </p:cNvSpPr>
          <p:nvPr/>
        </p:nvSpPr>
        <p:spPr>
          <a:xfrm>
            <a:off x="6096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High-value / dealer-like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Cars; Motorcycles; Caravans and Camping; Water Sports and Boats; Car Parts</a:t>
            </a:r>
          </a:p>
        </p:txBody>
      </p:sp>
      <p:sp>
        <p:nvSpPr>
          <p:cNvPr id="37" name="Example why">
            <a:extLst>
              <a:ext uri="{FF2B5EF4-FFF2-40B4-BE49-F238E27FC236}">
                <a16:creationId xmlns:a16="http://schemas.microsoft.com/office/drawing/2014/main" id="{1E0A8FA6-A458-42C1-80BA-A4B07BDF1EF7}"/>
              </a:ext>
            </a:extLst>
          </p:cNvPr>
          <p:cNvSpPr>
            <a:spLocks noGrp="1"/>
          </p:cNvSpPr>
          <p:nvPr/>
        </p:nvSpPr>
        <p:spPr>
          <a:xfrm>
            <a:off x="609600" y="452622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a few listings can already suggest commercial supply.</a:t>
            </a:r>
          </a:p>
        </p:txBody>
      </p:sp>
      <p:sp>
        <p:nvSpPr>
          <p:cNvPr id="38" name="Example item divider">
            <a:extLst>
              <a:ext uri="{FF2B5EF4-FFF2-40B4-BE49-F238E27FC236}">
                <a16:creationId xmlns:a16="http://schemas.microsoft.com/office/drawing/2014/main" id="{2246B849-9CAA-4CDA-9731-69F8CD0A2366}"/>
              </a:ext>
            </a:extLst>
          </p:cNvPr>
          <p:cNvSpPr>
            <a:spLocks noGrp="1"/>
          </p:cNvSpPr>
          <p:nvPr/>
        </p:nvSpPr>
        <p:spPr>
          <a:xfrm>
            <a:off x="65043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xample categories">
            <a:extLst>
              <a:ext uri="{FF2B5EF4-FFF2-40B4-BE49-F238E27FC236}">
                <a16:creationId xmlns:a16="http://schemas.microsoft.com/office/drawing/2014/main" id="{05E1252A-3BA3-47D5-A31B-89A38C20CC26}"/>
              </a:ext>
            </a:extLst>
          </p:cNvPr>
          <p:cNvSpPr>
            <a:spLocks noGrp="1"/>
          </p:cNvSpPr>
          <p:nvPr/>
        </p:nvSpPr>
        <p:spPr>
          <a:xfrm>
            <a:off x="65043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Service / business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Business Goods; Services and Tradespeople; Jobs</a:t>
            </a:r>
          </a:p>
        </p:txBody>
      </p:sp>
      <p:sp>
        <p:nvSpPr>
          <p:cNvPr id="40" name="Example why">
            <a:extLst>
              <a:ext uri="{FF2B5EF4-FFF2-40B4-BE49-F238E27FC236}">
                <a16:creationId xmlns:a16="http://schemas.microsoft.com/office/drawing/2014/main" id="{68867B21-8782-4DF8-8880-22929423EB02}"/>
              </a:ext>
            </a:extLst>
          </p:cNvPr>
          <p:cNvSpPr>
            <a:spLocks noGrp="1"/>
          </p:cNvSpPr>
          <p:nvPr/>
        </p:nvSpPr>
        <p:spPr>
          <a:xfrm>
            <a:off x="6504300" y="452622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the category itself is closer to business activity.</a:t>
            </a:r>
          </a:p>
        </p:txBody>
      </p:sp>
      <p:sp>
        <p:nvSpPr>
          <p:cNvPr id="41" name="Example item divider">
            <a:extLst>
              <a:ext uri="{FF2B5EF4-FFF2-40B4-BE49-F238E27FC236}">
                <a16:creationId xmlns:a16="http://schemas.microsoft.com/office/drawing/2014/main" id="{46290ABC-8BFD-49DD-91E3-CB896903A01E}"/>
              </a:ext>
            </a:extLst>
          </p:cNvPr>
          <p:cNvSpPr>
            <a:spLocks noGrp="1"/>
          </p:cNvSpPr>
          <p:nvPr/>
        </p:nvSpPr>
        <p:spPr>
          <a:xfrm>
            <a:off x="6096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xample categories">
            <a:extLst>
              <a:ext uri="{FF2B5EF4-FFF2-40B4-BE49-F238E27FC236}">
                <a16:creationId xmlns:a16="http://schemas.microsoft.com/office/drawing/2014/main" id="{81EB442F-FC8F-40E9-8077-ABF9D2585C70}"/>
              </a:ext>
            </a:extLst>
          </p:cNvPr>
          <p:cNvSpPr>
            <a:spLocks noGrp="1"/>
          </p:cNvSpPr>
          <p:nvPr/>
        </p:nvSpPr>
        <p:spPr>
          <a:xfrm>
            <a:off x="6096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Consumer resale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Clothing - Women; Clothing - Men; Books; Children and Babies; CDs and DVDs; Games</a:t>
            </a:r>
          </a:p>
        </p:txBody>
      </p:sp>
      <p:sp>
        <p:nvSpPr>
          <p:cNvPr id="43" name="Example why">
            <a:extLst>
              <a:ext uri="{FF2B5EF4-FFF2-40B4-BE49-F238E27FC236}">
                <a16:creationId xmlns:a16="http://schemas.microsoft.com/office/drawing/2014/main" id="{F4F683C7-B8B2-495B-9A05-8AE2430F2B8D}"/>
              </a:ext>
            </a:extLst>
          </p:cNvPr>
          <p:cNvSpPr>
            <a:spLocks noGrp="1"/>
          </p:cNvSpPr>
          <p:nvPr/>
        </p:nvSpPr>
        <p:spPr>
          <a:xfrm>
            <a:off x="609600" y="545083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threshold: several listings can still be normal household selling.</a:t>
            </a:r>
          </a:p>
        </p:txBody>
      </p:sp>
      <p:sp>
        <p:nvSpPr>
          <p:cNvPr id="44" name="Example item divider">
            <a:extLst>
              <a:ext uri="{FF2B5EF4-FFF2-40B4-BE49-F238E27FC236}">
                <a16:creationId xmlns:a16="http://schemas.microsoft.com/office/drawing/2014/main" id="{270BFA4F-4A2C-451F-878F-365194EE9BFD}"/>
              </a:ext>
            </a:extLst>
          </p:cNvPr>
          <p:cNvSpPr>
            <a:spLocks noGrp="1"/>
          </p:cNvSpPr>
          <p:nvPr/>
        </p:nvSpPr>
        <p:spPr>
          <a:xfrm>
            <a:off x="65043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xample categories">
            <a:extLst>
              <a:ext uri="{FF2B5EF4-FFF2-40B4-BE49-F238E27FC236}">
                <a16:creationId xmlns:a16="http://schemas.microsoft.com/office/drawing/2014/main" id="{E7993DFD-C6D0-4236-B790-67BBBC329E2F}"/>
              </a:ext>
            </a:extLst>
          </p:cNvPr>
          <p:cNvSpPr>
            <a:spLocks noGrp="1"/>
          </p:cNvSpPr>
          <p:nvPr/>
        </p:nvSpPr>
        <p:spPr>
          <a:xfrm>
            <a:off x="65043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Broad / mixed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Miscellaneous; Home and Furnishings; Garden and Terrace; Hobby and Leisure; Collectibles</a:t>
            </a:r>
          </a:p>
        </p:txBody>
      </p:sp>
      <p:sp>
        <p:nvSpPr>
          <p:cNvPr id="46" name="Example why">
            <a:extLst>
              <a:ext uri="{FF2B5EF4-FFF2-40B4-BE49-F238E27FC236}">
                <a16:creationId xmlns:a16="http://schemas.microsoft.com/office/drawing/2014/main" id="{0B46B18E-296E-4763-8294-A758936DF528}"/>
              </a:ext>
            </a:extLst>
          </p:cNvPr>
          <p:cNvSpPr>
            <a:spLocks noGrp="1"/>
          </p:cNvSpPr>
          <p:nvPr/>
        </p:nvSpPr>
        <p:spPr>
          <a:xfrm>
            <a:off x="6504300" y="545083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 or require another signal, because category alone is noisy.</a:t>
            </a:r>
          </a:p>
        </p:txBody>
      </p:sp>
    </p:spTree>
    <p:extLst>
      <p:ext uri="{BB962C8B-B14F-4D97-AF65-F5344CB8AC3E}">
        <p14:creationId xmlns:p14="http://schemas.microsoft.com/office/powerpoint/2010/main" val="163015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E6CAB00A-F8CF-415D-B8CE-FC6A3F3151A0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8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22" name="SMB score table"/>
          <p:cNvGraphicFramePr/>
          <p:nvPr/>
        </p:nvGraphicFramePr>
        <p:xfrm>
          <a:off x="552450" y="2017250"/>
          <a:ext cx="9025726" cy="1652303"/>
        </p:xfrm>
        <a:graphic>
          <a:graphicData uri="http://schemas.openxmlformats.org/drawingml/2006/table">
            <a:tbl>
              <a:tblPr firstRow="1" bandRow="1"/>
              <a:tblGrid>
                <a:gridCol w="1420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6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3998451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A8A8"/>
                </a:solidFill>
                <a:latin typeface="Arial"/>
                <a:ea typeface="Arial"/>
                <a:cs typeface="Arial"/>
              </a:rPr>
              <a:t>Output: ranked sellers with seller IDs, SMB Likelihood score, and score for every signal category.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</a:t>
            </a: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upervised Model Scoring</a:t>
            </a:r>
            <a:br/>
            <a:br/>
            <a:r>
              <a:rPr sz="12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69C56B-93AC-43E4-B820-AB409D24A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2F7FC8-AB9E-42BE-86F5-B64D81D82B65}"/>
              </a:ext>
            </a:extLst>
          </p:cNvPr>
          <p:cNvSpPr>
            <a:spLocks noGrp="1"/>
          </p:cNvSpPr>
          <p:nvPr/>
        </p:nvSpPr>
        <p:spPr>
          <a:xfrm>
            <a:off x="609630" y="900135"/>
            <a:ext cx="3600450" cy="3895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F22661-0374-4BE2-8C3D-D59343BE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1645920"/>
            <a:ext cx="10499964" cy="830001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/>
          </a:bodyPr>
          <a:lstStyle/>
          <a:p>
            <a:pPr marL="0" indent="0">
              <a:buNone/>
            </a:pPr>
            <a:r>
              <a:rPr sz="70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4FB786-7583-49E9-B40B-B6446ECB504F}"/>
              </a:ext>
            </a:extLst>
          </p:cNvPr>
          <p:cNvSpPr>
            <a:spLocks noGrp="1"/>
          </p:cNvSpPr>
          <p:nvPr/>
        </p:nvSpPr>
        <p:spPr>
          <a:xfrm>
            <a:off x="512064" y="2798064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200">
                <a:solidFill>
                  <a:srgbClr val="A7A7A7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3E0E47-12F5-4140-A13C-6BBDFC120C76}"/>
              </a:ext>
            </a:extLst>
          </p:cNvPr>
          <p:cNvSpPr>
            <a:spLocks noGrp="1"/>
          </p:cNvSpPr>
          <p:nvPr/>
        </p:nvSpPr>
        <p:spPr>
          <a:xfrm>
            <a:off x="609630" y="4096512"/>
            <a:ext cx="3600450" cy="3895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A9AD77-2042-416E-BC74-0C681A90B1B1}"/>
              </a:ext>
            </a:extLst>
          </p:cNvPr>
          <p:cNvSpPr>
            <a:spLocks noGrp="1"/>
          </p:cNvSpPr>
          <p:nvPr/>
        </p:nvSpPr>
        <p:spPr>
          <a:xfrm>
            <a:off x="609630" y="4590288"/>
            <a:ext cx="3600450" cy="3895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98017C-6AA5-4F36-8157-633108BF4C7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8A1686-DDD0-4710-9A17-C6D400CF3816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FA101D77-733E-434D-99C2-49A06756BFF5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9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57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>
            <a:extLst>
              <a:ext uri="{FF2B5EF4-FFF2-40B4-BE49-F238E27FC236}">
                <a16:creationId xmlns:a16="http://schemas.microsoft.com/office/drawing/2014/main" id="{724BD3A3-CB70-4D76-89B9-4B904A5BE7DC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2F3FBDE-F1B8-42B9-83E7-8218071E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Framing</a:t>
            </a:r>
          </a:p>
        </p:txBody>
      </p:sp>
      <p:sp>
        <p:nvSpPr>
          <p:cNvPr id="5" name="Top Divider">
            <a:extLst>
              <a:ext uri="{FF2B5EF4-FFF2-40B4-BE49-F238E27FC236}">
                <a16:creationId xmlns:a16="http://schemas.microsoft.com/office/drawing/2014/main" id="{917FCE1C-EFAE-46B1-931B-C0E21527C319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Bottom Divider">
            <a:extLst>
              <a:ext uri="{FF2B5EF4-FFF2-40B4-BE49-F238E27FC236}">
                <a16:creationId xmlns:a16="http://schemas.microsoft.com/office/drawing/2014/main" id="{57234B5E-1547-4338-92B2-9CF3A966FC09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Footer Label">
            <a:extLst>
              <a:ext uri="{FF2B5EF4-FFF2-40B4-BE49-F238E27FC236}">
                <a16:creationId xmlns:a16="http://schemas.microsoft.com/office/drawing/2014/main" id="{F3ED38FA-1817-47DF-B936-DF27692ADDAC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46" name="Page Marker">
            <a:extLst>
              <a:ext uri="{FF2B5EF4-FFF2-40B4-BE49-F238E27FC236}">
                <a16:creationId xmlns:a16="http://schemas.microsoft.com/office/drawing/2014/main" id="{E2CA5B23-0A47-4FDE-B075-767A415AB83B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10FA973C-AD09-4806-92FF-3A9FD7BB667E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10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" name="Metric Rail">
            <a:extLst>
              <a:ext uri="{FF2B5EF4-FFF2-40B4-BE49-F238E27FC236}">
                <a16:creationId xmlns:a16="http://schemas.microsoft.com/office/drawing/2014/main" id="{99301CFB-1C32-70DC-4B89-06ED386516A5}"/>
              </a:ext>
            </a:extLst>
          </p:cNvPr>
          <p:cNvGrpSpPr/>
          <p:nvPr/>
        </p:nvGrpSpPr>
        <p:grpSpPr>
          <a:xfrm>
            <a:off x="566928" y="1417320"/>
            <a:ext cx="10707624" cy="868680"/>
            <a:chOff x="566928" y="1417320"/>
            <a:chExt cx="10707624" cy="868680"/>
          </a:xfrm>
        </p:grpSpPr>
        <p:sp>
          <p:nvSpPr>
            <p:cNvPr id="6" name="Metric Card 1">
              <a:extLst>
                <a:ext uri="{FF2B5EF4-FFF2-40B4-BE49-F238E27FC236}">
                  <a16:creationId xmlns:a16="http://schemas.microsoft.com/office/drawing/2014/main" id="{D936B4A6-54F4-D6C6-C633-901FBCD6DA66}"/>
                </a:ext>
              </a:extLst>
            </p:cNvPr>
            <p:cNvSpPr/>
            <p:nvPr/>
          </p:nvSpPr>
          <p:spPr>
            <a:xfrm>
              <a:off x="566928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Metric Value 1">
              <a:extLst>
                <a:ext uri="{FF2B5EF4-FFF2-40B4-BE49-F238E27FC236}">
                  <a16:creationId xmlns:a16="http://schemas.microsoft.com/office/drawing/2014/main" id="{23D4CFA5-D596-9887-92BA-D7E0567F139D}"/>
                </a:ext>
              </a:extLst>
            </p:cNvPr>
            <p:cNvSpPr/>
            <p:nvPr/>
          </p:nvSpPr>
          <p:spPr>
            <a:xfrm>
              <a:off x="658368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 dirty="0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3,840</a:t>
              </a:r>
              <a:endParaRPr sz="3100" dirty="0"/>
            </a:p>
          </p:txBody>
        </p:sp>
        <p:sp>
          <p:nvSpPr>
            <p:cNvPr id="8" name="Metric Label 1">
              <a:extLst>
                <a:ext uri="{FF2B5EF4-FFF2-40B4-BE49-F238E27FC236}">
                  <a16:creationId xmlns:a16="http://schemas.microsoft.com/office/drawing/2014/main" id="{1FE90305-15D6-B111-176C-8C2B27BE7C69}"/>
                </a:ext>
              </a:extLst>
            </p:cNvPr>
            <p:cNvSpPr/>
            <p:nvPr/>
          </p:nvSpPr>
          <p:spPr>
            <a:xfrm>
              <a:off x="658368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sample sellers</a:t>
              </a:r>
              <a:endParaRPr sz="1200"/>
            </a:p>
          </p:txBody>
        </p:sp>
        <p:sp>
          <p:nvSpPr>
            <p:cNvPr id="9" name="Metric Card 2">
              <a:extLst>
                <a:ext uri="{FF2B5EF4-FFF2-40B4-BE49-F238E27FC236}">
                  <a16:creationId xmlns:a16="http://schemas.microsoft.com/office/drawing/2014/main" id="{86A6D4F4-7B21-359C-5BCA-872A6D3FFE5E}"/>
                </a:ext>
              </a:extLst>
            </p:cNvPr>
            <p:cNvSpPr/>
            <p:nvPr/>
          </p:nvSpPr>
          <p:spPr>
            <a:xfrm>
              <a:off x="3328416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Metric Value 2">
              <a:extLst>
                <a:ext uri="{FF2B5EF4-FFF2-40B4-BE49-F238E27FC236}">
                  <a16:creationId xmlns:a16="http://schemas.microsoft.com/office/drawing/2014/main" id="{7B49B2CC-9A8A-89B2-9070-D6280BC6B8DF}"/>
                </a:ext>
              </a:extLst>
            </p:cNvPr>
            <p:cNvSpPr/>
            <p:nvPr/>
          </p:nvSpPr>
          <p:spPr>
            <a:xfrm>
              <a:off x="3419856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83%</a:t>
              </a:r>
              <a:endParaRPr sz="3100"/>
            </a:p>
          </p:txBody>
        </p:sp>
        <p:sp>
          <p:nvSpPr>
            <p:cNvPr id="11" name="Metric Label 2">
              <a:extLst>
                <a:ext uri="{FF2B5EF4-FFF2-40B4-BE49-F238E27FC236}">
                  <a16:creationId xmlns:a16="http://schemas.microsoft.com/office/drawing/2014/main" id="{5B48D02D-4D09-4A3A-E935-9CCD42E59B81}"/>
                </a:ext>
              </a:extLst>
            </p:cNvPr>
            <p:cNvSpPr/>
            <p:nvPr/>
          </p:nvSpPr>
          <p:spPr>
            <a:xfrm>
              <a:off x="3419856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likely SMBs</a:t>
              </a:r>
              <a:endParaRPr sz="1200"/>
            </a:p>
          </p:txBody>
        </p:sp>
        <p:sp>
          <p:nvSpPr>
            <p:cNvPr id="12" name="Metric Card 3">
              <a:extLst>
                <a:ext uri="{FF2B5EF4-FFF2-40B4-BE49-F238E27FC236}">
                  <a16:creationId xmlns:a16="http://schemas.microsoft.com/office/drawing/2014/main" id="{3C069CBE-134B-5A1A-3651-9E24FAC00543}"/>
                </a:ext>
              </a:extLst>
            </p:cNvPr>
            <p:cNvSpPr/>
            <p:nvPr/>
          </p:nvSpPr>
          <p:spPr>
            <a:xfrm>
              <a:off x="6089904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Metric Value 3">
              <a:extLst>
                <a:ext uri="{FF2B5EF4-FFF2-40B4-BE49-F238E27FC236}">
                  <a16:creationId xmlns:a16="http://schemas.microsoft.com/office/drawing/2014/main" id="{7CDED099-6723-5A99-6921-D3D6FCD5BD82}"/>
                </a:ext>
              </a:extLst>
            </p:cNvPr>
            <p:cNvSpPr/>
            <p:nvPr/>
          </p:nvSpPr>
          <p:spPr>
            <a:xfrm>
              <a:off x="6181344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960</a:t>
              </a:r>
              <a:endParaRPr sz="3100"/>
            </a:p>
          </p:txBody>
        </p:sp>
        <p:sp>
          <p:nvSpPr>
            <p:cNvPr id="14" name="Metric Label 3">
              <a:extLst>
                <a:ext uri="{FF2B5EF4-FFF2-40B4-BE49-F238E27FC236}">
                  <a16:creationId xmlns:a16="http://schemas.microsoft.com/office/drawing/2014/main" id="{88B83896-FA09-60B3-2468-84354A1077BF}"/>
                </a:ext>
              </a:extLst>
            </p:cNvPr>
            <p:cNvSpPr/>
            <p:nvPr/>
          </p:nvSpPr>
          <p:spPr>
            <a:xfrm>
              <a:off x="6181344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first-batch target</a:t>
              </a:r>
              <a:endParaRPr sz="1200"/>
            </a:p>
          </p:txBody>
        </p:sp>
        <p:sp>
          <p:nvSpPr>
            <p:cNvPr id="15" name="Metric Card 4">
              <a:extLst>
                <a:ext uri="{FF2B5EF4-FFF2-40B4-BE49-F238E27FC236}">
                  <a16:creationId xmlns:a16="http://schemas.microsoft.com/office/drawing/2014/main" id="{923220CF-67E1-F186-045B-0D40D4F1ED10}"/>
                </a:ext>
              </a:extLst>
            </p:cNvPr>
            <p:cNvSpPr/>
            <p:nvPr/>
          </p:nvSpPr>
          <p:spPr>
            <a:xfrm>
              <a:off x="8851392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Metric Value 4">
              <a:extLst>
                <a:ext uri="{FF2B5EF4-FFF2-40B4-BE49-F238E27FC236}">
                  <a16:creationId xmlns:a16="http://schemas.microsoft.com/office/drawing/2014/main" id="{D462EEB2-5117-3055-11B4-EBCD0E7B671C}"/>
                </a:ext>
              </a:extLst>
            </p:cNvPr>
            <p:cNvSpPr/>
            <p:nvPr/>
          </p:nvSpPr>
          <p:spPr>
            <a:xfrm>
              <a:off x="8942832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25%</a:t>
              </a:r>
              <a:endParaRPr sz="3100"/>
            </a:p>
          </p:txBody>
        </p:sp>
        <p:sp>
          <p:nvSpPr>
            <p:cNvPr id="17" name="Metric Label 4">
              <a:extLst>
                <a:ext uri="{FF2B5EF4-FFF2-40B4-BE49-F238E27FC236}">
                  <a16:creationId xmlns:a16="http://schemas.microsoft.com/office/drawing/2014/main" id="{B534D647-E7AB-CFDB-5A1E-AFB2BA3BBE8D}"/>
                </a:ext>
              </a:extLst>
            </p:cNvPr>
            <p:cNvSpPr/>
            <p:nvPr/>
          </p:nvSpPr>
          <p:spPr>
            <a:xfrm>
              <a:off x="8942832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of sample prioritized</a:t>
              </a:r>
              <a:endParaRPr sz="1200"/>
            </a:p>
          </p:txBody>
        </p:sp>
      </p:grpSp>
      <p:grpSp>
        <p:nvGrpSpPr>
          <p:cNvPr id="18" name="Basic Bundle Card">
            <a:extLst>
              <a:ext uri="{FF2B5EF4-FFF2-40B4-BE49-F238E27FC236}">
                <a16:creationId xmlns:a16="http://schemas.microsoft.com/office/drawing/2014/main" id="{985F3D9C-47DD-1AB6-3B8A-7FBDD312A3A7}"/>
              </a:ext>
            </a:extLst>
          </p:cNvPr>
          <p:cNvGrpSpPr/>
          <p:nvPr/>
        </p:nvGrpSpPr>
        <p:grpSpPr>
          <a:xfrm>
            <a:off x="566928" y="2686081"/>
            <a:ext cx="5074920" cy="1785335"/>
            <a:chOff x="566928" y="2606040"/>
            <a:chExt cx="5074920" cy="1920240"/>
          </a:xfrm>
        </p:grpSpPr>
        <p:sp>
          <p:nvSpPr>
            <p:cNvPr id="19" name="Basic Card">
              <a:extLst>
                <a:ext uri="{FF2B5EF4-FFF2-40B4-BE49-F238E27FC236}">
                  <a16:creationId xmlns:a16="http://schemas.microsoft.com/office/drawing/2014/main" id="{CA7C2185-CEEA-D7A8-1FF9-D8EE06E0FB38}"/>
                </a:ext>
              </a:extLst>
            </p:cNvPr>
            <p:cNvSpPr/>
            <p:nvPr/>
          </p:nvSpPr>
          <p:spPr>
            <a:xfrm>
              <a:off x="566928" y="2606040"/>
              <a:ext cx="5074920" cy="192024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Basic Accent">
              <a:extLst>
                <a:ext uri="{FF2B5EF4-FFF2-40B4-BE49-F238E27FC236}">
                  <a16:creationId xmlns:a16="http://schemas.microsoft.com/office/drawing/2014/main" id="{49F7FFD6-F40A-FD5F-F37B-41C439FCD01A}"/>
                </a:ext>
              </a:extLst>
            </p:cNvPr>
            <p:cNvSpPr/>
            <p:nvPr/>
          </p:nvSpPr>
          <p:spPr>
            <a:xfrm>
              <a:off x="566928" y="2606040"/>
              <a:ext cx="54864" cy="1920240"/>
            </a:xfrm>
            <a:prstGeom prst="rect">
              <a:avLst/>
            </a:prstGeom>
            <a:solidFill>
              <a:srgbClr val="37AFFF"/>
            </a:solidFill>
            <a:ln w="0">
              <a:solidFill>
                <a:srgbClr val="37AFFF">
                  <a:alpha val="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Basic Title">
              <a:extLst>
                <a:ext uri="{FF2B5EF4-FFF2-40B4-BE49-F238E27FC236}">
                  <a16:creationId xmlns:a16="http://schemas.microsoft.com/office/drawing/2014/main" id="{EBFDD20F-FE5B-BF62-B4CF-88104BFAD1C0}"/>
                </a:ext>
              </a:extLst>
            </p:cNvPr>
            <p:cNvSpPr/>
            <p:nvPr/>
          </p:nvSpPr>
          <p:spPr>
            <a:xfrm>
              <a:off x="768096" y="2761488"/>
              <a:ext cx="155448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Basic</a:t>
              </a:r>
              <a:endParaRPr sz="2850"/>
            </a:p>
          </p:txBody>
        </p:sp>
        <p:sp>
          <p:nvSpPr>
            <p:cNvPr id="22" name="Basic Badge">
              <a:extLst>
                <a:ext uri="{FF2B5EF4-FFF2-40B4-BE49-F238E27FC236}">
                  <a16:creationId xmlns:a16="http://schemas.microsoft.com/office/drawing/2014/main" id="{B92CCD3E-5E60-043F-5387-89E190743AF9}"/>
                </a:ext>
              </a:extLst>
            </p:cNvPr>
            <p:cNvSpPr/>
            <p:nvPr/>
          </p:nvSpPr>
          <p:spPr>
            <a:xfrm>
              <a:off x="3872088" y="2816352"/>
              <a:ext cx="1449719" cy="301752"/>
            </a:xfrm>
            <a:prstGeom prst="roundRect">
              <a:avLst/>
            </a:prstGeom>
            <a:solidFill>
              <a:srgbClr val="050505"/>
            </a:solidFill>
            <a:ln w="9525">
              <a:solidFill>
                <a:srgbClr val="37A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Basic Badge Text">
              <a:extLst>
                <a:ext uri="{FF2B5EF4-FFF2-40B4-BE49-F238E27FC236}">
                  <a16:creationId xmlns:a16="http://schemas.microsoft.com/office/drawing/2014/main" id="{BF03EB2A-520C-E12B-D7E1-EB65AF415CDC}"/>
                </a:ext>
              </a:extLst>
            </p:cNvPr>
            <p:cNvSpPr/>
            <p:nvPr/>
          </p:nvSpPr>
          <p:spPr>
            <a:xfrm>
              <a:off x="3968044" y="2848356"/>
              <a:ext cx="1262324" cy="16459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0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professional trust</a:t>
              </a:r>
              <a:endParaRPr sz="1050" dirty="0"/>
            </a:p>
          </p:txBody>
        </p:sp>
        <p:sp>
          <p:nvSpPr>
            <p:cNvPr id="24" name="Basic Body">
              <a:extLst>
                <a:ext uri="{FF2B5EF4-FFF2-40B4-BE49-F238E27FC236}">
                  <a16:creationId xmlns:a16="http://schemas.microsoft.com/office/drawing/2014/main" id="{B5CA7513-6A88-7EE5-BB4B-99F7F5C645E4}"/>
                </a:ext>
              </a:extLst>
            </p:cNvPr>
            <p:cNvSpPr/>
            <p:nvPr/>
          </p:nvSpPr>
          <p:spPr>
            <a:xfrm>
              <a:off x="768096" y="3509531"/>
              <a:ext cx="4498848" cy="71323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750" b="0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400" b="0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Verified seller icon, professional seller page, and extra pictures for more visibility.</a:t>
              </a:r>
              <a:endParaRPr sz="1400" b="0" dirty="0"/>
            </a:p>
          </p:txBody>
        </p:sp>
      </p:grpSp>
      <p:grpSp>
        <p:nvGrpSpPr>
          <p:cNvPr id="25" name="Plus Bundle Card">
            <a:extLst>
              <a:ext uri="{FF2B5EF4-FFF2-40B4-BE49-F238E27FC236}">
                <a16:creationId xmlns:a16="http://schemas.microsoft.com/office/drawing/2014/main" id="{247DB227-3D90-70B3-0BE4-8F41C5AFB76A}"/>
              </a:ext>
            </a:extLst>
          </p:cNvPr>
          <p:cNvGrpSpPr/>
          <p:nvPr/>
        </p:nvGrpSpPr>
        <p:grpSpPr>
          <a:xfrm>
            <a:off x="6236208" y="2686081"/>
            <a:ext cx="5074920" cy="1785335"/>
            <a:chOff x="6236208" y="2606040"/>
            <a:chExt cx="5074920" cy="1920240"/>
          </a:xfrm>
        </p:grpSpPr>
        <p:sp>
          <p:nvSpPr>
            <p:cNvPr id="26" name="Plus Card">
              <a:extLst>
                <a:ext uri="{FF2B5EF4-FFF2-40B4-BE49-F238E27FC236}">
                  <a16:creationId xmlns:a16="http://schemas.microsoft.com/office/drawing/2014/main" id="{A1BE11E9-7CD6-6B97-026A-C875DDB6FADA}"/>
                </a:ext>
              </a:extLst>
            </p:cNvPr>
            <p:cNvSpPr/>
            <p:nvPr/>
          </p:nvSpPr>
          <p:spPr>
            <a:xfrm>
              <a:off x="6236208" y="2606040"/>
              <a:ext cx="5074920" cy="192024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Plus Accent">
              <a:extLst>
                <a:ext uri="{FF2B5EF4-FFF2-40B4-BE49-F238E27FC236}">
                  <a16:creationId xmlns:a16="http://schemas.microsoft.com/office/drawing/2014/main" id="{13A50981-612E-35C5-0C72-87AB79ACB10E}"/>
                </a:ext>
              </a:extLst>
            </p:cNvPr>
            <p:cNvSpPr/>
            <p:nvPr/>
          </p:nvSpPr>
          <p:spPr>
            <a:xfrm>
              <a:off x="6236208" y="2606040"/>
              <a:ext cx="54864" cy="1920240"/>
            </a:xfrm>
            <a:prstGeom prst="rect">
              <a:avLst/>
            </a:prstGeom>
            <a:solidFill>
              <a:srgbClr val="37AFFF"/>
            </a:solidFill>
            <a:ln w="0">
              <a:solidFill>
                <a:srgbClr val="37AFFF">
                  <a:alpha val="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Plus Title">
              <a:extLst>
                <a:ext uri="{FF2B5EF4-FFF2-40B4-BE49-F238E27FC236}">
                  <a16:creationId xmlns:a16="http://schemas.microsoft.com/office/drawing/2014/main" id="{F46E0C3F-403E-E46E-04C7-5E0143621A65}"/>
                </a:ext>
              </a:extLst>
            </p:cNvPr>
            <p:cNvSpPr/>
            <p:nvPr/>
          </p:nvSpPr>
          <p:spPr>
            <a:xfrm>
              <a:off x="6437376" y="2761488"/>
              <a:ext cx="155448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Plus</a:t>
              </a:r>
              <a:endParaRPr sz="2850"/>
            </a:p>
          </p:txBody>
        </p:sp>
        <p:sp>
          <p:nvSpPr>
            <p:cNvPr id="29" name="Plus Badge">
              <a:extLst>
                <a:ext uri="{FF2B5EF4-FFF2-40B4-BE49-F238E27FC236}">
                  <a16:creationId xmlns:a16="http://schemas.microsoft.com/office/drawing/2014/main" id="{56AEED02-1C4B-EA3C-C5AE-150C1A761FBD}"/>
                </a:ext>
              </a:extLst>
            </p:cNvPr>
            <p:cNvSpPr/>
            <p:nvPr/>
          </p:nvSpPr>
          <p:spPr>
            <a:xfrm>
              <a:off x="8193024" y="2816351"/>
              <a:ext cx="2798064" cy="445039"/>
            </a:xfrm>
            <a:prstGeom prst="roundRect">
              <a:avLst/>
            </a:prstGeom>
            <a:solidFill>
              <a:srgbClr val="050505"/>
            </a:solidFill>
            <a:ln w="9525">
              <a:solidFill>
                <a:srgbClr val="37A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Plus Badge Text">
              <a:extLst>
                <a:ext uri="{FF2B5EF4-FFF2-40B4-BE49-F238E27FC236}">
                  <a16:creationId xmlns:a16="http://schemas.microsoft.com/office/drawing/2014/main" id="{3C33F7DE-FCC2-CF69-A947-B6F0BBEBA7CD}"/>
                </a:ext>
              </a:extLst>
            </p:cNvPr>
            <p:cNvSpPr/>
            <p:nvPr/>
          </p:nvSpPr>
          <p:spPr>
            <a:xfrm>
              <a:off x="8330184" y="2848356"/>
              <a:ext cx="2569464" cy="16459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>
                <a:defRPr sz="10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professional trust +</a:t>
              </a:r>
            </a:p>
            <a:p>
              <a:pPr>
                <a:defRPr sz="10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attention + cross-promotion</a:t>
              </a:r>
              <a:endParaRPr sz="1050" dirty="0"/>
            </a:p>
          </p:txBody>
        </p:sp>
        <p:sp>
          <p:nvSpPr>
            <p:cNvPr id="31" name="Plus Body">
              <a:extLst>
                <a:ext uri="{FF2B5EF4-FFF2-40B4-BE49-F238E27FC236}">
                  <a16:creationId xmlns:a16="http://schemas.microsoft.com/office/drawing/2014/main" id="{948D815E-3A88-F0E2-60A8-B1F2923AB9E6}"/>
                </a:ext>
              </a:extLst>
            </p:cNvPr>
            <p:cNvSpPr/>
            <p:nvPr/>
          </p:nvSpPr>
          <p:spPr>
            <a:xfrm>
              <a:off x="6437376" y="3509531"/>
              <a:ext cx="4498848" cy="71323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750" b="0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400" b="0" dirty="0">
                  <a:solidFill>
                    <a:srgbClr val="F3F4F6"/>
                  </a:solidFill>
                  <a:ea typeface="Arial"/>
                  <a:cs typeface="Arial"/>
                </a:rPr>
                <a:t>Everything in Basic, plus visibility stickers and links from every ad to the seller's other ads.</a:t>
              </a:r>
              <a:endParaRPr sz="1400" b="0" dirty="0"/>
            </a:p>
          </p:txBody>
        </p:sp>
      </p:grpSp>
      <p:sp>
        <p:nvSpPr>
          <p:cNvPr id="32" name="Approach Strip">
            <a:extLst>
              <a:ext uri="{FF2B5EF4-FFF2-40B4-BE49-F238E27FC236}">
                <a16:creationId xmlns:a16="http://schemas.microsoft.com/office/drawing/2014/main" id="{7A39F851-281A-9452-867A-32D3FD0E9C00}"/>
              </a:ext>
            </a:extLst>
          </p:cNvPr>
          <p:cNvSpPr/>
          <p:nvPr/>
        </p:nvSpPr>
        <p:spPr>
          <a:xfrm>
            <a:off x="560832" y="4892040"/>
            <a:ext cx="10750296" cy="777240"/>
          </a:xfrm>
          <a:prstGeom prst="roundRect">
            <a:avLst/>
          </a:prstGeom>
          <a:solidFill>
            <a:srgbClr val="0B0B0B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pPr marL="0" indent="0" algn="l" defTabSz="914400" rtl="0"/>
            <a:endParaRPr lang="en-US"/>
          </a:p>
        </p:txBody>
      </p:sp>
      <p:sp>
        <p:nvSpPr>
          <p:cNvPr id="33" name="Approach Label">
            <a:extLst>
              <a:ext uri="{FF2B5EF4-FFF2-40B4-BE49-F238E27FC236}">
                <a16:creationId xmlns:a16="http://schemas.microsoft.com/office/drawing/2014/main" id="{3E53B2F7-4A5B-9DAD-DBB6-855180E62057}"/>
              </a:ext>
            </a:extLst>
          </p:cNvPr>
          <p:cNvSpPr/>
          <p:nvPr/>
        </p:nvSpPr>
        <p:spPr>
          <a:xfrm>
            <a:off x="707136" y="5113270"/>
            <a:ext cx="109728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65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37AFFF"/>
                </a:solidFill>
                <a:latin typeface="Arial"/>
                <a:ea typeface="Arial"/>
                <a:cs typeface="Arial"/>
              </a:rPr>
              <a:t>Approach</a:t>
            </a:r>
            <a:endParaRPr sz="1650" dirty="0"/>
          </a:p>
        </p:txBody>
      </p:sp>
      <p:sp>
        <p:nvSpPr>
          <p:cNvPr id="34" name="Approach Text">
            <a:extLst>
              <a:ext uri="{FF2B5EF4-FFF2-40B4-BE49-F238E27FC236}">
                <a16:creationId xmlns:a16="http://schemas.microsoft.com/office/drawing/2014/main" id="{137A6739-27E4-528A-E17C-D00AF82972E0}"/>
              </a:ext>
            </a:extLst>
          </p:cNvPr>
          <p:cNvSpPr/>
          <p:nvPr/>
        </p:nvSpPr>
        <p:spPr>
          <a:xfrm>
            <a:off x="1822704" y="5113270"/>
            <a:ext cx="905256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6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Review activity, fees, and anomalies; then build a broader outreach readiness score.</a:t>
            </a:r>
            <a:endParaRPr sz="1650" dirty="0"/>
          </a:p>
        </p:txBody>
      </p:sp>
    </p:spTree>
    <p:extLst>
      <p:ext uri="{BB962C8B-B14F-4D97-AF65-F5344CB8AC3E}">
        <p14:creationId xmlns:p14="http://schemas.microsoft.com/office/powerpoint/2010/main" val="6718463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0569F84-07DB-4CFB-87A4-8FA654396D66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F41FC1-9541-49AC-84AC-36FBD97C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Data Snapshot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46324C-5C10-4780-A4EA-59C9122845B3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84F943-A6C3-4D9D-BB98-D7739236392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F33E63C-1DD5-4BFF-B09C-69AD26720D9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F5B147-F124-46E2-A39D-2C8B155286DE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2C699958-026E-4C1F-B049-42945E443DD2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11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09822" y="1325879"/>
            <a:ext cx="5895961" cy="4709615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B0E0D274-44DA-419B-A59E-9B329C2071B8}"/>
              </a:ext>
            </a:extLst>
          </p:cNvPr>
          <p:cNvSpPr>
            <a:spLocks noGrp="1"/>
          </p:cNvSpPr>
          <p:nvPr/>
        </p:nvSpPr>
        <p:spPr>
          <a:xfrm>
            <a:off x="682927" y="1684006"/>
            <a:ext cx="4160520" cy="902697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lr>
                <a:srgbClr val="37AFFF"/>
              </a:buClr>
              <a:buSzPct val="90000"/>
              <a:buFont typeface="Arial"/>
              <a:buChar char="■"/>
            </a:pP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Data quality is strong: no missing values, duplicate seller-month-category rows, or negative metrics.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BB87519-4260-BEAD-7FB3-39618BDA98CA}"/>
              </a:ext>
            </a:extLst>
          </p:cNvPr>
          <p:cNvSpPr>
            <a:spLocks noGrp="1"/>
          </p:cNvSpPr>
          <p:nvPr/>
        </p:nvSpPr>
        <p:spPr>
          <a:xfrm>
            <a:off x="682927" y="2880199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Anomaly Overview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3870BB8-745D-3407-8E36-A6856B7FBCE5}"/>
              </a:ext>
            </a:extLst>
          </p:cNvPr>
          <p:cNvSpPr>
            <a:spLocks noGrp="1"/>
          </p:cNvSpPr>
          <p:nvPr/>
        </p:nvSpPr>
        <p:spPr>
          <a:xfrm>
            <a:off x="682927" y="3398343"/>
            <a:ext cx="4160520" cy="1978647"/>
          </a:xfrm>
          <a:prstGeom prst="rect">
            <a:avLst/>
          </a:prstGeom>
          <a:noFill/>
        </p:spPr>
        <p:txBody>
          <a:bodyPr wrap="square" lIns="254" tIns="254" rIns="254" bIns="254" anchor="t">
            <a:noAutofit/>
          </a:bodyPr>
          <a:lstStyle/>
          <a:p>
            <a:pPr marL="285750" indent="-285750">
              <a:buClr>
                <a:srgbClr val="37AFFF"/>
              </a:buClr>
              <a:buSzPct val="90000"/>
              <a:buFont typeface="Arial"/>
              <a:buChar char="■"/>
            </a:pP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November 2023 has a visible spike, partly driven by seller </a:t>
            </a:r>
            <a:r>
              <a:rPr sz="1400">
                <a:solidFill>
                  <a:srgbClr val="37AFFF"/>
                </a:solidFill>
                <a:latin typeface="Menlo"/>
                <a:ea typeface="Menlo"/>
                <a:cs typeface="Menlo"/>
              </a:rPr>
              <a:t>65950787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in </a:t>
            </a:r>
            <a:r>
              <a:rPr sz="1400">
                <a:solidFill>
                  <a:srgbClr val="37AFFF"/>
                </a:solidFill>
                <a:latin typeface="Menlo"/>
                <a:ea typeface="Menlo"/>
                <a:cs typeface="Menlo"/>
              </a:rPr>
              <a:t>Auto-onderdelen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explains most extreme November fee spike.</a:t>
            </a:r>
          </a:p>
          <a:p>
            <a:pPr marL="285750" indent="-285750">
              <a:buClr>
                <a:srgbClr val="37AFFF"/>
              </a:buClr>
              <a:buSzPct val="90000"/>
              <a:buFont typeface="Arial"/>
              <a:buChar char="■"/>
            </a:pP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Even excluding that seller, November remains elevated in ads and fees. The remaining lift is broader across sellers/categories.</a:t>
            </a:r>
          </a:p>
          <a:p>
            <a:pPr marL="285750" indent="-285750">
              <a:buClr>
                <a:srgbClr val="37AFFF"/>
              </a:buClr>
              <a:buSzPct val="90000"/>
              <a:buFont typeface="Arial"/>
              <a:buChar char="■"/>
            </a:pPr>
            <a:endParaRPr sz="1400">
              <a:solidFill>
                <a:srgbClr val="F3F4F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Clr>
                <a:srgbClr val="37AFFF"/>
              </a:buClr>
              <a:buSzPct val="90000"/>
              <a:buFont typeface="Arial"/>
              <a:buChar char="■"/>
            </a:pPr>
            <a:endParaRPr sz="1400">
              <a:solidFill>
                <a:srgbClr val="F3F4F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52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69FC50A-2725-4E99-852B-11A3F4405F43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0133CD-4C6B-4545-B26A-CB343565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Data Snapshot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EE3535-7507-4C0F-9AC9-44B02D5F6D27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BB0AB1-9C82-45F5-A9EB-F38F8F3C4926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FC5657-1DDE-4C11-91FB-E73565386CE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094F68-D48C-43A2-89FE-E9C4814F511B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C69817EC-C300-410D-A5D7-5AE38BB262DD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12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C8DBD07-42AF-4513-BDB5-C6012FDA313D}"/>
              </a:ext>
            </a:extLst>
          </p:cNvPr>
          <p:cNvSpPr>
            <a:spLocks noGrp="1"/>
          </p:cNvSpPr>
          <p:nvPr/>
        </p:nvSpPr>
        <p:spPr>
          <a:xfrm>
            <a:off x="566928" y="1389888"/>
            <a:ext cx="3886200" cy="356616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lr>
                <a:srgbClr val="37AFFF"/>
              </a:buClr>
              <a:buSzPct val="90000"/>
              <a:buFont typeface="Arial"/>
              <a:buChar char="■"/>
            </a:pPr>
            <a:endParaRPr/>
          </a:p>
        </p:txBody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01352" y="3618891"/>
            <a:ext cx="6812280" cy="2375296"/>
          </a:xfrm>
          <a:prstGeom prst="rect">
            <a:avLst/>
          </a:prstGeom>
        </p:spPr>
      </p:pic>
      <p:pic>
        <p:nvPicPr>
          <p:cNvPr id="10" name="Image 0" descr="/Users/omertal/PycharmProjects/Marketplaats/outputs/manual-20260615-q2-refresh/assets/cell_11.png">
            <a:extLst>
              <a:ext uri="{FF2B5EF4-FFF2-40B4-BE49-F238E27FC236}">
                <a16:creationId xmlns:a16="http://schemas.microsoft.com/office/drawing/2014/main" id="{EFA10527-BF1A-AD98-BA21-4447CC48F4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06252" y="1340108"/>
            <a:ext cx="4218940" cy="205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7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315D66B-160D-42BE-8022-D412A3B6EAE8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3B813-3B1E-47B5-A667-964AA6456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Outreach Prioritization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BD22262-2BB9-47C9-9249-AD2DF6F9FFE4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969DAE-C716-4512-85CA-F0607EF0C93D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C347C1-E170-431D-9A03-3C0BB3820FA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ACDDF2-75AB-42E1-9510-BFE33F6BCB0D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CB11F2A5-A4CC-4DA6-9F17-BE70EDE5FC4D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13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F003F8-AD72-4F41-9FE9-77D3E8F9AFD2}"/>
              </a:ext>
            </a:extLst>
          </p:cNvPr>
          <p:cNvSpPr>
            <a:spLocks noGrp="1"/>
          </p:cNvSpPr>
          <p:nvPr/>
        </p:nvSpPr>
        <p:spPr>
          <a:xfrm>
            <a:off x="585216" y="270990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Ranking by total fees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3BC4AF-3DCD-4553-A77F-430B205F7C81}"/>
              </a:ext>
            </a:extLst>
          </p:cNvPr>
          <p:cNvSpPr>
            <a:spLocks noGrp="1"/>
          </p:cNvSpPr>
          <p:nvPr/>
        </p:nvSpPr>
        <p:spPr>
          <a:xfrm>
            <a:off x="585216" y="3394440"/>
            <a:ext cx="4624606" cy="196596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lr>
                <a:srgbClr val="37AFFF"/>
              </a:buClr>
              <a:buSzPct val="90000"/>
              <a:buFont typeface="Arial"/>
              <a:buChar char="■"/>
            </a:pPr>
            <a:r>
              <a:rPr>
                <a:solidFill>
                  <a:srgbClr val="F3F4F6"/>
                </a:solidFill>
                <a:latin typeface="Arial"/>
                <a:ea typeface="Arial"/>
                <a:cs typeface="Arial"/>
              </a:rPr>
              <a:t>Ranking sellers by total fees is as a baseline initial prioritization approach: </a:t>
            </a:r>
            <a:r>
              <a:rPr sz="1900">
                <a:solidFill>
                  <a:srgbClr val="F3F4F6"/>
                </a:solidFill>
                <a:latin typeface="Arial"/>
                <a:ea typeface="Arial"/>
                <a:cs typeface="Arial"/>
              </a:rPr>
              <a:t>target</a:t>
            </a:r>
            <a:r>
              <a:rPr>
                <a:solidFill>
                  <a:srgbClr val="F3F4F6"/>
                </a:solidFill>
                <a:latin typeface="Arial"/>
                <a:ea typeface="Arial"/>
                <a:cs typeface="Arial"/>
              </a:rPr>
              <a:t> sellers with the strongest historical willingness to pay.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232090C-A49D-43A0-BF82-0084CE4F65B2}"/>
              </a:ext>
            </a:extLst>
          </p:cNvPr>
          <p:cNvSpPr>
            <a:spLocks noGrp="1"/>
          </p:cNvSpPr>
          <p:nvPr/>
        </p:nvSpPr>
        <p:spPr>
          <a:xfrm>
            <a:off x="585216" y="1631809"/>
            <a:ext cx="4624606" cy="76707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lr>
                <a:srgbClr val="37AFFF"/>
              </a:buClr>
              <a:buSzPct val="90000"/>
              <a:buFont typeface="Arial"/>
              <a:buChar char="■"/>
            </a:pPr>
            <a:r>
              <a:rPr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 is highly skewed: a small group drives much of the volume and fees.</a:t>
            </a:r>
          </a:p>
          <a:p>
            <a:pPr>
              <a:buNone/>
            </a:pPr>
            <a:endParaRPr>
              <a:solidFill>
                <a:srgbClr val="F3F4F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0881" y="1651977"/>
            <a:ext cx="6200150" cy="384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41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70832A-0156-4A1D-9748-1686489287C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D931E4-5736-4F0C-8612-42FD49E84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2.1 Outreach Readiness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E3F230-399E-432B-9588-1562B1CD818E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82B265-2F7A-4C27-979F-E349FF15B1B4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624CB5-3A47-4819-8B76-7CD1AE8BBDBD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34C1CD-EE7A-45DC-BF87-41B091EDDCC3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D257D78F-8123-45DD-9C49-8A3BBD0381E3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14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67673D41-622E-5145-A777-94C28CD1A27E}"/>
              </a:ext>
            </a:extLst>
          </p:cNvPr>
          <p:cNvSpPr/>
          <p:nvPr/>
        </p:nvSpPr>
        <p:spPr>
          <a:xfrm>
            <a:off x="512064" y="1473446"/>
            <a:ext cx="10972800" cy="9541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rank outreach readiness, not just historical spend.</a:t>
            </a:r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first outreach batch should prioritize sellers who are both commercially valuable and likely to see value in a bundle.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convert each signal to a seller percentile rank, then take a </a:t>
            </a:r>
            <a:r>
              <a:rPr lang="en-US" sz="1200" b="1" dirty="0">
                <a:solidFill>
                  <a:srgbClr val="4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average</a:t>
            </a: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six scores.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sellers in the top 25% of Outreach-Readiness score are the outreach-ready group.</a:t>
            </a:r>
          </a:p>
          <a:p>
            <a:pPr>
              <a:buClr>
                <a:srgbClr val="4FB3FF"/>
              </a:buClr>
            </a:pPr>
            <a:endParaRPr lang="en-US" sz="1200" dirty="0"/>
          </a:p>
        </p:txBody>
      </p:sp>
      <p:sp>
        <p:nvSpPr>
          <p:cNvPr id="53" name="Signal Cards Heading">
            <a:extLst>
              <a:ext uri="{FF2B5EF4-FFF2-40B4-BE49-F238E27FC236}">
                <a16:creationId xmlns:a16="http://schemas.microsoft.com/office/drawing/2014/main" id="{72F9C0D4-5AD0-E298-D7CD-2AD016549CD6}"/>
              </a:ext>
            </a:extLst>
          </p:cNvPr>
          <p:cNvSpPr/>
          <p:nvPr/>
        </p:nvSpPr>
        <p:spPr>
          <a:xfrm>
            <a:off x="457200" y="2616433"/>
            <a:ext cx="6583680" cy="29260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800" b="1" dirty="0">
                <a:solidFill>
                  <a:srgbClr val="37AFFF"/>
                </a:solidFill>
                <a:latin typeface="Arial"/>
                <a:ea typeface="Arial"/>
                <a:cs typeface="Arial"/>
              </a:rPr>
              <a:t>Signals used in the outreach-readiness score</a:t>
            </a:r>
            <a:endParaRPr lang="en-US" sz="1800" dirty="0"/>
          </a:p>
        </p:txBody>
      </p:sp>
      <p:sp>
        <p:nvSpPr>
          <p:cNvPr id="54" name="Recent paid usage Card">
            <a:extLst>
              <a:ext uri="{FF2B5EF4-FFF2-40B4-BE49-F238E27FC236}">
                <a16:creationId xmlns:a16="http://schemas.microsoft.com/office/drawing/2014/main" id="{FAEEC37A-3A9E-F4BB-5B45-54D2343DD635}"/>
              </a:ext>
            </a:extLst>
          </p:cNvPr>
          <p:cNvSpPr/>
          <p:nvPr/>
        </p:nvSpPr>
        <p:spPr>
          <a:xfrm>
            <a:off x="457200" y="3254403"/>
            <a:ext cx="3401568" cy="1042416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ent paid usage Accent">
            <a:extLst>
              <a:ext uri="{FF2B5EF4-FFF2-40B4-BE49-F238E27FC236}">
                <a16:creationId xmlns:a16="http://schemas.microsoft.com/office/drawing/2014/main" id="{38C84A9B-F526-22C1-4B25-9DBC1B52569A}"/>
              </a:ext>
            </a:extLst>
          </p:cNvPr>
          <p:cNvSpPr/>
          <p:nvPr/>
        </p:nvSpPr>
        <p:spPr>
          <a:xfrm>
            <a:off x="457200" y="3254403"/>
            <a:ext cx="54864" cy="104241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56" name="Recent paid usage Title">
            <a:extLst>
              <a:ext uri="{FF2B5EF4-FFF2-40B4-BE49-F238E27FC236}">
                <a16:creationId xmlns:a16="http://schemas.microsoft.com/office/drawing/2014/main" id="{3D3B2418-A8E1-FB33-5D82-1A883C758981}"/>
              </a:ext>
            </a:extLst>
          </p:cNvPr>
          <p:cNvSpPr/>
          <p:nvPr/>
        </p:nvSpPr>
        <p:spPr>
          <a:xfrm>
            <a:off x="585216" y="3327555"/>
            <a:ext cx="306324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4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Recent paid usage</a:t>
            </a:r>
            <a:endParaRPr lang="en-US" sz="1450" dirty="0"/>
          </a:p>
        </p:txBody>
      </p:sp>
      <p:sp>
        <p:nvSpPr>
          <p:cNvPr id="57" name="Recent paid usage Purpose">
            <a:extLst>
              <a:ext uri="{FF2B5EF4-FFF2-40B4-BE49-F238E27FC236}">
                <a16:creationId xmlns:a16="http://schemas.microsoft.com/office/drawing/2014/main" id="{009E77F1-1D8B-B781-1324-21B253A01C19}"/>
              </a:ext>
            </a:extLst>
          </p:cNvPr>
          <p:cNvSpPr/>
          <p:nvPr/>
        </p:nvSpPr>
        <p:spPr>
          <a:xfrm>
            <a:off x="585216" y="3565299"/>
            <a:ext cx="306324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0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Current paid-product need / activity</a:t>
            </a:r>
            <a:endParaRPr lang="en-US" sz="1000" dirty="0"/>
          </a:p>
        </p:txBody>
      </p:sp>
      <p:sp>
        <p:nvSpPr>
          <p:cNvPr id="58" name="Recent paid usage Divider">
            <a:extLst>
              <a:ext uri="{FF2B5EF4-FFF2-40B4-BE49-F238E27FC236}">
                <a16:creationId xmlns:a16="http://schemas.microsoft.com/office/drawing/2014/main" id="{D36A8FA9-4034-5754-6C20-85D8F964A81F}"/>
              </a:ext>
            </a:extLst>
          </p:cNvPr>
          <p:cNvSpPr/>
          <p:nvPr/>
        </p:nvSpPr>
        <p:spPr>
          <a:xfrm>
            <a:off x="585216" y="3848763"/>
            <a:ext cx="3127248" cy="0"/>
          </a:xfrm>
          <a:prstGeom prst="rect">
            <a:avLst/>
          </a:prstGeom>
          <a:noFill/>
          <a:ln w="635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Recent paid usage Definition">
            <a:extLst>
              <a:ext uri="{FF2B5EF4-FFF2-40B4-BE49-F238E27FC236}">
                <a16:creationId xmlns:a16="http://schemas.microsoft.com/office/drawing/2014/main" id="{FA17DA0D-0990-6806-801E-FB2083D74CD4}"/>
              </a:ext>
            </a:extLst>
          </p:cNvPr>
          <p:cNvSpPr/>
          <p:nvPr/>
        </p:nvSpPr>
        <p:spPr>
          <a:xfrm>
            <a:off x="585216" y="3912771"/>
            <a:ext cx="3063240" cy="32918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9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marketplace actions in the last 6 months</a:t>
            </a:r>
            <a:endParaRPr lang="en-US" sz="950" dirty="0"/>
          </a:p>
        </p:txBody>
      </p:sp>
      <p:sp>
        <p:nvSpPr>
          <p:cNvPr id="60" name="Consistency Card">
            <a:extLst>
              <a:ext uri="{FF2B5EF4-FFF2-40B4-BE49-F238E27FC236}">
                <a16:creationId xmlns:a16="http://schemas.microsoft.com/office/drawing/2014/main" id="{5D0B88C4-9D1A-2FF1-BF88-A481DA1931E7}"/>
              </a:ext>
            </a:extLst>
          </p:cNvPr>
          <p:cNvSpPr/>
          <p:nvPr/>
        </p:nvSpPr>
        <p:spPr>
          <a:xfrm>
            <a:off x="4297680" y="3246090"/>
            <a:ext cx="3401568" cy="1042416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Consistency Accent">
            <a:extLst>
              <a:ext uri="{FF2B5EF4-FFF2-40B4-BE49-F238E27FC236}">
                <a16:creationId xmlns:a16="http://schemas.microsoft.com/office/drawing/2014/main" id="{3E07E433-59CA-4C29-795A-948BDBECE99C}"/>
              </a:ext>
            </a:extLst>
          </p:cNvPr>
          <p:cNvSpPr/>
          <p:nvPr/>
        </p:nvSpPr>
        <p:spPr>
          <a:xfrm>
            <a:off x="4297680" y="3246090"/>
            <a:ext cx="54864" cy="104241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62" name="Consistency Title">
            <a:extLst>
              <a:ext uri="{FF2B5EF4-FFF2-40B4-BE49-F238E27FC236}">
                <a16:creationId xmlns:a16="http://schemas.microsoft.com/office/drawing/2014/main" id="{8E9AEF19-D35B-A1B0-B4B9-527CFC4DF510}"/>
              </a:ext>
            </a:extLst>
          </p:cNvPr>
          <p:cNvSpPr/>
          <p:nvPr/>
        </p:nvSpPr>
        <p:spPr>
          <a:xfrm>
            <a:off x="4425696" y="3319242"/>
            <a:ext cx="306324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4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Consistency</a:t>
            </a:r>
            <a:endParaRPr lang="en-US" sz="1450" dirty="0"/>
          </a:p>
        </p:txBody>
      </p:sp>
      <p:sp>
        <p:nvSpPr>
          <p:cNvPr id="63" name="Consistency Purpose">
            <a:extLst>
              <a:ext uri="{FF2B5EF4-FFF2-40B4-BE49-F238E27FC236}">
                <a16:creationId xmlns:a16="http://schemas.microsoft.com/office/drawing/2014/main" id="{438C4869-4AC8-6A2F-8875-911972D04B36}"/>
              </a:ext>
            </a:extLst>
          </p:cNvPr>
          <p:cNvSpPr/>
          <p:nvPr/>
        </p:nvSpPr>
        <p:spPr>
          <a:xfrm>
            <a:off x="4425696" y="3556986"/>
            <a:ext cx="306324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0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Reliability as a subscription candidate</a:t>
            </a:r>
            <a:endParaRPr lang="en-US" sz="1000" dirty="0"/>
          </a:p>
        </p:txBody>
      </p:sp>
      <p:sp>
        <p:nvSpPr>
          <p:cNvPr id="64" name="Consistency Divider">
            <a:extLst>
              <a:ext uri="{FF2B5EF4-FFF2-40B4-BE49-F238E27FC236}">
                <a16:creationId xmlns:a16="http://schemas.microsoft.com/office/drawing/2014/main" id="{64CF0CDF-FCC1-BB49-181A-CC6D5D659A69}"/>
              </a:ext>
            </a:extLst>
          </p:cNvPr>
          <p:cNvSpPr/>
          <p:nvPr/>
        </p:nvSpPr>
        <p:spPr>
          <a:xfrm>
            <a:off x="4425696" y="3840450"/>
            <a:ext cx="3127248" cy="0"/>
          </a:xfrm>
          <a:prstGeom prst="rect">
            <a:avLst/>
          </a:prstGeom>
          <a:noFill/>
          <a:ln w="635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Consistency Definition">
            <a:extLst>
              <a:ext uri="{FF2B5EF4-FFF2-40B4-BE49-F238E27FC236}">
                <a16:creationId xmlns:a16="http://schemas.microsoft.com/office/drawing/2014/main" id="{DE3322C5-8BF3-DA79-2DC3-B27ADB5D0458}"/>
              </a:ext>
            </a:extLst>
          </p:cNvPr>
          <p:cNvSpPr/>
          <p:nvPr/>
        </p:nvSpPr>
        <p:spPr>
          <a:xfrm>
            <a:off x="4425696" y="3904458"/>
            <a:ext cx="3063240" cy="32918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9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Number of months with seller activity across 2023-2024</a:t>
            </a:r>
            <a:endParaRPr lang="en-US" sz="950" dirty="0"/>
          </a:p>
        </p:txBody>
      </p:sp>
      <p:sp>
        <p:nvSpPr>
          <p:cNvPr id="66" name="Category breadth Card">
            <a:extLst>
              <a:ext uri="{FF2B5EF4-FFF2-40B4-BE49-F238E27FC236}">
                <a16:creationId xmlns:a16="http://schemas.microsoft.com/office/drawing/2014/main" id="{EA8BCADA-15CD-6C65-892B-00851298E414}"/>
              </a:ext>
            </a:extLst>
          </p:cNvPr>
          <p:cNvSpPr/>
          <p:nvPr/>
        </p:nvSpPr>
        <p:spPr>
          <a:xfrm>
            <a:off x="8138160" y="3254403"/>
            <a:ext cx="3401568" cy="1042416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pPr marL="0" indent="0" algn="l" defTabSz="914400" rtl="0"/>
            <a:endParaRPr lang="en-US" dirty="0"/>
          </a:p>
        </p:txBody>
      </p:sp>
      <p:sp>
        <p:nvSpPr>
          <p:cNvPr id="67" name="Category breadth Accent">
            <a:extLst>
              <a:ext uri="{FF2B5EF4-FFF2-40B4-BE49-F238E27FC236}">
                <a16:creationId xmlns:a16="http://schemas.microsoft.com/office/drawing/2014/main" id="{5CDAD7A5-DA1A-D2EC-E966-FEBCDB0C9405}"/>
              </a:ext>
            </a:extLst>
          </p:cNvPr>
          <p:cNvSpPr/>
          <p:nvPr/>
        </p:nvSpPr>
        <p:spPr>
          <a:xfrm>
            <a:off x="8138160" y="3254403"/>
            <a:ext cx="54864" cy="104241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68" name="Category breadth Title">
            <a:extLst>
              <a:ext uri="{FF2B5EF4-FFF2-40B4-BE49-F238E27FC236}">
                <a16:creationId xmlns:a16="http://schemas.microsoft.com/office/drawing/2014/main" id="{4504E9CE-2006-5791-C52F-7FBC65256795}"/>
              </a:ext>
            </a:extLst>
          </p:cNvPr>
          <p:cNvSpPr/>
          <p:nvPr/>
        </p:nvSpPr>
        <p:spPr>
          <a:xfrm>
            <a:off x="8266176" y="3327555"/>
            <a:ext cx="306324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4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 breadth</a:t>
            </a:r>
            <a:endParaRPr lang="en-US" sz="1450" dirty="0"/>
          </a:p>
        </p:txBody>
      </p:sp>
      <p:sp>
        <p:nvSpPr>
          <p:cNvPr id="69" name="Category breadth Purpose">
            <a:extLst>
              <a:ext uri="{FF2B5EF4-FFF2-40B4-BE49-F238E27FC236}">
                <a16:creationId xmlns:a16="http://schemas.microsoft.com/office/drawing/2014/main" id="{F087CD18-22D4-9CC2-2EB5-4FAE42FA00AA}"/>
              </a:ext>
            </a:extLst>
          </p:cNvPr>
          <p:cNvSpPr/>
          <p:nvPr/>
        </p:nvSpPr>
        <p:spPr>
          <a:xfrm>
            <a:off x="8266176" y="3565299"/>
            <a:ext cx="306324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0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Fit for professional seller page / bundle value</a:t>
            </a:r>
            <a:endParaRPr lang="en-US" sz="1000" dirty="0"/>
          </a:p>
        </p:txBody>
      </p:sp>
      <p:sp>
        <p:nvSpPr>
          <p:cNvPr id="70" name="Category breadth Divider">
            <a:extLst>
              <a:ext uri="{FF2B5EF4-FFF2-40B4-BE49-F238E27FC236}">
                <a16:creationId xmlns:a16="http://schemas.microsoft.com/office/drawing/2014/main" id="{1159525A-CEB9-AE94-8047-1B5A0FF91A71}"/>
              </a:ext>
            </a:extLst>
          </p:cNvPr>
          <p:cNvSpPr/>
          <p:nvPr/>
        </p:nvSpPr>
        <p:spPr>
          <a:xfrm>
            <a:off x="8266176" y="3848763"/>
            <a:ext cx="3127248" cy="0"/>
          </a:xfrm>
          <a:prstGeom prst="rect">
            <a:avLst/>
          </a:prstGeom>
          <a:noFill/>
          <a:ln w="635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Category breadth Definition">
            <a:extLst>
              <a:ext uri="{FF2B5EF4-FFF2-40B4-BE49-F238E27FC236}">
                <a16:creationId xmlns:a16="http://schemas.microsoft.com/office/drawing/2014/main" id="{DEB93C49-5D58-FDD4-6CA0-1BA0A9125255}"/>
              </a:ext>
            </a:extLst>
          </p:cNvPr>
          <p:cNvSpPr/>
          <p:nvPr/>
        </p:nvSpPr>
        <p:spPr>
          <a:xfrm>
            <a:off x="8266176" y="3912771"/>
            <a:ext cx="3063240" cy="32918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9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Number of categories used across 2023-2024</a:t>
            </a:r>
            <a:endParaRPr lang="en-US" sz="950" dirty="0"/>
          </a:p>
        </p:txBody>
      </p:sp>
      <p:sp>
        <p:nvSpPr>
          <p:cNvPr id="72" name="Recent growth Card">
            <a:extLst>
              <a:ext uri="{FF2B5EF4-FFF2-40B4-BE49-F238E27FC236}">
                <a16:creationId xmlns:a16="http://schemas.microsoft.com/office/drawing/2014/main" id="{79F56DA9-1AD0-2BA4-3313-639100E616BF}"/>
              </a:ext>
            </a:extLst>
          </p:cNvPr>
          <p:cNvSpPr/>
          <p:nvPr/>
        </p:nvSpPr>
        <p:spPr>
          <a:xfrm>
            <a:off x="457200" y="4526250"/>
            <a:ext cx="3401568" cy="1042416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Recent growth Accent">
            <a:extLst>
              <a:ext uri="{FF2B5EF4-FFF2-40B4-BE49-F238E27FC236}">
                <a16:creationId xmlns:a16="http://schemas.microsoft.com/office/drawing/2014/main" id="{4C2073D8-FD2B-62B1-6E14-E73E0D898863}"/>
              </a:ext>
            </a:extLst>
          </p:cNvPr>
          <p:cNvSpPr/>
          <p:nvPr/>
        </p:nvSpPr>
        <p:spPr>
          <a:xfrm>
            <a:off x="457200" y="4526250"/>
            <a:ext cx="54864" cy="104241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74" name="Recent growth Title">
            <a:extLst>
              <a:ext uri="{FF2B5EF4-FFF2-40B4-BE49-F238E27FC236}">
                <a16:creationId xmlns:a16="http://schemas.microsoft.com/office/drawing/2014/main" id="{A34BD047-179C-5C2F-2F04-DFFC7DB2B8A4}"/>
              </a:ext>
            </a:extLst>
          </p:cNvPr>
          <p:cNvSpPr/>
          <p:nvPr/>
        </p:nvSpPr>
        <p:spPr>
          <a:xfrm>
            <a:off x="585216" y="4599402"/>
            <a:ext cx="306324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450" b="1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Recent growth</a:t>
            </a:r>
            <a:endParaRPr lang="en-US" sz="1450" dirty="0"/>
          </a:p>
        </p:txBody>
      </p:sp>
      <p:sp>
        <p:nvSpPr>
          <p:cNvPr id="75" name="Recent growth Purpose">
            <a:extLst>
              <a:ext uri="{FF2B5EF4-FFF2-40B4-BE49-F238E27FC236}">
                <a16:creationId xmlns:a16="http://schemas.microsoft.com/office/drawing/2014/main" id="{F29C7124-0B03-B18A-0FF4-8950FC0152F6}"/>
              </a:ext>
            </a:extLst>
          </p:cNvPr>
          <p:cNvSpPr/>
          <p:nvPr/>
        </p:nvSpPr>
        <p:spPr>
          <a:xfrm>
            <a:off x="585216" y="4837146"/>
            <a:ext cx="306324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000" b="1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Momentum</a:t>
            </a:r>
            <a:endParaRPr lang="en-US" sz="1000" dirty="0"/>
          </a:p>
        </p:txBody>
      </p:sp>
      <p:sp>
        <p:nvSpPr>
          <p:cNvPr id="76" name="Recent growth Divider">
            <a:extLst>
              <a:ext uri="{FF2B5EF4-FFF2-40B4-BE49-F238E27FC236}">
                <a16:creationId xmlns:a16="http://schemas.microsoft.com/office/drawing/2014/main" id="{175E085C-C50A-D6EC-6A0D-147CD1598E00}"/>
              </a:ext>
            </a:extLst>
          </p:cNvPr>
          <p:cNvSpPr/>
          <p:nvPr/>
        </p:nvSpPr>
        <p:spPr>
          <a:xfrm>
            <a:off x="585216" y="5120610"/>
            <a:ext cx="3127248" cy="0"/>
          </a:xfrm>
          <a:prstGeom prst="rect">
            <a:avLst/>
          </a:prstGeom>
          <a:noFill/>
          <a:ln w="635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Recent growth Definition">
            <a:extLst>
              <a:ext uri="{FF2B5EF4-FFF2-40B4-BE49-F238E27FC236}">
                <a16:creationId xmlns:a16="http://schemas.microsoft.com/office/drawing/2014/main" id="{53445178-9C02-A12D-B962-9EDA79DF6771}"/>
              </a:ext>
            </a:extLst>
          </p:cNvPr>
          <p:cNvSpPr/>
          <p:nvPr/>
        </p:nvSpPr>
        <p:spPr>
          <a:xfrm>
            <a:off x="585216" y="5184618"/>
            <a:ext cx="3063240" cy="32918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9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Recent paid usage vs prior 6 months, with +1 smoothing</a:t>
            </a:r>
            <a:endParaRPr lang="en-US" sz="950" dirty="0"/>
          </a:p>
        </p:txBody>
      </p:sp>
      <p:sp>
        <p:nvSpPr>
          <p:cNvPr id="78" name="Total fees Card">
            <a:extLst>
              <a:ext uri="{FF2B5EF4-FFF2-40B4-BE49-F238E27FC236}">
                <a16:creationId xmlns:a16="http://schemas.microsoft.com/office/drawing/2014/main" id="{05686470-6B1A-7ACA-1047-B5DDFA0A08FF}"/>
              </a:ext>
            </a:extLst>
          </p:cNvPr>
          <p:cNvSpPr/>
          <p:nvPr/>
        </p:nvSpPr>
        <p:spPr>
          <a:xfrm>
            <a:off x="4297680" y="4526250"/>
            <a:ext cx="3401568" cy="1042416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otal fees Accent">
            <a:extLst>
              <a:ext uri="{FF2B5EF4-FFF2-40B4-BE49-F238E27FC236}">
                <a16:creationId xmlns:a16="http://schemas.microsoft.com/office/drawing/2014/main" id="{65954FD2-2594-38BD-DBB7-94E04F28D08D}"/>
              </a:ext>
            </a:extLst>
          </p:cNvPr>
          <p:cNvSpPr/>
          <p:nvPr/>
        </p:nvSpPr>
        <p:spPr>
          <a:xfrm>
            <a:off x="4297680" y="4526250"/>
            <a:ext cx="54864" cy="104241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80" name="Total fees Title">
            <a:extLst>
              <a:ext uri="{FF2B5EF4-FFF2-40B4-BE49-F238E27FC236}">
                <a16:creationId xmlns:a16="http://schemas.microsoft.com/office/drawing/2014/main" id="{6575A666-1CC8-484F-E7A0-388B3A7AB863}"/>
              </a:ext>
            </a:extLst>
          </p:cNvPr>
          <p:cNvSpPr/>
          <p:nvPr/>
        </p:nvSpPr>
        <p:spPr>
          <a:xfrm>
            <a:off x="4425696" y="4599402"/>
            <a:ext cx="306324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4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Total fees</a:t>
            </a:r>
            <a:endParaRPr lang="en-US" sz="1450" dirty="0"/>
          </a:p>
        </p:txBody>
      </p:sp>
      <p:sp>
        <p:nvSpPr>
          <p:cNvPr id="81" name="Total fees Purpose">
            <a:extLst>
              <a:ext uri="{FF2B5EF4-FFF2-40B4-BE49-F238E27FC236}">
                <a16:creationId xmlns:a16="http://schemas.microsoft.com/office/drawing/2014/main" id="{23546D6B-4BC8-2ED1-EDFE-079BB785CBB5}"/>
              </a:ext>
            </a:extLst>
          </p:cNvPr>
          <p:cNvSpPr/>
          <p:nvPr/>
        </p:nvSpPr>
        <p:spPr>
          <a:xfrm>
            <a:off x="4425696" y="4837146"/>
            <a:ext cx="306324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0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Historical willingness to pay</a:t>
            </a:r>
            <a:endParaRPr lang="en-US" sz="1000" dirty="0"/>
          </a:p>
        </p:txBody>
      </p:sp>
      <p:sp>
        <p:nvSpPr>
          <p:cNvPr id="82" name="Total fees Divider">
            <a:extLst>
              <a:ext uri="{FF2B5EF4-FFF2-40B4-BE49-F238E27FC236}">
                <a16:creationId xmlns:a16="http://schemas.microsoft.com/office/drawing/2014/main" id="{D7FF37EF-36B3-B983-29CF-5FA716E4397A}"/>
              </a:ext>
            </a:extLst>
          </p:cNvPr>
          <p:cNvSpPr/>
          <p:nvPr/>
        </p:nvSpPr>
        <p:spPr>
          <a:xfrm>
            <a:off x="4425696" y="5120610"/>
            <a:ext cx="3127248" cy="0"/>
          </a:xfrm>
          <a:prstGeom prst="rect">
            <a:avLst/>
          </a:prstGeom>
          <a:noFill/>
          <a:ln w="635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Total fees Definition">
            <a:extLst>
              <a:ext uri="{FF2B5EF4-FFF2-40B4-BE49-F238E27FC236}">
                <a16:creationId xmlns:a16="http://schemas.microsoft.com/office/drawing/2014/main" id="{0A4AA6DA-7963-A9D4-5D53-0141FF1B2B2E}"/>
              </a:ext>
            </a:extLst>
          </p:cNvPr>
          <p:cNvSpPr/>
          <p:nvPr/>
        </p:nvSpPr>
        <p:spPr>
          <a:xfrm>
            <a:off x="4425696" y="5184618"/>
            <a:ext cx="3063240" cy="32918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9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Total fees paid across 2023-2024</a:t>
            </a:r>
            <a:endParaRPr lang="en-US" sz="950" dirty="0"/>
          </a:p>
        </p:txBody>
      </p:sp>
      <p:sp>
        <p:nvSpPr>
          <p:cNvPr id="84" name="Paid product breadth Card">
            <a:extLst>
              <a:ext uri="{FF2B5EF4-FFF2-40B4-BE49-F238E27FC236}">
                <a16:creationId xmlns:a16="http://schemas.microsoft.com/office/drawing/2014/main" id="{0FF404B9-9413-B26D-7A5C-12F8A0DD03D6}"/>
              </a:ext>
            </a:extLst>
          </p:cNvPr>
          <p:cNvSpPr/>
          <p:nvPr/>
        </p:nvSpPr>
        <p:spPr>
          <a:xfrm>
            <a:off x="8138160" y="4526250"/>
            <a:ext cx="3401568" cy="1042416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pPr marL="0" indent="0" algn="l" defTabSz="914400" rtl="0"/>
            <a:endParaRPr lang="en-US"/>
          </a:p>
        </p:txBody>
      </p:sp>
      <p:sp>
        <p:nvSpPr>
          <p:cNvPr id="85" name="Paid product breadth Accent">
            <a:extLst>
              <a:ext uri="{FF2B5EF4-FFF2-40B4-BE49-F238E27FC236}">
                <a16:creationId xmlns:a16="http://schemas.microsoft.com/office/drawing/2014/main" id="{7E93B197-6C8B-3909-9AD2-1CEFBD67A556}"/>
              </a:ext>
            </a:extLst>
          </p:cNvPr>
          <p:cNvSpPr/>
          <p:nvPr/>
        </p:nvSpPr>
        <p:spPr>
          <a:xfrm>
            <a:off x="8138160" y="4526250"/>
            <a:ext cx="54864" cy="104241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86" name="Paid product breadth Title">
            <a:extLst>
              <a:ext uri="{FF2B5EF4-FFF2-40B4-BE49-F238E27FC236}">
                <a16:creationId xmlns:a16="http://schemas.microsoft.com/office/drawing/2014/main" id="{30AF5516-4BA9-610E-45CE-C19F758EAFCE}"/>
              </a:ext>
            </a:extLst>
          </p:cNvPr>
          <p:cNvSpPr/>
          <p:nvPr/>
        </p:nvSpPr>
        <p:spPr>
          <a:xfrm>
            <a:off x="8266176" y="4599402"/>
            <a:ext cx="306324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4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product breadth</a:t>
            </a:r>
            <a:endParaRPr lang="en-US" sz="1450" dirty="0"/>
          </a:p>
        </p:txBody>
      </p:sp>
      <p:sp>
        <p:nvSpPr>
          <p:cNvPr id="87" name="Paid product breadth Purpose">
            <a:extLst>
              <a:ext uri="{FF2B5EF4-FFF2-40B4-BE49-F238E27FC236}">
                <a16:creationId xmlns:a16="http://schemas.microsoft.com/office/drawing/2014/main" id="{57062E7A-CC1D-1908-E45E-7F11F91E7465}"/>
              </a:ext>
            </a:extLst>
          </p:cNvPr>
          <p:cNvSpPr/>
          <p:nvPr/>
        </p:nvSpPr>
        <p:spPr>
          <a:xfrm>
            <a:off x="8266176" y="4837146"/>
            <a:ext cx="306324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0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Familiarity with multiple paid products</a:t>
            </a:r>
            <a:endParaRPr lang="en-US" sz="1000" dirty="0"/>
          </a:p>
        </p:txBody>
      </p:sp>
      <p:sp>
        <p:nvSpPr>
          <p:cNvPr id="88" name="Paid product breadth Divider">
            <a:extLst>
              <a:ext uri="{FF2B5EF4-FFF2-40B4-BE49-F238E27FC236}">
                <a16:creationId xmlns:a16="http://schemas.microsoft.com/office/drawing/2014/main" id="{45DE97AB-EBC9-110E-D865-DCCA69810E93}"/>
              </a:ext>
            </a:extLst>
          </p:cNvPr>
          <p:cNvSpPr/>
          <p:nvPr/>
        </p:nvSpPr>
        <p:spPr>
          <a:xfrm>
            <a:off x="8266176" y="5120610"/>
            <a:ext cx="3127248" cy="0"/>
          </a:xfrm>
          <a:prstGeom prst="rect">
            <a:avLst/>
          </a:prstGeom>
          <a:noFill/>
          <a:ln w="6350">
            <a:solidFill>
              <a:srgbClr val="3A3A3A"/>
            </a:solidFill>
          </a:ln>
        </p:spPr>
        <p:txBody>
          <a:bodyPr/>
          <a:lstStyle/>
          <a:p>
            <a:pPr marL="0" indent="0" algn="l" defTabSz="914400" rtl="0"/>
            <a:endParaRPr lang="en-US"/>
          </a:p>
        </p:txBody>
      </p:sp>
      <p:sp>
        <p:nvSpPr>
          <p:cNvPr id="89" name="Paid product breadth Definition">
            <a:extLst>
              <a:ext uri="{FF2B5EF4-FFF2-40B4-BE49-F238E27FC236}">
                <a16:creationId xmlns:a16="http://schemas.microsoft.com/office/drawing/2014/main" id="{6D43D0A2-FE94-D3EC-5A1B-56BBEBE62C47}"/>
              </a:ext>
            </a:extLst>
          </p:cNvPr>
          <p:cNvSpPr/>
          <p:nvPr/>
        </p:nvSpPr>
        <p:spPr>
          <a:xfrm>
            <a:off x="8266176" y="5184618"/>
            <a:ext cx="3063240" cy="32918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9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Number of distinct paid marketplace product types used across 2023-2024</a:t>
            </a:r>
            <a:endParaRPr lang="en-US" sz="950" dirty="0"/>
          </a:p>
        </p:txBody>
      </p:sp>
      <p:sp>
        <p:nvSpPr>
          <p:cNvPr id="90" name="Scale Note">
            <a:extLst>
              <a:ext uri="{FF2B5EF4-FFF2-40B4-BE49-F238E27FC236}">
                <a16:creationId xmlns:a16="http://schemas.microsoft.com/office/drawing/2014/main" id="{C6B1A450-D980-0261-3290-4EA3E0D14B3C}"/>
              </a:ext>
            </a:extLst>
          </p:cNvPr>
          <p:cNvSpPr/>
          <p:nvPr/>
        </p:nvSpPr>
        <p:spPr>
          <a:xfrm>
            <a:off x="457200" y="5728871"/>
            <a:ext cx="7283196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11411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F1076E4-DF27-4ECE-ACE1-F4B13B8C2DFF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14B404-B8A7-4D7F-BAEA-7362D4CD8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2.1 Outreach Readiness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2B0681-E592-4976-93F5-7315B7B59FC2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084548D-0284-4BE0-AAA7-D1AC2ACE257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79BE9C-18C5-4AD4-9CCF-5327BCACA6E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7DCFDE-3681-49AF-AA71-0C51C19FC996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54CDDFA0-20B3-4987-820C-7F7624443EB6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15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1013" y="2278088"/>
            <a:ext cx="6781800" cy="2952750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4243474C-66DE-79D9-9C84-E5A9E4FA6E74}"/>
              </a:ext>
            </a:extLst>
          </p:cNvPr>
          <p:cNvSpPr>
            <a:spLocks noGrp="1"/>
          </p:cNvSpPr>
          <p:nvPr/>
        </p:nvSpPr>
        <p:spPr>
          <a:xfrm>
            <a:off x="3982536" y="1339219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Seller Profile by Outreach Scoring Method</a:t>
            </a: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8739" y="2278088"/>
            <a:ext cx="31813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29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>
            <a:extLst>
              <a:ext uri="{FF2B5EF4-FFF2-40B4-BE49-F238E27FC236}">
                <a16:creationId xmlns:a16="http://schemas.microsoft.com/office/drawing/2014/main" id="{91F29A9A-0B80-46BC-A533-3EA5A439CC58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1802568-7BAD-4799-A161-EA6A78DAC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2.2 Bundle Choice</a:t>
            </a:r>
          </a:p>
        </p:txBody>
      </p:sp>
      <p:sp>
        <p:nvSpPr>
          <p:cNvPr id="5" name="Top Divider">
            <a:extLst>
              <a:ext uri="{FF2B5EF4-FFF2-40B4-BE49-F238E27FC236}">
                <a16:creationId xmlns:a16="http://schemas.microsoft.com/office/drawing/2014/main" id="{1E6921A0-E50A-4A87-AFC9-3AA37434614C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Intro">
            <a:extLst>
              <a:ext uri="{FF2B5EF4-FFF2-40B4-BE49-F238E27FC236}">
                <a16:creationId xmlns:a16="http://schemas.microsoft.com/office/drawing/2014/main" id="{23CBD67A-2742-47E6-9F6E-BBB14920E391}"/>
              </a:ext>
            </a:extLst>
          </p:cNvPr>
          <p:cNvSpPr>
            <a:spLocks noGrp="1"/>
          </p:cNvSpPr>
          <p:nvPr/>
        </p:nvSpPr>
        <p:spPr>
          <a:xfrm>
            <a:off x="566928" y="1353312"/>
            <a:ext cx="1069848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After selecting the outreach-ready group, use a separate bundle-fit score to suggest which bundle to pitch.</a:t>
            </a:r>
          </a:p>
        </p:txBody>
      </p:sp>
      <p:sp>
        <p:nvSpPr>
          <p:cNvPr id="22" name="Used Header">
            <a:extLst>
              <a:ext uri="{FF2B5EF4-FFF2-40B4-BE49-F238E27FC236}">
                <a16:creationId xmlns:a16="http://schemas.microsoft.com/office/drawing/2014/main" id="{7373D3EA-C691-4D08-B392-41917660DE1D}"/>
              </a:ext>
            </a:extLst>
          </p:cNvPr>
          <p:cNvSpPr>
            <a:spLocks noGrp="1"/>
          </p:cNvSpPr>
          <p:nvPr/>
        </p:nvSpPr>
        <p:spPr>
          <a:xfrm>
            <a:off x="612977" y="2883233"/>
            <a:ext cx="356616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55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Signals in bundle-fit score</a:t>
            </a:r>
          </a:p>
        </p:txBody>
      </p:sp>
      <p:sp>
        <p:nvSpPr>
          <p:cNvPr id="23" name="Used Sub">
            <a:extLst>
              <a:ext uri="{FF2B5EF4-FFF2-40B4-BE49-F238E27FC236}">
                <a16:creationId xmlns:a16="http://schemas.microsoft.com/office/drawing/2014/main" id="{50B7585A-DC07-4873-B0CA-AA9ED32E3B73}"/>
              </a:ext>
            </a:extLst>
          </p:cNvPr>
          <p:cNvSpPr>
            <a:spLocks noGrp="1"/>
          </p:cNvSpPr>
          <p:nvPr/>
        </p:nvSpPr>
        <p:spPr>
          <a:xfrm>
            <a:off x="612977" y="3193910"/>
            <a:ext cx="3474720" cy="241966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7A7A7"/>
                </a:solidFill>
                <a:latin typeface="Arial"/>
                <a:ea typeface="Arial"/>
                <a:cs typeface="Arial"/>
              </a:rPr>
              <a:t>directly maps to Plus bundle value</a:t>
            </a:r>
          </a:p>
        </p:txBody>
      </p:sp>
      <p:sp>
        <p:nvSpPr>
          <p:cNvPr id="26" name="Row - Paid visibility usage">
            <a:extLst>
              <a:ext uri="{FF2B5EF4-FFF2-40B4-BE49-F238E27FC236}">
                <a16:creationId xmlns:a16="http://schemas.microsoft.com/office/drawing/2014/main" id="{D53BC566-A17A-41E6-8BA7-9578244AE3EF}"/>
              </a:ext>
            </a:extLst>
          </p:cNvPr>
          <p:cNvSpPr>
            <a:spLocks noGrp="1"/>
          </p:cNvSpPr>
          <p:nvPr/>
        </p:nvSpPr>
        <p:spPr>
          <a:xfrm>
            <a:off x="612976" y="3622864"/>
            <a:ext cx="5944895" cy="746066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27" name="Row Accent - Paid visibility usage">
            <a:extLst>
              <a:ext uri="{FF2B5EF4-FFF2-40B4-BE49-F238E27FC236}">
                <a16:creationId xmlns:a16="http://schemas.microsoft.com/office/drawing/2014/main" id="{B13F7406-784B-411B-A28A-AC60FFB834B3}"/>
              </a:ext>
            </a:extLst>
          </p:cNvPr>
          <p:cNvSpPr>
            <a:spLocks noGrp="1"/>
          </p:cNvSpPr>
          <p:nvPr/>
        </p:nvSpPr>
        <p:spPr>
          <a:xfrm>
            <a:off x="612977" y="3622864"/>
            <a:ext cx="45720" cy="74606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/>
          </a:p>
        </p:txBody>
      </p:sp>
      <p:sp>
        <p:nvSpPr>
          <p:cNvPr id="28" name="Signal - Paid visibility usage">
            <a:extLst>
              <a:ext uri="{FF2B5EF4-FFF2-40B4-BE49-F238E27FC236}">
                <a16:creationId xmlns:a16="http://schemas.microsoft.com/office/drawing/2014/main" id="{C99178E5-505D-4B10-A5F5-5DCD4CD198C4}"/>
              </a:ext>
            </a:extLst>
          </p:cNvPr>
          <p:cNvSpPr>
            <a:spLocks noGrp="1"/>
          </p:cNvSpPr>
          <p:nvPr/>
        </p:nvSpPr>
        <p:spPr>
          <a:xfrm>
            <a:off x="722705" y="3673155"/>
            <a:ext cx="1935304" cy="2186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visibility usage</a:t>
            </a:r>
          </a:p>
        </p:txBody>
      </p:sp>
      <p:sp>
        <p:nvSpPr>
          <p:cNvPr id="29" name="Usage - Paid visibility usage">
            <a:extLst>
              <a:ext uri="{FF2B5EF4-FFF2-40B4-BE49-F238E27FC236}">
                <a16:creationId xmlns:a16="http://schemas.microsoft.com/office/drawing/2014/main" id="{5741EF72-05D4-46EE-85F3-0B4638BE48A2}"/>
              </a:ext>
            </a:extLst>
          </p:cNvPr>
          <p:cNvSpPr>
            <a:spLocks noGrp="1"/>
          </p:cNvSpPr>
          <p:nvPr/>
        </p:nvSpPr>
        <p:spPr>
          <a:xfrm>
            <a:off x="722704" y="3911226"/>
            <a:ext cx="2631591" cy="244401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paid visibility actions*</a:t>
            </a:r>
          </a:p>
        </p:txBody>
      </p:sp>
      <p:sp>
        <p:nvSpPr>
          <p:cNvPr id="30" name="Reason - Paid visibility usage">
            <a:extLst>
              <a:ext uri="{FF2B5EF4-FFF2-40B4-BE49-F238E27FC236}">
                <a16:creationId xmlns:a16="http://schemas.microsoft.com/office/drawing/2014/main" id="{EBA45349-1928-450D-81B9-D12A5937ECD3}"/>
              </a:ext>
            </a:extLst>
          </p:cNvPr>
          <p:cNvSpPr>
            <a:spLocks noGrp="1"/>
          </p:cNvSpPr>
          <p:nvPr/>
        </p:nvSpPr>
        <p:spPr>
          <a:xfrm>
            <a:off x="3583171" y="3696016"/>
            <a:ext cx="2493965" cy="61743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benefits: more visibility and cross-ad promotion.</a:t>
            </a:r>
          </a:p>
        </p:txBody>
      </p:sp>
      <p:sp>
        <p:nvSpPr>
          <p:cNvPr id="31" name="Row - Paid product breadth">
            <a:extLst>
              <a:ext uri="{FF2B5EF4-FFF2-40B4-BE49-F238E27FC236}">
                <a16:creationId xmlns:a16="http://schemas.microsoft.com/office/drawing/2014/main" id="{93B26EF8-8CF1-4799-BA65-42CAF48434DC}"/>
              </a:ext>
            </a:extLst>
          </p:cNvPr>
          <p:cNvSpPr>
            <a:spLocks noGrp="1"/>
          </p:cNvSpPr>
          <p:nvPr/>
        </p:nvSpPr>
        <p:spPr>
          <a:xfrm>
            <a:off x="612976" y="4281232"/>
            <a:ext cx="5944895" cy="746066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2" name="Row Accent - Paid product breadth">
            <a:extLst>
              <a:ext uri="{FF2B5EF4-FFF2-40B4-BE49-F238E27FC236}">
                <a16:creationId xmlns:a16="http://schemas.microsoft.com/office/drawing/2014/main" id="{3EC5018F-3B80-4E6F-8B03-9DD76FB4B4F8}"/>
              </a:ext>
            </a:extLst>
          </p:cNvPr>
          <p:cNvSpPr>
            <a:spLocks noGrp="1"/>
          </p:cNvSpPr>
          <p:nvPr/>
        </p:nvSpPr>
        <p:spPr>
          <a:xfrm>
            <a:off x="612977" y="4281232"/>
            <a:ext cx="45720" cy="74606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/>
          </a:p>
        </p:txBody>
      </p:sp>
      <p:sp>
        <p:nvSpPr>
          <p:cNvPr id="33" name="Signal - Paid product breadth">
            <a:extLst>
              <a:ext uri="{FF2B5EF4-FFF2-40B4-BE49-F238E27FC236}">
                <a16:creationId xmlns:a16="http://schemas.microsoft.com/office/drawing/2014/main" id="{1C2528B1-A8EE-4771-809C-B19652209192}"/>
              </a:ext>
            </a:extLst>
          </p:cNvPr>
          <p:cNvSpPr>
            <a:spLocks noGrp="1"/>
          </p:cNvSpPr>
          <p:nvPr/>
        </p:nvSpPr>
        <p:spPr>
          <a:xfrm>
            <a:off x="722705" y="4331523"/>
            <a:ext cx="1935304" cy="2186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product breadth</a:t>
            </a:r>
          </a:p>
        </p:txBody>
      </p:sp>
      <p:sp>
        <p:nvSpPr>
          <p:cNvPr id="34" name="Usage - Paid product breadth">
            <a:extLst>
              <a:ext uri="{FF2B5EF4-FFF2-40B4-BE49-F238E27FC236}">
                <a16:creationId xmlns:a16="http://schemas.microsoft.com/office/drawing/2014/main" id="{4B30F4CE-8036-4801-8B7C-6733FE63B905}"/>
              </a:ext>
            </a:extLst>
          </p:cNvPr>
          <p:cNvSpPr>
            <a:spLocks noGrp="1"/>
          </p:cNvSpPr>
          <p:nvPr/>
        </p:nvSpPr>
        <p:spPr>
          <a:xfrm>
            <a:off x="722704" y="4569594"/>
            <a:ext cx="2631591" cy="244401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distinct paid product types</a:t>
            </a:r>
          </a:p>
        </p:txBody>
      </p:sp>
      <p:sp>
        <p:nvSpPr>
          <p:cNvPr id="35" name="Reason - Paid product breadth">
            <a:extLst>
              <a:ext uri="{FF2B5EF4-FFF2-40B4-BE49-F238E27FC236}">
                <a16:creationId xmlns:a16="http://schemas.microsoft.com/office/drawing/2014/main" id="{C2C62E8F-43CA-40F5-BD97-3AF64EC842EE}"/>
              </a:ext>
            </a:extLst>
          </p:cNvPr>
          <p:cNvSpPr>
            <a:spLocks noGrp="1"/>
          </p:cNvSpPr>
          <p:nvPr/>
        </p:nvSpPr>
        <p:spPr>
          <a:xfrm>
            <a:off x="3583171" y="4354384"/>
            <a:ext cx="2493965" cy="61743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Sellers using multiple paid products already understand paid value.</a:t>
            </a:r>
          </a:p>
        </p:txBody>
      </p:sp>
      <p:sp>
        <p:nvSpPr>
          <p:cNvPr id="36" name="Row - Listing volume">
            <a:extLst>
              <a:ext uri="{FF2B5EF4-FFF2-40B4-BE49-F238E27FC236}">
                <a16:creationId xmlns:a16="http://schemas.microsoft.com/office/drawing/2014/main" id="{E74AAAF3-1957-463C-BC42-99C734A24366}"/>
              </a:ext>
            </a:extLst>
          </p:cNvPr>
          <p:cNvSpPr>
            <a:spLocks noGrp="1"/>
          </p:cNvSpPr>
          <p:nvPr/>
        </p:nvSpPr>
        <p:spPr>
          <a:xfrm>
            <a:off x="612976" y="4939600"/>
            <a:ext cx="5944895" cy="746066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7" name="Row Accent - Listing volume">
            <a:extLst>
              <a:ext uri="{FF2B5EF4-FFF2-40B4-BE49-F238E27FC236}">
                <a16:creationId xmlns:a16="http://schemas.microsoft.com/office/drawing/2014/main" id="{A745572E-A89B-407B-9DE9-2DB1BADD8724}"/>
              </a:ext>
            </a:extLst>
          </p:cNvPr>
          <p:cNvSpPr>
            <a:spLocks noGrp="1"/>
          </p:cNvSpPr>
          <p:nvPr/>
        </p:nvSpPr>
        <p:spPr>
          <a:xfrm>
            <a:off x="612977" y="4939600"/>
            <a:ext cx="45720" cy="74606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/>
          </a:p>
        </p:txBody>
      </p:sp>
      <p:sp>
        <p:nvSpPr>
          <p:cNvPr id="38" name="Signal - Listing volume">
            <a:extLst>
              <a:ext uri="{FF2B5EF4-FFF2-40B4-BE49-F238E27FC236}">
                <a16:creationId xmlns:a16="http://schemas.microsoft.com/office/drawing/2014/main" id="{52D67635-5FA5-4E63-8E00-00CA575F059B}"/>
              </a:ext>
            </a:extLst>
          </p:cNvPr>
          <p:cNvSpPr>
            <a:spLocks noGrp="1"/>
          </p:cNvSpPr>
          <p:nvPr/>
        </p:nvSpPr>
        <p:spPr>
          <a:xfrm>
            <a:off x="722705" y="4989891"/>
            <a:ext cx="1935304" cy="2186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Listing volume</a:t>
            </a:r>
          </a:p>
        </p:txBody>
      </p:sp>
      <p:sp>
        <p:nvSpPr>
          <p:cNvPr id="39" name="Usage - Listing volume">
            <a:extLst>
              <a:ext uri="{FF2B5EF4-FFF2-40B4-BE49-F238E27FC236}">
                <a16:creationId xmlns:a16="http://schemas.microsoft.com/office/drawing/2014/main" id="{DF0DF9EA-7072-43EF-B41C-4277392D0656}"/>
              </a:ext>
            </a:extLst>
          </p:cNvPr>
          <p:cNvSpPr>
            <a:spLocks noGrp="1"/>
          </p:cNvSpPr>
          <p:nvPr/>
        </p:nvSpPr>
        <p:spPr>
          <a:xfrm>
            <a:off x="722704" y="5227962"/>
            <a:ext cx="2631591" cy="244401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Total ad insertions (free + paid)</a:t>
            </a:r>
          </a:p>
        </p:txBody>
      </p:sp>
      <p:sp>
        <p:nvSpPr>
          <p:cNvPr id="40" name="Reason - Listing volume">
            <a:extLst>
              <a:ext uri="{FF2B5EF4-FFF2-40B4-BE49-F238E27FC236}">
                <a16:creationId xmlns:a16="http://schemas.microsoft.com/office/drawing/2014/main" id="{5E99FD47-1912-445D-B443-30DA023213D7}"/>
              </a:ext>
            </a:extLst>
          </p:cNvPr>
          <p:cNvSpPr>
            <a:spLocks noGrp="1"/>
          </p:cNvSpPr>
          <p:nvPr/>
        </p:nvSpPr>
        <p:spPr>
          <a:xfrm>
            <a:off x="3583171" y="5012752"/>
            <a:ext cx="2493965" cy="61743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cross-ad value: more ads means more inventory to promote from each listing.</a:t>
            </a:r>
          </a:p>
        </p:txBody>
      </p:sp>
      <p:sp>
        <p:nvSpPr>
          <p:cNvPr id="66" name="Scale Note">
            <a:extLst>
              <a:ext uri="{FF2B5EF4-FFF2-40B4-BE49-F238E27FC236}">
                <a16:creationId xmlns:a16="http://schemas.microsoft.com/office/drawing/2014/main" id="{882A8641-C2FD-4FA7-8BC7-94CDD70D8BDB}"/>
              </a:ext>
            </a:extLst>
          </p:cNvPr>
          <p:cNvSpPr>
            <a:spLocks noGrp="1"/>
          </p:cNvSpPr>
          <p:nvPr/>
        </p:nvSpPr>
        <p:spPr>
          <a:xfrm>
            <a:off x="566927" y="5807466"/>
            <a:ext cx="8715220" cy="242083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</a:p>
        </p:txBody>
      </p:sp>
      <p:sp>
        <p:nvSpPr>
          <p:cNvPr id="67" name="Visibility Note">
            <a:extLst>
              <a:ext uri="{FF2B5EF4-FFF2-40B4-BE49-F238E27FC236}">
                <a16:creationId xmlns:a16="http://schemas.microsoft.com/office/drawing/2014/main" id="{787A435F-690C-486D-B655-CF5DB7C66429}"/>
              </a:ext>
            </a:extLst>
          </p:cNvPr>
          <p:cNvSpPr>
            <a:spLocks noGrp="1"/>
          </p:cNvSpPr>
          <p:nvPr/>
        </p:nvSpPr>
        <p:spPr>
          <a:xfrm>
            <a:off x="8171578" y="4268867"/>
            <a:ext cx="2123645" cy="62823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* Paid visibility actions: Dagtoppers, Homepage, Paid URL, Ad Upcalls, and Urgency actions.</a:t>
            </a:r>
          </a:p>
        </p:txBody>
      </p:sp>
      <p:sp>
        <p:nvSpPr>
          <p:cNvPr id="68" name="Bottom Divider">
            <a:extLst>
              <a:ext uri="{FF2B5EF4-FFF2-40B4-BE49-F238E27FC236}">
                <a16:creationId xmlns:a16="http://schemas.microsoft.com/office/drawing/2014/main" id="{D0BAA51A-6BA3-4307-BF7F-A140AADB8D68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Footer Label">
            <a:extLst>
              <a:ext uri="{FF2B5EF4-FFF2-40B4-BE49-F238E27FC236}">
                <a16:creationId xmlns:a16="http://schemas.microsoft.com/office/drawing/2014/main" id="{D06A8983-BCCA-4B01-80DA-82170F06822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70" name="Page Marker">
            <a:extLst>
              <a:ext uri="{FF2B5EF4-FFF2-40B4-BE49-F238E27FC236}">
                <a16:creationId xmlns:a16="http://schemas.microsoft.com/office/drawing/2014/main" id="{184EC18A-F93B-4374-9B05-2D5A18FA76C0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F1A356C6-73C5-4F57-A557-2045D8EF5A6E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16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CA649E5E-CF4C-870C-B69B-270BED998BCE}"/>
              </a:ext>
            </a:extLst>
          </p:cNvPr>
          <p:cNvSpPr>
            <a:spLocks noGrp="1"/>
          </p:cNvSpPr>
          <p:nvPr/>
        </p:nvSpPr>
        <p:spPr>
          <a:xfrm>
            <a:off x="566927" y="1745225"/>
            <a:ext cx="9728295" cy="961299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 fontScale="92500"/>
          </a:bodyPr>
          <a:lstStyle/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Score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</a:t>
            </a:r>
            <a:r>
              <a:rPr sz="14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simple average 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of </a:t>
            </a:r>
            <a:r>
              <a:rPr sz="14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percentile ranks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for </a:t>
            </a:r>
            <a:r>
              <a:rPr sz="14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paid visibility usage</a:t>
            </a:r>
            <a:r>
              <a:rPr sz="1400">
                <a:solidFill>
                  <a:srgbClr val="37A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+ paid product breadth + listing volume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Why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Plus fits sellers already using visibility products or managing enough listings to benefit from cross-ad promotion.</a:t>
            </a:r>
          </a:p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Criteria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Sellers in the top 40% of bundle fit score inside the outreach ready group are targeted for </a:t>
            </a: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Plus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, the rest for </a:t>
            </a: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Basic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765E1-B54E-67C6-D4BF-EEEAE1038609}"/>
              </a:ext>
            </a:extLst>
          </p:cNvPr>
          <p:cNvSpPr>
            <a:spLocks noGrp="1"/>
          </p:cNvSpPr>
          <p:nvPr/>
        </p:nvSpPr>
        <p:spPr>
          <a:xfrm>
            <a:off x="6328995" y="3865179"/>
            <a:ext cx="457751" cy="1077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chemeClr val="bg1"/>
                </a:solidFill>
              </a:rPr>
              <a:t>New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7D345-45DE-8BB8-A6A0-7A4DE5E9B646}"/>
              </a:ext>
            </a:extLst>
          </p:cNvPr>
          <p:cNvSpPr>
            <a:spLocks noGrp="1"/>
          </p:cNvSpPr>
          <p:nvPr/>
        </p:nvSpPr>
        <p:spPr>
          <a:xfrm>
            <a:off x="6350435" y="5263337"/>
            <a:ext cx="457751" cy="1077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chemeClr val="bg1"/>
                </a:solidFill>
              </a:rPr>
              <a:t>New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B172C-C8EB-6002-8E31-5E9A7A09080B}"/>
              </a:ext>
            </a:extLst>
          </p:cNvPr>
          <p:cNvSpPr>
            <a:spLocks noGrp="1"/>
          </p:cNvSpPr>
          <p:nvPr/>
        </p:nvSpPr>
        <p:spPr>
          <a:xfrm>
            <a:off x="6231649" y="4517029"/>
            <a:ext cx="709478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chemeClr val="bg1"/>
                </a:solidFill>
              </a:rPr>
              <a:t>From </a:t>
            </a:r>
            <a:r>
              <a:rPr sz="700" b="1" dirty="0">
                <a:solidFill>
                  <a:schemeClr val="bg1"/>
                </a:solidFill>
              </a:rPr>
              <a:t>Outreach Readiness</a:t>
            </a:r>
            <a:r>
              <a:rPr lang="en-US" sz="700" b="1" dirty="0">
                <a:solidFill>
                  <a:schemeClr val="bg1"/>
                </a:solidFill>
              </a:rPr>
              <a:t> Score</a:t>
            </a:r>
            <a:endParaRPr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05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83C72D-3773-4BB6-8C22-3CCAFE6C3F15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3970B5-5399-4974-A296-C2990453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2.2 Bundle Choice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7288834-6BEC-49DA-AEC4-49BCC0024AFF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10DAD2-981C-449C-B4DE-EF58BB52921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BEE862-399A-40DD-930B-934BD56AE34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F2B9B1-11E7-4ED3-A79F-86304B7B9BB2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3791D4BC-9261-4CAB-8D07-39603CE51AEA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17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7A258A-8B1C-4356-BC0D-C3376C765E02}"/>
              </a:ext>
            </a:extLst>
          </p:cNvPr>
          <p:cNvSpPr>
            <a:spLocks noGrp="1"/>
          </p:cNvSpPr>
          <p:nvPr/>
        </p:nvSpPr>
        <p:spPr>
          <a:xfrm>
            <a:off x="566928" y="1534095"/>
            <a:ext cx="11018520" cy="800458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Suggested split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target Plus for the highest bundle-fit sellers in the outreach ready group; use the </a:t>
            </a:r>
            <a:r>
              <a:rPr sz="14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top 40%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as a practical starting point.</a:t>
            </a:r>
          </a:p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Future improvement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calibrate this split with response, conversion, and upgrade data after outreach starts.</a:t>
            </a:r>
          </a:p>
        </p:txBody>
      </p:sp>
      <p:graphicFrame>
        <p:nvGraphicFramePr>
          <p:cNvPr id="19" name="Table 0"/>
          <p:cNvGraphicFramePr/>
          <p:nvPr/>
        </p:nvGraphicFramePr>
        <p:xfrm>
          <a:off x="566926" y="2542032"/>
          <a:ext cx="3758331" cy="3079830"/>
        </p:xfrm>
        <a:graphic>
          <a:graphicData uri="http://schemas.openxmlformats.org/drawingml/2006/table">
            <a:tbl>
              <a:tblPr/>
              <a:tblGrid>
                <a:gridCol w="198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Targeted for </a:t>
                      </a:r>
                      <a:r>
                        <a:rPr sz="10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Plus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Targeted for </a:t>
                      </a:r>
                      <a:r>
                        <a:rPr sz="10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Basic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Selected Sellers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384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576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fees per seller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€2,230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€389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paid visibility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89.6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68.9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paid product breadth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70.7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listing volume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85.6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69.1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bundle fit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69.6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outreach readiness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77.5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72.0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1734" y="2748219"/>
            <a:ext cx="6949440" cy="281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44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7D7BC3C-4E43-4B33-9D2B-2331A8CBEBC6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5C97FD-0AF1-45E7-AA68-F68974A7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2.3 Recommendations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C8C8DE6-4588-4104-A0F8-62A18C5AB2EC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B0DA92-1A77-460E-90C9-BE3FBFE9D8B7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6BE351-6632-41C6-8B2C-66976C26F13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CF9695-E86B-4C51-B487-CB5B65B33961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CA4F0F04-7E96-4FD3-A920-9A69A51C86A4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18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C8EB14-55DC-486A-B81F-05106B4B7A56}"/>
              </a:ext>
            </a:extLst>
          </p:cNvPr>
          <p:cNvSpPr>
            <a:spLocks noGrp="1"/>
          </p:cNvSpPr>
          <p:nvPr/>
        </p:nvSpPr>
        <p:spPr>
          <a:xfrm>
            <a:off x="566928" y="13716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9F9D23-42C4-4EDC-830D-A7C93633E6E1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the outreach ready group for the first outreach batch.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5A66F8-F3C9-47FF-AAC5-D6E58DAA384D}"/>
              </a:ext>
            </a:extLst>
          </p:cNvPr>
          <p:cNvSpPr>
            <a:spLocks noGrp="1"/>
          </p:cNvSpPr>
          <p:nvPr/>
        </p:nvSpPr>
        <p:spPr>
          <a:xfrm>
            <a:off x="566928" y="2331720"/>
            <a:ext cx="10789920" cy="86109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5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It keeps commercial value in the model, but avoids over-indexing on historical spend.</a:t>
            </a:r>
          </a:p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5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It adds sellers who are active, consistent, multi-category, growing, and already familiar with paid products.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FD01522-36F0-480E-B019-6DAB7B1410F0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Next Step: Outcome-Based Ranking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2C62E7A-CF4D-4F2A-A13A-981638FD4748}"/>
              </a:ext>
            </a:extLst>
          </p:cNvPr>
          <p:cNvSpPr>
            <a:spLocks noGrp="1"/>
          </p:cNvSpPr>
          <p:nvPr/>
        </p:nvSpPr>
        <p:spPr>
          <a:xfrm>
            <a:off x="566928" y="4370832"/>
            <a:ext cx="10789920" cy="100584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After initial outreach, supervised learning could replace the manual score.</a:t>
            </a:r>
          </a:p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Train on response, conversion, and post-signup value.</a:t>
            </a:r>
          </a:p>
          <a:p>
            <a:pPr marL="285750" indent="-285750">
              <a:lnSpc>
                <a:spcPct val="150000"/>
              </a:lnSpc>
              <a:buClr>
                <a:srgbClr val="37AFFF"/>
              </a:buClr>
              <a:buSzPct val="90000"/>
              <a:buFont typeface="Arial"/>
              <a:buChar char="■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Keep the ranking explainable for Sales and leadership.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DDF34-6AED-1808-0AA8-239A1EE6EC7A}"/>
              </a:ext>
            </a:extLst>
          </p:cNvPr>
          <p:cNvSpPr>
            <a:spLocks noGrp="1"/>
          </p:cNvSpPr>
          <p:nvPr/>
        </p:nvSpPr>
        <p:spPr>
          <a:xfrm>
            <a:off x="457200" y="3157849"/>
            <a:ext cx="8579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>
                <a:solidFill>
                  <a:srgbClr val="A7A7A7"/>
                </a:solidFill>
                <a:latin typeface="Arial"/>
                <a:ea typeface="Arial"/>
                <a:cs typeface="Arial"/>
              </a:rPr>
              <a:t>Full seller-level CSV available as </a:t>
            </a:r>
            <a:r>
              <a:rPr sz="14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q2_scored_sellers.csv</a:t>
            </a:r>
          </a:p>
        </p:txBody>
      </p:sp>
    </p:spTree>
    <p:extLst>
      <p:ext uri="{BB962C8B-B14F-4D97-AF65-F5344CB8AC3E}">
        <p14:creationId xmlns:p14="http://schemas.microsoft.com/office/powerpoint/2010/main" val="859545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6C7B35-F983-423C-8F4E-758CD8C034A5}"/>
              </a:ext>
            </a:extLst>
          </p:cNvPr>
          <p:cNvSpPr>
            <a:spLocks noGrp="1"/>
          </p:cNvSpPr>
          <p:nvPr/>
        </p:nvSpPr>
        <p:spPr>
          <a:xfrm>
            <a:off x="609905" y="899770"/>
            <a:ext cx="3600907" cy="38953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D5117C-9FE6-45DD-BBE9-9A897AA865B4}"/>
              </a:ext>
            </a:extLst>
          </p:cNvPr>
          <p:cNvSpPr>
            <a:spLocks noGrp="1"/>
          </p:cNvSpPr>
          <p:nvPr/>
        </p:nvSpPr>
        <p:spPr>
          <a:xfrm>
            <a:off x="1033272" y="92354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F38E96-A200-475A-A2E0-A165A1F4986F}"/>
              </a:ext>
            </a:extLst>
          </p:cNvPr>
          <p:cNvSpPr>
            <a:spLocks noGrp="1"/>
          </p:cNvSpPr>
          <p:nvPr/>
        </p:nvSpPr>
        <p:spPr>
          <a:xfrm>
            <a:off x="609905" y="1399946"/>
            <a:ext cx="3600907" cy="38953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7E7092-E34D-4E73-8AAC-CC13AE675844}"/>
              </a:ext>
            </a:extLst>
          </p:cNvPr>
          <p:cNvSpPr>
            <a:spLocks noGrp="1"/>
          </p:cNvSpPr>
          <p:nvPr/>
        </p:nvSpPr>
        <p:spPr>
          <a:xfrm>
            <a:off x="1033272" y="14356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1A5F39-C3B2-4723-A414-A8BD8784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2257654"/>
            <a:ext cx="10500055" cy="829361"/>
          </a:xfrm>
          <a:prstGeom prst="rect">
            <a:avLst/>
          </a:prstGeom>
          <a:noFill/>
        </p:spPr>
        <p:txBody>
          <a:bodyPr lIns="0" tIns="0" rIns="0" bIns="0" anchor="t">
            <a:normAutofit fontScale="90000"/>
          </a:bodyPr>
          <a:lstStyle/>
          <a:p>
            <a:pPr marL="0" indent="0">
              <a:buNone/>
            </a:pPr>
            <a:r>
              <a:rPr sz="7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062BA5-2C8B-4B6D-8A58-6855FB5EA0C9}"/>
              </a:ext>
            </a:extLst>
          </p:cNvPr>
          <p:cNvSpPr>
            <a:spLocks noGrp="1"/>
          </p:cNvSpPr>
          <p:nvPr/>
        </p:nvSpPr>
        <p:spPr>
          <a:xfrm>
            <a:off x="2240280" y="2852928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5F2DD6-DBE3-471E-B246-ADF661E875E4}"/>
              </a:ext>
            </a:extLst>
          </p:cNvPr>
          <p:cNvSpPr>
            <a:spLocks noGrp="1"/>
          </p:cNvSpPr>
          <p:nvPr/>
        </p:nvSpPr>
        <p:spPr>
          <a:xfrm>
            <a:off x="512064" y="3377794"/>
            <a:ext cx="9999878" cy="36027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2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689423-93F6-4B24-A15A-42946F565DE4}"/>
              </a:ext>
            </a:extLst>
          </p:cNvPr>
          <p:cNvSpPr>
            <a:spLocks noGrp="1"/>
          </p:cNvSpPr>
          <p:nvPr/>
        </p:nvSpPr>
        <p:spPr>
          <a:xfrm>
            <a:off x="609905" y="4590288"/>
            <a:ext cx="3600907" cy="38953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B6669B-1B45-43F5-BD19-C39082CEE303}"/>
              </a:ext>
            </a:extLst>
          </p:cNvPr>
          <p:cNvSpPr>
            <a:spLocks noGrp="1"/>
          </p:cNvSpPr>
          <p:nvPr/>
        </p:nvSpPr>
        <p:spPr>
          <a:xfrm>
            <a:off x="1033272" y="48920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DFD736-5842-4BCA-818A-1557F2E2A375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DF1FE70-3554-45B9-933A-8664D4BE574A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 algn="r">
              <a:buNone/>
            </a:pPr>
            <a:fld id="{85029A3C-6871-4475-9CB4-EC517BDA1CC6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19</a:t>
            </a:fld>
            <a:endParaRPr sz="9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5020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DF04A0-2147-0E1D-EC01-04234D286E6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2E8CA2-D38E-A5F6-6535-1BAB3E41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Dashboard Framing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1CC9BA-99F5-1299-E998-16DE2D71BD9B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7C24A0-ED26-35B5-B436-672D6341852B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450DB8-3631-D104-5763-0C7522C9F58D}"/>
              </a:ext>
            </a:extLst>
          </p:cNvPr>
          <p:cNvSpPr>
            <a:spLocks noGrp="1"/>
          </p:cNvSpPr>
          <p:nvPr/>
        </p:nvSpPr>
        <p:spPr>
          <a:xfrm>
            <a:off x="459440" y="6319624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Bundles</a:t>
            </a:r>
            <a:r>
              <a:rPr sz="75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EA7BD3-9162-6515-26F0-76DDDB82B572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5C52A50B-E3E5-4446-ABD2-0F1761E50DF2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20</a:t>
            </a:fld>
            <a:endParaRPr sz="750" dirty="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97A03C0-6F09-7EC1-2F10-A8CD43531455}"/>
              </a:ext>
            </a:extLst>
          </p:cNvPr>
          <p:cNvSpPr>
            <a:spLocks noGrp="1"/>
          </p:cNvSpPr>
          <p:nvPr/>
        </p:nvSpPr>
        <p:spPr>
          <a:xfrm>
            <a:off x="713232" y="1556878"/>
            <a:ext cx="10378440" cy="8007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20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Goal: monitor whether </a:t>
            </a:r>
            <a:r>
              <a:rPr lang="en-US" sz="1220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b</a:t>
            </a:r>
            <a:r>
              <a:rPr sz="1220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undles are gaining traction, converting to paid usage, and creating measurable value.</a:t>
            </a:r>
          </a:p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2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Use controls such as filters and breakdown dimensions for deep-dive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EA30B6-F0F4-E1B0-E837-C6A9DCE1FAF8}"/>
              </a:ext>
            </a:extLst>
          </p:cNvPr>
          <p:cNvSpPr>
            <a:spLocks noGrp="1"/>
          </p:cNvSpPr>
          <p:nvPr/>
        </p:nvSpPr>
        <p:spPr>
          <a:xfrm>
            <a:off x="658368" y="3048714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Structure: Three Dashboard Views</a:t>
            </a:r>
          </a:p>
        </p:txBody>
      </p:sp>
      <p:sp>
        <p:nvSpPr>
          <p:cNvPr id="11" name="Dashboard Card Background 1">
            <a:extLst>
              <a:ext uri="{FF2B5EF4-FFF2-40B4-BE49-F238E27FC236}">
                <a16:creationId xmlns:a16="http://schemas.microsoft.com/office/drawing/2014/main" id="{FA86A0F9-A7D6-4A48-1403-DDD6C97272FE}"/>
              </a:ext>
            </a:extLst>
          </p:cNvPr>
          <p:cNvSpPr>
            <a:spLocks noGrp="1"/>
          </p:cNvSpPr>
          <p:nvPr/>
        </p:nvSpPr>
        <p:spPr>
          <a:xfrm>
            <a:off x="6583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Dashboard Card Header 1">
            <a:extLst>
              <a:ext uri="{FF2B5EF4-FFF2-40B4-BE49-F238E27FC236}">
                <a16:creationId xmlns:a16="http://schemas.microsoft.com/office/drawing/2014/main" id="{0EACA922-017F-B713-3A45-4629B1D130DE}"/>
              </a:ext>
            </a:extLst>
          </p:cNvPr>
          <p:cNvSpPr>
            <a:spLocks noGrp="1"/>
          </p:cNvSpPr>
          <p:nvPr/>
        </p:nvSpPr>
        <p:spPr>
          <a:xfrm>
            <a:off x="6583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ashboard Card Accent 1">
            <a:extLst>
              <a:ext uri="{FF2B5EF4-FFF2-40B4-BE49-F238E27FC236}">
                <a16:creationId xmlns:a16="http://schemas.microsoft.com/office/drawing/2014/main" id="{5FEA9728-5DA3-0D46-F07C-396610533A1D}"/>
              </a:ext>
            </a:extLst>
          </p:cNvPr>
          <p:cNvSpPr>
            <a:spLocks noGrp="1"/>
          </p:cNvSpPr>
          <p:nvPr/>
        </p:nvSpPr>
        <p:spPr>
          <a:xfrm>
            <a:off x="6583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Dashboard Card Text 1">
            <a:extLst>
              <a:ext uri="{FF2B5EF4-FFF2-40B4-BE49-F238E27FC236}">
                <a16:creationId xmlns:a16="http://schemas.microsoft.com/office/drawing/2014/main" id="{5422DB5E-7496-D9B3-47F9-1782DA01DFFF}"/>
              </a:ext>
            </a:extLst>
          </p:cNvPr>
          <p:cNvSpPr>
            <a:spLocks noGrp="1"/>
          </p:cNvSpPr>
          <p:nvPr/>
        </p:nvSpPr>
        <p:spPr>
          <a:xfrm>
            <a:off x="841248" y="3615642"/>
            <a:ext cx="3072384" cy="15975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58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Sales Overview</a:t>
            </a:r>
          </a:p>
          <a:p>
            <a:pPr algn="l">
              <a:buNone/>
            </a:pPr>
            <a:endParaRPr sz="158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Track launch traction and monetized adoption</a:t>
            </a: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gaining commercial traction?</a:t>
            </a:r>
          </a:p>
        </p:txBody>
      </p:sp>
      <p:sp>
        <p:nvSpPr>
          <p:cNvPr id="15" name="Dashboard Card Background 2">
            <a:extLst>
              <a:ext uri="{FF2B5EF4-FFF2-40B4-BE49-F238E27FC236}">
                <a16:creationId xmlns:a16="http://schemas.microsoft.com/office/drawing/2014/main" id="{082DDE1C-2208-0D63-87BD-77731588B172}"/>
              </a:ext>
            </a:extLst>
          </p:cNvPr>
          <p:cNvSpPr>
            <a:spLocks noGrp="1"/>
          </p:cNvSpPr>
          <p:nvPr/>
        </p:nvSpPr>
        <p:spPr>
          <a:xfrm>
            <a:off x="43159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Dashboard Card Header 2">
            <a:extLst>
              <a:ext uri="{FF2B5EF4-FFF2-40B4-BE49-F238E27FC236}">
                <a16:creationId xmlns:a16="http://schemas.microsoft.com/office/drawing/2014/main" id="{38CDA7EB-6AA6-E63A-BCC4-BE9D6D1718BA}"/>
              </a:ext>
            </a:extLst>
          </p:cNvPr>
          <p:cNvSpPr>
            <a:spLocks noGrp="1"/>
          </p:cNvSpPr>
          <p:nvPr/>
        </p:nvSpPr>
        <p:spPr>
          <a:xfrm>
            <a:off x="43159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ashboard Card Accent 2">
            <a:extLst>
              <a:ext uri="{FF2B5EF4-FFF2-40B4-BE49-F238E27FC236}">
                <a16:creationId xmlns:a16="http://schemas.microsoft.com/office/drawing/2014/main" id="{11F1FEB9-9D0D-E082-C3BD-9466EDC8E433}"/>
              </a:ext>
            </a:extLst>
          </p:cNvPr>
          <p:cNvSpPr>
            <a:spLocks noGrp="1"/>
          </p:cNvSpPr>
          <p:nvPr/>
        </p:nvSpPr>
        <p:spPr>
          <a:xfrm>
            <a:off x="43159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Dashboard Card Text 2">
            <a:extLst>
              <a:ext uri="{FF2B5EF4-FFF2-40B4-BE49-F238E27FC236}">
                <a16:creationId xmlns:a16="http://schemas.microsoft.com/office/drawing/2014/main" id="{29ABE1F6-B7D3-79FD-4DF4-B180D3E661DB}"/>
              </a:ext>
            </a:extLst>
          </p:cNvPr>
          <p:cNvSpPr>
            <a:spLocks noGrp="1"/>
          </p:cNvSpPr>
          <p:nvPr/>
        </p:nvSpPr>
        <p:spPr>
          <a:xfrm>
            <a:off x="4498848" y="3615642"/>
            <a:ext cx="3072384" cy="15975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58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Customer Quality</a:t>
            </a:r>
          </a:p>
          <a:p>
            <a:pPr algn="l">
              <a:buNone/>
            </a:pPr>
            <a:endParaRPr sz="158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Monitor conversion, retention, and segment differences</a:t>
            </a: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registrations becoming retained paid customers?</a:t>
            </a:r>
          </a:p>
        </p:txBody>
      </p:sp>
      <p:sp>
        <p:nvSpPr>
          <p:cNvPr id="19" name="Dashboard Card Background 3">
            <a:extLst>
              <a:ext uri="{FF2B5EF4-FFF2-40B4-BE49-F238E27FC236}">
                <a16:creationId xmlns:a16="http://schemas.microsoft.com/office/drawing/2014/main" id="{E540D3F2-7069-7B37-F800-F3BBC7D8E670}"/>
              </a:ext>
            </a:extLst>
          </p:cNvPr>
          <p:cNvSpPr>
            <a:spLocks noGrp="1"/>
          </p:cNvSpPr>
          <p:nvPr/>
        </p:nvSpPr>
        <p:spPr>
          <a:xfrm>
            <a:off x="79735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Dashboard Card Header 3">
            <a:extLst>
              <a:ext uri="{FF2B5EF4-FFF2-40B4-BE49-F238E27FC236}">
                <a16:creationId xmlns:a16="http://schemas.microsoft.com/office/drawing/2014/main" id="{BDDCF686-4EF6-AD1C-7C36-CAC386BBB382}"/>
              </a:ext>
            </a:extLst>
          </p:cNvPr>
          <p:cNvSpPr>
            <a:spLocks noGrp="1"/>
          </p:cNvSpPr>
          <p:nvPr/>
        </p:nvSpPr>
        <p:spPr>
          <a:xfrm>
            <a:off x="79735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Dashboard Card Accent 3">
            <a:extLst>
              <a:ext uri="{FF2B5EF4-FFF2-40B4-BE49-F238E27FC236}">
                <a16:creationId xmlns:a16="http://schemas.microsoft.com/office/drawing/2014/main" id="{BF009DF8-606E-5DF6-C6A8-F7F3EF6A2B4F}"/>
              </a:ext>
            </a:extLst>
          </p:cNvPr>
          <p:cNvSpPr>
            <a:spLocks noGrp="1"/>
          </p:cNvSpPr>
          <p:nvPr/>
        </p:nvSpPr>
        <p:spPr>
          <a:xfrm>
            <a:off x="79735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Dashboard Card Text 3">
            <a:extLst>
              <a:ext uri="{FF2B5EF4-FFF2-40B4-BE49-F238E27FC236}">
                <a16:creationId xmlns:a16="http://schemas.microsoft.com/office/drawing/2014/main" id="{447D090E-8188-2D6C-7FB0-25A3207C0695}"/>
              </a:ext>
            </a:extLst>
          </p:cNvPr>
          <p:cNvSpPr>
            <a:spLocks noGrp="1"/>
          </p:cNvSpPr>
          <p:nvPr/>
        </p:nvSpPr>
        <p:spPr>
          <a:xfrm>
            <a:off x="8156448" y="3615642"/>
            <a:ext cx="3072384" cy="15975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58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Business Impact</a:t>
            </a:r>
          </a:p>
          <a:p>
            <a:pPr algn="l">
              <a:buNone/>
            </a:pPr>
            <a:endParaRPr sz="158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Quantify value for Marktplaats and sellers</a:t>
            </a: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creating measurable value?</a:t>
            </a:r>
          </a:p>
        </p:txBody>
      </p:sp>
    </p:spTree>
    <p:extLst>
      <p:ext uri="{BB962C8B-B14F-4D97-AF65-F5344CB8AC3E}">
        <p14:creationId xmlns:p14="http://schemas.microsoft.com/office/powerpoint/2010/main" val="3238813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ction-number">
            <a:extLst>
              <a:ext uri="{FF2B5EF4-FFF2-40B4-BE49-F238E27FC236}">
                <a16:creationId xmlns:a16="http://schemas.microsoft.com/office/drawing/2014/main" id="{7EA2E581-747D-420F-9D6C-45143A5423D5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360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29693E8-1580-4BFE-841E-9556A365D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Potential Data Enrichments</a:t>
            </a:r>
          </a:p>
        </p:txBody>
      </p:sp>
      <p:sp>
        <p:nvSpPr>
          <p:cNvPr id="3" name="top-divider">
            <a:extLst>
              <a:ext uri="{FF2B5EF4-FFF2-40B4-BE49-F238E27FC236}">
                <a16:creationId xmlns:a16="http://schemas.microsoft.com/office/drawing/2014/main" id="{829B8094-D498-4D4E-B860-9F6B8C8ABE73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0"/>
          </a:xfrm>
          <a:prstGeom prst="line">
            <a:avLst/>
          </a:prstGeom>
          <a:noFill/>
          <a:ln w="12668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tegory-title">
            <a:extLst>
              <a:ext uri="{FF2B5EF4-FFF2-40B4-BE49-F238E27FC236}">
                <a16:creationId xmlns:a16="http://schemas.microsoft.com/office/drawing/2014/main" id="{072C07EE-A31C-4484-91E2-151C7B1DCD9C}"/>
              </a:ext>
            </a:extLst>
          </p:cNvPr>
          <p:cNvSpPr>
            <a:spLocks noGrp="1"/>
          </p:cNvSpPr>
          <p:nvPr/>
        </p:nvSpPr>
        <p:spPr>
          <a:xfrm>
            <a:off x="828675" y="1991102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New Segment Dimensions</a:t>
            </a:r>
          </a:p>
        </p:txBody>
      </p:sp>
      <p:sp>
        <p:nvSpPr>
          <p:cNvPr id="7" name="row-label">
            <a:extLst>
              <a:ext uri="{FF2B5EF4-FFF2-40B4-BE49-F238E27FC236}">
                <a16:creationId xmlns:a16="http://schemas.microsoft.com/office/drawing/2014/main" id="{882329F5-1724-4CF9-B32B-2F7A2A5B628D}"/>
              </a:ext>
            </a:extLst>
          </p:cNvPr>
          <p:cNvSpPr>
            <a:spLocks noGrp="1"/>
          </p:cNvSpPr>
          <p:nvPr/>
        </p:nvSpPr>
        <p:spPr>
          <a:xfrm>
            <a:off x="933450" y="2657289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Required datasets</a:t>
            </a:r>
          </a:p>
        </p:txBody>
      </p:sp>
      <p:sp>
        <p:nvSpPr>
          <p:cNvPr id="9" name="bullet-text">
            <a:extLst>
              <a:ext uri="{FF2B5EF4-FFF2-40B4-BE49-F238E27FC236}">
                <a16:creationId xmlns:a16="http://schemas.microsoft.com/office/drawing/2014/main" id="{6D7EB708-0F57-4F26-9F83-38B0EC7C8864}"/>
              </a:ext>
            </a:extLst>
          </p:cNvPr>
          <p:cNvSpPr>
            <a:spLocks noGrp="1"/>
          </p:cNvSpPr>
          <p:nvPr/>
        </p:nvSpPr>
        <p:spPr>
          <a:xfrm>
            <a:off x="933450" y="2943038"/>
            <a:ext cx="4724400" cy="9433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rgbClr val="3DDC97"/>
              </a:buClr>
              <a:buSzPct val="90000"/>
              <a:buFont typeface="Arial"/>
              <a:buChar char="■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Seller activity and spend history</a:t>
            </a:r>
            <a:endParaRPr lang="en-US" sz="1400" dirty="0">
              <a:solidFill>
                <a:srgbClr val="D9D9D9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lnSpc>
                <a:spcPct val="150000"/>
              </a:lnSpc>
              <a:buClr>
                <a:srgbClr val="3DDC97"/>
              </a:buClr>
              <a:buSzPct val="90000"/>
              <a:buFont typeface="Arial"/>
              <a:buChar char="■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Outreach history by seller</a:t>
            </a:r>
          </a:p>
        </p:txBody>
      </p:sp>
      <p:sp>
        <p:nvSpPr>
          <p:cNvPr id="13" name="row-label">
            <a:extLst>
              <a:ext uri="{FF2B5EF4-FFF2-40B4-BE49-F238E27FC236}">
                <a16:creationId xmlns:a16="http://schemas.microsoft.com/office/drawing/2014/main" id="{6F1130E3-64D8-497F-9837-A1F87B28AAB8}"/>
              </a:ext>
            </a:extLst>
          </p:cNvPr>
          <p:cNvSpPr>
            <a:spLocks noGrp="1"/>
          </p:cNvSpPr>
          <p:nvPr/>
        </p:nvSpPr>
        <p:spPr>
          <a:xfrm>
            <a:off x="933450" y="395520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Resulting dimensions</a:t>
            </a:r>
          </a:p>
        </p:txBody>
      </p:sp>
      <p:sp>
        <p:nvSpPr>
          <p:cNvPr id="14" name="output-tag">
            <a:extLst>
              <a:ext uri="{FF2B5EF4-FFF2-40B4-BE49-F238E27FC236}">
                <a16:creationId xmlns:a16="http://schemas.microsoft.com/office/drawing/2014/main" id="{F4B2660B-40B9-418B-9327-5C4640693A46}"/>
              </a:ext>
            </a:extLst>
          </p:cNvPr>
          <p:cNvSpPr>
            <a:spLocks noGrp="1"/>
          </p:cNvSpPr>
          <p:nvPr/>
        </p:nvSpPr>
        <p:spPr>
          <a:xfrm>
            <a:off x="933450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utput-tag-text">
            <a:extLst>
              <a:ext uri="{FF2B5EF4-FFF2-40B4-BE49-F238E27FC236}">
                <a16:creationId xmlns:a16="http://schemas.microsoft.com/office/drawing/2014/main" id="{A47956CA-9D8E-4DD9-BED0-4AFBDA3B6DC2}"/>
              </a:ext>
            </a:extLst>
          </p:cNvPr>
          <p:cNvSpPr>
            <a:spLocks noGrp="1"/>
          </p:cNvSpPr>
          <p:nvPr/>
        </p:nvSpPr>
        <p:spPr>
          <a:xfrm>
            <a:off x="1028700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SMB likelihood</a:t>
            </a:r>
          </a:p>
        </p:txBody>
      </p:sp>
      <p:sp>
        <p:nvSpPr>
          <p:cNvPr id="16" name="output-tag">
            <a:extLst>
              <a:ext uri="{FF2B5EF4-FFF2-40B4-BE49-F238E27FC236}">
                <a16:creationId xmlns:a16="http://schemas.microsoft.com/office/drawing/2014/main" id="{28512F38-5BDA-43D7-8F06-DBA8DE0A5A91}"/>
              </a:ext>
            </a:extLst>
          </p:cNvPr>
          <p:cNvSpPr>
            <a:spLocks noGrp="1"/>
          </p:cNvSpPr>
          <p:nvPr/>
        </p:nvSpPr>
        <p:spPr>
          <a:xfrm>
            <a:off x="3381375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utput-tag-text">
            <a:extLst>
              <a:ext uri="{FF2B5EF4-FFF2-40B4-BE49-F238E27FC236}">
                <a16:creationId xmlns:a16="http://schemas.microsoft.com/office/drawing/2014/main" id="{2BEF7CCC-9948-4124-9967-E8F49F629C24}"/>
              </a:ext>
            </a:extLst>
          </p:cNvPr>
          <p:cNvSpPr>
            <a:spLocks noGrp="1"/>
          </p:cNvSpPr>
          <p:nvPr/>
        </p:nvSpPr>
        <p:spPr>
          <a:xfrm>
            <a:off x="3476625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Outreach readiness</a:t>
            </a:r>
          </a:p>
        </p:txBody>
      </p:sp>
      <p:sp>
        <p:nvSpPr>
          <p:cNvPr id="18" name="output-tag">
            <a:extLst>
              <a:ext uri="{FF2B5EF4-FFF2-40B4-BE49-F238E27FC236}">
                <a16:creationId xmlns:a16="http://schemas.microsoft.com/office/drawing/2014/main" id="{D07902D0-D612-4610-8753-2A5770998922}"/>
              </a:ext>
            </a:extLst>
          </p:cNvPr>
          <p:cNvSpPr>
            <a:spLocks noGrp="1"/>
          </p:cNvSpPr>
          <p:nvPr/>
        </p:nvSpPr>
        <p:spPr>
          <a:xfrm>
            <a:off x="933450" y="469815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utput-tag-text">
            <a:extLst>
              <a:ext uri="{FF2B5EF4-FFF2-40B4-BE49-F238E27FC236}">
                <a16:creationId xmlns:a16="http://schemas.microsoft.com/office/drawing/2014/main" id="{6D2072D1-ADFB-4C83-B976-A50BFB7C2C3A}"/>
              </a:ext>
            </a:extLst>
          </p:cNvPr>
          <p:cNvSpPr>
            <a:spLocks noGrp="1"/>
          </p:cNvSpPr>
          <p:nvPr/>
        </p:nvSpPr>
        <p:spPr>
          <a:xfrm>
            <a:off x="1028700" y="474578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Seller activity tier</a:t>
            </a:r>
          </a:p>
        </p:txBody>
      </p:sp>
      <p:sp>
        <p:nvSpPr>
          <p:cNvPr id="20" name="output-tag">
            <a:extLst>
              <a:ext uri="{FF2B5EF4-FFF2-40B4-BE49-F238E27FC236}">
                <a16:creationId xmlns:a16="http://schemas.microsoft.com/office/drawing/2014/main" id="{A8CFB9DF-6788-4C44-BE19-BACDEFFAC838}"/>
              </a:ext>
            </a:extLst>
          </p:cNvPr>
          <p:cNvSpPr>
            <a:spLocks noGrp="1"/>
          </p:cNvSpPr>
          <p:nvPr/>
        </p:nvSpPr>
        <p:spPr>
          <a:xfrm>
            <a:off x="3381375" y="469815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utput-tag-text">
            <a:extLst>
              <a:ext uri="{FF2B5EF4-FFF2-40B4-BE49-F238E27FC236}">
                <a16:creationId xmlns:a16="http://schemas.microsoft.com/office/drawing/2014/main" id="{7088C75C-7527-438A-9A62-D351538BB310}"/>
              </a:ext>
            </a:extLst>
          </p:cNvPr>
          <p:cNvSpPr>
            <a:spLocks noGrp="1"/>
          </p:cNvSpPr>
          <p:nvPr/>
        </p:nvSpPr>
        <p:spPr>
          <a:xfrm>
            <a:off x="3476625" y="474578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Historical spend tier</a:t>
            </a:r>
          </a:p>
        </p:txBody>
      </p:sp>
      <p:sp>
        <p:nvSpPr>
          <p:cNvPr id="24" name="category-title">
            <a:extLst>
              <a:ext uri="{FF2B5EF4-FFF2-40B4-BE49-F238E27FC236}">
                <a16:creationId xmlns:a16="http://schemas.microsoft.com/office/drawing/2014/main" id="{D855FF9E-38A7-4764-9D1A-F01C89AFAB8E}"/>
              </a:ext>
            </a:extLst>
          </p:cNvPr>
          <p:cNvSpPr>
            <a:spLocks noGrp="1"/>
          </p:cNvSpPr>
          <p:nvPr/>
        </p:nvSpPr>
        <p:spPr>
          <a:xfrm>
            <a:off x="6572250" y="1991102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Impact Measurement</a:t>
            </a:r>
          </a:p>
        </p:txBody>
      </p:sp>
      <p:sp>
        <p:nvSpPr>
          <p:cNvPr id="31" name="row-label">
            <a:extLst>
              <a:ext uri="{FF2B5EF4-FFF2-40B4-BE49-F238E27FC236}">
                <a16:creationId xmlns:a16="http://schemas.microsoft.com/office/drawing/2014/main" id="{854BDF39-0F85-4EBF-8FE2-0C39A0685F04}"/>
              </a:ext>
            </a:extLst>
          </p:cNvPr>
          <p:cNvSpPr>
            <a:spLocks noGrp="1"/>
          </p:cNvSpPr>
          <p:nvPr/>
        </p:nvSpPr>
        <p:spPr>
          <a:xfrm>
            <a:off x="6572250" y="395520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Resulting measures</a:t>
            </a:r>
          </a:p>
        </p:txBody>
      </p:sp>
      <p:sp>
        <p:nvSpPr>
          <p:cNvPr id="32" name="output-tag">
            <a:extLst>
              <a:ext uri="{FF2B5EF4-FFF2-40B4-BE49-F238E27FC236}">
                <a16:creationId xmlns:a16="http://schemas.microsoft.com/office/drawing/2014/main" id="{2A2DEB06-3C7A-4941-87E0-C294CB1987D4}"/>
              </a:ext>
            </a:extLst>
          </p:cNvPr>
          <p:cNvSpPr>
            <a:spLocks noGrp="1"/>
          </p:cNvSpPr>
          <p:nvPr/>
        </p:nvSpPr>
        <p:spPr>
          <a:xfrm>
            <a:off x="6572250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utput-tag-text">
            <a:extLst>
              <a:ext uri="{FF2B5EF4-FFF2-40B4-BE49-F238E27FC236}">
                <a16:creationId xmlns:a16="http://schemas.microsoft.com/office/drawing/2014/main" id="{1F315630-B107-492C-B760-21C35B0EA332}"/>
              </a:ext>
            </a:extLst>
          </p:cNvPr>
          <p:cNvSpPr>
            <a:spLocks noGrp="1"/>
          </p:cNvSpPr>
          <p:nvPr/>
        </p:nvSpPr>
        <p:spPr>
          <a:xfrm>
            <a:off x="6667500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Actual revenue from bundles</a:t>
            </a:r>
          </a:p>
        </p:txBody>
      </p:sp>
      <p:sp>
        <p:nvSpPr>
          <p:cNvPr id="34" name="output-tag">
            <a:extLst>
              <a:ext uri="{FF2B5EF4-FFF2-40B4-BE49-F238E27FC236}">
                <a16:creationId xmlns:a16="http://schemas.microsoft.com/office/drawing/2014/main" id="{0CDD72A3-BF0D-4872-8EF0-0FB2825C95A0}"/>
              </a:ext>
            </a:extLst>
          </p:cNvPr>
          <p:cNvSpPr>
            <a:spLocks noGrp="1"/>
          </p:cNvSpPr>
          <p:nvPr/>
        </p:nvSpPr>
        <p:spPr>
          <a:xfrm>
            <a:off x="9020175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utput-tag-text">
            <a:extLst>
              <a:ext uri="{FF2B5EF4-FFF2-40B4-BE49-F238E27FC236}">
                <a16:creationId xmlns:a16="http://schemas.microsoft.com/office/drawing/2014/main" id="{BDC02603-B09F-45A3-81AD-3AB7A66F8DC2}"/>
              </a:ext>
            </a:extLst>
          </p:cNvPr>
          <p:cNvSpPr>
            <a:spLocks noGrp="1"/>
          </p:cNvSpPr>
          <p:nvPr/>
        </p:nvSpPr>
        <p:spPr>
          <a:xfrm>
            <a:off x="9115425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Leads per seller</a:t>
            </a:r>
          </a:p>
        </p:txBody>
      </p:sp>
      <p:sp>
        <p:nvSpPr>
          <p:cNvPr id="36" name="bottom-divider">
            <a:extLst>
              <a:ext uri="{FF2B5EF4-FFF2-40B4-BE49-F238E27FC236}">
                <a16:creationId xmlns:a16="http://schemas.microsoft.com/office/drawing/2014/main" id="{A4B54A1A-44A3-4139-BB3C-9104DD97113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footer-title">
            <a:extLst>
              <a:ext uri="{FF2B5EF4-FFF2-40B4-BE49-F238E27FC236}">
                <a16:creationId xmlns:a16="http://schemas.microsoft.com/office/drawing/2014/main" id="{6CF3CCF5-FC03-4E64-B47D-524109648E2E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marL="0" indent="0" algn="l">
              <a:defRPr sz="750">
                <a:solidFill>
                  <a:srgbClr val="A8A8A8"/>
                </a:solidFill>
                <a:latin typeface="Arial"/>
                <a:ea typeface="Arial"/>
                <a:cs typeface="Arial"/>
              </a:defRPr>
            </a:pPr>
            <a:r>
              <a:rPr sz="75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Bundles Dashboard</a:t>
            </a:r>
          </a:p>
        </p:txBody>
      </p:sp>
      <p:sp>
        <p:nvSpPr>
          <p:cNvPr id="38" name="footer-page">
            <a:extLst>
              <a:ext uri="{FF2B5EF4-FFF2-40B4-BE49-F238E27FC236}">
                <a16:creationId xmlns:a16="http://schemas.microsoft.com/office/drawing/2014/main" id="{D00CA8F4-0B31-4F7E-91CB-E536BDAD751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239136" y="6291072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92856650-4CBD-4068-9115-1D19DB09850B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21</a:t>
            </a:fld>
            <a:endParaRPr sz="750" dirty="0">
              <a:solidFill>
                <a:srgbClr val="A6A6A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bullet-text">
            <a:extLst>
              <a:ext uri="{FF2B5EF4-FFF2-40B4-BE49-F238E27FC236}">
                <a16:creationId xmlns:a16="http://schemas.microsoft.com/office/drawing/2014/main" id="{DAA62085-3F64-8932-BBE0-852834B5D24A}"/>
              </a:ext>
            </a:extLst>
          </p:cNvPr>
          <p:cNvSpPr>
            <a:spLocks noGrp="1"/>
          </p:cNvSpPr>
          <p:nvPr/>
        </p:nvSpPr>
        <p:spPr>
          <a:xfrm>
            <a:off x="6667500" y="2943038"/>
            <a:ext cx="4724400" cy="9433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rgbClr val="3DDC97"/>
              </a:buClr>
              <a:buSzPct val="90000"/>
              <a:buFont typeface="Arial"/>
              <a:buChar char="■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revenue by seller and period</a:t>
            </a:r>
          </a:p>
          <a:p>
            <a:pPr marL="171450" indent="-171450">
              <a:lnSpc>
                <a:spcPct val="150000"/>
              </a:lnSpc>
              <a:buClr>
                <a:srgbClr val="3DDC97"/>
              </a:buClr>
              <a:buSzPct val="90000"/>
              <a:buFont typeface="Arial"/>
              <a:buChar char="■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Seller leads time series</a:t>
            </a:r>
          </a:p>
        </p:txBody>
      </p:sp>
      <p:sp>
        <p:nvSpPr>
          <p:cNvPr id="41" name="row-label">
            <a:extLst>
              <a:ext uri="{FF2B5EF4-FFF2-40B4-BE49-F238E27FC236}">
                <a16:creationId xmlns:a16="http://schemas.microsoft.com/office/drawing/2014/main" id="{1E41F92D-13E6-E734-36C1-2EE9A4383581}"/>
              </a:ext>
            </a:extLst>
          </p:cNvPr>
          <p:cNvSpPr>
            <a:spLocks noGrp="1"/>
          </p:cNvSpPr>
          <p:nvPr/>
        </p:nvSpPr>
        <p:spPr>
          <a:xfrm>
            <a:off x="6667500" y="2657289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Required datasets</a:t>
            </a:r>
          </a:p>
        </p:txBody>
      </p:sp>
    </p:spTree>
    <p:extLst>
      <p:ext uri="{BB962C8B-B14F-4D97-AF65-F5344CB8AC3E}">
        <p14:creationId xmlns:p14="http://schemas.microsoft.com/office/powerpoint/2010/main" val="1863001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CCFC3-2BA1-4AF9-B5DA-F9BE83711BA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7362FC-09B4-4900-A1C7-16DB39F40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 Sales Overview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7F9820-2A09-473E-9DF6-245A827FC36D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C63E70-0480-441B-B800-3FBA90D57739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0EE94E-9ED5-493D-9090-1B2F3EB7949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Bundles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54AE53-F326-414B-B1E4-51D3F7938866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CDAE4163-013F-4353-AF60-7059EC4AABEA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22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1AA4C55-897C-E486-30E1-7CC79E3B2262}"/>
              </a:ext>
            </a:extLst>
          </p:cNvPr>
          <p:cNvSpPr>
            <a:spLocks noGrp="1"/>
          </p:cNvSpPr>
          <p:nvPr/>
        </p:nvSpPr>
        <p:spPr>
          <a:xfrm>
            <a:off x="713232" y="2465401"/>
            <a:ext cx="10332720" cy="32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is the latest headline readout?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0B1B998A-0D92-C82C-22E5-E59587629547}"/>
              </a:ext>
            </a:extLst>
          </p:cNvPr>
          <p:cNvSpPr>
            <a:spLocks noGrp="1"/>
          </p:cNvSpPr>
          <p:nvPr/>
        </p:nvSpPr>
        <p:spPr>
          <a:xfrm>
            <a:off x="68580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F0FBC6D7-CDC2-10D3-715E-1BB9DC3F3D2F}"/>
              </a:ext>
            </a:extLst>
          </p:cNvPr>
          <p:cNvSpPr>
            <a:spLocks noGrp="1"/>
          </p:cNvSpPr>
          <p:nvPr/>
        </p:nvSpPr>
        <p:spPr>
          <a:xfrm>
            <a:off x="68580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C35B6179-AACE-BD6F-9523-6370C8F0F73A}"/>
              </a:ext>
            </a:extLst>
          </p:cNvPr>
          <p:cNvSpPr>
            <a:spLocks noGrp="1"/>
          </p:cNvSpPr>
          <p:nvPr/>
        </p:nvSpPr>
        <p:spPr>
          <a:xfrm>
            <a:off x="813816" y="318777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2025-04-29</a:t>
            </a: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3338F3-8A09-4622-72FE-0F09C16E79B9}"/>
              </a:ext>
            </a:extLst>
          </p:cNvPr>
          <p:cNvSpPr>
            <a:spLocks noGrp="1"/>
          </p:cNvSpPr>
          <p:nvPr/>
        </p:nvSpPr>
        <p:spPr>
          <a:xfrm>
            <a:off x="813816" y="351695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Reference date</a:t>
            </a: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2495EE56-9E33-219F-E644-73947C8D84CA}"/>
              </a:ext>
            </a:extLst>
          </p:cNvPr>
          <p:cNvSpPr>
            <a:spLocks noGrp="1"/>
          </p:cNvSpPr>
          <p:nvPr/>
        </p:nvSpPr>
        <p:spPr>
          <a:xfrm>
            <a:off x="438912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BA20CD5D-96C4-11A3-2522-DB759D8D769A}"/>
              </a:ext>
            </a:extLst>
          </p:cNvPr>
          <p:cNvSpPr>
            <a:spLocks noGrp="1"/>
          </p:cNvSpPr>
          <p:nvPr/>
        </p:nvSpPr>
        <p:spPr>
          <a:xfrm>
            <a:off x="438912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E92F90E2-5031-97FE-EB2F-553CB0B4F51A}"/>
              </a:ext>
            </a:extLst>
          </p:cNvPr>
          <p:cNvSpPr>
            <a:spLocks noGrp="1"/>
          </p:cNvSpPr>
          <p:nvPr/>
        </p:nvSpPr>
        <p:spPr>
          <a:xfrm>
            <a:off x="4517136" y="318777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2,709 (+0% w/w)</a:t>
            </a: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A4485A5A-0068-34BB-AAEC-D237C1C349B7}"/>
              </a:ext>
            </a:extLst>
          </p:cNvPr>
          <p:cNvSpPr>
            <a:spLocks noGrp="1"/>
          </p:cNvSpPr>
          <p:nvPr/>
        </p:nvSpPr>
        <p:spPr>
          <a:xfrm>
            <a:off x="4517136" y="351695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Active paid bundles</a:t>
            </a: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E8D8C2EB-B52A-DFFA-973A-DA8CF0E43B2E}"/>
              </a:ext>
            </a:extLst>
          </p:cNvPr>
          <p:cNvSpPr>
            <a:spLocks noGrp="1"/>
          </p:cNvSpPr>
          <p:nvPr/>
        </p:nvSpPr>
        <p:spPr>
          <a:xfrm>
            <a:off x="809244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CF162971-27EE-C838-5AF6-9EA8FB901361}"/>
              </a:ext>
            </a:extLst>
          </p:cNvPr>
          <p:cNvSpPr>
            <a:spLocks noGrp="1"/>
          </p:cNvSpPr>
          <p:nvPr/>
        </p:nvSpPr>
        <p:spPr>
          <a:xfrm>
            <a:off x="809244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F8602653-2773-72C8-9182-F99647EC3033}"/>
              </a:ext>
            </a:extLst>
          </p:cNvPr>
          <p:cNvSpPr>
            <a:spLocks noGrp="1"/>
          </p:cNvSpPr>
          <p:nvPr/>
        </p:nvSpPr>
        <p:spPr>
          <a:xfrm>
            <a:off x="8220456" y="318777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0 (+0% w/w)</a:t>
            </a: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8F6A79B8-933C-9B1C-D67D-FDF3218B4F79}"/>
              </a:ext>
            </a:extLst>
          </p:cNvPr>
          <p:cNvSpPr>
            <a:spLocks noGrp="1"/>
          </p:cNvSpPr>
          <p:nvPr/>
        </p:nvSpPr>
        <p:spPr>
          <a:xfrm>
            <a:off x="8220456" y="351695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Active trial bundles</a:t>
            </a: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87AAA9F5-7048-69FE-0136-1CEB2A5576AC}"/>
              </a:ext>
            </a:extLst>
          </p:cNvPr>
          <p:cNvSpPr>
            <a:spLocks noGrp="1"/>
          </p:cNvSpPr>
          <p:nvPr/>
        </p:nvSpPr>
        <p:spPr>
          <a:xfrm>
            <a:off x="68580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41B56EDB-1C32-5A67-F18B-71DCA26C624F}"/>
              </a:ext>
            </a:extLst>
          </p:cNvPr>
          <p:cNvSpPr>
            <a:spLocks noGrp="1"/>
          </p:cNvSpPr>
          <p:nvPr/>
        </p:nvSpPr>
        <p:spPr>
          <a:xfrm>
            <a:off x="68580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E00D1E40-2ACC-8D27-0854-2E741812B355}"/>
              </a:ext>
            </a:extLst>
          </p:cNvPr>
          <p:cNvSpPr>
            <a:spLocks noGrp="1"/>
          </p:cNvSpPr>
          <p:nvPr/>
        </p:nvSpPr>
        <p:spPr>
          <a:xfrm>
            <a:off x="813816" y="4266764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41 (+156% vs prior 4wk)</a:t>
            </a:r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D0602E78-9123-E509-A44D-635478E78DFC}"/>
              </a:ext>
            </a:extLst>
          </p:cNvPr>
          <p:cNvSpPr>
            <a:spLocks noGrp="1"/>
          </p:cNvSpPr>
          <p:nvPr/>
        </p:nvSpPr>
        <p:spPr>
          <a:xfrm>
            <a:off x="813816" y="459594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New registration in 4wk</a:t>
            </a:r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4A9DA027-9F43-37E4-CD56-8BAD890AE15D}"/>
              </a:ext>
            </a:extLst>
          </p:cNvPr>
          <p:cNvSpPr>
            <a:spLocks noGrp="1"/>
          </p:cNvSpPr>
          <p:nvPr/>
        </p:nvSpPr>
        <p:spPr>
          <a:xfrm>
            <a:off x="438912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90A8EF38-54B4-3B5A-5D0F-8BBE8AC4EDC0}"/>
              </a:ext>
            </a:extLst>
          </p:cNvPr>
          <p:cNvSpPr>
            <a:spLocks noGrp="1"/>
          </p:cNvSpPr>
          <p:nvPr/>
        </p:nvSpPr>
        <p:spPr>
          <a:xfrm>
            <a:off x="438912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5A3BF420-1CEF-DBE1-0C5D-A4B8D4C04422}"/>
              </a:ext>
            </a:extLst>
          </p:cNvPr>
          <p:cNvSpPr>
            <a:spLocks noGrp="1"/>
          </p:cNvSpPr>
          <p:nvPr/>
        </p:nvSpPr>
        <p:spPr>
          <a:xfrm>
            <a:off x="4517136" y="4266764"/>
            <a:ext cx="2944368" cy="237744"/>
          </a:xfrm>
          <a:prstGeom prst="rect">
            <a:avLst/>
          </a:prstGeom>
          <a:noFill/>
        </p:spPr>
        <p:txBody>
          <a:bodyPr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40.9% (+0.1pp w/w)</a:t>
            </a: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A1B36AC2-DD7B-52CC-4B11-0FB1FD870343}"/>
              </a:ext>
            </a:extLst>
          </p:cNvPr>
          <p:cNvSpPr>
            <a:spLocks noGrp="1"/>
          </p:cNvSpPr>
          <p:nvPr/>
        </p:nvSpPr>
        <p:spPr>
          <a:xfrm>
            <a:off x="4517136" y="459594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Plus share of active paid bundles</a:t>
            </a:r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8A3EB60E-EF41-EFDF-211E-526BDAC44B28}"/>
              </a:ext>
            </a:extLst>
          </p:cNvPr>
          <p:cNvSpPr>
            <a:spLocks noGrp="1"/>
          </p:cNvSpPr>
          <p:nvPr/>
        </p:nvSpPr>
        <p:spPr>
          <a:xfrm>
            <a:off x="809244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7ADE43E9-A3E2-3F76-3607-16A5C334F2D3}"/>
              </a:ext>
            </a:extLst>
          </p:cNvPr>
          <p:cNvSpPr>
            <a:spLocks noGrp="1"/>
          </p:cNvSpPr>
          <p:nvPr/>
        </p:nvSpPr>
        <p:spPr>
          <a:xfrm>
            <a:off x="809244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213645EE-733D-B030-9D50-6AF388D9521E}"/>
              </a:ext>
            </a:extLst>
          </p:cNvPr>
          <p:cNvSpPr>
            <a:spLocks noGrp="1"/>
          </p:cNvSpPr>
          <p:nvPr/>
        </p:nvSpPr>
        <p:spPr>
          <a:xfrm>
            <a:off x="8220456" y="4266764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€88,373 (+0% vs prior 4wk)</a:t>
            </a: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C0AEFDED-4714-8C71-92CE-D2C0323C4AAB}"/>
              </a:ext>
            </a:extLst>
          </p:cNvPr>
          <p:cNvSpPr>
            <a:spLocks noGrp="1"/>
          </p:cNvSpPr>
          <p:nvPr/>
        </p:nvSpPr>
        <p:spPr>
          <a:xfrm>
            <a:off x="8220456" y="459594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Modeled revenue in 4wk</a:t>
            </a: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9E83545F-8161-3F4E-4497-E6EF9BDF1AB7}"/>
              </a:ext>
            </a:extLst>
          </p:cNvPr>
          <p:cNvSpPr>
            <a:spLocks noGrp="1"/>
          </p:cNvSpPr>
          <p:nvPr/>
        </p:nvSpPr>
        <p:spPr>
          <a:xfrm>
            <a:off x="771753" y="1889329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KPI Snapshot</a:t>
            </a:r>
          </a:p>
        </p:txBody>
      </p:sp>
    </p:spTree>
    <p:extLst>
      <p:ext uri="{BB962C8B-B14F-4D97-AF65-F5344CB8AC3E}">
        <p14:creationId xmlns:p14="http://schemas.microsoft.com/office/powerpoint/2010/main" val="827643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43CBDC-15CF-4FD6-BAF8-648EF13B930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80C87D-6B47-4F85-BA37-D4CCBBB8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 Sales Overview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B58373-DD56-4C43-8980-0CF39102A893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4B9F87-7BEE-47BC-A231-2734BA0990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8CD75E-6416-428B-8B39-416B49AA6E85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Bundles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7359604-B39C-4B33-885C-0FD825A00D25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D82DD91F-1293-4D43-B3D8-3E4442521163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23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1B0F46E-DBB1-477A-88D8-13F5F0D0A325}"/>
              </a:ext>
            </a:extLst>
          </p:cNvPr>
          <p:cNvSpPr>
            <a:spLocks noGrp="1"/>
          </p:cNvSpPr>
          <p:nvPr/>
        </p:nvSpPr>
        <p:spPr>
          <a:xfrm>
            <a:off x="713232" y="1865037"/>
            <a:ext cx="10378440" cy="8525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Is launch demand growing, stable, or fading?</a:t>
            </a:r>
          </a:p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date range, customer type (SYI/Pro), bundle type.</a:t>
            </a:r>
            <a:endParaRPr lang="en-US" sz="1200" dirty="0">
              <a:solidFill>
                <a:srgbClr val="A8A8A8"/>
              </a:solidFill>
              <a:latin typeface="Arial"/>
              <a:ea typeface="Arial"/>
              <a:cs typeface="Arial"/>
            </a:endParaRPr>
          </a:p>
          <a:p>
            <a:pPr marL="292000" indent="-220000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Registrations = trial starts, not paid subscriptions start.</a:t>
            </a:r>
          </a:p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endParaRPr sz="1200" dirty="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926081"/>
            <a:ext cx="7635240" cy="320040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B6868E87-5826-9A5F-B86F-E312696514EE}"/>
              </a:ext>
            </a:extLst>
          </p:cNvPr>
          <p:cNvSpPr>
            <a:spLocks noGrp="1"/>
          </p:cNvSpPr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New Registrations Trend</a:t>
            </a:r>
          </a:p>
        </p:txBody>
      </p:sp>
    </p:spTree>
    <p:extLst>
      <p:ext uri="{BB962C8B-B14F-4D97-AF65-F5344CB8AC3E}">
        <p14:creationId xmlns:p14="http://schemas.microsoft.com/office/powerpoint/2010/main" val="238414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F581EA-79D6-4AB2-AF37-9AD814573844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2E9BD6-4402-4E60-89E8-46A98544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 Sales Overview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BB4CB9-6579-4FCA-A7B5-711A3254DB4B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3E2E7D8-DA64-430F-94D9-B81254E5FC00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7C2C42-3C3C-46A6-A751-8A8AC7FA915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Bundles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1A0549-079A-4D2D-B5F9-E623BCE8D40B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E0CA69D4-DB3B-4882-81B7-C849229B997B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24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B6D9A5-AA38-4341-94B1-A16B499750AC}"/>
              </a:ext>
            </a:extLst>
          </p:cNvPr>
          <p:cNvSpPr>
            <a:spLocks noGrp="1"/>
          </p:cNvSpPr>
          <p:nvPr/>
        </p:nvSpPr>
        <p:spPr>
          <a:xfrm>
            <a:off x="713232" y="1922724"/>
            <a:ext cx="10378440" cy="64943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Is the bundle base turning into paid adoption?</a:t>
            </a:r>
          </a:p>
          <a:p>
            <a:pPr marL="292000" indent="-220000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date range, customer type (SYI/Pro), bundle</a:t>
            </a:r>
            <a:r>
              <a:rPr lang="en-US"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 type</a:t>
            </a:r>
            <a:r>
              <a:rPr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638436"/>
            <a:ext cx="7738110" cy="3200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0F9658F8-8548-26DF-6B8C-5704492E8516}"/>
              </a:ext>
            </a:extLst>
          </p:cNvPr>
          <p:cNvSpPr>
            <a:spLocks noGrp="1"/>
          </p:cNvSpPr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Active Bundles Trend</a:t>
            </a:r>
          </a:p>
        </p:txBody>
      </p:sp>
    </p:spTree>
    <p:extLst>
      <p:ext uri="{BB962C8B-B14F-4D97-AF65-F5344CB8AC3E}">
        <p14:creationId xmlns:p14="http://schemas.microsoft.com/office/powerpoint/2010/main" val="256076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8FA0AD-35B1-4D02-BE40-0A075AB9D7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27F828-59BA-488C-9D54-39BF2146F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4. Customer Quality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21819F-316D-4E83-A28E-32666378B7F4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3BFD10D-FC15-4B8F-89DD-A52E897AA9FB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D1C93E-07AE-4930-A926-4C98B405DEAE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Bundles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4D966C-5285-4E97-87EF-71DB755F73FF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9109963C-4B7B-4A83-8753-B61E9ED3B55A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25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7BB1421-DDB5-9E85-3D1C-FD586F742C58}"/>
              </a:ext>
            </a:extLst>
          </p:cNvPr>
          <p:cNvSpPr>
            <a:spLocks noGrp="1"/>
          </p:cNvSpPr>
          <p:nvPr/>
        </p:nvSpPr>
        <p:spPr>
          <a:xfrm>
            <a:off x="771752" y="1953221"/>
            <a:ext cx="6536869" cy="52683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Do cohorts stay active paid after trial and later billing cycles?</a:t>
            </a:r>
          </a:p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Blank</a:t>
            </a:r>
            <a:r>
              <a:rPr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 cells are immature checkpoints, not zero conversion.</a:t>
            </a: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29" y="2737745"/>
            <a:ext cx="6986016" cy="314553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506444A7-9A74-279D-60CE-0E3F27417A54}"/>
              </a:ext>
            </a:extLst>
          </p:cNvPr>
          <p:cNvSpPr>
            <a:spLocks noGrp="1"/>
          </p:cNvSpPr>
          <p:nvPr/>
        </p:nvSpPr>
        <p:spPr>
          <a:xfrm>
            <a:off x="835829" y="1453273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Cohort Health</a:t>
            </a:r>
          </a:p>
        </p:txBody>
      </p:sp>
    </p:spTree>
    <p:extLst>
      <p:ext uri="{BB962C8B-B14F-4D97-AF65-F5344CB8AC3E}">
        <p14:creationId xmlns:p14="http://schemas.microsoft.com/office/powerpoint/2010/main" val="938507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5BCBA3-485D-0558-7581-02CD4A1946AD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6E0E7D-5FCB-B0B3-C8A3-E5665E90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4. Customer Quality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CF010D-5742-E6DD-7CAC-8B81CAAF9623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F38785-A7A0-008C-F42E-02F57BCCE287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A9E207-5DBF-DF91-B077-A025146CB8D3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Bundles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9D9A72-3C4F-04BE-543A-9DEABE220422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A4A5D063-3EC0-43EA-80A4-BAACA416A7EB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26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61B29F-6FBF-D771-CD5F-1B6C231F8C58}"/>
              </a:ext>
            </a:extLst>
          </p:cNvPr>
          <p:cNvSpPr>
            <a:spLocks noGrp="1"/>
          </p:cNvSpPr>
          <p:nvPr/>
        </p:nvSpPr>
        <p:spPr>
          <a:xfrm>
            <a:off x="713232" y="2078918"/>
            <a:ext cx="10332720" cy="10113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Which segments changed sharply in the last 4 weeks? </a:t>
            </a: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Highlights where follow-up is most urgent.</a:t>
            </a:r>
          </a:p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displayed metrics can be dynamically selected, as well as comparison time window.</a:t>
            </a:r>
          </a:p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dummy data. </a:t>
            </a:r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57" y="3298748"/>
            <a:ext cx="5760720" cy="2692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BFB4888C-4C22-D83C-3207-DB830EBE601B}"/>
              </a:ext>
            </a:extLst>
          </p:cNvPr>
          <p:cNvSpPr>
            <a:spLocks noGrp="1"/>
          </p:cNvSpPr>
          <p:nvPr/>
        </p:nvSpPr>
        <p:spPr>
          <a:xfrm>
            <a:off x="771753" y="1586073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Segment Change Alerts</a:t>
            </a:r>
          </a:p>
        </p:txBody>
      </p:sp>
    </p:spTree>
    <p:extLst>
      <p:ext uri="{BB962C8B-B14F-4D97-AF65-F5344CB8AC3E}">
        <p14:creationId xmlns:p14="http://schemas.microsoft.com/office/powerpoint/2010/main" val="4126449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027184-365F-4B7A-902D-8C3A6E809844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4128BC-B6BE-4BEA-AFB3-9BA05459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5. Business Impact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075CCD-3F00-4519-AA98-AC62B0D29CE1}"/>
              </a:ext>
            </a:extLst>
          </p:cNvPr>
          <p:cNvSpPr>
            <a:spLocks noGrp="1"/>
          </p:cNvSpPr>
          <p:nvPr/>
        </p:nvSpPr>
        <p:spPr>
          <a:xfrm>
            <a:off x="457200" y="117356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0C0EA1E-1121-4CA8-A053-E60593ABB32F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86DF39-089F-4AEB-A50D-EB3A7BBA7F0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Bundles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B74FB3-B9E2-4375-BA49-59FC567D61D9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E0E3D248-CD5D-4B42-A322-E3E4CAF3426B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27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0B213D9-F323-42EE-7B73-B36DCDBEE3C9}"/>
              </a:ext>
            </a:extLst>
          </p:cNvPr>
          <p:cNvSpPr>
            <a:spLocks noGrp="1"/>
          </p:cNvSpPr>
          <p:nvPr/>
        </p:nvSpPr>
        <p:spPr>
          <a:xfrm>
            <a:off x="847998" y="2254291"/>
            <a:ext cx="6277571" cy="54172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Is paid adoption translating into subscription revenue?</a:t>
            </a:r>
          </a:p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modeled from intervals and list prices; not invoiced or incremental revenue.</a:t>
            </a:r>
          </a:p>
        </p:txBody>
      </p:sp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3251626"/>
            <a:ext cx="6774180" cy="2720340"/>
          </a:xfrm>
          <a:prstGeom prst="rect">
            <a:avLst/>
          </a:prstGeom>
        </p:spPr>
      </p:pic>
      <p:pic>
        <p:nvPicPr>
          <p:cNvPr id="2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545" y="3288707"/>
            <a:ext cx="3202940" cy="1840865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DE05CE03-24EE-389B-775A-73B47F056831}"/>
              </a:ext>
            </a:extLst>
          </p:cNvPr>
          <p:cNvSpPr>
            <a:spLocks noGrp="1"/>
          </p:cNvSpPr>
          <p:nvPr/>
        </p:nvSpPr>
        <p:spPr>
          <a:xfrm>
            <a:off x="953774" y="1798913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Modeled Bundle Revenue</a:t>
            </a:r>
          </a:p>
        </p:txBody>
      </p:sp>
    </p:spTree>
    <p:extLst>
      <p:ext uri="{BB962C8B-B14F-4D97-AF65-F5344CB8AC3E}">
        <p14:creationId xmlns:p14="http://schemas.microsoft.com/office/powerpoint/2010/main" val="547172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D806BF-4978-4552-A5E3-F2FDC07D8DB4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F2DBAC-03A9-4C3B-B20F-E3AE6CBB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5. Business Impact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451A02-14CC-44F9-9E3B-CCB1BF0071CE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DF7C42-EA79-4D50-B3BF-CCB0BDFB7FA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B3FA32-10E2-4ED5-9E31-29F412402297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Bundles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B73A01-15FB-4D06-BE66-9707E4EC7398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27FCF691-FF34-46A0-B5AA-2287F638F0D9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28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7EFAAD0-DB62-4909-94D2-196F8FCC2800}"/>
              </a:ext>
            </a:extLst>
          </p:cNvPr>
          <p:cNvSpPr>
            <a:spLocks noGrp="1"/>
          </p:cNvSpPr>
          <p:nvPr/>
        </p:nvSpPr>
        <p:spPr>
          <a:xfrm>
            <a:off x="713232" y="1873512"/>
            <a:ext cx="5577104" cy="97493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Do bundles help sellers generate more leads?</a:t>
            </a:r>
          </a:p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breakdown by bundle type, </a:t>
            </a:r>
          </a:p>
          <a:p>
            <a:pPr marL="292000" indent="-220000" algn="l">
              <a:lnSpc>
                <a:spcPct val="150000"/>
              </a:lnSpc>
              <a:buClr>
                <a:srgbClr val="3DDC97"/>
              </a:buClr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dummy data, requires seller-level lead data</a:t>
            </a: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783" y="1817370"/>
            <a:ext cx="5676900" cy="358140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6C844CF1-7CFA-C0E8-8EBA-570160ED3754}"/>
              </a:ext>
            </a:extLst>
          </p:cNvPr>
          <p:cNvSpPr>
            <a:spLocks noGrp="1"/>
          </p:cNvSpPr>
          <p:nvPr/>
        </p:nvSpPr>
        <p:spPr>
          <a:xfrm>
            <a:off x="953774" y="1376285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Seller Outcome Uplift</a:t>
            </a:r>
          </a:p>
        </p:txBody>
      </p:sp>
    </p:spTree>
    <p:extLst>
      <p:ext uri="{BB962C8B-B14F-4D97-AF65-F5344CB8AC3E}">
        <p14:creationId xmlns:p14="http://schemas.microsoft.com/office/powerpoint/2010/main" val="2073120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01 Inactive">
            <a:extLst>
              <a:ext uri="{FF2B5EF4-FFF2-40B4-BE49-F238E27FC236}">
                <a16:creationId xmlns:a16="http://schemas.microsoft.com/office/drawing/2014/main" id="{62738EC0-C933-449C-8FB3-CE8BB3142FAF}"/>
              </a:ext>
            </a:extLst>
          </p:cNvPr>
          <p:cNvSpPr>
            <a:spLocks noGrp="1"/>
          </p:cNvSpPr>
          <p:nvPr/>
        </p:nvSpPr>
        <p:spPr>
          <a:xfrm>
            <a:off x="609600" y="900112"/>
            <a:ext cx="3600450" cy="3895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Section 02 Inactive">
            <a:extLst>
              <a:ext uri="{FF2B5EF4-FFF2-40B4-BE49-F238E27FC236}">
                <a16:creationId xmlns:a16="http://schemas.microsoft.com/office/drawing/2014/main" id="{FDFEDFC3-26E9-4B24-87D5-236B19D9B713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3600450" cy="3895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6" name="Section 04 Subtitle">
            <a:extLst>
              <a:ext uri="{FF2B5EF4-FFF2-40B4-BE49-F238E27FC236}">
                <a16:creationId xmlns:a16="http://schemas.microsoft.com/office/drawing/2014/main" id="{4D6C88EA-8D19-4B33-9105-517FFC0E209B}"/>
              </a:ext>
            </a:extLst>
          </p:cNvPr>
          <p:cNvSpPr>
            <a:spLocks noGrp="1"/>
          </p:cNvSpPr>
          <p:nvPr/>
        </p:nvSpPr>
        <p:spPr>
          <a:xfrm>
            <a:off x="512445" y="3960000"/>
            <a:ext cx="10000298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200">
                <a:solidFill>
                  <a:srgbClr val="A7A7A7"/>
                </a:solidFill>
                <a:latin typeface="Arial"/>
                <a:ea typeface="Arial"/>
                <a:cs typeface="Arial"/>
              </a:rPr>
              <a:t>Use Lifecycle and in-product prompts to grow adoption</a:t>
            </a:r>
          </a:p>
        </p:txBody>
      </p:sp>
      <p:sp>
        <p:nvSpPr>
          <p:cNvPr id="7" name="Section 03 Inactive">
            <a:extLst>
              <a:ext uri="{FF2B5EF4-FFF2-40B4-BE49-F238E27FC236}">
                <a16:creationId xmlns:a16="http://schemas.microsoft.com/office/drawing/2014/main" id="{6CDF294D-FF0F-46BE-96FC-C9373C3C46A2}"/>
              </a:ext>
            </a:extLst>
          </p:cNvPr>
          <p:cNvSpPr>
            <a:spLocks noGrp="1"/>
          </p:cNvSpPr>
          <p:nvPr/>
        </p:nvSpPr>
        <p:spPr>
          <a:xfrm>
            <a:off x="609600" y="1900238"/>
            <a:ext cx="3600450" cy="3895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8" name="Section 04 Active">
            <a:extLst>
              <a:ext uri="{FF2B5EF4-FFF2-40B4-BE49-F238E27FC236}">
                <a16:creationId xmlns:a16="http://schemas.microsoft.com/office/drawing/2014/main" id="{1DA90371-9C35-46C3-A736-F56A0AC40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45" y="2840000"/>
            <a:ext cx="10500360" cy="8296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70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9" name="Bottom Separator">
            <a:extLst>
              <a:ext uri="{FF2B5EF4-FFF2-40B4-BE49-F238E27FC236}">
                <a16:creationId xmlns:a16="http://schemas.microsoft.com/office/drawing/2014/main" id="{18552653-DEBE-4B0C-B00D-86EFDF2B226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Q4 preview page marker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F9442015-2543-4FCA-9BA6-4A0839C4A41B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29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4683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A2EB33-492A-4527-876E-340C33B6C793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AE9937-1586-4FC1-B917-2BC3061C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Campaign Objective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2B2766-BC51-4B99-9478-7AA39BBF13BD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ACAB77-3A41-479E-8A80-F51C1D31BE9F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5D2684-A6EB-45B5-B20D-3E200CF0C8ED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6DF18776-FDFB-4A36-BF36-15E77D8A96AE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30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3580C83-C660-4734-B7B3-7B44E1A2D974}"/>
              </a:ext>
            </a:extLst>
          </p:cNvPr>
          <p:cNvSpPr>
            <a:spLocks noGrp="1"/>
          </p:cNvSpPr>
          <p:nvPr/>
        </p:nvSpPr>
        <p:spPr>
          <a:xfrm>
            <a:off x="621792" y="141732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Promote bundles to active sellers with a high SMB likelihood score, then focus </a:t>
            </a:r>
            <a:r>
              <a:rPr lang="en-US" sz="150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on</a:t>
            </a:r>
            <a:r>
              <a:rPr sz="150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 the strongest audience by Readiness Score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4FC4D2-7BA5-4F2D-A1AA-0EB406EDBF3C}"/>
              </a:ext>
            </a:extLst>
          </p:cNvPr>
          <p:cNvSpPr>
            <a:spLocks noGrp="1"/>
          </p:cNvSpPr>
          <p:nvPr/>
        </p:nvSpPr>
        <p:spPr>
          <a:xfrm>
            <a:off x="621792" y="25303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1800" b="1" dirty="0">
                <a:solidFill>
                  <a:srgbClr val="FF7A59"/>
                </a:solidFill>
                <a:latin typeface="Arial"/>
                <a:ea typeface="Arial"/>
                <a:cs typeface="Arial"/>
              </a:rPr>
              <a:t>1. Campaign Objective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C629E9-7216-425D-8DEF-C908AA3B87D1}"/>
              </a:ext>
            </a:extLst>
          </p:cNvPr>
          <p:cNvSpPr>
            <a:spLocks noGrp="1"/>
          </p:cNvSpPr>
          <p:nvPr/>
        </p:nvSpPr>
        <p:spPr>
          <a:xfrm>
            <a:off x="621792" y="2923579"/>
            <a:ext cx="5120640" cy="15792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50000"/>
              </a:lnSpc>
              <a:buClr>
                <a:srgbClr val="FF7A59"/>
              </a:buClr>
              <a:buSzPct val="90000"/>
              <a:buFont typeface="Arial"/>
              <a:buChar char="■"/>
            </a:pPr>
            <a:r>
              <a:rPr sz="1400" dirty="0">
                <a:solidFill>
                  <a:srgbClr val="D9D9D9"/>
                </a:solidFill>
              </a:rPr>
              <a:t>Promote SMB bundles to active sellers with a high SMB likelihood score (from question #1).</a:t>
            </a:r>
          </a:p>
          <a:p>
            <a:pPr marL="285750" indent="-285750">
              <a:lnSpc>
                <a:spcPct val="150000"/>
              </a:lnSpc>
              <a:buClr>
                <a:srgbClr val="FF7A59"/>
              </a:buClr>
              <a:buSzPct val="90000"/>
              <a:buFont typeface="Arial"/>
              <a:buChar char="■"/>
            </a:pPr>
            <a:r>
              <a:rPr sz="1400" dirty="0">
                <a:solidFill>
                  <a:srgbClr val="D9D9D9"/>
                </a:solidFill>
              </a:rPr>
              <a:t>Start with sellers who also have a high readiness score (from question #2), then expand to broader seller groups.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0B4C0D2-6C1B-4E9B-AAC4-DB8E008BF5FE}"/>
              </a:ext>
            </a:extLst>
          </p:cNvPr>
          <p:cNvSpPr>
            <a:spLocks noGrp="1"/>
          </p:cNvSpPr>
          <p:nvPr/>
        </p:nvSpPr>
        <p:spPr>
          <a:xfrm>
            <a:off x="6492239" y="2530388"/>
            <a:ext cx="3304903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Potential Future Campaigns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B79DC9-175C-4B8F-B448-75B5471032A9}"/>
              </a:ext>
            </a:extLst>
          </p:cNvPr>
          <p:cNvSpPr>
            <a:spLocks noGrp="1"/>
          </p:cNvSpPr>
          <p:nvPr/>
        </p:nvSpPr>
        <p:spPr>
          <a:xfrm>
            <a:off x="6492240" y="2923579"/>
            <a:ext cx="4663440" cy="148395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>
              <a:lnSpc>
                <a:spcPct val="150000"/>
              </a:lnSpc>
              <a:buClr>
                <a:srgbClr val="FF7A59"/>
              </a:buClr>
              <a:buSzPct val="90000"/>
              <a:buFont typeface="Arial"/>
              <a:buChar char="■"/>
            </a:pPr>
            <a:r>
              <a:rPr sz="1400" dirty="0">
                <a:solidFill>
                  <a:srgbClr val="D9D9D9"/>
                </a:solidFill>
              </a:rPr>
              <a:t>Reactivation campaign for SMB sellers with declining performance.</a:t>
            </a:r>
          </a:p>
          <a:p>
            <a:pPr marL="285750" indent="-285750">
              <a:buClr>
                <a:srgbClr val="FF7A59"/>
              </a:buClr>
              <a:buSzPct val="90000"/>
              <a:buFont typeface="Arial"/>
              <a:buChar char="■"/>
            </a:pPr>
            <a:r>
              <a:rPr sz="1400" dirty="0">
                <a:solidFill>
                  <a:srgbClr val="D9D9D9"/>
                </a:solidFill>
              </a:rPr>
              <a:t>Upsell campaign from Basic to Plus.</a:t>
            </a:r>
          </a:p>
        </p:txBody>
      </p:sp>
    </p:spTree>
    <p:extLst>
      <p:ext uri="{BB962C8B-B14F-4D97-AF65-F5344CB8AC3E}">
        <p14:creationId xmlns:p14="http://schemas.microsoft.com/office/powerpoint/2010/main" val="12091881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573ADA-40B7-4806-B511-68E46D4A0570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8F2014-EEE3-4373-97DA-EC2CB698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Target Audience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0E9F6E-45AD-4651-A879-F65AF2714F79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8295D9-3C7A-47AF-98C8-8FF971905A9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E10999-5674-4605-9645-07760F40996C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D136E832-DE00-4D31-BEE5-B6D846D6B608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31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1A2B7D-16A6-432D-A843-884694CA8DF3}"/>
              </a:ext>
            </a:extLst>
          </p:cNvPr>
          <p:cNvSpPr>
            <a:spLocks noGrp="1"/>
          </p:cNvSpPr>
          <p:nvPr/>
        </p:nvSpPr>
        <p:spPr>
          <a:xfrm>
            <a:off x="621792" y="1371599"/>
            <a:ext cx="10561320" cy="111759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20">
                <a:solidFill>
                  <a:srgbClr val="F3F4F6"/>
                </a:solidFill>
                <a:latin typeface="Arial"/>
                <a:ea typeface="Arial"/>
                <a:cs typeface="Arial"/>
              </a:rPr>
              <a:t>Base audience: </a:t>
            </a:r>
            <a:r>
              <a:rPr sz="142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active sellers without a bundle.</a:t>
            </a:r>
          </a:p>
          <a:p>
            <a:pPr marL="0" indent="0">
              <a:buNone/>
            </a:pPr>
            <a:r>
              <a:rPr sz="142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SMB-likelihood and Outreach-Readiness scores to narrow the audience focus.</a:t>
            </a:r>
          </a:p>
          <a:p>
            <a:pPr marL="0" indent="0">
              <a:buNone/>
            </a:pPr>
            <a:endParaRPr sz="1420">
              <a:solidFill>
                <a:srgbClr val="F3F4F6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</a:pPr>
            <a:r>
              <a:rPr sz="1420">
                <a:solidFill>
                  <a:srgbClr val="F3F4F6"/>
                </a:solidFill>
                <a:latin typeface="Arial"/>
                <a:ea typeface="Arial"/>
                <a:cs typeface="Arial"/>
              </a:rPr>
              <a:t>Start with Tier 1; scale to other tiers if successful.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F15A6B-B2BD-46D6-876D-8D4514BBCC2E}"/>
              </a:ext>
            </a:extLst>
          </p:cNvPr>
          <p:cNvSpPr>
            <a:spLocks noGrp="1"/>
          </p:cNvSpPr>
          <p:nvPr/>
        </p:nvSpPr>
        <p:spPr>
          <a:xfrm>
            <a:off x="621792" y="2713598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Audience Segments</a:t>
            </a:r>
          </a:p>
        </p:txBody>
      </p:sp>
      <p:graphicFrame>
        <p:nvGraphicFramePr>
          <p:cNvPr id="19" name="Audience segment table"/>
          <p:cNvGraphicFramePr/>
          <p:nvPr/>
        </p:nvGraphicFramePr>
        <p:xfrm>
          <a:off x="621792" y="3120502"/>
          <a:ext cx="8626711" cy="1817999"/>
        </p:xfrm>
        <a:graphic>
          <a:graphicData uri="http://schemas.openxmlformats.org/drawingml/2006/table">
            <a:tbl>
              <a:tblPr/>
              <a:tblGrid>
                <a:gridCol w="1146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Segment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Audience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Campaign role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1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high readiness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Direct conversion push: upgrade now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2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medium readiness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Education and nurture: explain bundle benefits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3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Medium SMB likelihood + medium/low readiness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Light-touch awareness and interest validation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Excluded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Low SMB likelihood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Avoid intrusive promotion to likely consumers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830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95AD33-FC4F-4EF3-B506-F8A9AD3AF9ED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226DB4-0AA7-415B-AF6A-E0E9E926E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 Channels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73F36C-0740-4A19-A6F2-8E531A39AC72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8E867B-5609-4D17-9449-0530367DBD13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83A836-B10C-49FF-8D89-758A06CF9F6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2D9F8BED-BB52-42B0-A479-39794EDFEBB6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32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hannels intro">
            <a:extLst>
              <a:ext uri="{FF2B5EF4-FFF2-40B4-BE49-F238E27FC236}">
                <a16:creationId xmlns:a16="http://schemas.microsoft.com/office/drawing/2014/main" id="{CD101233-78AA-42D1-B545-45E4B45494E7}"/>
              </a:ext>
            </a:extLst>
          </p:cNvPr>
          <p:cNvSpPr>
            <a:spLocks noGrp="1"/>
          </p:cNvSpPr>
          <p:nvPr/>
        </p:nvSpPr>
        <p:spPr>
          <a:xfrm>
            <a:off x="621792" y="141732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two complementary channels: lifecycle CRM for behavior-triggered outreach and in-platform prompts for high-intent seller moments.</a:t>
            </a:r>
          </a:p>
        </p:txBody>
      </p:sp>
      <p:sp>
        <p:nvSpPr>
          <p:cNvPr id="9" name="Channel mix label">
            <a:extLst>
              <a:ext uri="{FF2B5EF4-FFF2-40B4-BE49-F238E27FC236}">
                <a16:creationId xmlns:a16="http://schemas.microsoft.com/office/drawing/2014/main" id="{FE6ED0E1-5BC8-45D7-89DB-FC1E9FE495D2}"/>
              </a:ext>
            </a:extLst>
          </p:cNvPr>
          <p:cNvSpPr>
            <a:spLocks noGrp="1"/>
          </p:cNvSpPr>
          <p:nvPr/>
        </p:nvSpPr>
        <p:spPr>
          <a:xfrm>
            <a:off x="621792" y="2397201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Channel Mix</a:t>
            </a:r>
          </a:p>
        </p:txBody>
      </p:sp>
      <p:sp>
        <p:nvSpPr>
          <p:cNvPr id="10" name="Lifecycle CRM card">
            <a:extLst>
              <a:ext uri="{FF2B5EF4-FFF2-40B4-BE49-F238E27FC236}">
                <a16:creationId xmlns:a16="http://schemas.microsoft.com/office/drawing/2014/main" id="{E4A25789-F2D8-41A8-843E-F3B76EFF373C}"/>
              </a:ext>
            </a:extLst>
          </p:cNvPr>
          <p:cNvSpPr>
            <a:spLocks noGrp="1"/>
          </p:cNvSpPr>
          <p:nvPr/>
        </p:nvSpPr>
        <p:spPr>
          <a:xfrm>
            <a:off x="621792" y="2875754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Lifecycle CRM accent">
            <a:extLst>
              <a:ext uri="{FF2B5EF4-FFF2-40B4-BE49-F238E27FC236}">
                <a16:creationId xmlns:a16="http://schemas.microsoft.com/office/drawing/2014/main" id="{EDC80DC6-62A0-4712-A5B6-4E6898D26BE1}"/>
              </a:ext>
            </a:extLst>
          </p:cNvPr>
          <p:cNvSpPr>
            <a:spLocks noGrp="1"/>
          </p:cNvSpPr>
          <p:nvPr/>
        </p:nvSpPr>
        <p:spPr>
          <a:xfrm>
            <a:off x="621792" y="2875754"/>
            <a:ext cx="5029200" cy="3810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Lifecycle CRM title">
            <a:extLst>
              <a:ext uri="{FF2B5EF4-FFF2-40B4-BE49-F238E27FC236}">
                <a16:creationId xmlns:a16="http://schemas.microsoft.com/office/drawing/2014/main" id="{1001FC09-01C9-470C-83EA-BCC2AB78F7C7}"/>
              </a:ext>
            </a:extLst>
          </p:cNvPr>
          <p:cNvSpPr>
            <a:spLocks noGrp="1"/>
          </p:cNvSpPr>
          <p:nvPr/>
        </p:nvSpPr>
        <p:spPr>
          <a:xfrm>
            <a:off x="804672" y="309521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Lifecycle CRM</a:t>
            </a:r>
          </a:p>
        </p:txBody>
      </p:sp>
      <p:sp>
        <p:nvSpPr>
          <p:cNvPr id="13" name="Lifecycle CRM body">
            <a:extLst>
              <a:ext uri="{FF2B5EF4-FFF2-40B4-BE49-F238E27FC236}">
                <a16:creationId xmlns:a16="http://schemas.microsoft.com/office/drawing/2014/main" id="{85C00548-3552-429D-95F0-67A02C629C6C}"/>
              </a:ext>
            </a:extLst>
          </p:cNvPr>
          <p:cNvSpPr>
            <a:spLocks noGrp="1"/>
          </p:cNvSpPr>
          <p:nvPr/>
        </p:nvSpPr>
        <p:spPr>
          <a:xfrm>
            <a:off x="804672" y="3534122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D8D8D2"/>
                </a:solidFill>
                <a:latin typeface="Arial"/>
                <a:ea typeface="Arial"/>
                <a:cs typeface="Arial"/>
              </a:rPr>
              <a:t>Email / CRM journeys triggered by seller behavior, such as repeated listing, paid-feature use, competitive-category activity.</a:t>
            </a:r>
          </a:p>
        </p:txBody>
      </p:sp>
      <p:sp>
        <p:nvSpPr>
          <p:cNvPr id="15" name="In-platform Prompts card">
            <a:extLst>
              <a:ext uri="{FF2B5EF4-FFF2-40B4-BE49-F238E27FC236}">
                <a16:creationId xmlns:a16="http://schemas.microsoft.com/office/drawing/2014/main" id="{EC2EF83F-0DC6-4E9B-BDC3-35D2F38F99D9}"/>
              </a:ext>
            </a:extLst>
          </p:cNvPr>
          <p:cNvSpPr>
            <a:spLocks noGrp="1"/>
          </p:cNvSpPr>
          <p:nvPr/>
        </p:nvSpPr>
        <p:spPr>
          <a:xfrm>
            <a:off x="6291072" y="2875754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In-platform Prompts accent">
            <a:extLst>
              <a:ext uri="{FF2B5EF4-FFF2-40B4-BE49-F238E27FC236}">
                <a16:creationId xmlns:a16="http://schemas.microsoft.com/office/drawing/2014/main" id="{1F605A98-BD6E-4963-8640-2F10F72370B1}"/>
              </a:ext>
            </a:extLst>
          </p:cNvPr>
          <p:cNvSpPr>
            <a:spLocks noGrp="1"/>
          </p:cNvSpPr>
          <p:nvPr/>
        </p:nvSpPr>
        <p:spPr>
          <a:xfrm>
            <a:off x="6291072" y="2875754"/>
            <a:ext cx="5029200" cy="3810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In-platform Prompts title">
            <a:extLst>
              <a:ext uri="{FF2B5EF4-FFF2-40B4-BE49-F238E27FC236}">
                <a16:creationId xmlns:a16="http://schemas.microsoft.com/office/drawing/2014/main" id="{F6524EEF-12C9-43C3-9DA7-8CB243932BF9}"/>
              </a:ext>
            </a:extLst>
          </p:cNvPr>
          <p:cNvSpPr>
            <a:spLocks noGrp="1"/>
          </p:cNvSpPr>
          <p:nvPr/>
        </p:nvSpPr>
        <p:spPr>
          <a:xfrm>
            <a:off x="6473952" y="309521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In-platform Prompts</a:t>
            </a:r>
          </a:p>
        </p:txBody>
      </p:sp>
      <p:sp>
        <p:nvSpPr>
          <p:cNvPr id="18" name="In-platform Prompts body">
            <a:extLst>
              <a:ext uri="{FF2B5EF4-FFF2-40B4-BE49-F238E27FC236}">
                <a16:creationId xmlns:a16="http://schemas.microsoft.com/office/drawing/2014/main" id="{38DF5FCB-768B-4A4B-8796-5514240C091B}"/>
              </a:ext>
            </a:extLst>
          </p:cNvPr>
          <p:cNvSpPr>
            <a:spLocks noGrp="1"/>
          </p:cNvSpPr>
          <p:nvPr/>
        </p:nvSpPr>
        <p:spPr>
          <a:xfrm>
            <a:off x="6473952" y="3534122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D8D8D2"/>
                </a:solidFill>
                <a:latin typeface="Arial"/>
                <a:ea typeface="Arial"/>
                <a:cs typeface="Arial"/>
              </a:rPr>
              <a:t>Prompts in high-intent seller surfaces: seller dashboard, listing creation, listing management, and paid-feature purchase flows.</a:t>
            </a:r>
          </a:p>
        </p:txBody>
      </p:sp>
    </p:spTree>
    <p:extLst>
      <p:ext uri="{BB962C8B-B14F-4D97-AF65-F5344CB8AC3E}">
        <p14:creationId xmlns:p14="http://schemas.microsoft.com/office/powerpoint/2010/main" val="21272948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28C493-5659-4D8E-875D-27BEC10A61F0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AB2D07-F7E8-4BFA-AE87-A598E1CE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3.1 Lifecycle CRM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45A2E4A-418C-4808-9249-F3B21E152B80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011BB9-A9AC-4CBE-B1EB-704FB8B27F87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8619C7-8676-4E72-B340-45F25BE30FE3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29E94443-53EE-4F1E-BDBC-79A419DD5809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33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68DF584-104A-4007-9527-8FC645CF9B66}"/>
              </a:ext>
            </a:extLst>
          </p:cNvPr>
          <p:cNvSpPr>
            <a:spLocks noGrp="1"/>
          </p:cNvSpPr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email / CRM journeys triggered by seller behavior.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3C6E4C7-1240-4D41-9F5F-D7B2109FFAD7}"/>
              </a:ext>
            </a:extLst>
          </p:cNvPr>
          <p:cNvSpPr>
            <a:spLocks noGrp="1"/>
          </p:cNvSpPr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Examples of Triggers</a:t>
            </a:r>
          </a:p>
        </p:txBody>
      </p:sp>
      <p:sp>
        <p:nvSpPr>
          <p:cNvPr id="10" name="2x2 card 1">
            <a:extLst>
              <a:ext uri="{FF2B5EF4-FFF2-40B4-BE49-F238E27FC236}">
                <a16:creationId xmlns:a16="http://schemas.microsoft.com/office/drawing/2014/main" id="{08469D4B-BCB6-4E90-90CF-237C15E5677C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2x2 card accent 1">
            <a:extLst>
              <a:ext uri="{FF2B5EF4-FFF2-40B4-BE49-F238E27FC236}">
                <a16:creationId xmlns:a16="http://schemas.microsoft.com/office/drawing/2014/main" id="{8E42F927-04B5-403B-A1C5-79360F527376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2x2 card label 1">
            <a:extLst>
              <a:ext uri="{FF2B5EF4-FFF2-40B4-BE49-F238E27FC236}">
                <a16:creationId xmlns:a16="http://schemas.microsoft.com/office/drawing/2014/main" id="{45F2912B-1F9F-436D-A3E1-2EFC7A888AD4}"/>
              </a:ext>
            </a:extLst>
          </p:cNvPr>
          <p:cNvSpPr>
            <a:spLocks noGrp="1"/>
          </p:cNvSpPr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3" name="2x2 card title 1">
            <a:extLst>
              <a:ext uri="{FF2B5EF4-FFF2-40B4-BE49-F238E27FC236}">
                <a16:creationId xmlns:a16="http://schemas.microsoft.com/office/drawing/2014/main" id="{CF221F22-B36E-4940-9DE0-CE96D1FC40F7}"/>
              </a:ext>
            </a:extLst>
          </p:cNvPr>
          <p:cNvSpPr>
            <a:spLocks noGrp="1"/>
          </p:cNvSpPr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lists repeatedly</a:t>
            </a:r>
          </a:p>
        </p:txBody>
      </p:sp>
      <p:sp>
        <p:nvSpPr>
          <p:cNvPr id="14" name="2x2 card body label 1">
            <a:extLst>
              <a:ext uri="{FF2B5EF4-FFF2-40B4-BE49-F238E27FC236}">
                <a16:creationId xmlns:a16="http://schemas.microsoft.com/office/drawing/2014/main" id="{E92302DC-B0EA-4206-9196-10615AA18D32}"/>
              </a:ext>
            </a:extLst>
          </p:cNvPr>
          <p:cNvSpPr>
            <a:spLocks noGrp="1"/>
          </p:cNvSpPr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5" name="2x2 card body 1">
            <a:extLst>
              <a:ext uri="{FF2B5EF4-FFF2-40B4-BE49-F238E27FC236}">
                <a16:creationId xmlns:a16="http://schemas.microsoft.com/office/drawing/2014/main" id="{6332DF2C-A1E4-416B-9E86-D65B985B00A6}"/>
              </a:ext>
            </a:extLst>
          </p:cNvPr>
          <p:cNvSpPr>
            <a:spLocks noGrp="1"/>
          </p:cNvSpPr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bundle when commercial intent is high</a:t>
            </a:r>
          </a:p>
        </p:txBody>
      </p:sp>
      <p:sp>
        <p:nvSpPr>
          <p:cNvPr id="16" name="2x2 card 2">
            <a:extLst>
              <a:ext uri="{FF2B5EF4-FFF2-40B4-BE49-F238E27FC236}">
                <a16:creationId xmlns:a16="http://schemas.microsoft.com/office/drawing/2014/main" id="{71AECB4E-A496-4B1D-840A-9ED742B58AA2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2x2 card accent 2">
            <a:extLst>
              <a:ext uri="{FF2B5EF4-FFF2-40B4-BE49-F238E27FC236}">
                <a16:creationId xmlns:a16="http://schemas.microsoft.com/office/drawing/2014/main" id="{532DDCBC-1869-48C7-A244-17E3E491FCD9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2x2 card label 2">
            <a:extLst>
              <a:ext uri="{FF2B5EF4-FFF2-40B4-BE49-F238E27FC236}">
                <a16:creationId xmlns:a16="http://schemas.microsoft.com/office/drawing/2014/main" id="{009D7AAC-7881-42F3-ABB2-5F7B58FC4416}"/>
              </a:ext>
            </a:extLst>
          </p:cNvPr>
          <p:cNvSpPr>
            <a:spLocks noGrp="1"/>
          </p:cNvSpPr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9" name="2x2 card title 2">
            <a:extLst>
              <a:ext uri="{FF2B5EF4-FFF2-40B4-BE49-F238E27FC236}">
                <a16:creationId xmlns:a16="http://schemas.microsoft.com/office/drawing/2014/main" id="{A8979476-E0AE-46A5-A59C-327CA6EFF6FE}"/>
              </a:ext>
            </a:extLst>
          </p:cNvPr>
          <p:cNvSpPr>
            <a:spLocks noGrp="1"/>
          </p:cNvSpPr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uses paid features</a:t>
            </a:r>
          </a:p>
        </p:txBody>
      </p:sp>
      <p:sp>
        <p:nvSpPr>
          <p:cNvPr id="20" name="2x2 card body label 2">
            <a:extLst>
              <a:ext uri="{FF2B5EF4-FFF2-40B4-BE49-F238E27FC236}">
                <a16:creationId xmlns:a16="http://schemas.microsoft.com/office/drawing/2014/main" id="{E73DFCB6-E26D-4082-9BAF-4EDA305A99B8}"/>
              </a:ext>
            </a:extLst>
          </p:cNvPr>
          <p:cNvSpPr>
            <a:spLocks noGrp="1"/>
          </p:cNvSpPr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1" name="2x2 card body 2">
            <a:extLst>
              <a:ext uri="{FF2B5EF4-FFF2-40B4-BE49-F238E27FC236}">
                <a16:creationId xmlns:a16="http://schemas.microsoft.com/office/drawing/2014/main" id="{F6CE6FFA-9E71-4208-8129-39D2ED6A12C6}"/>
              </a:ext>
            </a:extLst>
          </p:cNvPr>
          <p:cNvSpPr>
            <a:spLocks noGrp="1"/>
          </p:cNvSpPr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Position bundle as a structured visibility product</a:t>
            </a:r>
          </a:p>
        </p:txBody>
      </p:sp>
      <p:sp>
        <p:nvSpPr>
          <p:cNvPr id="22" name="2x2 card 3">
            <a:extLst>
              <a:ext uri="{FF2B5EF4-FFF2-40B4-BE49-F238E27FC236}">
                <a16:creationId xmlns:a16="http://schemas.microsoft.com/office/drawing/2014/main" id="{61DD68EE-AE33-4D00-859E-F7FE5E8B0CE9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2x2 card accent 3">
            <a:extLst>
              <a:ext uri="{FF2B5EF4-FFF2-40B4-BE49-F238E27FC236}">
                <a16:creationId xmlns:a16="http://schemas.microsoft.com/office/drawing/2014/main" id="{C8973BD6-522E-4D5F-9C35-6C145FF05DD5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2x2 card label 3">
            <a:extLst>
              <a:ext uri="{FF2B5EF4-FFF2-40B4-BE49-F238E27FC236}">
                <a16:creationId xmlns:a16="http://schemas.microsoft.com/office/drawing/2014/main" id="{B9179824-FF48-4410-9428-BD6C2CF73469}"/>
              </a:ext>
            </a:extLst>
          </p:cNvPr>
          <p:cNvSpPr>
            <a:spLocks noGrp="1"/>
          </p:cNvSpPr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25" name="2x2 card title 3">
            <a:extLst>
              <a:ext uri="{FF2B5EF4-FFF2-40B4-BE49-F238E27FC236}">
                <a16:creationId xmlns:a16="http://schemas.microsoft.com/office/drawing/2014/main" id="{EFABA776-7FCE-4CD0-B0A5-3DB898AA9789}"/>
              </a:ext>
            </a:extLst>
          </p:cNvPr>
          <p:cNvSpPr>
            <a:spLocks noGrp="1"/>
          </p:cNvSpPr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operates in competitive category</a:t>
            </a:r>
          </a:p>
        </p:txBody>
      </p:sp>
      <p:sp>
        <p:nvSpPr>
          <p:cNvPr id="26" name="2x2 card body label 3">
            <a:extLst>
              <a:ext uri="{FF2B5EF4-FFF2-40B4-BE49-F238E27FC236}">
                <a16:creationId xmlns:a16="http://schemas.microsoft.com/office/drawing/2014/main" id="{FB915967-BB3C-46AC-804B-87FEC18FF28B}"/>
              </a:ext>
            </a:extLst>
          </p:cNvPr>
          <p:cNvSpPr>
            <a:spLocks noGrp="1"/>
          </p:cNvSpPr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7" name="2x2 card body 3">
            <a:extLst>
              <a:ext uri="{FF2B5EF4-FFF2-40B4-BE49-F238E27FC236}">
                <a16:creationId xmlns:a16="http://schemas.microsoft.com/office/drawing/2014/main" id="{EDBCE894-2EBD-4EFF-9FDE-32AB73D765F7}"/>
              </a:ext>
            </a:extLst>
          </p:cNvPr>
          <p:cNvSpPr>
            <a:spLocks noGrp="1"/>
          </p:cNvSpPr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differentiation benefit</a:t>
            </a:r>
          </a:p>
        </p:txBody>
      </p:sp>
      <p:sp>
        <p:nvSpPr>
          <p:cNvPr id="28" name="2x2 card 4">
            <a:extLst>
              <a:ext uri="{FF2B5EF4-FFF2-40B4-BE49-F238E27FC236}">
                <a16:creationId xmlns:a16="http://schemas.microsoft.com/office/drawing/2014/main" id="{D868C9EA-1C96-492C-B2F0-7108E1E449A7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2x2 card accent 4">
            <a:extLst>
              <a:ext uri="{FF2B5EF4-FFF2-40B4-BE49-F238E27FC236}">
                <a16:creationId xmlns:a16="http://schemas.microsoft.com/office/drawing/2014/main" id="{8037A164-66DD-4BFF-AC7B-B99D6335ABCA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2x2 card label 4">
            <a:extLst>
              <a:ext uri="{FF2B5EF4-FFF2-40B4-BE49-F238E27FC236}">
                <a16:creationId xmlns:a16="http://schemas.microsoft.com/office/drawing/2014/main" id="{24FF6216-43D0-4CA9-BDAB-0B9A34348A1A}"/>
              </a:ext>
            </a:extLst>
          </p:cNvPr>
          <p:cNvSpPr>
            <a:spLocks noGrp="1"/>
          </p:cNvSpPr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31" name="2x2 card title 4">
            <a:extLst>
              <a:ext uri="{FF2B5EF4-FFF2-40B4-BE49-F238E27FC236}">
                <a16:creationId xmlns:a16="http://schemas.microsoft.com/office/drawing/2014/main" id="{436A85F8-D023-4C27-B47F-DE660261E352}"/>
              </a:ext>
            </a:extLst>
          </p:cNvPr>
          <p:cNvSpPr>
            <a:spLocks noGrp="1"/>
          </p:cNvSpPr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receives buyer interest but has no bundle</a:t>
            </a:r>
          </a:p>
        </p:txBody>
      </p:sp>
      <p:sp>
        <p:nvSpPr>
          <p:cNvPr id="32" name="2x2 card body label 4">
            <a:extLst>
              <a:ext uri="{FF2B5EF4-FFF2-40B4-BE49-F238E27FC236}">
                <a16:creationId xmlns:a16="http://schemas.microsoft.com/office/drawing/2014/main" id="{4FC4E6B5-648B-4AF4-8E53-7058BA6A3BAB}"/>
              </a:ext>
            </a:extLst>
          </p:cNvPr>
          <p:cNvSpPr>
            <a:spLocks noGrp="1"/>
          </p:cNvSpPr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33" name="2x2 card body 4">
            <a:extLst>
              <a:ext uri="{FF2B5EF4-FFF2-40B4-BE49-F238E27FC236}">
                <a16:creationId xmlns:a16="http://schemas.microsoft.com/office/drawing/2014/main" id="{97DB8988-FE1E-4FEC-AC7E-0DA9EF3905AC}"/>
              </a:ext>
            </a:extLst>
          </p:cNvPr>
          <p:cNvSpPr>
            <a:spLocks noGrp="1"/>
          </p:cNvSpPr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visibility/professionalization as next step</a:t>
            </a:r>
          </a:p>
        </p:txBody>
      </p:sp>
    </p:spTree>
    <p:extLst>
      <p:ext uri="{BB962C8B-B14F-4D97-AF65-F5344CB8AC3E}">
        <p14:creationId xmlns:p14="http://schemas.microsoft.com/office/powerpoint/2010/main" val="1650239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CB7A39-D4C4-47D7-8B09-53B688FF2BD4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5D947-BBAD-49E5-A430-1B06786C3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3.2 In-platform Prompts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E452E9-A792-44F3-A51A-305362DBC644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64255F-FC9D-406D-9A5D-43DEB7124570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B3ACDB-B4CA-4CA2-81C4-412005FB5595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61566091-AA96-447F-853A-76D80DE1FBEF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34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2989E6-33BF-40CC-8E67-83827EB91866}"/>
              </a:ext>
            </a:extLst>
          </p:cNvPr>
          <p:cNvSpPr>
            <a:spLocks noGrp="1"/>
          </p:cNvSpPr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prompts in high-intent seller surfaces.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E3922BE-66A7-45E8-B342-C4FC3044FAAB}"/>
              </a:ext>
            </a:extLst>
          </p:cNvPr>
          <p:cNvSpPr>
            <a:spLocks noGrp="1"/>
          </p:cNvSpPr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Prompt Surfaces</a:t>
            </a:r>
          </a:p>
        </p:txBody>
      </p:sp>
      <p:sp>
        <p:nvSpPr>
          <p:cNvPr id="10" name="2x2 card 1">
            <a:extLst>
              <a:ext uri="{FF2B5EF4-FFF2-40B4-BE49-F238E27FC236}">
                <a16:creationId xmlns:a16="http://schemas.microsoft.com/office/drawing/2014/main" id="{6D1DD2EC-7034-4DCC-B565-AE8AD74ADC80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2x2 card accent 1">
            <a:extLst>
              <a:ext uri="{FF2B5EF4-FFF2-40B4-BE49-F238E27FC236}">
                <a16:creationId xmlns:a16="http://schemas.microsoft.com/office/drawing/2014/main" id="{B208925C-B7CD-4967-8302-728C51DBB244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2x2 card label 1">
            <a:extLst>
              <a:ext uri="{FF2B5EF4-FFF2-40B4-BE49-F238E27FC236}">
                <a16:creationId xmlns:a16="http://schemas.microsoft.com/office/drawing/2014/main" id="{56AFED29-47A1-4F68-A7E9-D211EE8C530D}"/>
              </a:ext>
            </a:extLst>
          </p:cNvPr>
          <p:cNvSpPr>
            <a:spLocks noGrp="1"/>
          </p:cNvSpPr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3" name="2x2 card title 1">
            <a:extLst>
              <a:ext uri="{FF2B5EF4-FFF2-40B4-BE49-F238E27FC236}">
                <a16:creationId xmlns:a16="http://schemas.microsoft.com/office/drawing/2014/main" id="{A0CF54FD-C048-48B6-B2DB-F443DD32D45A}"/>
              </a:ext>
            </a:extLst>
          </p:cNvPr>
          <p:cNvSpPr>
            <a:spLocks noGrp="1"/>
          </p:cNvSpPr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dashboard</a:t>
            </a:r>
          </a:p>
        </p:txBody>
      </p:sp>
      <p:sp>
        <p:nvSpPr>
          <p:cNvPr id="14" name="2x2 card body label 1">
            <a:extLst>
              <a:ext uri="{FF2B5EF4-FFF2-40B4-BE49-F238E27FC236}">
                <a16:creationId xmlns:a16="http://schemas.microsoft.com/office/drawing/2014/main" id="{2968E40B-3286-48B7-B8FC-1284F978D69C}"/>
              </a:ext>
            </a:extLst>
          </p:cNvPr>
          <p:cNvSpPr>
            <a:spLocks noGrp="1"/>
          </p:cNvSpPr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15" name="2x2 card body 1">
            <a:extLst>
              <a:ext uri="{FF2B5EF4-FFF2-40B4-BE49-F238E27FC236}">
                <a16:creationId xmlns:a16="http://schemas.microsoft.com/office/drawing/2014/main" id="{23B2B0B7-9589-40AF-A8B9-60E8B601026D}"/>
              </a:ext>
            </a:extLst>
          </p:cNvPr>
          <p:cNvSpPr>
            <a:spLocks noGrp="1"/>
          </p:cNvSpPr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Natural moment to link bundles to better performance</a:t>
            </a:r>
          </a:p>
        </p:txBody>
      </p:sp>
      <p:sp>
        <p:nvSpPr>
          <p:cNvPr id="16" name="2x2 card 2">
            <a:extLst>
              <a:ext uri="{FF2B5EF4-FFF2-40B4-BE49-F238E27FC236}">
                <a16:creationId xmlns:a16="http://schemas.microsoft.com/office/drawing/2014/main" id="{FEAB0741-FB63-4C00-BFFD-C22A138785C0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2x2 card accent 2">
            <a:extLst>
              <a:ext uri="{FF2B5EF4-FFF2-40B4-BE49-F238E27FC236}">
                <a16:creationId xmlns:a16="http://schemas.microsoft.com/office/drawing/2014/main" id="{F9304147-1FE8-4B32-8CC8-A1D142F5DC8E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2x2 card label 2">
            <a:extLst>
              <a:ext uri="{FF2B5EF4-FFF2-40B4-BE49-F238E27FC236}">
                <a16:creationId xmlns:a16="http://schemas.microsoft.com/office/drawing/2014/main" id="{78BCEADE-3353-419B-9174-AB4685306EAC}"/>
              </a:ext>
            </a:extLst>
          </p:cNvPr>
          <p:cNvSpPr>
            <a:spLocks noGrp="1"/>
          </p:cNvSpPr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9" name="2x2 card title 2">
            <a:extLst>
              <a:ext uri="{FF2B5EF4-FFF2-40B4-BE49-F238E27FC236}">
                <a16:creationId xmlns:a16="http://schemas.microsoft.com/office/drawing/2014/main" id="{29875B79-68B1-4489-9EAE-E7885BAA8C75}"/>
              </a:ext>
            </a:extLst>
          </p:cNvPr>
          <p:cNvSpPr>
            <a:spLocks noGrp="1"/>
          </p:cNvSpPr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creation flow</a:t>
            </a:r>
          </a:p>
        </p:txBody>
      </p:sp>
      <p:sp>
        <p:nvSpPr>
          <p:cNvPr id="20" name="2x2 card body label 2">
            <a:extLst>
              <a:ext uri="{FF2B5EF4-FFF2-40B4-BE49-F238E27FC236}">
                <a16:creationId xmlns:a16="http://schemas.microsoft.com/office/drawing/2014/main" id="{CBF0B906-58B8-4685-AC6D-AD7A948E5CB8}"/>
              </a:ext>
            </a:extLst>
          </p:cNvPr>
          <p:cNvSpPr>
            <a:spLocks noGrp="1"/>
          </p:cNvSpPr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1" name="2x2 card body 2">
            <a:extLst>
              <a:ext uri="{FF2B5EF4-FFF2-40B4-BE49-F238E27FC236}">
                <a16:creationId xmlns:a16="http://schemas.microsoft.com/office/drawing/2014/main" id="{24C13FE2-E00B-4F4D-BDD1-5CFFD35FF554}"/>
              </a:ext>
            </a:extLst>
          </p:cNvPr>
          <p:cNvSpPr>
            <a:spLocks noGrp="1"/>
          </p:cNvSpPr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can improve listings from day one</a:t>
            </a:r>
          </a:p>
        </p:txBody>
      </p:sp>
      <p:sp>
        <p:nvSpPr>
          <p:cNvPr id="22" name="2x2 card 3">
            <a:extLst>
              <a:ext uri="{FF2B5EF4-FFF2-40B4-BE49-F238E27FC236}">
                <a16:creationId xmlns:a16="http://schemas.microsoft.com/office/drawing/2014/main" id="{C639BEB0-E2D4-4CD8-B4FF-782DA75B1190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2x2 card accent 3">
            <a:extLst>
              <a:ext uri="{FF2B5EF4-FFF2-40B4-BE49-F238E27FC236}">
                <a16:creationId xmlns:a16="http://schemas.microsoft.com/office/drawing/2014/main" id="{81CB6D91-861A-4B1A-B71D-2F92104F03E5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2x2 card label 3">
            <a:extLst>
              <a:ext uri="{FF2B5EF4-FFF2-40B4-BE49-F238E27FC236}">
                <a16:creationId xmlns:a16="http://schemas.microsoft.com/office/drawing/2014/main" id="{105B7A4F-6265-4B76-9025-40715D318C7C}"/>
              </a:ext>
            </a:extLst>
          </p:cNvPr>
          <p:cNvSpPr>
            <a:spLocks noGrp="1"/>
          </p:cNvSpPr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5" name="2x2 card title 3">
            <a:extLst>
              <a:ext uri="{FF2B5EF4-FFF2-40B4-BE49-F238E27FC236}">
                <a16:creationId xmlns:a16="http://schemas.microsoft.com/office/drawing/2014/main" id="{229B54C1-8A9B-4655-8093-FA51AAB4A95D}"/>
              </a:ext>
            </a:extLst>
          </p:cNvPr>
          <p:cNvSpPr>
            <a:spLocks noGrp="1"/>
          </p:cNvSpPr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management page</a:t>
            </a:r>
          </a:p>
        </p:txBody>
      </p:sp>
      <p:sp>
        <p:nvSpPr>
          <p:cNvPr id="26" name="2x2 card body label 3">
            <a:extLst>
              <a:ext uri="{FF2B5EF4-FFF2-40B4-BE49-F238E27FC236}">
                <a16:creationId xmlns:a16="http://schemas.microsoft.com/office/drawing/2014/main" id="{DA3C2E6B-1389-4F2B-80CC-8189DC524EF0}"/>
              </a:ext>
            </a:extLst>
          </p:cNvPr>
          <p:cNvSpPr>
            <a:spLocks noGrp="1"/>
          </p:cNvSpPr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7" name="2x2 card body 3">
            <a:extLst>
              <a:ext uri="{FF2B5EF4-FFF2-40B4-BE49-F238E27FC236}">
                <a16:creationId xmlns:a16="http://schemas.microsoft.com/office/drawing/2014/main" id="{A367DAF1-B132-4F32-A691-3AF566524443}"/>
              </a:ext>
            </a:extLst>
          </p:cNvPr>
          <p:cNvSpPr>
            <a:spLocks noGrp="1"/>
          </p:cNvSpPr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broader upgrade than one-off ad fixes</a:t>
            </a:r>
          </a:p>
        </p:txBody>
      </p:sp>
      <p:sp>
        <p:nvSpPr>
          <p:cNvPr id="28" name="2x2 card 4">
            <a:extLst>
              <a:ext uri="{FF2B5EF4-FFF2-40B4-BE49-F238E27FC236}">
                <a16:creationId xmlns:a16="http://schemas.microsoft.com/office/drawing/2014/main" id="{7890B47B-3AD4-4DB1-9E71-651FE1DF780B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2x2 card accent 4">
            <a:extLst>
              <a:ext uri="{FF2B5EF4-FFF2-40B4-BE49-F238E27FC236}">
                <a16:creationId xmlns:a16="http://schemas.microsoft.com/office/drawing/2014/main" id="{904665A0-7C13-4EC8-9038-2A42DBAEB1D1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2x2 card label 4">
            <a:extLst>
              <a:ext uri="{FF2B5EF4-FFF2-40B4-BE49-F238E27FC236}">
                <a16:creationId xmlns:a16="http://schemas.microsoft.com/office/drawing/2014/main" id="{1EEABF64-A807-4202-836E-CC4510F1D201}"/>
              </a:ext>
            </a:extLst>
          </p:cNvPr>
          <p:cNvSpPr>
            <a:spLocks noGrp="1"/>
          </p:cNvSpPr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31" name="2x2 card title 4">
            <a:extLst>
              <a:ext uri="{FF2B5EF4-FFF2-40B4-BE49-F238E27FC236}">
                <a16:creationId xmlns:a16="http://schemas.microsoft.com/office/drawing/2014/main" id="{020FF194-83C0-43B2-B291-89E847A92E27}"/>
              </a:ext>
            </a:extLst>
          </p:cNvPr>
          <p:cNvSpPr>
            <a:spLocks noGrp="1"/>
          </p:cNvSpPr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Paid-feature purchase flow</a:t>
            </a:r>
          </a:p>
        </p:txBody>
      </p:sp>
      <p:sp>
        <p:nvSpPr>
          <p:cNvPr id="32" name="2x2 card body label 4">
            <a:extLst>
              <a:ext uri="{FF2B5EF4-FFF2-40B4-BE49-F238E27FC236}">
                <a16:creationId xmlns:a16="http://schemas.microsoft.com/office/drawing/2014/main" id="{92806CA5-1DE2-4DAD-9C64-836E9F614049}"/>
              </a:ext>
            </a:extLst>
          </p:cNvPr>
          <p:cNvSpPr>
            <a:spLocks noGrp="1"/>
          </p:cNvSpPr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33" name="2x2 card body 4">
            <a:extLst>
              <a:ext uri="{FF2B5EF4-FFF2-40B4-BE49-F238E27FC236}">
                <a16:creationId xmlns:a16="http://schemas.microsoft.com/office/drawing/2014/main" id="{3F03697E-AA5C-45D3-9A0D-55B9F0E98F14}"/>
              </a:ext>
            </a:extLst>
          </p:cNvPr>
          <p:cNvSpPr>
            <a:spLocks noGrp="1"/>
          </p:cNvSpPr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structured alternative to single visibility purchases</a:t>
            </a:r>
          </a:p>
        </p:txBody>
      </p:sp>
    </p:spTree>
    <p:extLst>
      <p:ext uri="{BB962C8B-B14F-4D97-AF65-F5344CB8AC3E}">
        <p14:creationId xmlns:p14="http://schemas.microsoft.com/office/powerpoint/2010/main" val="5638183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99DF09-94BB-4CD1-9ECE-FB02C8877DB3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BAF6DE-00E9-4C20-B681-EC29087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90000"/>
            <a:ext cx="9953625" cy="714375"/>
          </a:xfrm>
          <a:prstGeom prst="rect">
            <a:avLst/>
          </a:prstGeom>
          <a:noFill/>
          <a:ln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4. KPIs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6A7657-480D-420C-ACE6-4F4CBD06F05F}"/>
              </a:ext>
            </a:extLst>
          </p:cNvPr>
          <p:cNvSpPr>
            <a:spLocks noGrp="1"/>
          </p:cNvSpPr>
          <p:nvPr/>
        </p:nvSpPr>
        <p:spPr>
          <a:xfrm>
            <a:off x="457200" y="1085850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BC49C0-5ACC-4ECF-9D2A-1710C7588A03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685C03-9D05-44B3-8347-0516F8CA66EE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ABE545-A54A-42BF-99B8-2ADAF8774246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 algn="r">
              <a:buNone/>
            </a:pPr>
            <a:fld id="{30161DA6-7470-4D7D-BEDF-82E3CCF44E4D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35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mbined KPI intro">
            <a:extLst>
              <a:ext uri="{FF2B5EF4-FFF2-40B4-BE49-F238E27FC236}">
                <a16:creationId xmlns:a16="http://schemas.microsoft.com/office/drawing/2014/main" id="{C7C4D6FE-17BC-4787-A250-AD6461B87073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98107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F2F2F2"/>
                </a:solidFill>
                <a:latin typeface="Arial"/>
                <a:ea typeface="Arial"/>
                <a:cs typeface="Arial"/>
              </a:rPr>
              <a:t>Measure incremental adoption  Using A/B testing, diagnose channel response, and monitor seller-fit guardrails.</a:t>
            </a:r>
          </a:p>
        </p:txBody>
      </p:sp>
      <p:sp>
        <p:nvSpPr>
          <p:cNvPr id="9" name="Primary KPI section label">
            <a:extLst>
              <a:ext uri="{FF2B5EF4-FFF2-40B4-BE49-F238E27FC236}">
                <a16:creationId xmlns:a16="http://schemas.microsoft.com/office/drawing/2014/main" id="{432AB06C-EDD4-4B1D-8CB6-DEF2C11519C9}"/>
              </a:ext>
            </a:extLst>
          </p:cNvPr>
          <p:cNvSpPr>
            <a:spLocks noGrp="1"/>
          </p:cNvSpPr>
          <p:nvPr/>
        </p:nvSpPr>
        <p:spPr>
          <a:xfrm>
            <a:off x="628650" y="172402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50" b="1" dirty="0">
                <a:solidFill>
                  <a:srgbClr val="FF735B"/>
                </a:solidFill>
                <a:latin typeface="Arial"/>
                <a:ea typeface="Arial"/>
                <a:cs typeface="Arial"/>
              </a:rPr>
              <a:t>Primary KPI</a:t>
            </a:r>
          </a:p>
        </p:txBody>
      </p:sp>
      <p:sp>
        <p:nvSpPr>
          <p:cNvPr id="10" name="Primary KPI card">
            <a:extLst>
              <a:ext uri="{FF2B5EF4-FFF2-40B4-BE49-F238E27FC236}">
                <a16:creationId xmlns:a16="http://schemas.microsoft.com/office/drawing/2014/main" id="{B9A651FF-7D15-42C4-8A45-B714AF28706A}"/>
              </a:ext>
            </a:extLst>
          </p:cNvPr>
          <p:cNvSpPr>
            <a:spLocks noGrp="1"/>
          </p:cNvSpPr>
          <p:nvPr/>
        </p:nvSpPr>
        <p:spPr>
          <a:xfrm>
            <a:off x="628650" y="2152649"/>
            <a:ext cx="10582275" cy="1009123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11" name="Primary KPI red accent">
            <a:extLst>
              <a:ext uri="{FF2B5EF4-FFF2-40B4-BE49-F238E27FC236}">
                <a16:creationId xmlns:a16="http://schemas.microsoft.com/office/drawing/2014/main" id="{A6B0DA06-A690-4700-9325-4255BE4C1D7C}"/>
              </a:ext>
            </a:extLst>
          </p:cNvPr>
          <p:cNvSpPr>
            <a:spLocks noGrp="1"/>
          </p:cNvSpPr>
          <p:nvPr/>
        </p:nvSpPr>
        <p:spPr>
          <a:xfrm>
            <a:off x="628650" y="2209800"/>
            <a:ext cx="45719" cy="9144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12" name="Primary KPI name">
            <a:extLst>
              <a:ext uri="{FF2B5EF4-FFF2-40B4-BE49-F238E27FC236}">
                <a16:creationId xmlns:a16="http://schemas.microsoft.com/office/drawing/2014/main" id="{2D101C10-F2A2-423B-A0E0-E2CBFED234F3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Paid</a:t>
            </a:r>
            <a:r>
              <a:rPr sz="150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 bundle</a:t>
            </a:r>
            <a:r>
              <a:rPr lang="en-US" sz="150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adoption rate</a:t>
            </a:r>
          </a:p>
        </p:txBody>
      </p:sp>
      <p:sp>
        <p:nvSpPr>
          <p:cNvPr id="13" name="Primary KPI definition">
            <a:extLst>
              <a:ext uri="{FF2B5EF4-FFF2-40B4-BE49-F238E27FC236}">
                <a16:creationId xmlns:a16="http://schemas.microsoft.com/office/drawing/2014/main" id="{A20E5A31-3AAB-4520-AA2A-530F433B26DF}"/>
              </a:ext>
            </a:extLst>
          </p:cNvPr>
          <p:cNvSpPr>
            <a:spLocks noGrp="1"/>
          </p:cNvSpPr>
          <p:nvPr/>
        </p:nvSpPr>
        <p:spPr>
          <a:xfrm>
            <a:off x="3771900" y="2305050"/>
            <a:ext cx="3457575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have a paid bundle</a:t>
            </a:r>
            <a:endParaRPr sz="1200" b="0" dirty="0">
              <a:solidFill>
                <a:srgbClr val="D9D9D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rimary KPI why">
            <a:extLst>
              <a:ext uri="{FF2B5EF4-FFF2-40B4-BE49-F238E27FC236}">
                <a16:creationId xmlns:a16="http://schemas.microsoft.com/office/drawing/2014/main" id="{49E0A2BE-ACA5-4BA4-A12A-F78A242606CD}"/>
              </a:ext>
            </a:extLst>
          </p:cNvPr>
          <p:cNvSpPr>
            <a:spLocks noGrp="1"/>
          </p:cNvSpPr>
          <p:nvPr/>
        </p:nvSpPr>
        <p:spPr>
          <a:xfrm>
            <a:off x="7407298" y="2305050"/>
            <a:ext cx="3413102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  <a:endParaRPr lang="en-US" sz="1000" b="1" dirty="0">
              <a:solidFill>
                <a:srgbClr val="A8A8A8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Measures if the campaign drive bundle adoption</a:t>
            </a:r>
          </a:p>
        </p:txBody>
      </p:sp>
      <p:sp>
        <p:nvSpPr>
          <p:cNvPr id="15" name="Secondary KPI section label">
            <a:extLst>
              <a:ext uri="{FF2B5EF4-FFF2-40B4-BE49-F238E27FC236}">
                <a16:creationId xmlns:a16="http://schemas.microsoft.com/office/drawing/2014/main" id="{A8448602-3424-460F-AC90-68733E31C45B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Secondary KPIs</a:t>
            </a:r>
          </a:p>
        </p:txBody>
      </p:sp>
      <p:sp>
        <p:nvSpPr>
          <p:cNvPr id="16" name="Click-through rate card">
            <a:extLst>
              <a:ext uri="{FF2B5EF4-FFF2-40B4-BE49-F238E27FC236}">
                <a16:creationId xmlns:a16="http://schemas.microsoft.com/office/drawing/2014/main" id="{CEBA1E40-0E27-4D78-953E-EAB81A8B6328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Click-through rate accent">
            <a:extLst>
              <a:ext uri="{FF2B5EF4-FFF2-40B4-BE49-F238E27FC236}">
                <a16:creationId xmlns:a16="http://schemas.microsoft.com/office/drawing/2014/main" id="{BBF9FDFA-725C-4DA5-A88F-0FB10B69352B}"/>
              </a:ext>
            </a:extLst>
          </p:cNvPr>
          <p:cNvSpPr>
            <a:spLocks noGrp="1"/>
          </p:cNvSpPr>
          <p:nvPr/>
        </p:nvSpPr>
        <p:spPr>
          <a:xfrm>
            <a:off x="628650" y="37052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lick-through rate kpi">
            <a:extLst>
              <a:ext uri="{FF2B5EF4-FFF2-40B4-BE49-F238E27FC236}">
                <a16:creationId xmlns:a16="http://schemas.microsoft.com/office/drawing/2014/main" id="{0B281996-ECBC-4266-BD9F-4E70E37E2CFE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Click-through rate</a:t>
            </a:r>
          </a:p>
        </p:txBody>
      </p:sp>
      <p:sp>
        <p:nvSpPr>
          <p:cNvPr id="19" name="Click-through rate definition">
            <a:extLst>
              <a:ext uri="{FF2B5EF4-FFF2-40B4-BE49-F238E27FC236}">
                <a16:creationId xmlns:a16="http://schemas.microsoft.com/office/drawing/2014/main" id="{4929772A-F6B1-4293-8486-C4687F822E24}"/>
              </a:ext>
            </a:extLst>
          </p:cNvPr>
          <p:cNvSpPr>
            <a:spLocks noGrp="1"/>
          </p:cNvSpPr>
          <p:nvPr/>
        </p:nvSpPr>
        <p:spPr>
          <a:xfrm>
            <a:off x="2619375" y="37719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click
through</a:t>
            </a:r>
          </a:p>
        </p:txBody>
      </p:sp>
      <p:sp>
        <p:nvSpPr>
          <p:cNvPr id="20" name="Click-through rate why">
            <a:extLst>
              <a:ext uri="{FF2B5EF4-FFF2-40B4-BE49-F238E27FC236}">
                <a16:creationId xmlns:a16="http://schemas.microsoft.com/office/drawing/2014/main" id="{6F7FCB40-0C01-4AC8-918A-94D93ADC5247}"/>
              </a:ext>
            </a:extLst>
          </p:cNvPr>
          <p:cNvSpPr>
            <a:spLocks noGrp="1"/>
          </p:cNvSpPr>
          <p:nvPr/>
        </p:nvSpPr>
        <p:spPr>
          <a:xfrm>
            <a:off x="4933813" y="3771900"/>
            <a:ext cx="1638437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Diagnoses channel and
placement relevance.</a:t>
            </a:r>
          </a:p>
        </p:txBody>
      </p:sp>
      <p:sp>
        <p:nvSpPr>
          <p:cNvPr id="21" name="Trial start rate card">
            <a:extLst>
              <a:ext uri="{FF2B5EF4-FFF2-40B4-BE49-F238E27FC236}">
                <a16:creationId xmlns:a16="http://schemas.microsoft.com/office/drawing/2014/main" id="{540FFDE4-F766-47A7-BD0B-593673EB0780}"/>
              </a:ext>
            </a:extLst>
          </p:cNvPr>
          <p:cNvSpPr>
            <a:spLocks noGrp="1"/>
          </p:cNvSpPr>
          <p:nvPr/>
        </p:nvSpPr>
        <p:spPr>
          <a:xfrm>
            <a:off x="628650" y="449580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rial start rate accent">
            <a:extLst>
              <a:ext uri="{FF2B5EF4-FFF2-40B4-BE49-F238E27FC236}">
                <a16:creationId xmlns:a16="http://schemas.microsoft.com/office/drawing/2014/main" id="{073A9E50-25D1-4B29-9ABA-1F32C70F8338}"/>
              </a:ext>
            </a:extLst>
          </p:cNvPr>
          <p:cNvSpPr>
            <a:spLocks noGrp="1"/>
          </p:cNvSpPr>
          <p:nvPr/>
        </p:nvSpPr>
        <p:spPr>
          <a:xfrm>
            <a:off x="628650" y="456247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rial start rate kpi">
            <a:extLst>
              <a:ext uri="{FF2B5EF4-FFF2-40B4-BE49-F238E27FC236}">
                <a16:creationId xmlns:a16="http://schemas.microsoft.com/office/drawing/2014/main" id="{79DCBC22-32F2-4D51-857A-794C13679383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0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Trial start rate</a:t>
            </a:r>
          </a:p>
        </p:txBody>
      </p:sp>
      <p:sp>
        <p:nvSpPr>
          <p:cNvPr id="24" name="Trial start rate definition">
            <a:extLst>
              <a:ext uri="{FF2B5EF4-FFF2-40B4-BE49-F238E27FC236}">
                <a16:creationId xmlns:a16="http://schemas.microsoft.com/office/drawing/2014/main" id="{96A299D6-8692-4620-93D7-8F00C9FEF7CF}"/>
              </a:ext>
            </a:extLst>
          </p:cNvPr>
          <p:cNvSpPr>
            <a:spLocks noGrp="1"/>
          </p:cNvSpPr>
          <p:nvPr/>
        </p:nvSpPr>
        <p:spPr>
          <a:xfrm>
            <a:off x="2619375" y="462915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start a
bundle trial</a:t>
            </a:r>
          </a:p>
        </p:txBody>
      </p:sp>
      <p:sp>
        <p:nvSpPr>
          <p:cNvPr id="25" name="Trial start rate why">
            <a:extLst>
              <a:ext uri="{FF2B5EF4-FFF2-40B4-BE49-F238E27FC236}">
                <a16:creationId xmlns:a16="http://schemas.microsoft.com/office/drawing/2014/main" id="{1667ED91-04FD-4C0E-B0FE-0F6E70582970}"/>
              </a:ext>
            </a:extLst>
          </p:cNvPr>
          <p:cNvSpPr>
            <a:spLocks noGrp="1"/>
          </p:cNvSpPr>
          <p:nvPr/>
        </p:nvSpPr>
        <p:spPr>
          <a:xfrm>
            <a:off x="4933813" y="4629150"/>
            <a:ext cx="1638437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Shows whether interest
becomes action.</a:t>
            </a:r>
          </a:p>
        </p:txBody>
      </p:sp>
      <p:sp>
        <p:nvSpPr>
          <p:cNvPr id="26" name="Bundle revenue uplift card">
            <a:extLst>
              <a:ext uri="{FF2B5EF4-FFF2-40B4-BE49-F238E27FC236}">
                <a16:creationId xmlns:a16="http://schemas.microsoft.com/office/drawing/2014/main" id="{6DA08781-CFAB-4859-B787-D27573B5910D}"/>
              </a:ext>
            </a:extLst>
          </p:cNvPr>
          <p:cNvSpPr>
            <a:spLocks noGrp="1"/>
          </p:cNvSpPr>
          <p:nvPr/>
        </p:nvSpPr>
        <p:spPr>
          <a:xfrm>
            <a:off x="628650" y="53530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Bundle revenue uplift accent">
            <a:extLst>
              <a:ext uri="{FF2B5EF4-FFF2-40B4-BE49-F238E27FC236}">
                <a16:creationId xmlns:a16="http://schemas.microsoft.com/office/drawing/2014/main" id="{0958D23B-890D-478E-88F0-E494918EC702}"/>
              </a:ext>
            </a:extLst>
          </p:cNvPr>
          <p:cNvSpPr>
            <a:spLocks noGrp="1"/>
          </p:cNvSpPr>
          <p:nvPr/>
        </p:nvSpPr>
        <p:spPr>
          <a:xfrm>
            <a:off x="628650" y="54197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Bundle revenue uplift kpi">
            <a:extLst>
              <a:ext uri="{FF2B5EF4-FFF2-40B4-BE49-F238E27FC236}">
                <a16:creationId xmlns:a16="http://schemas.microsoft.com/office/drawing/2014/main" id="{949B3527-5DD7-4C93-A7BD-471282A5BAAB}"/>
              </a:ext>
            </a:extLst>
          </p:cNvPr>
          <p:cNvSpPr>
            <a:spLocks noGrp="1"/>
          </p:cNvSpPr>
          <p:nvPr/>
        </p:nvSpPr>
        <p:spPr>
          <a:xfrm>
            <a:off x="857250" y="56007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0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Bundle revenue
</a:t>
            </a:r>
          </a:p>
        </p:txBody>
      </p:sp>
      <p:sp>
        <p:nvSpPr>
          <p:cNvPr id="29" name="Bundle revenue uplift definition">
            <a:extLst>
              <a:ext uri="{FF2B5EF4-FFF2-40B4-BE49-F238E27FC236}">
                <a16:creationId xmlns:a16="http://schemas.microsoft.com/office/drawing/2014/main" id="{81FF441E-CBE1-46BA-98B6-53E40517C1C7}"/>
              </a:ext>
            </a:extLst>
          </p:cNvPr>
          <p:cNvSpPr>
            <a:spLocks noGrp="1"/>
          </p:cNvSpPr>
          <p:nvPr/>
        </p:nvSpPr>
        <p:spPr>
          <a:xfrm>
            <a:off x="2619375" y="54864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revenue from exposed sellers</a:t>
            </a:r>
            <a:endParaRPr sz="1000" b="0" dirty="0">
              <a:solidFill>
                <a:srgbClr val="D9D9D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Bundle revenue uplift why">
            <a:extLst>
              <a:ext uri="{FF2B5EF4-FFF2-40B4-BE49-F238E27FC236}">
                <a16:creationId xmlns:a16="http://schemas.microsoft.com/office/drawing/2014/main" id="{2B3E98B2-D820-4E5F-A054-C40365E37313}"/>
              </a:ext>
            </a:extLst>
          </p:cNvPr>
          <p:cNvSpPr>
            <a:spLocks noGrp="1"/>
          </p:cNvSpPr>
          <p:nvPr/>
        </p:nvSpPr>
        <p:spPr>
          <a:xfrm>
            <a:off x="4933813" y="5486400"/>
            <a:ext cx="1638437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00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Links adoption to business
value.</a:t>
            </a:r>
          </a:p>
        </p:txBody>
      </p:sp>
      <p:sp>
        <p:nvSpPr>
          <p:cNvPr id="31" name="Guardrail section label">
            <a:extLst>
              <a:ext uri="{FF2B5EF4-FFF2-40B4-BE49-F238E27FC236}">
                <a16:creationId xmlns:a16="http://schemas.microsoft.com/office/drawing/2014/main" id="{348573A6-4E76-4227-A14D-74889B3DEE47}"/>
              </a:ext>
            </a:extLst>
          </p:cNvPr>
          <p:cNvSpPr>
            <a:spLocks noGrp="1"/>
          </p:cNvSpPr>
          <p:nvPr/>
        </p:nvSpPr>
        <p:spPr>
          <a:xfrm>
            <a:off x="7000875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Guardrail KPIs</a:t>
            </a:r>
          </a:p>
        </p:txBody>
      </p:sp>
      <p:sp>
        <p:nvSpPr>
          <p:cNvPr id="32" name="Guardrail intro">
            <a:extLst>
              <a:ext uri="{FF2B5EF4-FFF2-40B4-BE49-F238E27FC236}">
                <a16:creationId xmlns:a16="http://schemas.microsoft.com/office/drawing/2014/main" id="{CE67C8D6-4DDC-4441-A5C7-0E8FEB5D6D1F}"/>
              </a:ext>
            </a:extLst>
          </p:cNvPr>
          <p:cNvSpPr>
            <a:spLocks noGrp="1"/>
          </p:cNvSpPr>
          <p:nvPr/>
        </p:nvSpPr>
        <p:spPr>
          <a:xfrm>
            <a:off x="7000875" y="36957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1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Ensure the campaign does not overfit to short-term adoption
at the expense of seller fit</a:t>
            </a:r>
            <a:r>
              <a:rPr sz="1100">
                <a:solidFill>
                  <a:srgbClr val="D9D9D9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or support burden.</a:t>
            </a:r>
          </a:p>
        </p:txBody>
      </p:sp>
      <p:sp>
        <p:nvSpPr>
          <p:cNvPr id="33" name="Early cancellation / downgrade rate card">
            <a:extLst>
              <a:ext uri="{FF2B5EF4-FFF2-40B4-BE49-F238E27FC236}">
                <a16:creationId xmlns:a16="http://schemas.microsoft.com/office/drawing/2014/main" id="{9F6264AD-4C99-4143-BFDD-631399AF4D78}"/>
              </a:ext>
            </a:extLst>
          </p:cNvPr>
          <p:cNvSpPr>
            <a:spLocks noGrp="1"/>
          </p:cNvSpPr>
          <p:nvPr/>
        </p:nvSpPr>
        <p:spPr>
          <a:xfrm>
            <a:off x="7000875" y="4343400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Early cancellation / downgrade rate accent">
            <a:extLst>
              <a:ext uri="{FF2B5EF4-FFF2-40B4-BE49-F238E27FC236}">
                <a16:creationId xmlns:a16="http://schemas.microsoft.com/office/drawing/2014/main" id="{008611FB-2C8D-4622-A163-415C0656BF8E}"/>
              </a:ext>
            </a:extLst>
          </p:cNvPr>
          <p:cNvSpPr>
            <a:spLocks noGrp="1"/>
          </p:cNvSpPr>
          <p:nvPr/>
        </p:nvSpPr>
        <p:spPr>
          <a:xfrm>
            <a:off x="7000875" y="4410075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arly cancellation / downgrade rate kpi">
            <a:extLst>
              <a:ext uri="{FF2B5EF4-FFF2-40B4-BE49-F238E27FC236}">
                <a16:creationId xmlns:a16="http://schemas.microsoft.com/office/drawing/2014/main" id="{CFED6CC4-13CB-4723-A224-D0672647B0F1}"/>
              </a:ext>
            </a:extLst>
          </p:cNvPr>
          <p:cNvSpPr>
            <a:spLocks noGrp="1"/>
          </p:cNvSpPr>
          <p:nvPr/>
        </p:nvSpPr>
        <p:spPr>
          <a:xfrm>
            <a:off x="7229475" y="4591050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Early cancellation /
downgrade rate</a:t>
            </a:r>
          </a:p>
        </p:txBody>
      </p:sp>
      <p:sp>
        <p:nvSpPr>
          <p:cNvPr id="36" name="Early cancellation / downgrade rate definition">
            <a:extLst>
              <a:ext uri="{FF2B5EF4-FFF2-40B4-BE49-F238E27FC236}">
                <a16:creationId xmlns:a16="http://schemas.microsoft.com/office/drawing/2014/main" id="{58E8C443-F596-4A84-8C36-B43E0FB98CE6}"/>
              </a:ext>
            </a:extLst>
          </p:cNvPr>
          <p:cNvSpPr>
            <a:spLocks noGrp="1"/>
          </p:cNvSpPr>
          <p:nvPr/>
        </p:nvSpPr>
        <p:spPr>
          <a:xfrm>
            <a:off x="8658225" y="4476750"/>
            <a:ext cx="2340888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adopters who cancel or downgrade early</a:t>
            </a:r>
          </a:p>
        </p:txBody>
      </p:sp>
      <p:sp>
        <p:nvSpPr>
          <p:cNvPr id="38" name="Seller opt-out or complaint rate card">
            <a:extLst>
              <a:ext uri="{FF2B5EF4-FFF2-40B4-BE49-F238E27FC236}">
                <a16:creationId xmlns:a16="http://schemas.microsoft.com/office/drawing/2014/main" id="{89E67C07-C73A-41DF-9F19-7FB5504FB119}"/>
              </a:ext>
            </a:extLst>
          </p:cNvPr>
          <p:cNvSpPr>
            <a:spLocks noGrp="1"/>
          </p:cNvSpPr>
          <p:nvPr/>
        </p:nvSpPr>
        <p:spPr>
          <a:xfrm>
            <a:off x="7000875" y="5286375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9" name="Seller opt-out or complaint rate accent">
            <a:extLst>
              <a:ext uri="{FF2B5EF4-FFF2-40B4-BE49-F238E27FC236}">
                <a16:creationId xmlns:a16="http://schemas.microsoft.com/office/drawing/2014/main" id="{4A977E92-03A8-4110-BDA3-CD479237F0DE}"/>
              </a:ext>
            </a:extLst>
          </p:cNvPr>
          <p:cNvSpPr>
            <a:spLocks noGrp="1"/>
          </p:cNvSpPr>
          <p:nvPr/>
        </p:nvSpPr>
        <p:spPr>
          <a:xfrm>
            <a:off x="7000875" y="5353050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Seller opt-out or complaint rate kpi">
            <a:extLst>
              <a:ext uri="{FF2B5EF4-FFF2-40B4-BE49-F238E27FC236}">
                <a16:creationId xmlns:a16="http://schemas.microsoft.com/office/drawing/2014/main" id="{52515431-BB9B-4E29-B5D5-BFDE3621DE21}"/>
              </a:ext>
            </a:extLst>
          </p:cNvPr>
          <p:cNvSpPr>
            <a:spLocks noGrp="1"/>
          </p:cNvSpPr>
          <p:nvPr/>
        </p:nvSpPr>
        <p:spPr>
          <a:xfrm>
            <a:off x="7229475" y="5534025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opt-out or
complaint rate</a:t>
            </a:r>
          </a:p>
        </p:txBody>
      </p:sp>
      <p:sp>
        <p:nvSpPr>
          <p:cNvPr id="41" name="Seller opt-out or complaint rate definition">
            <a:extLst>
              <a:ext uri="{FF2B5EF4-FFF2-40B4-BE49-F238E27FC236}">
                <a16:creationId xmlns:a16="http://schemas.microsoft.com/office/drawing/2014/main" id="{053B7134-9FFB-4642-9111-79D0182AAB58}"/>
              </a:ext>
            </a:extLst>
          </p:cNvPr>
          <p:cNvSpPr>
            <a:spLocks noGrp="1"/>
          </p:cNvSpPr>
          <p:nvPr/>
        </p:nvSpPr>
        <p:spPr>
          <a:xfrm>
            <a:off x="8658225" y="5419725"/>
            <a:ext cx="2340888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opt out or complain</a:t>
            </a:r>
          </a:p>
        </p:txBody>
      </p:sp>
      <p:sp>
        <p:nvSpPr>
          <p:cNvPr id="37" name="Primary KPI section label">
            <a:extLst>
              <a:ext uri="{FF2B5EF4-FFF2-40B4-BE49-F238E27FC236}">
                <a16:creationId xmlns:a16="http://schemas.microsoft.com/office/drawing/2014/main" id="{A2FBDF38-5DDF-7C56-ACA8-90997652116B}"/>
              </a:ext>
            </a:extLst>
          </p:cNvPr>
          <p:cNvSpPr>
            <a:spLocks noGrp="1"/>
          </p:cNvSpPr>
          <p:nvPr/>
        </p:nvSpPr>
        <p:spPr>
          <a:xfrm>
            <a:off x="895348" y="2771774"/>
            <a:ext cx="9338898" cy="285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735B"/>
                </a:solidFill>
                <a:latin typeface="Arial"/>
                <a:ea typeface="Arial"/>
                <a:cs typeface="Arial"/>
              </a:rPr>
              <a:t>Confirm incrementality with an A/B test if possible.</a:t>
            </a:r>
            <a:r>
              <a:rPr lang="en-US" sz="1200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 Otherwise, campaign success can be confused with natural adoption.</a:t>
            </a:r>
            <a:endParaRPr sz="1200" dirty="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1607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 hidden="1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2000" cy="1143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ctr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 dirty="0">
                <a:solidFill>
                  <a:srgbClr val="F7F7F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 hidden="1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 hidden="1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Tal, June 2026</a:t>
            </a:r>
          </a:p>
        </p:txBody>
      </p:sp>
    </p:spTree>
    <p:extLst>
      <p:ext uri="{BB962C8B-B14F-4D97-AF65-F5344CB8AC3E}">
        <p14:creationId xmlns:p14="http://schemas.microsoft.com/office/powerpoint/2010/main" val="899394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2800</Words>
  <Application>Microsoft Macintosh PowerPoint</Application>
  <DocSecurity>0</DocSecurity>
  <PresentationFormat>Widescreen</PresentationFormat>
  <Paragraphs>551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Calibri</vt:lpstr>
      <vt:lpstr>Menlo</vt:lpstr>
      <vt:lpstr>Wingdings</vt:lpstr>
      <vt:lpstr>ChatGPT</vt:lpstr>
      <vt:lpstr>SMB Bundle Strategy</vt:lpstr>
      <vt:lpstr>01  Identify</vt:lpstr>
      <vt:lpstr>1. SMB Identification</vt:lpstr>
      <vt:lpstr>1.1 Direct Business Markers</vt:lpstr>
      <vt:lpstr>1.2 Paid Usage</vt:lpstr>
      <vt:lpstr>1.3 General Seller Activity</vt:lpstr>
      <vt:lpstr>1.4 Category Specialization</vt:lpstr>
      <vt:lpstr>2. Decision Mechanism</vt:lpstr>
      <vt:lpstr>02  Prioritize</vt:lpstr>
      <vt:lpstr>1. Framing</vt:lpstr>
      <vt:lpstr>1. Data Snapshot</vt:lpstr>
      <vt:lpstr>1. Data Snapshot</vt:lpstr>
      <vt:lpstr>2. Outreach Prioritization</vt:lpstr>
      <vt:lpstr>2.1 Outreach Readiness</vt:lpstr>
      <vt:lpstr>2.1 Outreach Readiness</vt:lpstr>
      <vt:lpstr>2.2 Bundle Choice</vt:lpstr>
      <vt:lpstr>2.2 Bundle Choice</vt:lpstr>
      <vt:lpstr>2.3 Recommendations</vt:lpstr>
      <vt:lpstr>03  Monitor</vt:lpstr>
      <vt:lpstr>1. Dashboard Framing</vt:lpstr>
      <vt:lpstr>2. Potential Data Enrichments</vt:lpstr>
      <vt:lpstr>3. Sales Overview</vt:lpstr>
      <vt:lpstr>3. Sales Overview</vt:lpstr>
      <vt:lpstr>3. Sales Overview</vt:lpstr>
      <vt:lpstr>4. Customer Quality</vt:lpstr>
      <vt:lpstr>4. Customer Quality</vt:lpstr>
      <vt:lpstr>5. Business Impact</vt:lpstr>
      <vt:lpstr>5. Business Impact</vt:lpstr>
      <vt:lpstr>04  Scale</vt:lpstr>
      <vt:lpstr>1. Campaign Objective</vt:lpstr>
      <vt:lpstr>2. Target Audience</vt:lpstr>
      <vt:lpstr>3. Channels</vt:lpstr>
      <vt:lpstr>3.1 Lifecycle CRM</vt:lpstr>
      <vt:lpstr>3.2 In-platform Prompts</vt:lpstr>
      <vt:lpstr>4. KPIs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Omer Tal</cp:lastModifiedBy>
  <cp:revision>29</cp:revision>
  <dcterms:created xsi:type="dcterms:W3CDTF">2026-06-16T08:18:35Z</dcterms:created>
  <dcterms:modified xsi:type="dcterms:W3CDTF">2026-06-16T15:26:52Z</dcterms:modified>
</cp:coreProperties>
</file>