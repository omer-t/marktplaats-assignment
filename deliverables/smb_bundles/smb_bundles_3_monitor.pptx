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932688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D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33272" y="9235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D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21792" y="1444752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45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33272" y="143560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45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Prioritize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21208" y="2862072"/>
            <a:ext cx="1325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2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2240280" y="2852928"/>
            <a:ext cx="4480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2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521208" y="395020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bundle adoption, revenue, and customer quality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21792" y="4901184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7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33272" y="489204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7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6199632"/>
            <a:ext cx="11274552" cy="0"/>
          </a:xfrm>
          <a:prstGeom prst="line">
            <a:avLst/>
          </a:prstGeom>
          <a:noFill/>
          <a:ln w="12700">
            <a:solidFill>
              <a:srgbClr val="2B2B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27080" y="6345936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12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20040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261872" y="301752"/>
            <a:ext cx="9875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 Sales Overview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61288"/>
            <a:ext cx="11274552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6199632"/>
            <a:ext cx="11274552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6345936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SMB Bundle Monitoring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927080" y="6345936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12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21792" y="148132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Bundles have an observable paid base, but the dashboard must separate launch traction from paid adoption quality.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58368" y="2331720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87552" y="2295144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first: KPI strip uses the latest seller snapshot and complete 4-week periods where completeness matters.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8368" y="3044952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87552" y="3008376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view: demand, monetized adoption, trial pipeline, modeled revenue, and Plus mix.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58368" y="3758184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87552" y="3721608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limitation: revenue is modeled from intervals and list prices; it is not actual invoiced or collected revenue.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20040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261872" y="301752"/>
            <a:ext cx="9875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KPI Snapshot / Weekly New Registrations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61288"/>
            <a:ext cx="11274552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6199632"/>
            <a:ext cx="11274552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6345936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SMB Bundle Monitoring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927080" y="6345936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12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21792" y="135331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Latest snapshot shows a paid base of 2.7k sellers; new registrations have tapered to 35 in the latest complete 4-week period.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66928" y="1901952"/>
            <a:ext cx="1993392" cy="822960"/>
          </a:xfrm>
          <a:prstGeom prst="rect">
            <a:avLst/>
          </a:prstGeom>
          <a:solidFill>
            <a:srgbClr val="121212"/>
          </a:solidFill>
          <a:ln w="7620">
            <a:solidFill>
              <a:srgbClr val="2B2B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" y="1901952"/>
            <a:ext cx="1993392" cy="36576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4944" y="204825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2,709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94944" y="2350008"/>
            <a:ext cx="17373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paid sellers</a:t>
            </a:r>
            <a:endParaRPr lang="en-US" sz="860" dirty="0"/>
          </a:p>
        </p:txBody>
      </p:sp>
      <p:sp>
        <p:nvSpPr>
          <p:cNvPr id="13" name="Text 11"/>
          <p:cNvSpPr/>
          <p:nvPr/>
        </p:nvSpPr>
        <p:spPr>
          <a:xfrm>
            <a:off x="694944" y="2542032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Latest seller snapshot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2825496" y="1901952"/>
            <a:ext cx="1993392" cy="822960"/>
          </a:xfrm>
          <a:prstGeom prst="rect">
            <a:avLst/>
          </a:prstGeom>
          <a:solidFill>
            <a:srgbClr val="121212"/>
          </a:solidFill>
          <a:ln w="7620">
            <a:solidFill>
              <a:srgbClr val="2B2B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25496" y="1901952"/>
            <a:ext cx="1993392" cy="36576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53512" y="204825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2953512" y="2350008"/>
            <a:ext cx="17373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trial sellers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2953512" y="2542032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near-term trial queue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5084064" y="1901952"/>
            <a:ext cx="1993392" cy="822960"/>
          </a:xfrm>
          <a:prstGeom prst="rect">
            <a:avLst/>
          </a:prstGeom>
          <a:solidFill>
            <a:srgbClr val="121212"/>
          </a:solidFill>
          <a:ln w="7620">
            <a:solidFill>
              <a:srgbClr val="2B2B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84064" y="1901952"/>
            <a:ext cx="1993392" cy="36576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12080" y="204825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212080" y="2350008"/>
            <a:ext cx="17373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4-week registrations</a:t>
            </a:r>
            <a:endParaRPr lang="en-US" sz="860" dirty="0"/>
          </a:p>
        </p:txBody>
      </p:sp>
      <p:sp>
        <p:nvSpPr>
          <p:cNvPr id="23" name="Text 21"/>
          <p:cNvSpPr/>
          <p:nvPr/>
        </p:nvSpPr>
        <p:spPr>
          <a:xfrm>
            <a:off x="5212080" y="2542032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Latest complete period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7342632" y="1901952"/>
            <a:ext cx="1993392" cy="822960"/>
          </a:xfrm>
          <a:prstGeom prst="rect">
            <a:avLst/>
          </a:prstGeom>
          <a:solidFill>
            <a:srgbClr val="121212"/>
          </a:solidFill>
          <a:ln w="7620">
            <a:solidFill>
              <a:srgbClr val="2B2B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42632" y="1901952"/>
            <a:ext cx="1993392" cy="36576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70648" y="204825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40.9%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470648" y="2350008"/>
            <a:ext cx="17373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paid share</a:t>
            </a:r>
            <a:endParaRPr lang="en-US" sz="860" dirty="0"/>
          </a:p>
        </p:txBody>
      </p:sp>
      <p:sp>
        <p:nvSpPr>
          <p:cNvPr id="28" name="Text 26"/>
          <p:cNvSpPr/>
          <p:nvPr/>
        </p:nvSpPr>
        <p:spPr>
          <a:xfrm>
            <a:off x="7470648" y="2542032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Monetization mix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9601200" y="1901952"/>
            <a:ext cx="1993392" cy="822960"/>
          </a:xfrm>
          <a:prstGeom prst="rect">
            <a:avLst/>
          </a:prstGeom>
          <a:solidFill>
            <a:srgbClr val="121212"/>
          </a:solidFill>
          <a:ln w="7620">
            <a:solidFill>
              <a:srgbClr val="2B2B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601200" y="1901952"/>
            <a:ext cx="1993392" cy="36576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729216" y="204825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€88,323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9729216" y="2350008"/>
            <a:ext cx="17373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Modeled 4-week revenue</a:t>
            </a:r>
            <a:endParaRPr lang="en-US" sz="860" dirty="0"/>
          </a:p>
        </p:txBody>
      </p:sp>
      <p:sp>
        <p:nvSpPr>
          <p:cNvPr id="33" name="Text 31"/>
          <p:cNvSpPr/>
          <p:nvPr/>
        </p:nvSpPr>
        <p:spPr>
          <a:xfrm>
            <a:off x="9729216" y="2542032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 starting Mar 27</a:t>
            </a:r>
            <a:endParaRPr lang="en-US" sz="700" dirty="0"/>
          </a:p>
        </p:txBody>
      </p:sp>
      <p:pic>
        <p:nvPicPr>
          <p:cNvPr id="34" name="Image 0" descr="/Users/omertal/PycharmProjects/Marketplaats/outputs/019ec668-313f-7a42-b45f-b7e468004534/presentations/q3-monitor-png/assets/weekly_new_registra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8854" y="2907792"/>
            <a:ext cx="5874668" cy="2468880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777240" y="5532120"/>
            <a:ext cx="9875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 visual: first-ever Basic and Plus bundle starts by week.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20040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261872" y="301752"/>
            <a:ext cx="9875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 Active Bundle Sellers / Trial Pipeline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61288"/>
            <a:ext cx="11274552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6199632"/>
            <a:ext cx="11274552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6345936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SMB Bundle Monitoring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927080" y="6345936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12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21792" y="134416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sellers built through the launch year while active trials are now effectively zero, so near-term conversion follow-up has no populated queue.</a:t>
            </a:r>
            <a:endParaRPr lang="en-US" sz="1550" dirty="0"/>
          </a:p>
        </p:txBody>
      </p:sp>
      <p:pic>
        <p:nvPicPr>
          <p:cNvPr id="9" name="Image 0" descr="/Users/omertal/PycharmProjects/Marketplaats/outputs/019ec668-313f-7a42-b45f-b7e468004534/presentations/q3-monitor-png/assets/active_bundle_sell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815" y="1847088"/>
            <a:ext cx="7506946" cy="34290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823960" y="2331720"/>
            <a:ext cx="2286000" cy="1536192"/>
          </a:xfrm>
          <a:prstGeom prst="rect">
            <a:avLst/>
          </a:prstGeom>
          <a:solidFill>
            <a:srgbClr val="000000">
              <a:alpha val="0"/>
            </a:srgbClr>
          </a:solidFill>
          <a:ln w="8890">
            <a:solidFill>
              <a:srgbClr val="2B2B2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823960" y="2331720"/>
            <a:ext cx="2286000" cy="384048"/>
          </a:xfrm>
          <a:prstGeom prst="rect">
            <a:avLst/>
          </a:prstGeom>
          <a:solidFill>
            <a:srgbClr val="171717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897112" y="2368296"/>
            <a:ext cx="127101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Trial queue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0241280" y="2331720"/>
            <a:ext cx="0" cy="1536192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314432" y="2368296"/>
            <a:ext cx="72237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823960" y="2715768"/>
            <a:ext cx="2286000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897112" y="2752344"/>
            <a:ext cx="127101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7 days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10241280" y="2331720"/>
            <a:ext cx="0" cy="1536192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314432" y="2752344"/>
            <a:ext cx="72237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823960" y="3099816"/>
            <a:ext cx="2286000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897112" y="3136392"/>
            <a:ext cx="127101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14 days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10241280" y="2331720"/>
            <a:ext cx="0" cy="1536192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314432" y="3136392"/>
            <a:ext cx="72237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8823960" y="3483864"/>
            <a:ext cx="2286000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897112" y="3520440"/>
            <a:ext cx="127101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28 days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10241280" y="2331720"/>
            <a:ext cx="0" cy="1536192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314432" y="3520440"/>
            <a:ext cx="72237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8823960" y="41605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module: grouped bars by week of trial end, split by Basic trial and Plus trial.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20040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261872" y="301752"/>
            <a:ext cx="9875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 Modeled Paid Revenue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61288"/>
            <a:ext cx="11274552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6199632"/>
            <a:ext cx="11274552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6345936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SMB Bundle Monitoring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927080" y="6345936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12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21792" y="134416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Modeled subscription revenue stabilized around €88k per complete 4-week period; the final observed period is incomplete and should not be read as a drop.</a:t>
            </a:r>
            <a:endParaRPr lang="en-US" sz="1550" dirty="0"/>
          </a:p>
        </p:txBody>
      </p:sp>
      <p:pic>
        <p:nvPicPr>
          <p:cNvPr id="9" name="Image 0" descr="/Users/omertal/PycharmProjects/Marketplaats/outputs/019ec668-313f-7a42-b45f-b7e468004534/presentations/q3-monitor-png/assets/modeled_paid_reven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621" y="1847088"/>
            <a:ext cx="6382942" cy="265176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909560" y="1874520"/>
            <a:ext cx="3154680" cy="2798064"/>
          </a:xfrm>
          <a:prstGeom prst="rect">
            <a:avLst/>
          </a:prstGeom>
          <a:solidFill>
            <a:srgbClr val="000000">
              <a:alpha val="0"/>
            </a:srgbClr>
          </a:solidFill>
          <a:ln w="8890">
            <a:solidFill>
              <a:srgbClr val="2B2B2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909560" y="1874520"/>
            <a:ext cx="3154680" cy="310896"/>
          </a:xfrm>
          <a:prstGeom prst="rect">
            <a:avLst/>
          </a:prstGeom>
          <a:solidFill>
            <a:srgbClr val="171717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982712" y="1911096"/>
            <a:ext cx="957834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 start</a:t>
            </a:r>
            <a:endParaRPr lang="en-US" sz="770" dirty="0"/>
          </a:p>
        </p:txBody>
      </p:sp>
      <p:sp>
        <p:nvSpPr>
          <p:cNvPr id="13" name="Shape 10"/>
          <p:cNvSpPr/>
          <p:nvPr/>
        </p:nvSpPr>
        <p:spPr>
          <a:xfrm>
            <a:off x="9013698" y="1874520"/>
            <a:ext cx="0" cy="2798064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086850" y="1911096"/>
            <a:ext cx="989381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Modeled revenue</a:t>
            </a:r>
            <a:endParaRPr lang="en-US" sz="770" dirty="0"/>
          </a:p>
        </p:txBody>
      </p:sp>
      <p:sp>
        <p:nvSpPr>
          <p:cNvPr id="15" name="Shape 12"/>
          <p:cNvSpPr/>
          <p:nvPr/>
        </p:nvSpPr>
        <p:spPr>
          <a:xfrm>
            <a:off x="10149383" y="1874520"/>
            <a:ext cx="0" cy="2798064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222535" y="1911096"/>
            <a:ext cx="768553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 events</a:t>
            </a:r>
            <a:endParaRPr lang="en-US" sz="770" dirty="0"/>
          </a:p>
        </p:txBody>
      </p:sp>
      <p:sp>
        <p:nvSpPr>
          <p:cNvPr id="17" name="Shape 14"/>
          <p:cNvSpPr/>
          <p:nvPr/>
        </p:nvSpPr>
        <p:spPr>
          <a:xfrm>
            <a:off x="7909560" y="2185416"/>
            <a:ext cx="3154680" cy="310896"/>
          </a:xfrm>
          <a:prstGeom prst="rect">
            <a:avLst/>
          </a:prstGeom>
          <a:solidFill>
            <a:srgbClr val="000000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982712" y="2221992"/>
            <a:ext cx="957834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2024-10-10</a:t>
            </a:r>
            <a:endParaRPr lang="en-US" sz="770" dirty="0"/>
          </a:p>
        </p:txBody>
      </p:sp>
      <p:sp>
        <p:nvSpPr>
          <p:cNvPr id="19" name="Shape 16"/>
          <p:cNvSpPr/>
          <p:nvPr/>
        </p:nvSpPr>
        <p:spPr>
          <a:xfrm>
            <a:off x="9013698" y="1874520"/>
            <a:ext cx="0" cy="2798064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086850" y="2221992"/>
            <a:ext cx="989381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€84,963</a:t>
            </a:r>
            <a:endParaRPr lang="en-US" sz="770" dirty="0"/>
          </a:p>
        </p:txBody>
      </p:sp>
      <p:sp>
        <p:nvSpPr>
          <p:cNvPr id="21" name="Shape 18"/>
          <p:cNvSpPr/>
          <p:nvPr/>
        </p:nvSpPr>
        <p:spPr>
          <a:xfrm>
            <a:off x="10149383" y="1874520"/>
            <a:ext cx="0" cy="2798064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222535" y="2221992"/>
            <a:ext cx="768553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2,670</a:t>
            </a:r>
            <a:endParaRPr lang="en-US" sz="770" dirty="0"/>
          </a:p>
        </p:txBody>
      </p:sp>
      <p:sp>
        <p:nvSpPr>
          <p:cNvPr id="23" name="Shape 20"/>
          <p:cNvSpPr/>
          <p:nvPr/>
        </p:nvSpPr>
        <p:spPr>
          <a:xfrm>
            <a:off x="7909560" y="2496312"/>
            <a:ext cx="3154680" cy="310896"/>
          </a:xfrm>
          <a:prstGeom prst="rect">
            <a:avLst/>
          </a:prstGeom>
          <a:solidFill>
            <a:srgbClr val="000000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982712" y="2532888"/>
            <a:ext cx="957834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2024-11-07</a:t>
            </a:r>
            <a:endParaRPr lang="en-US" sz="770" dirty="0"/>
          </a:p>
        </p:txBody>
      </p:sp>
      <p:sp>
        <p:nvSpPr>
          <p:cNvPr id="25" name="Shape 22"/>
          <p:cNvSpPr/>
          <p:nvPr/>
        </p:nvSpPr>
        <p:spPr>
          <a:xfrm>
            <a:off x="9013698" y="1874520"/>
            <a:ext cx="0" cy="2798064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086850" y="2532888"/>
            <a:ext cx="989381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€87,303</a:t>
            </a:r>
            <a:endParaRPr lang="en-US" sz="770" dirty="0"/>
          </a:p>
        </p:txBody>
      </p:sp>
      <p:sp>
        <p:nvSpPr>
          <p:cNvPr id="27" name="Shape 24"/>
          <p:cNvSpPr/>
          <p:nvPr/>
        </p:nvSpPr>
        <p:spPr>
          <a:xfrm>
            <a:off x="10149383" y="1874520"/>
            <a:ext cx="0" cy="2798064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222535" y="2532888"/>
            <a:ext cx="768553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2,727</a:t>
            </a:r>
            <a:endParaRPr lang="en-US" sz="770" dirty="0"/>
          </a:p>
        </p:txBody>
      </p:sp>
      <p:sp>
        <p:nvSpPr>
          <p:cNvPr id="29" name="Shape 26"/>
          <p:cNvSpPr/>
          <p:nvPr/>
        </p:nvSpPr>
        <p:spPr>
          <a:xfrm>
            <a:off x="7909560" y="2807208"/>
            <a:ext cx="3154680" cy="310896"/>
          </a:xfrm>
          <a:prstGeom prst="rect">
            <a:avLst/>
          </a:prstGeom>
          <a:solidFill>
            <a:srgbClr val="000000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82712" y="2843784"/>
            <a:ext cx="957834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2024-12-05</a:t>
            </a:r>
            <a:endParaRPr lang="en-US" sz="770" dirty="0"/>
          </a:p>
        </p:txBody>
      </p:sp>
      <p:sp>
        <p:nvSpPr>
          <p:cNvPr id="31" name="Shape 28"/>
          <p:cNvSpPr/>
          <p:nvPr/>
        </p:nvSpPr>
        <p:spPr>
          <a:xfrm>
            <a:off x="9013698" y="1874520"/>
            <a:ext cx="0" cy="2798064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086850" y="2843784"/>
            <a:ext cx="989381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€87,573</a:t>
            </a:r>
            <a:endParaRPr lang="en-US" sz="770" dirty="0"/>
          </a:p>
        </p:txBody>
      </p:sp>
      <p:sp>
        <p:nvSpPr>
          <p:cNvPr id="33" name="Shape 30"/>
          <p:cNvSpPr/>
          <p:nvPr/>
        </p:nvSpPr>
        <p:spPr>
          <a:xfrm>
            <a:off x="10149383" y="1874520"/>
            <a:ext cx="0" cy="2798064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0222535" y="2843784"/>
            <a:ext cx="768553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2,721</a:t>
            </a:r>
            <a:endParaRPr lang="en-US" sz="770" dirty="0"/>
          </a:p>
        </p:txBody>
      </p:sp>
      <p:sp>
        <p:nvSpPr>
          <p:cNvPr id="35" name="Shape 32"/>
          <p:cNvSpPr/>
          <p:nvPr/>
        </p:nvSpPr>
        <p:spPr>
          <a:xfrm>
            <a:off x="7909560" y="3118104"/>
            <a:ext cx="3154680" cy="310896"/>
          </a:xfrm>
          <a:prstGeom prst="rect">
            <a:avLst/>
          </a:prstGeom>
          <a:solidFill>
            <a:srgbClr val="000000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82712" y="3154680"/>
            <a:ext cx="957834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2025-01-02</a:t>
            </a:r>
            <a:endParaRPr lang="en-US" sz="770" dirty="0"/>
          </a:p>
        </p:txBody>
      </p:sp>
      <p:sp>
        <p:nvSpPr>
          <p:cNvPr id="37" name="Shape 34"/>
          <p:cNvSpPr/>
          <p:nvPr/>
        </p:nvSpPr>
        <p:spPr>
          <a:xfrm>
            <a:off x="9013698" y="1874520"/>
            <a:ext cx="0" cy="2798064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086850" y="3154680"/>
            <a:ext cx="989381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€88,243</a:t>
            </a:r>
            <a:endParaRPr lang="en-US" sz="770" dirty="0"/>
          </a:p>
        </p:txBody>
      </p:sp>
      <p:sp>
        <p:nvSpPr>
          <p:cNvPr id="39" name="Shape 36"/>
          <p:cNvSpPr/>
          <p:nvPr/>
        </p:nvSpPr>
        <p:spPr>
          <a:xfrm>
            <a:off x="10149383" y="1874520"/>
            <a:ext cx="0" cy="2798064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222535" y="3154680"/>
            <a:ext cx="768553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2,738</a:t>
            </a:r>
            <a:endParaRPr lang="en-US" sz="770" dirty="0"/>
          </a:p>
        </p:txBody>
      </p:sp>
      <p:sp>
        <p:nvSpPr>
          <p:cNvPr id="41" name="Shape 38"/>
          <p:cNvSpPr/>
          <p:nvPr/>
        </p:nvSpPr>
        <p:spPr>
          <a:xfrm>
            <a:off x="7909560" y="3429000"/>
            <a:ext cx="3154680" cy="310896"/>
          </a:xfrm>
          <a:prstGeom prst="rect">
            <a:avLst/>
          </a:prstGeom>
          <a:solidFill>
            <a:srgbClr val="000000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982712" y="3465576"/>
            <a:ext cx="957834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2025-01-30</a:t>
            </a:r>
            <a:endParaRPr lang="en-US" sz="770" dirty="0"/>
          </a:p>
        </p:txBody>
      </p:sp>
      <p:sp>
        <p:nvSpPr>
          <p:cNvPr id="43" name="Shape 40"/>
          <p:cNvSpPr/>
          <p:nvPr/>
        </p:nvSpPr>
        <p:spPr>
          <a:xfrm>
            <a:off x="9013698" y="1874520"/>
            <a:ext cx="0" cy="2798064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086850" y="3465576"/>
            <a:ext cx="989381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€88,723</a:t>
            </a:r>
            <a:endParaRPr lang="en-US" sz="770" dirty="0"/>
          </a:p>
        </p:txBody>
      </p:sp>
      <p:sp>
        <p:nvSpPr>
          <p:cNvPr id="45" name="Shape 42"/>
          <p:cNvSpPr/>
          <p:nvPr/>
        </p:nvSpPr>
        <p:spPr>
          <a:xfrm>
            <a:off x="10149383" y="1874520"/>
            <a:ext cx="0" cy="2798064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10222535" y="3465576"/>
            <a:ext cx="768553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2,744</a:t>
            </a:r>
            <a:endParaRPr lang="en-US" sz="770" dirty="0"/>
          </a:p>
        </p:txBody>
      </p:sp>
      <p:sp>
        <p:nvSpPr>
          <p:cNvPr id="47" name="Shape 44"/>
          <p:cNvSpPr/>
          <p:nvPr/>
        </p:nvSpPr>
        <p:spPr>
          <a:xfrm>
            <a:off x="7909560" y="3739896"/>
            <a:ext cx="3154680" cy="310896"/>
          </a:xfrm>
          <a:prstGeom prst="rect">
            <a:avLst/>
          </a:prstGeom>
          <a:solidFill>
            <a:srgbClr val="000000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982712" y="3776472"/>
            <a:ext cx="957834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2025-02-27</a:t>
            </a:r>
            <a:endParaRPr lang="en-US" sz="770" dirty="0"/>
          </a:p>
        </p:txBody>
      </p:sp>
      <p:sp>
        <p:nvSpPr>
          <p:cNvPr id="49" name="Shape 46"/>
          <p:cNvSpPr/>
          <p:nvPr/>
        </p:nvSpPr>
        <p:spPr>
          <a:xfrm>
            <a:off x="9013698" y="1874520"/>
            <a:ext cx="0" cy="2798064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9086850" y="3776472"/>
            <a:ext cx="989381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€88,073</a:t>
            </a:r>
            <a:endParaRPr lang="en-US" sz="770" dirty="0"/>
          </a:p>
        </p:txBody>
      </p:sp>
      <p:sp>
        <p:nvSpPr>
          <p:cNvPr id="51" name="Shape 48"/>
          <p:cNvSpPr/>
          <p:nvPr/>
        </p:nvSpPr>
        <p:spPr>
          <a:xfrm>
            <a:off x="10149383" y="1874520"/>
            <a:ext cx="0" cy="2798064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10222535" y="3776472"/>
            <a:ext cx="768553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2,734</a:t>
            </a:r>
            <a:endParaRPr lang="en-US" sz="770" dirty="0"/>
          </a:p>
        </p:txBody>
      </p:sp>
      <p:sp>
        <p:nvSpPr>
          <p:cNvPr id="53" name="Shape 50"/>
          <p:cNvSpPr/>
          <p:nvPr/>
        </p:nvSpPr>
        <p:spPr>
          <a:xfrm>
            <a:off x="7909560" y="4050792"/>
            <a:ext cx="3154680" cy="310896"/>
          </a:xfrm>
          <a:prstGeom prst="rect">
            <a:avLst/>
          </a:prstGeom>
          <a:solidFill>
            <a:srgbClr val="000000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982712" y="4087368"/>
            <a:ext cx="957834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2025-03-27</a:t>
            </a:r>
            <a:endParaRPr lang="en-US" sz="770" dirty="0"/>
          </a:p>
        </p:txBody>
      </p:sp>
      <p:sp>
        <p:nvSpPr>
          <p:cNvPr id="55" name="Shape 52"/>
          <p:cNvSpPr/>
          <p:nvPr/>
        </p:nvSpPr>
        <p:spPr>
          <a:xfrm>
            <a:off x="9013698" y="1874520"/>
            <a:ext cx="0" cy="2798064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9086850" y="4087368"/>
            <a:ext cx="989381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€88,323</a:t>
            </a:r>
            <a:endParaRPr lang="en-US" sz="770" dirty="0"/>
          </a:p>
        </p:txBody>
      </p:sp>
      <p:sp>
        <p:nvSpPr>
          <p:cNvPr id="57" name="Shape 54"/>
          <p:cNvSpPr/>
          <p:nvPr/>
        </p:nvSpPr>
        <p:spPr>
          <a:xfrm>
            <a:off x="10149383" y="1874520"/>
            <a:ext cx="0" cy="2798064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10222535" y="4087368"/>
            <a:ext cx="768553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2,745</a:t>
            </a:r>
            <a:endParaRPr lang="en-US" sz="770" dirty="0"/>
          </a:p>
        </p:txBody>
      </p:sp>
      <p:sp>
        <p:nvSpPr>
          <p:cNvPr id="59" name="Shape 56"/>
          <p:cNvSpPr/>
          <p:nvPr/>
        </p:nvSpPr>
        <p:spPr>
          <a:xfrm>
            <a:off x="7909560" y="4361688"/>
            <a:ext cx="3154680" cy="310896"/>
          </a:xfrm>
          <a:prstGeom prst="rect">
            <a:avLst/>
          </a:prstGeom>
          <a:solidFill>
            <a:srgbClr val="000000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7982712" y="4398264"/>
            <a:ext cx="957834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2025-04-24</a:t>
            </a:r>
            <a:endParaRPr lang="en-US" sz="770" dirty="0"/>
          </a:p>
        </p:txBody>
      </p:sp>
      <p:sp>
        <p:nvSpPr>
          <p:cNvPr id="61" name="Shape 58"/>
          <p:cNvSpPr/>
          <p:nvPr/>
        </p:nvSpPr>
        <p:spPr>
          <a:xfrm>
            <a:off x="9013698" y="1874520"/>
            <a:ext cx="0" cy="2798064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086850" y="4398264"/>
            <a:ext cx="989381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€21,044</a:t>
            </a:r>
            <a:endParaRPr lang="en-US" sz="770" dirty="0"/>
          </a:p>
        </p:txBody>
      </p:sp>
      <p:sp>
        <p:nvSpPr>
          <p:cNvPr id="63" name="Shape 60"/>
          <p:cNvSpPr/>
          <p:nvPr/>
        </p:nvSpPr>
        <p:spPr>
          <a:xfrm>
            <a:off x="10149383" y="1874520"/>
            <a:ext cx="0" cy="2798064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10222535" y="4398264"/>
            <a:ext cx="768553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646</a:t>
            </a:r>
            <a:endParaRPr lang="en-US" sz="770" dirty="0"/>
          </a:p>
        </p:txBody>
      </p:sp>
      <p:pic>
        <p:nvPicPr>
          <p:cNvPr id="65" name="Image 1" descr="/Users/omertal/PycharmProjects/Marketplaats/outputs/019ec668-313f-7a42-b45f-b7e468004534/presentations/q3-monitor-png/assets/latest_revenue_by_bund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4910" y="4645152"/>
            <a:ext cx="1653699" cy="960120"/>
          </a:xfrm>
          <a:prstGeom prst="rect">
            <a:avLst/>
          </a:prstGeom>
        </p:spPr>
      </p:pic>
      <p:sp>
        <p:nvSpPr>
          <p:cNvPr id="66" name="Text 62"/>
          <p:cNvSpPr/>
          <p:nvPr/>
        </p:nvSpPr>
        <p:spPr>
          <a:xfrm>
            <a:off x="5577840" y="495604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Assumption: expected revenue is based on bundle status, list price, free-trial timing, and no-refund switching logic.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20040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261872" y="301752"/>
            <a:ext cx="9875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 Plus Share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61288"/>
            <a:ext cx="11274552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6199632"/>
            <a:ext cx="11274552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6345936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SMB Bundle Monitoring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927080" y="6345936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12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21792" y="134416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represents 40.9% of active paid sellers, making mix quality a separate monitor from adoption volume.</a:t>
            </a:r>
            <a:endParaRPr lang="en-US" sz="1550" dirty="0"/>
          </a:p>
        </p:txBody>
      </p:sp>
      <p:pic>
        <p:nvPicPr>
          <p:cNvPr id="9" name="Image 0" descr="/Users/omertal/PycharmProjects/Marketplaats/outputs/019ec668-313f-7a42-b45f-b7e468004534/presentations/q3-monitor-png/assets/plus_sh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472" y="1847088"/>
            <a:ext cx="9428480" cy="35661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68680" y="5532120"/>
            <a:ext cx="9784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Limitation: this does not explain why sellers choose Plus; category, spend, and seller-size data would be needed.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20040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261872" y="301752"/>
            <a:ext cx="9875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 Customer Quality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61288"/>
            <a:ext cx="11274552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6199632"/>
            <a:ext cx="11274552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6345936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SMB Bundle Monitoring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927080" y="6345936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12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21792" y="148132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paid quality is measurable from registration intervals, but not full seller LTV or marketplace outcomes.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58368" y="2331720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87552" y="2295144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Cohort rows group sellers by first bundle start in 28-day launch windows.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8368" y="3044952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87552" y="3008376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Maturity columns show whether sellers remain active paid after Day 28, 56, 84, and 112.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58368" y="3758184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87552" y="3721608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 cuts diagnose where adoption quality is stronger using only customer type and first bundle type.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20040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261872" y="301752"/>
            <a:ext cx="9875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 Cohort Health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61288"/>
            <a:ext cx="11274552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6199632"/>
            <a:ext cx="11274552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6345936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SMB Bundle Monitoring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927080" y="6345936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12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21792" y="134416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Day-28 paid conversion starts near 89-90%; later maturity settles around the mid-60s for older cohorts, with immature cells intentionally blank.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85800" y="159105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Cohort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965960" y="1591056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28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971800" y="1591056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56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977640" y="1591056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84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983480" y="1591056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112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85800" y="1929384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24</a:t>
            </a:r>
            <a:endParaRPr lang="en-US" sz="720" dirty="0"/>
          </a:p>
        </p:txBody>
      </p:sp>
      <p:sp>
        <p:nvSpPr>
          <p:cNvPr id="15" name="Shape 13"/>
          <p:cNvSpPr/>
          <p:nvPr/>
        </p:nvSpPr>
        <p:spPr>
          <a:xfrm>
            <a:off x="1965960" y="1901952"/>
            <a:ext cx="978408" cy="228600"/>
          </a:xfrm>
          <a:prstGeom prst="rect">
            <a:avLst/>
          </a:prstGeom>
          <a:solidFill>
            <a:srgbClr val="00663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65960" y="1929384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</a:t>
            </a:r>
            <a:endParaRPr lang="en-US" sz="720" dirty="0"/>
          </a:p>
        </p:txBody>
      </p:sp>
      <p:sp>
        <p:nvSpPr>
          <p:cNvPr id="17" name="Shape 15"/>
          <p:cNvSpPr/>
          <p:nvPr/>
        </p:nvSpPr>
        <p:spPr>
          <a:xfrm>
            <a:off x="2971800" y="1901952"/>
            <a:ext cx="978408" cy="228600"/>
          </a:xfrm>
          <a:prstGeom prst="rect">
            <a:avLst/>
          </a:prstGeom>
          <a:solidFill>
            <a:srgbClr val="66B96B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929384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720" dirty="0"/>
          </a:p>
        </p:txBody>
      </p:sp>
      <p:sp>
        <p:nvSpPr>
          <p:cNvPr id="19" name="Shape 17"/>
          <p:cNvSpPr/>
          <p:nvPr/>
        </p:nvSpPr>
        <p:spPr>
          <a:xfrm>
            <a:off x="3977640" y="1901952"/>
            <a:ext cx="978408" cy="228600"/>
          </a:xfrm>
          <a:prstGeom prst="rect">
            <a:avLst/>
          </a:prstGeom>
          <a:solidFill>
            <a:srgbClr val="66B96B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77640" y="1929384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67%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4983480" y="1901952"/>
            <a:ext cx="978408" cy="228600"/>
          </a:xfrm>
          <a:prstGeom prst="rect">
            <a:avLst/>
          </a:prstGeom>
          <a:solidFill>
            <a:srgbClr val="66B96B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83480" y="1929384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66%</a:t>
            </a:r>
            <a:endParaRPr lang="en-US" sz="720" dirty="0"/>
          </a:p>
        </p:txBody>
      </p:sp>
      <p:sp>
        <p:nvSpPr>
          <p:cNvPr id="23" name="Text 21"/>
          <p:cNvSpPr/>
          <p:nvPr/>
        </p:nvSpPr>
        <p:spPr>
          <a:xfrm>
            <a:off x="685800" y="2185416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24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1965960" y="2157984"/>
            <a:ext cx="978408" cy="228600"/>
          </a:xfrm>
          <a:prstGeom prst="rect">
            <a:avLst/>
          </a:prstGeom>
          <a:solidFill>
            <a:srgbClr val="00663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965960" y="2185416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720" dirty="0"/>
          </a:p>
        </p:txBody>
      </p:sp>
      <p:sp>
        <p:nvSpPr>
          <p:cNvPr id="26" name="Shape 24"/>
          <p:cNvSpPr/>
          <p:nvPr/>
        </p:nvSpPr>
        <p:spPr>
          <a:xfrm>
            <a:off x="2971800" y="2157984"/>
            <a:ext cx="978408" cy="228600"/>
          </a:xfrm>
          <a:prstGeom prst="rect">
            <a:avLst/>
          </a:prstGeom>
          <a:solidFill>
            <a:srgbClr val="66B96B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71800" y="2185416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72%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977640" y="2157984"/>
            <a:ext cx="978408" cy="228600"/>
          </a:xfrm>
          <a:prstGeom prst="rect">
            <a:avLst/>
          </a:prstGeom>
          <a:solidFill>
            <a:srgbClr val="66B96B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977640" y="2185416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68%</a:t>
            </a:r>
            <a:endParaRPr lang="en-US" sz="720" dirty="0"/>
          </a:p>
        </p:txBody>
      </p:sp>
      <p:sp>
        <p:nvSpPr>
          <p:cNvPr id="30" name="Shape 28"/>
          <p:cNvSpPr/>
          <p:nvPr/>
        </p:nvSpPr>
        <p:spPr>
          <a:xfrm>
            <a:off x="4983480" y="2157984"/>
            <a:ext cx="978408" cy="228600"/>
          </a:xfrm>
          <a:prstGeom prst="rect">
            <a:avLst/>
          </a:prstGeom>
          <a:solidFill>
            <a:srgbClr val="66B96B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83480" y="2185416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66%</a:t>
            </a:r>
            <a:endParaRPr lang="en-US" sz="720" dirty="0"/>
          </a:p>
        </p:txBody>
      </p:sp>
      <p:sp>
        <p:nvSpPr>
          <p:cNvPr id="32" name="Text 30"/>
          <p:cNvSpPr/>
          <p:nvPr/>
        </p:nvSpPr>
        <p:spPr>
          <a:xfrm>
            <a:off x="685800" y="2441448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 24</a:t>
            </a:r>
            <a:endParaRPr lang="en-US" sz="720" dirty="0"/>
          </a:p>
        </p:txBody>
      </p:sp>
      <p:sp>
        <p:nvSpPr>
          <p:cNvPr id="33" name="Shape 31"/>
          <p:cNvSpPr/>
          <p:nvPr/>
        </p:nvSpPr>
        <p:spPr>
          <a:xfrm>
            <a:off x="1965960" y="2414016"/>
            <a:ext cx="978408" cy="228600"/>
          </a:xfrm>
          <a:prstGeom prst="rect">
            <a:avLst/>
          </a:prstGeom>
          <a:solidFill>
            <a:srgbClr val="00663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65960" y="2441448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</a:t>
            </a:r>
            <a:endParaRPr lang="en-US" sz="720" dirty="0"/>
          </a:p>
        </p:txBody>
      </p:sp>
      <p:sp>
        <p:nvSpPr>
          <p:cNvPr id="35" name="Shape 33"/>
          <p:cNvSpPr/>
          <p:nvPr/>
        </p:nvSpPr>
        <p:spPr>
          <a:xfrm>
            <a:off x="2971800" y="2414016"/>
            <a:ext cx="978408" cy="228600"/>
          </a:xfrm>
          <a:prstGeom prst="rect">
            <a:avLst/>
          </a:prstGeom>
          <a:solidFill>
            <a:srgbClr val="66B96B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441448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71%</a:t>
            </a:r>
            <a:endParaRPr lang="en-US" sz="720" dirty="0"/>
          </a:p>
        </p:txBody>
      </p:sp>
      <p:sp>
        <p:nvSpPr>
          <p:cNvPr id="37" name="Shape 35"/>
          <p:cNvSpPr/>
          <p:nvPr/>
        </p:nvSpPr>
        <p:spPr>
          <a:xfrm>
            <a:off x="3977640" y="2414016"/>
            <a:ext cx="978408" cy="228600"/>
          </a:xfrm>
          <a:prstGeom prst="rect">
            <a:avLst/>
          </a:prstGeom>
          <a:solidFill>
            <a:srgbClr val="66B96B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77640" y="2441448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67%</a:t>
            </a:r>
            <a:endParaRPr lang="en-US" sz="720" dirty="0"/>
          </a:p>
        </p:txBody>
      </p:sp>
      <p:sp>
        <p:nvSpPr>
          <p:cNvPr id="39" name="Shape 37"/>
          <p:cNvSpPr/>
          <p:nvPr/>
        </p:nvSpPr>
        <p:spPr>
          <a:xfrm>
            <a:off x="4983480" y="2414016"/>
            <a:ext cx="978408" cy="228600"/>
          </a:xfrm>
          <a:prstGeom prst="rect">
            <a:avLst/>
          </a:prstGeom>
          <a:solidFill>
            <a:srgbClr val="66B96B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83480" y="2441448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</a:t>
            </a:r>
            <a:endParaRPr lang="en-US" sz="720" dirty="0"/>
          </a:p>
        </p:txBody>
      </p:sp>
      <p:sp>
        <p:nvSpPr>
          <p:cNvPr id="41" name="Text 39"/>
          <p:cNvSpPr/>
          <p:nvPr/>
        </p:nvSpPr>
        <p:spPr>
          <a:xfrm>
            <a:off x="685800" y="2697480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24</a:t>
            </a:r>
            <a:endParaRPr lang="en-US" sz="720" dirty="0"/>
          </a:p>
        </p:txBody>
      </p:sp>
      <p:sp>
        <p:nvSpPr>
          <p:cNvPr id="42" name="Shape 40"/>
          <p:cNvSpPr/>
          <p:nvPr/>
        </p:nvSpPr>
        <p:spPr>
          <a:xfrm>
            <a:off x="1965960" y="2670048"/>
            <a:ext cx="978408" cy="228600"/>
          </a:xfrm>
          <a:prstGeom prst="rect">
            <a:avLst/>
          </a:prstGeom>
          <a:solidFill>
            <a:srgbClr val="00663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65960" y="2697480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2971800" y="2670048"/>
            <a:ext cx="978408" cy="228600"/>
          </a:xfrm>
          <a:prstGeom prst="rect">
            <a:avLst/>
          </a:prstGeom>
          <a:solidFill>
            <a:srgbClr val="66B96B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71800" y="2697480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72%</a:t>
            </a:r>
            <a:endParaRPr lang="en-US" sz="720" dirty="0"/>
          </a:p>
        </p:txBody>
      </p:sp>
      <p:sp>
        <p:nvSpPr>
          <p:cNvPr id="46" name="Shape 44"/>
          <p:cNvSpPr/>
          <p:nvPr/>
        </p:nvSpPr>
        <p:spPr>
          <a:xfrm>
            <a:off x="3977640" y="2670048"/>
            <a:ext cx="978408" cy="228600"/>
          </a:xfrm>
          <a:prstGeom prst="rect">
            <a:avLst/>
          </a:prstGeom>
          <a:solidFill>
            <a:srgbClr val="66B96B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77640" y="2697480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68%</a:t>
            </a:r>
            <a:endParaRPr lang="en-US" sz="720" dirty="0"/>
          </a:p>
        </p:txBody>
      </p:sp>
      <p:sp>
        <p:nvSpPr>
          <p:cNvPr id="48" name="Shape 46"/>
          <p:cNvSpPr/>
          <p:nvPr/>
        </p:nvSpPr>
        <p:spPr>
          <a:xfrm>
            <a:off x="4983480" y="2670048"/>
            <a:ext cx="978408" cy="228600"/>
          </a:xfrm>
          <a:prstGeom prst="rect">
            <a:avLst/>
          </a:prstGeom>
          <a:solidFill>
            <a:srgbClr val="66B96B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983480" y="2697480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67%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685800" y="2953512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 24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1965960" y="2926080"/>
            <a:ext cx="978408" cy="228600"/>
          </a:xfrm>
          <a:prstGeom prst="rect">
            <a:avLst/>
          </a:prstGeom>
          <a:solidFill>
            <a:srgbClr val="00663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965960" y="2953512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91%</a:t>
            </a:r>
            <a:endParaRPr lang="en-US" sz="720" dirty="0"/>
          </a:p>
        </p:txBody>
      </p:sp>
      <p:sp>
        <p:nvSpPr>
          <p:cNvPr id="53" name="Shape 51"/>
          <p:cNvSpPr/>
          <p:nvPr/>
        </p:nvSpPr>
        <p:spPr>
          <a:xfrm>
            <a:off x="2971800" y="2926080"/>
            <a:ext cx="978408" cy="228600"/>
          </a:xfrm>
          <a:prstGeom prst="rect">
            <a:avLst/>
          </a:prstGeom>
          <a:solidFill>
            <a:srgbClr val="2F934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971800" y="2953512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720" dirty="0"/>
          </a:p>
        </p:txBody>
      </p:sp>
      <p:sp>
        <p:nvSpPr>
          <p:cNvPr id="55" name="Shape 53"/>
          <p:cNvSpPr/>
          <p:nvPr/>
        </p:nvSpPr>
        <p:spPr>
          <a:xfrm>
            <a:off x="3977640" y="2926080"/>
            <a:ext cx="978408" cy="228600"/>
          </a:xfrm>
          <a:prstGeom prst="rect">
            <a:avLst/>
          </a:prstGeom>
          <a:solidFill>
            <a:srgbClr val="66B96B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977640" y="2953512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720" dirty="0"/>
          </a:p>
        </p:txBody>
      </p:sp>
      <p:sp>
        <p:nvSpPr>
          <p:cNvPr id="57" name="Shape 55"/>
          <p:cNvSpPr/>
          <p:nvPr/>
        </p:nvSpPr>
        <p:spPr>
          <a:xfrm>
            <a:off x="4983480" y="2926080"/>
            <a:ext cx="978408" cy="228600"/>
          </a:xfrm>
          <a:prstGeom prst="rect">
            <a:avLst/>
          </a:prstGeom>
          <a:solidFill>
            <a:srgbClr val="66B96B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983480" y="2953512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68%</a:t>
            </a:r>
            <a:endParaRPr lang="en-US" sz="720" dirty="0"/>
          </a:p>
        </p:txBody>
      </p:sp>
      <p:sp>
        <p:nvSpPr>
          <p:cNvPr id="59" name="Text 57"/>
          <p:cNvSpPr/>
          <p:nvPr/>
        </p:nvSpPr>
        <p:spPr>
          <a:xfrm>
            <a:off x="685800" y="3209544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 24</a:t>
            </a:r>
            <a:endParaRPr lang="en-US" sz="720" dirty="0"/>
          </a:p>
        </p:txBody>
      </p:sp>
      <p:sp>
        <p:nvSpPr>
          <p:cNvPr id="60" name="Shape 58"/>
          <p:cNvSpPr/>
          <p:nvPr/>
        </p:nvSpPr>
        <p:spPr>
          <a:xfrm>
            <a:off x="1965960" y="3182112"/>
            <a:ext cx="978408" cy="228600"/>
          </a:xfrm>
          <a:prstGeom prst="rect">
            <a:avLst/>
          </a:prstGeom>
          <a:solidFill>
            <a:srgbClr val="00663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965960" y="3209544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</a:t>
            </a:r>
            <a:endParaRPr lang="en-US" sz="720" dirty="0"/>
          </a:p>
        </p:txBody>
      </p:sp>
      <p:sp>
        <p:nvSpPr>
          <p:cNvPr id="62" name="Shape 60"/>
          <p:cNvSpPr/>
          <p:nvPr/>
        </p:nvSpPr>
        <p:spPr>
          <a:xfrm>
            <a:off x="2971800" y="3182112"/>
            <a:ext cx="978408" cy="228600"/>
          </a:xfrm>
          <a:prstGeom prst="rect">
            <a:avLst/>
          </a:prstGeom>
          <a:solidFill>
            <a:srgbClr val="66B96B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971800" y="3209544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72%</a:t>
            </a:r>
            <a:endParaRPr lang="en-US" sz="720" dirty="0"/>
          </a:p>
        </p:txBody>
      </p:sp>
      <p:sp>
        <p:nvSpPr>
          <p:cNvPr id="64" name="Shape 62"/>
          <p:cNvSpPr/>
          <p:nvPr/>
        </p:nvSpPr>
        <p:spPr>
          <a:xfrm>
            <a:off x="3977640" y="3182112"/>
            <a:ext cx="978408" cy="228600"/>
          </a:xfrm>
          <a:prstGeom prst="rect">
            <a:avLst/>
          </a:prstGeom>
          <a:solidFill>
            <a:srgbClr val="C6DCC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977640" y="3209544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63%</a:t>
            </a:r>
            <a:endParaRPr lang="en-US" sz="720" dirty="0"/>
          </a:p>
        </p:txBody>
      </p:sp>
      <p:sp>
        <p:nvSpPr>
          <p:cNvPr id="66" name="Shape 64"/>
          <p:cNvSpPr/>
          <p:nvPr/>
        </p:nvSpPr>
        <p:spPr>
          <a:xfrm>
            <a:off x="4983480" y="3182112"/>
            <a:ext cx="978408" cy="228600"/>
          </a:xfrm>
          <a:prstGeom prst="rect">
            <a:avLst/>
          </a:prstGeom>
          <a:solidFill>
            <a:srgbClr val="C6DCC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983480" y="3209544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63%</a:t>
            </a:r>
            <a:endParaRPr lang="en-US" sz="720" dirty="0"/>
          </a:p>
        </p:txBody>
      </p:sp>
      <p:sp>
        <p:nvSpPr>
          <p:cNvPr id="68" name="Text 66"/>
          <p:cNvSpPr/>
          <p:nvPr/>
        </p:nvSpPr>
        <p:spPr>
          <a:xfrm>
            <a:off x="685800" y="3465576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24</a:t>
            </a:r>
            <a:endParaRPr lang="en-US" sz="720" dirty="0"/>
          </a:p>
        </p:txBody>
      </p:sp>
      <p:sp>
        <p:nvSpPr>
          <p:cNvPr id="69" name="Shape 67"/>
          <p:cNvSpPr/>
          <p:nvPr/>
        </p:nvSpPr>
        <p:spPr>
          <a:xfrm>
            <a:off x="1965960" y="3438144"/>
            <a:ext cx="978408" cy="228600"/>
          </a:xfrm>
          <a:prstGeom prst="rect">
            <a:avLst/>
          </a:prstGeom>
          <a:solidFill>
            <a:srgbClr val="00663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965960" y="3465576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91%</a:t>
            </a:r>
            <a:endParaRPr lang="en-US" sz="720" dirty="0"/>
          </a:p>
        </p:txBody>
      </p:sp>
      <p:sp>
        <p:nvSpPr>
          <p:cNvPr id="71" name="Shape 69"/>
          <p:cNvSpPr/>
          <p:nvPr/>
        </p:nvSpPr>
        <p:spPr>
          <a:xfrm>
            <a:off x="2971800" y="3438144"/>
            <a:ext cx="978408" cy="228600"/>
          </a:xfrm>
          <a:prstGeom prst="rect">
            <a:avLst/>
          </a:prstGeom>
          <a:solidFill>
            <a:srgbClr val="2F934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971800" y="3465576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</a:t>
            </a:r>
            <a:endParaRPr lang="en-US" sz="720" dirty="0"/>
          </a:p>
        </p:txBody>
      </p:sp>
      <p:sp>
        <p:nvSpPr>
          <p:cNvPr id="73" name="Shape 71"/>
          <p:cNvSpPr/>
          <p:nvPr/>
        </p:nvSpPr>
        <p:spPr>
          <a:xfrm>
            <a:off x="3977640" y="3438144"/>
            <a:ext cx="978408" cy="228600"/>
          </a:xfrm>
          <a:prstGeom prst="rect">
            <a:avLst/>
          </a:prstGeom>
          <a:solidFill>
            <a:srgbClr val="2F934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977640" y="3465576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73%</a:t>
            </a:r>
            <a:endParaRPr lang="en-US" sz="720" dirty="0"/>
          </a:p>
        </p:txBody>
      </p:sp>
      <p:sp>
        <p:nvSpPr>
          <p:cNvPr id="75" name="Shape 73"/>
          <p:cNvSpPr/>
          <p:nvPr/>
        </p:nvSpPr>
        <p:spPr>
          <a:xfrm>
            <a:off x="4983480" y="3438144"/>
            <a:ext cx="978408" cy="228600"/>
          </a:xfrm>
          <a:prstGeom prst="rect">
            <a:avLst/>
          </a:prstGeom>
          <a:solidFill>
            <a:srgbClr val="66B96B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983480" y="3465576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69%</a:t>
            </a:r>
            <a:endParaRPr lang="en-US" sz="720" dirty="0"/>
          </a:p>
        </p:txBody>
      </p:sp>
      <p:sp>
        <p:nvSpPr>
          <p:cNvPr id="77" name="Text 75"/>
          <p:cNvSpPr/>
          <p:nvPr/>
        </p:nvSpPr>
        <p:spPr>
          <a:xfrm>
            <a:off x="685800" y="3721608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24</a:t>
            </a:r>
            <a:endParaRPr lang="en-US" sz="720" dirty="0"/>
          </a:p>
        </p:txBody>
      </p:sp>
      <p:sp>
        <p:nvSpPr>
          <p:cNvPr id="78" name="Shape 76"/>
          <p:cNvSpPr/>
          <p:nvPr/>
        </p:nvSpPr>
        <p:spPr>
          <a:xfrm>
            <a:off x="1965960" y="3694176"/>
            <a:ext cx="978408" cy="228600"/>
          </a:xfrm>
          <a:prstGeom prst="rect">
            <a:avLst/>
          </a:prstGeom>
          <a:solidFill>
            <a:srgbClr val="00663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1965960" y="3721608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720" dirty="0"/>
          </a:p>
        </p:txBody>
      </p:sp>
      <p:sp>
        <p:nvSpPr>
          <p:cNvPr id="80" name="Shape 78"/>
          <p:cNvSpPr/>
          <p:nvPr/>
        </p:nvSpPr>
        <p:spPr>
          <a:xfrm>
            <a:off x="2971800" y="3694176"/>
            <a:ext cx="978408" cy="228600"/>
          </a:xfrm>
          <a:prstGeom prst="rect">
            <a:avLst/>
          </a:prstGeom>
          <a:solidFill>
            <a:srgbClr val="2F934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2971800" y="3721608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82%</a:t>
            </a:r>
            <a:endParaRPr lang="en-US" sz="720" dirty="0"/>
          </a:p>
        </p:txBody>
      </p:sp>
      <p:sp>
        <p:nvSpPr>
          <p:cNvPr id="82" name="Shape 80"/>
          <p:cNvSpPr/>
          <p:nvPr/>
        </p:nvSpPr>
        <p:spPr>
          <a:xfrm>
            <a:off x="3977640" y="3694176"/>
            <a:ext cx="978408" cy="228600"/>
          </a:xfrm>
          <a:prstGeom prst="rect">
            <a:avLst/>
          </a:prstGeom>
          <a:solidFill>
            <a:srgbClr val="66B96B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977640" y="3721608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66%</a:t>
            </a:r>
            <a:endParaRPr lang="en-US" sz="720" dirty="0"/>
          </a:p>
        </p:txBody>
      </p:sp>
      <p:sp>
        <p:nvSpPr>
          <p:cNvPr id="84" name="Shape 82"/>
          <p:cNvSpPr/>
          <p:nvPr/>
        </p:nvSpPr>
        <p:spPr>
          <a:xfrm>
            <a:off x="4983480" y="3694176"/>
            <a:ext cx="978408" cy="228600"/>
          </a:xfrm>
          <a:prstGeom prst="rect">
            <a:avLst/>
          </a:prstGeom>
          <a:solidFill>
            <a:srgbClr val="66B96B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83480" y="3721608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64%</a:t>
            </a:r>
            <a:endParaRPr lang="en-US" sz="720" dirty="0"/>
          </a:p>
        </p:txBody>
      </p:sp>
      <p:sp>
        <p:nvSpPr>
          <p:cNvPr id="86" name="Text 84"/>
          <p:cNvSpPr/>
          <p:nvPr/>
        </p:nvSpPr>
        <p:spPr>
          <a:xfrm>
            <a:off x="685800" y="3977640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24</a:t>
            </a:r>
            <a:endParaRPr lang="en-US" sz="720" dirty="0"/>
          </a:p>
        </p:txBody>
      </p:sp>
      <p:sp>
        <p:nvSpPr>
          <p:cNvPr id="87" name="Shape 85"/>
          <p:cNvSpPr/>
          <p:nvPr/>
        </p:nvSpPr>
        <p:spPr>
          <a:xfrm>
            <a:off x="1965960" y="3950208"/>
            <a:ext cx="978408" cy="228600"/>
          </a:xfrm>
          <a:prstGeom prst="rect">
            <a:avLst/>
          </a:prstGeom>
          <a:solidFill>
            <a:srgbClr val="00663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1965960" y="3977640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93%</a:t>
            </a:r>
            <a:endParaRPr lang="en-US" sz="720" dirty="0"/>
          </a:p>
        </p:txBody>
      </p:sp>
      <p:sp>
        <p:nvSpPr>
          <p:cNvPr id="89" name="Shape 87"/>
          <p:cNvSpPr/>
          <p:nvPr/>
        </p:nvSpPr>
        <p:spPr>
          <a:xfrm>
            <a:off x="2971800" y="3950208"/>
            <a:ext cx="978408" cy="228600"/>
          </a:xfrm>
          <a:prstGeom prst="rect">
            <a:avLst/>
          </a:prstGeom>
          <a:solidFill>
            <a:srgbClr val="66B96B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2971800" y="3977640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68%</a:t>
            </a:r>
            <a:endParaRPr lang="en-US" sz="720" dirty="0"/>
          </a:p>
        </p:txBody>
      </p:sp>
      <p:sp>
        <p:nvSpPr>
          <p:cNvPr id="91" name="Shape 89"/>
          <p:cNvSpPr/>
          <p:nvPr/>
        </p:nvSpPr>
        <p:spPr>
          <a:xfrm>
            <a:off x="3977640" y="3950208"/>
            <a:ext cx="978408" cy="228600"/>
          </a:xfrm>
          <a:prstGeom prst="rect">
            <a:avLst/>
          </a:prstGeom>
          <a:solidFill>
            <a:srgbClr val="C6DCC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977640" y="3977640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63%</a:t>
            </a:r>
            <a:endParaRPr lang="en-US" sz="720" dirty="0"/>
          </a:p>
        </p:txBody>
      </p:sp>
      <p:sp>
        <p:nvSpPr>
          <p:cNvPr id="93" name="Shape 91"/>
          <p:cNvSpPr/>
          <p:nvPr/>
        </p:nvSpPr>
        <p:spPr>
          <a:xfrm>
            <a:off x="4983480" y="3950208"/>
            <a:ext cx="978408" cy="228600"/>
          </a:xfrm>
          <a:prstGeom prst="rect">
            <a:avLst/>
          </a:prstGeom>
          <a:solidFill>
            <a:srgbClr val="C6DCC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983480" y="3977640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62%</a:t>
            </a:r>
            <a:endParaRPr lang="en-US" sz="720" dirty="0"/>
          </a:p>
        </p:txBody>
      </p:sp>
      <p:sp>
        <p:nvSpPr>
          <p:cNvPr id="95" name="Text 93"/>
          <p:cNvSpPr/>
          <p:nvPr/>
        </p:nvSpPr>
        <p:spPr>
          <a:xfrm>
            <a:off x="685800" y="4233672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24</a:t>
            </a:r>
            <a:endParaRPr lang="en-US" sz="720" dirty="0"/>
          </a:p>
        </p:txBody>
      </p:sp>
      <p:sp>
        <p:nvSpPr>
          <p:cNvPr id="96" name="Shape 94"/>
          <p:cNvSpPr/>
          <p:nvPr/>
        </p:nvSpPr>
        <p:spPr>
          <a:xfrm>
            <a:off x="1965960" y="4206240"/>
            <a:ext cx="978408" cy="228600"/>
          </a:xfrm>
          <a:prstGeom prst="rect">
            <a:avLst/>
          </a:prstGeom>
          <a:solidFill>
            <a:srgbClr val="2F934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965960" y="4233672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81%</a:t>
            </a:r>
            <a:endParaRPr lang="en-US" sz="720" dirty="0"/>
          </a:p>
        </p:txBody>
      </p:sp>
      <p:sp>
        <p:nvSpPr>
          <p:cNvPr id="98" name="Shape 96"/>
          <p:cNvSpPr/>
          <p:nvPr/>
        </p:nvSpPr>
        <p:spPr>
          <a:xfrm>
            <a:off x="2971800" y="4206240"/>
            <a:ext cx="978408" cy="228600"/>
          </a:xfrm>
          <a:prstGeom prst="rect">
            <a:avLst/>
          </a:prstGeom>
          <a:solidFill>
            <a:srgbClr val="66B96B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971800" y="4233672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68%</a:t>
            </a:r>
            <a:endParaRPr lang="en-US" sz="720" dirty="0"/>
          </a:p>
        </p:txBody>
      </p:sp>
      <p:sp>
        <p:nvSpPr>
          <p:cNvPr id="100" name="Shape 98"/>
          <p:cNvSpPr/>
          <p:nvPr/>
        </p:nvSpPr>
        <p:spPr>
          <a:xfrm>
            <a:off x="3977640" y="4206240"/>
            <a:ext cx="978408" cy="228600"/>
          </a:xfrm>
          <a:prstGeom prst="rect">
            <a:avLst/>
          </a:prstGeom>
          <a:solidFill>
            <a:srgbClr val="C6DCC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3977640" y="4233672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58%</a:t>
            </a:r>
            <a:endParaRPr lang="en-US" sz="720" dirty="0"/>
          </a:p>
        </p:txBody>
      </p:sp>
      <p:sp>
        <p:nvSpPr>
          <p:cNvPr id="102" name="Shape 100"/>
          <p:cNvSpPr/>
          <p:nvPr/>
        </p:nvSpPr>
        <p:spPr>
          <a:xfrm>
            <a:off x="4983480" y="4206240"/>
            <a:ext cx="978408" cy="228600"/>
          </a:xfrm>
          <a:prstGeom prst="rect">
            <a:avLst/>
          </a:prstGeom>
          <a:solidFill>
            <a:srgbClr val="C6DCC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983480" y="4233672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720" dirty="0"/>
          </a:p>
        </p:txBody>
      </p:sp>
      <p:sp>
        <p:nvSpPr>
          <p:cNvPr id="104" name="Text 102"/>
          <p:cNvSpPr/>
          <p:nvPr/>
        </p:nvSpPr>
        <p:spPr>
          <a:xfrm>
            <a:off x="685800" y="4489704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 24</a:t>
            </a:r>
            <a:endParaRPr lang="en-US" sz="720" dirty="0"/>
          </a:p>
        </p:txBody>
      </p:sp>
      <p:sp>
        <p:nvSpPr>
          <p:cNvPr id="105" name="Shape 103"/>
          <p:cNvSpPr/>
          <p:nvPr/>
        </p:nvSpPr>
        <p:spPr>
          <a:xfrm>
            <a:off x="1965960" y="4462272"/>
            <a:ext cx="978408" cy="228600"/>
          </a:xfrm>
          <a:prstGeom prst="rect">
            <a:avLst/>
          </a:prstGeom>
          <a:solidFill>
            <a:srgbClr val="00663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1965960" y="4489704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94%</a:t>
            </a:r>
            <a:endParaRPr lang="en-US" sz="720" dirty="0"/>
          </a:p>
        </p:txBody>
      </p:sp>
      <p:sp>
        <p:nvSpPr>
          <p:cNvPr id="107" name="Shape 105"/>
          <p:cNvSpPr/>
          <p:nvPr/>
        </p:nvSpPr>
        <p:spPr>
          <a:xfrm>
            <a:off x="2971800" y="4462272"/>
            <a:ext cx="978408" cy="228600"/>
          </a:xfrm>
          <a:prstGeom prst="rect">
            <a:avLst/>
          </a:prstGeom>
          <a:solidFill>
            <a:srgbClr val="2F934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2971800" y="4489704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72%</a:t>
            </a:r>
            <a:endParaRPr lang="en-US" sz="720" dirty="0"/>
          </a:p>
        </p:txBody>
      </p:sp>
      <p:sp>
        <p:nvSpPr>
          <p:cNvPr id="109" name="Shape 107"/>
          <p:cNvSpPr/>
          <p:nvPr/>
        </p:nvSpPr>
        <p:spPr>
          <a:xfrm>
            <a:off x="3977640" y="4462272"/>
            <a:ext cx="978408" cy="228600"/>
          </a:xfrm>
          <a:prstGeom prst="rect">
            <a:avLst/>
          </a:prstGeom>
          <a:solidFill>
            <a:srgbClr val="2F934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3977640" y="4489704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81%</a:t>
            </a:r>
            <a:endParaRPr lang="en-US" sz="720" dirty="0"/>
          </a:p>
        </p:txBody>
      </p:sp>
      <p:sp>
        <p:nvSpPr>
          <p:cNvPr id="111" name="Shape 109"/>
          <p:cNvSpPr/>
          <p:nvPr/>
        </p:nvSpPr>
        <p:spPr>
          <a:xfrm>
            <a:off x="4983480" y="4462272"/>
            <a:ext cx="978408" cy="228600"/>
          </a:xfrm>
          <a:prstGeom prst="rect">
            <a:avLst/>
          </a:prstGeom>
          <a:solidFill>
            <a:srgbClr val="2F934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983480" y="4489704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72%</a:t>
            </a:r>
            <a:endParaRPr lang="en-US" sz="720" dirty="0"/>
          </a:p>
        </p:txBody>
      </p:sp>
      <p:sp>
        <p:nvSpPr>
          <p:cNvPr id="113" name="Text 111"/>
          <p:cNvSpPr/>
          <p:nvPr/>
        </p:nvSpPr>
        <p:spPr>
          <a:xfrm>
            <a:off x="685800" y="4745736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25</a:t>
            </a:r>
            <a:endParaRPr lang="en-US" sz="720" dirty="0"/>
          </a:p>
        </p:txBody>
      </p:sp>
      <p:sp>
        <p:nvSpPr>
          <p:cNvPr id="114" name="Shape 112"/>
          <p:cNvSpPr/>
          <p:nvPr/>
        </p:nvSpPr>
        <p:spPr>
          <a:xfrm>
            <a:off x="1965960" y="4718304"/>
            <a:ext cx="978408" cy="228600"/>
          </a:xfrm>
          <a:prstGeom prst="rect">
            <a:avLst/>
          </a:prstGeom>
          <a:solidFill>
            <a:srgbClr val="2F934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1965960" y="4745736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</a:t>
            </a:r>
            <a:endParaRPr lang="en-US" sz="720" dirty="0"/>
          </a:p>
        </p:txBody>
      </p:sp>
      <p:sp>
        <p:nvSpPr>
          <p:cNvPr id="116" name="Shape 114"/>
          <p:cNvSpPr/>
          <p:nvPr/>
        </p:nvSpPr>
        <p:spPr>
          <a:xfrm>
            <a:off x="2971800" y="4718304"/>
            <a:ext cx="978408" cy="228600"/>
          </a:xfrm>
          <a:prstGeom prst="rect">
            <a:avLst/>
          </a:prstGeom>
          <a:solidFill>
            <a:srgbClr val="66B96B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2971800" y="4745736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67%</a:t>
            </a:r>
            <a:endParaRPr lang="en-US" sz="720" dirty="0"/>
          </a:p>
        </p:txBody>
      </p:sp>
      <p:sp>
        <p:nvSpPr>
          <p:cNvPr id="118" name="Shape 116"/>
          <p:cNvSpPr/>
          <p:nvPr/>
        </p:nvSpPr>
        <p:spPr>
          <a:xfrm>
            <a:off x="3977640" y="4718304"/>
            <a:ext cx="978408" cy="228600"/>
          </a:xfrm>
          <a:prstGeom prst="rect">
            <a:avLst/>
          </a:prstGeom>
          <a:solidFill>
            <a:srgbClr val="2F934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3977640" y="4745736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74%</a:t>
            </a:r>
            <a:endParaRPr lang="en-US" sz="720" dirty="0"/>
          </a:p>
        </p:txBody>
      </p:sp>
      <p:sp>
        <p:nvSpPr>
          <p:cNvPr id="120" name="Shape 118"/>
          <p:cNvSpPr/>
          <p:nvPr/>
        </p:nvSpPr>
        <p:spPr>
          <a:xfrm>
            <a:off x="4983480" y="4718304"/>
            <a:ext cx="978408" cy="228600"/>
          </a:xfrm>
          <a:prstGeom prst="rect">
            <a:avLst/>
          </a:prstGeom>
          <a:solidFill>
            <a:srgbClr val="121212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983480" y="4745736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endParaRPr lang="en-US" sz="720" dirty="0"/>
          </a:p>
        </p:txBody>
      </p:sp>
      <p:sp>
        <p:nvSpPr>
          <p:cNvPr id="122" name="Text 120"/>
          <p:cNvSpPr/>
          <p:nvPr/>
        </p:nvSpPr>
        <p:spPr>
          <a:xfrm>
            <a:off x="685800" y="5001768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25</a:t>
            </a:r>
            <a:endParaRPr lang="en-US" sz="720" dirty="0"/>
          </a:p>
        </p:txBody>
      </p:sp>
      <p:sp>
        <p:nvSpPr>
          <p:cNvPr id="123" name="Shape 121"/>
          <p:cNvSpPr/>
          <p:nvPr/>
        </p:nvSpPr>
        <p:spPr>
          <a:xfrm>
            <a:off x="1965960" y="4974336"/>
            <a:ext cx="978408" cy="228600"/>
          </a:xfrm>
          <a:prstGeom prst="rect">
            <a:avLst/>
          </a:prstGeom>
          <a:solidFill>
            <a:srgbClr val="00663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1965960" y="5001768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720" dirty="0"/>
          </a:p>
        </p:txBody>
      </p:sp>
      <p:sp>
        <p:nvSpPr>
          <p:cNvPr id="125" name="Shape 123"/>
          <p:cNvSpPr/>
          <p:nvPr/>
        </p:nvSpPr>
        <p:spPr>
          <a:xfrm>
            <a:off x="2971800" y="4974336"/>
            <a:ext cx="978408" cy="228600"/>
          </a:xfrm>
          <a:prstGeom prst="rect">
            <a:avLst/>
          </a:prstGeom>
          <a:solidFill>
            <a:srgbClr val="2F934D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2971800" y="5001768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720" dirty="0"/>
          </a:p>
        </p:txBody>
      </p:sp>
      <p:sp>
        <p:nvSpPr>
          <p:cNvPr id="127" name="Shape 125"/>
          <p:cNvSpPr/>
          <p:nvPr/>
        </p:nvSpPr>
        <p:spPr>
          <a:xfrm>
            <a:off x="3977640" y="4974336"/>
            <a:ext cx="978408" cy="228600"/>
          </a:xfrm>
          <a:prstGeom prst="rect">
            <a:avLst/>
          </a:prstGeom>
          <a:solidFill>
            <a:srgbClr val="121212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3977640" y="5001768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endParaRPr lang="en-US" sz="720" dirty="0"/>
          </a:p>
        </p:txBody>
      </p:sp>
      <p:sp>
        <p:nvSpPr>
          <p:cNvPr id="129" name="Shape 127"/>
          <p:cNvSpPr/>
          <p:nvPr/>
        </p:nvSpPr>
        <p:spPr>
          <a:xfrm>
            <a:off x="4983480" y="4974336"/>
            <a:ext cx="978408" cy="228600"/>
          </a:xfrm>
          <a:prstGeom prst="rect">
            <a:avLst/>
          </a:prstGeom>
          <a:solidFill>
            <a:srgbClr val="121212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983480" y="5001768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endParaRPr lang="en-US" sz="720" dirty="0"/>
          </a:p>
        </p:txBody>
      </p:sp>
      <p:sp>
        <p:nvSpPr>
          <p:cNvPr id="131" name="Text 129"/>
          <p:cNvSpPr/>
          <p:nvPr/>
        </p:nvSpPr>
        <p:spPr>
          <a:xfrm>
            <a:off x="685800" y="5257800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25</a:t>
            </a:r>
            <a:endParaRPr lang="en-US" sz="720" dirty="0"/>
          </a:p>
        </p:txBody>
      </p:sp>
      <p:sp>
        <p:nvSpPr>
          <p:cNvPr id="132" name="Shape 130"/>
          <p:cNvSpPr/>
          <p:nvPr/>
        </p:nvSpPr>
        <p:spPr>
          <a:xfrm>
            <a:off x="1965960" y="5230368"/>
            <a:ext cx="978408" cy="228600"/>
          </a:xfrm>
          <a:prstGeom prst="rect">
            <a:avLst/>
          </a:prstGeom>
          <a:solidFill>
            <a:srgbClr val="00663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1965960" y="5257800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97%</a:t>
            </a:r>
            <a:endParaRPr lang="en-US" sz="720" dirty="0"/>
          </a:p>
        </p:txBody>
      </p:sp>
      <p:sp>
        <p:nvSpPr>
          <p:cNvPr id="134" name="Shape 132"/>
          <p:cNvSpPr/>
          <p:nvPr/>
        </p:nvSpPr>
        <p:spPr>
          <a:xfrm>
            <a:off x="2971800" y="5230368"/>
            <a:ext cx="978408" cy="228600"/>
          </a:xfrm>
          <a:prstGeom prst="rect">
            <a:avLst/>
          </a:prstGeom>
          <a:solidFill>
            <a:srgbClr val="121212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2971800" y="5257800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endParaRPr lang="en-US" sz="720" dirty="0"/>
          </a:p>
        </p:txBody>
      </p:sp>
      <p:sp>
        <p:nvSpPr>
          <p:cNvPr id="136" name="Shape 134"/>
          <p:cNvSpPr/>
          <p:nvPr/>
        </p:nvSpPr>
        <p:spPr>
          <a:xfrm>
            <a:off x="3977640" y="5230368"/>
            <a:ext cx="978408" cy="228600"/>
          </a:xfrm>
          <a:prstGeom prst="rect">
            <a:avLst/>
          </a:prstGeom>
          <a:solidFill>
            <a:srgbClr val="121212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3977640" y="5257800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endParaRPr lang="en-US" sz="720" dirty="0"/>
          </a:p>
        </p:txBody>
      </p:sp>
      <p:sp>
        <p:nvSpPr>
          <p:cNvPr id="138" name="Shape 136"/>
          <p:cNvSpPr/>
          <p:nvPr/>
        </p:nvSpPr>
        <p:spPr>
          <a:xfrm>
            <a:off x="4983480" y="5230368"/>
            <a:ext cx="978408" cy="228600"/>
          </a:xfrm>
          <a:prstGeom prst="rect">
            <a:avLst/>
          </a:prstGeom>
          <a:solidFill>
            <a:srgbClr val="121212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4983480" y="5257800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endParaRPr lang="en-US" sz="720" dirty="0"/>
          </a:p>
        </p:txBody>
      </p:sp>
      <p:sp>
        <p:nvSpPr>
          <p:cNvPr id="140" name="Shape 138"/>
          <p:cNvSpPr/>
          <p:nvPr/>
        </p:nvSpPr>
        <p:spPr>
          <a:xfrm>
            <a:off x="6766560" y="1901952"/>
            <a:ext cx="4160520" cy="2148840"/>
          </a:xfrm>
          <a:prstGeom prst="rect">
            <a:avLst/>
          </a:prstGeom>
          <a:solidFill>
            <a:srgbClr val="000000">
              <a:alpha val="0"/>
            </a:srgbClr>
          </a:solidFill>
          <a:ln w="8890">
            <a:solidFill>
              <a:srgbClr val="2B2B2B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766560" y="1901952"/>
            <a:ext cx="4160520" cy="429768"/>
          </a:xfrm>
          <a:prstGeom prst="rect">
            <a:avLst/>
          </a:prstGeom>
          <a:solidFill>
            <a:srgbClr val="171717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6839712" y="1938528"/>
            <a:ext cx="1101852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read</a:t>
            </a:r>
            <a:endParaRPr lang="en-US" sz="880" dirty="0"/>
          </a:p>
        </p:txBody>
      </p:sp>
      <p:sp>
        <p:nvSpPr>
          <p:cNvPr id="143" name="Shape 141"/>
          <p:cNvSpPr/>
          <p:nvPr/>
        </p:nvSpPr>
        <p:spPr>
          <a:xfrm>
            <a:off x="8014716" y="1901952"/>
            <a:ext cx="0" cy="2148840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8087868" y="1938528"/>
            <a:ext cx="2766060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rule</a:t>
            </a:r>
            <a:endParaRPr lang="en-US" sz="880" dirty="0"/>
          </a:p>
        </p:txBody>
      </p:sp>
      <p:sp>
        <p:nvSpPr>
          <p:cNvPr id="145" name="Shape 143"/>
          <p:cNvSpPr/>
          <p:nvPr/>
        </p:nvSpPr>
        <p:spPr>
          <a:xfrm>
            <a:off x="6766560" y="2331720"/>
            <a:ext cx="4160520" cy="429768"/>
          </a:xfrm>
          <a:prstGeom prst="rect">
            <a:avLst/>
          </a:prstGeom>
          <a:solidFill>
            <a:srgbClr val="000000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6839712" y="2368296"/>
            <a:ext cx="1101852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Rows</a:t>
            </a:r>
            <a:endParaRPr lang="en-US" sz="880" dirty="0"/>
          </a:p>
        </p:txBody>
      </p:sp>
      <p:sp>
        <p:nvSpPr>
          <p:cNvPr id="147" name="Shape 145"/>
          <p:cNvSpPr/>
          <p:nvPr/>
        </p:nvSpPr>
        <p:spPr>
          <a:xfrm>
            <a:off x="8014716" y="1901952"/>
            <a:ext cx="0" cy="2148840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8087868" y="2368296"/>
            <a:ext cx="2766060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bundle start cohort, 28-day windows from launch</a:t>
            </a:r>
            <a:endParaRPr lang="en-US" sz="880" dirty="0"/>
          </a:p>
        </p:txBody>
      </p:sp>
      <p:sp>
        <p:nvSpPr>
          <p:cNvPr id="149" name="Shape 147"/>
          <p:cNvSpPr/>
          <p:nvPr/>
        </p:nvSpPr>
        <p:spPr>
          <a:xfrm>
            <a:off x="6766560" y="2761488"/>
            <a:ext cx="4160520" cy="429768"/>
          </a:xfrm>
          <a:prstGeom prst="rect">
            <a:avLst/>
          </a:prstGeom>
          <a:solidFill>
            <a:srgbClr val="000000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6839712" y="2798064"/>
            <a:ext cx="1101852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Cells</a:t>
            </a:r>
            <a:endParaRPr lang="en-US" sz="880" dirty="0"/>
          </a:p>
        </p:txBody>
      </p:sp>
      <p:sp>
        <p:nvSpPr>
          <p:cNvPr id="151" name="Shape 149"/>
          <p:cNvSpPr/>
          <p:nvPr/>
        </p:nvSpPr>
        <p:spPr>
          <a:xfrm>
            <a:off x="8014716" y="1901952"/>
            <a:ext cx="0" cy="2148840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8087868" y="2798064"/>
            <a:ext cx="2766060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paid rate at each maturity checkpoint</a:t>
            </a:r>
            <a:endParaRPr lang="en-US" sz="880" dirty="0"/>
          </a:p>
        </p:txBody>
      </p:sp>
      <p:sp>
        <p:nvSpPr>
          <p:cNvPr id="153" name="Shape 151"/>
          <p:cNvSpPr/>
          <p:nvPr/>
        </p:nvSpPr>
        <p:spPr>
          <a:xfrm>
            <a:off x="6766560" y="3191256"/>
            <a:ext cx="4160520" cy="429768"/>
          </a:xfrm>
          <a:prstGeom prst="rect">
            <a:avLst/>
          </a:prstGeom>
          <a:solidFill>
            <a:srgbClr val="000000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6839712" y="3227832"/>
            <a:ext cx="1101852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Blanks</a:t>
            </a:r>
            <a:endParaRPr lang="en-US" sz="880" dirty="0"/>
          </a:p>
        </p:txBody>
      </p:sp>
      <p:sp>
        <p:nvSpPr>
          <p:cNvPr id="155" name="Shape 153"/>
          <p:cNvSpPr/>
          <p:nvPr/>
        </p:nvSpPr>
        <p:spPr>
          <a:xfrm>
            <a:off x="8014716" y="1901952"/>
            <a:ext cx="0" cy="2148840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8087868" y="3227832"/>
            <a:ext cx="2766060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Immature checkpoints, not zero conversion</a:t>
            </a:r>
            <a:endParaRPr lang="en-US" sz="880" dirty="0"/>
          </a:p>
        </p:txBody>
      </p:sp>
      <p:sp>
        <p:nvSpPr>
          <p:cNvPr id="157" name="Shape 155"/>
          <p:cNvSpPr/>
          <p:nvPr/>
        </p:nvSpPr>
        <p:spPr>
          <a:xfrm>
            <a:off x="6766560" y="3621024"/>
            <a:ext cx="4160520" cy="429768"/>
          </a:xfrm>
          <a:prstGeom prst="rect">
            <a:avLst/>
          </a:prstGeom>
          <a:solidFill>
            <a:srgbClr val="000000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6839712" y="3657600"/>
            <a:ext cx="1101852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Caution</a:t>
            </a:r>
            <a:endParaRPr lang="en-US" sz="880" dirty="0"/>
          </a:p>
        </p:txBody>
      </p:sp>
      <p:sp>
        <p:nvSpPr>
          <p:cNvPr id="159" name="Shape 157"/>
          <p:cNvSpPr/>
          <p:nvPr/>
        </p:nvSpPr>
        <p:spPr>
          <a:xfrm>
            <a:off x="8014716" y="1901952"/>
            <a:ext cx="0" cy="2148840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8087868" y="3657600"/>
            <a:ext cx="2766060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Mix, targeting, and small-sample noise can move cohort rates</a:t>
            </a:r>
            <a:endParaRPr lang="en-US" sz="8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20040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261872" y="301752"/>
            <a:ext cx="9875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 Segment Diagnosis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61288"/>
            <a:ext cx="11274552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6199632"/>
            <a:ext cx="11274552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6345936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SMB Bundle Monitoring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927080" y="6345936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12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21792" y="134416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SYI contributes most paid sellers, while Plus-first cohorts have much stronger Plus mix across both customer types.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49808" y="2057400"/>
            <a:ext cx="9601200" cy="2651760"/>
          </a:xfrm>
          <a:prstGeom prst="rect">
            <a:avLst/>
          </a:prstGeom>
          <a:solidFill>
            <a:srgbClr val="000000">
              <a:alpha val="0"/>
            </a:srgbClr>
          </a:solidFill>
          <a:ln w="8890">
            <a:solidFill>
              <a:srgbClr val="2B2B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2057400"/>
            <a:ext cx="9601200" cy="530352"/>
          </a:xfrm>
          <a:prstGeom prst="rect">
            <a:avLst/>
          </a:prstGeom>
          <a:solidFill>
            <a:srgbClr val="171717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093976"/>
            <a:ext cx="100584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1901952" y="2057400"/>
            <a:ext cx="0" cy="2651760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75104" y="2093976"/>
            <a:ext cx="1773936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bundle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3822192" y="2057400"/>
            <a:ext cx="0" cy="2651760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95344" y="2093976"/>
            <a:ext cx="148590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Registrations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5454396" y="2057400"/>
            <a:ext cx="0" cy="2651760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527548" y="2093976"/>
            <a:ext cx="1389888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D28 paid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6990588" y="2057400"/>
            <a:ext cx="0" cy="2651760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3740" y="2093976"/>
            <a:ext cx="1581912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share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8718804" y="2057400"/>
            <a:ext cx="0" cy="2651760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791956" y="2093976"/>
            <a:ext cx="148590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paid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749808" y="2587752"/>
            <a:ext cx="9601200" cy="530352"/>
          </a:xfrm>
          <a:prstGeom prst="rect">
            <a:avLst/>
          </a:prstGeom>
          <a:solidFill>
            <a:srgbClr val="000000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2624328"/>
            <a:ext cx="100584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1901952" y="2057400"/>
            <a:ext cx="0" cy="2651760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975104" y="2624328"/>
            <a:ext cx="1773936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Basic-first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3822192" y="2057400"/>
            <a:ext cx="0" cy="2651760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95344" y="2624328"/>
            <a:ext cx="148590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621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5454396" y="2057400"/>
            <a:ext cx="0" cy="2651760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27548" y="2624328"/>
            <a:ext cx="1389888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90.0%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6990588" y="2057400"/>
            <a:ext cx="0" cy="2651760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63740" y="2624328"/>
            <a:ext cx="1581912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22.2%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8718804" y="2057400"/>
            <a:ext cx="0" cy="2651760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791956" y="2624328"/>
            <a:ext cx="148590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396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749808" y="3118104"/>
            <a:ext cx="9601200" cy="530352"/>
          </a:xfrm>
          <a:prstGeom prst="rect">
            <a:avLst/>
          </a:prstGeom>
          <a:solidFill>
            <a:srgbClr val="000000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3154680"/>
            <a:ext cx="100584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1901952" y="2057400"/>
            <a:ext cx="0" cy="2651760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75104" y="3154680"/>
            <a:ext cx="1773936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Plus-first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3822192" y="2057400"/>
            <a:ext cx="0" cy="2651760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895344" y="3154680"/>
            <a:ext cx="148590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318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5454396" y="2057400"/>
            <a:ext cx="0" cy="2651760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527548" y="3154680"/>
            <a:ext cx="1389888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88.4%</a:t>
            </a:r>
            <a:endParaRPr lang="en-US" sz="920" dirty="0"/>
          </a:p>
        </p:txBody>
      </p:sp>
      <p:sp>
        <p:nvSpPr>
          <p:cNvPr id="42" name="Shape 40"/>
          <p:cNvSpPr/>
          <p:nvPr/>
        </p:nvSpPr>
        <p:spPr>
          <a:xfrm>
            <a:off x="6990588" y="2057400"/>
            <a:ext cx="0" cy="2651760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063740" y="3154680"/>
            <a:ext cx="1581912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74.1%</a:t>
            </a:r>
            <a:endParaRPr lang="en-US" sz="920" dirty="0"/>
          </a:p>
        </p:txBody>
      </p:sp>
      <p:sp>
        <p:nvSpPr>
          <p:cNvPr id="44" name="Shape 42"/>
          <p:cNvSpPr/>
          <p:nvPr/>
        </p:nvSpPr>
        <p:spPr>
          <a:xfrm>
            <a:off x="8718804" y="2057400"/>
            <a:ext cx="0" cy="2651760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91956" y="3154680"/>
            <a:ext cx="148590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220</a:t>
            </a:r>
            <a:endParaRPr lang="en-US" sz="920" dirty="0"/>
          </a:p>
        </p:txBody>
      </p:sp>
      <p:sp>
        <p:nvSpPr>
          <p:cNvPr id="46" name="Shape 44"/>
          <p:cNvSpPr/>
          <p:nvPr/>
        </p:nvSpPr>
        <p:spPr>
          <a:xfrm>
            <a:off x="749808" y="3648456"/>
            <a:ext cx="9601200" cy="530352"/>
          </a:xfrm>
          <a:prstGeom prst="rect">
            <a:avLst/>
          </a:prstGeom>
          <a:solidFill>
            <a:srgbClr val="000000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22960" y="3685032"/>
            <a:ext cx="100584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SYI</a:t>
            </a:r>
            <a:endParaRPr lang="en-US" sz="920" dirty="0"/>
          </a:p>
        </p:txBody>
      </p:sp>
      <p:sp>
        <p:nvSpPr>
          <p:cNvPr id="48" name="Shape 46"/>
          <p:cNvSpPr/>
          <p:nvPr/>
        </p:nvSpPr>
        <p:spPr>
          <a:xfrm>
            <a:off x="1901952" y="2057400"/>
            <a:ext cx="0" cy="2651760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75104" y="3685032"/>
            <a:ext cx="1773936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Basic-first</a:t>
            </a:r>
            <a:endParaRPr lang="en-US" sz="920" dirty="0"/>
          </a:p>
        </p:txBody>
      </p:sp>
      <p:sp>
        <p:nvSpPr>
          <p:cNvPr id="50" name="Shape 48"/>
          <p:cNvSpPr/>
          <p:nvPr/>
        </p:nvSpPr>
        <p:spPr>
          <a:xfrm>
            <a:off x="3822192" y="2057400"/>
            <a:ext cx="0" cy="2651760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895344" y="3685032"/>
            <a:ext cx="148590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2,170</a:t>
            </a:r>
            <a:endParaRPr lang="en-US" sz="920" dirty="0"/>
          </a:p>
        </p:txBody>
      </p:sp>
      <p:sp>
        <p:nvSpPr>
          <p:cNvPr id="52" name="Shape 50"/>
          <p:cNvSpPr/>
          <p:nvPr/>
        </p:nvSpPr>
        <p:spPr>
          <a:xfrm>
            <a:off x="5454396" y="2057400"/>
            <a:ext cx="0" cy="2651760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27548" y="3685032"/>
            <a:ext cx="1389888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89.2%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6990588" y="2057400"/>
            <a:ext cx="0" cy="2651760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63740" y="3685032"/>
            <a:ext cx="1581912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26.4%</a:t>
            </a:r>
            <a:endParaRPr lang="en-US" sz="920" dirty="0"/>
          </a:p>
        </p:txBody>
      </p:sp>
      <p:sp>
        <p:nvSpPr>
          <p:cNvPr id="56" name="Shape 54"/>
          <p:cNvSpPr/>
          <p:nvPr/>
        </p:nvSpPr>
        <p:spPr>
          <a:xfrm>
            <a:off x="8718804" y="2057400"/>
            <a:ext cx="0" cy="2651760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791956" y="3685032"/>
            <a:ext cx="148590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1,449</a:t>
            </a:r>
            <a:endParaRPr lang="en-US" sz="920" dirty="0"/>
          </a:p>
        </p:txBody>
      </p:sp>
      <p:sp>
        <p:nvSpPr>
          <p:cNvPr id="58" name="Shape 56"/>
          <p:cNvSpPr/>
          <p:nvPr/>
        </p:nvSpPr>
        <p:spPr>
          <a:xfrm>
            <a:off x="749808" y="4178808"/>
            <a:ext cx="9601200" cy="530352"/>
          </a:xfrm>
          <a:prstGeom prst="rect">
            <a:avLst/>
          </a:prstGeom>
          <a:solidFill>
            <a:srgbClr val="000000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22960" y="4215384"/>
            <a:ext cx="100584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SYI</a:t>
            </a:r>
            <a:endParaRPr lang="en-US" sz="920" dirty="0"/>
          </a:p>
        </p:txBody>
      </p:sp>
      <p:sp>
        <p:nvSpPr>
          <p:cNvPr id="60" name="Shape 58"/>
          <p:cNvSpPr/>
          <p:nvPr/>
        </p:nvSpPr>
        <p:spPr>
          <a:xfrm>
            <a:off x="1901952" y="2057400"/>
            <a:ext cx="0" cy="2651760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975104" y="4215384"/>
            <a:ext cx="1773936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Plus-first</a:t>
            </a:r>
            <a:endParaRPr lang="en-US" sz="920" dirty="0"/>
          </a:p>
        </p:txBody>
      </p:sp>
      <p:sp>
        <p:nvSpPr>
          <p:cNvPr id="62" name="Shape 60"/>
          <p:cNvSpPr/>
          <p:nvPr/>
        </p:nvSpPr>
        <p:spPr>
          <a:xfrm>
            <a:off x="3822192" y="2057400"/>
            <a:ext cx="0" cy="2651760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895344" y="4215384"/>
            <a:ext cx="148590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967</a:t>
            </a:r>
            <a:endParaRPr lang="en-US" sz="920" dirty="0"/>
          </a:p>
        </p:txBody>
      </p:sp>
      <p:sp>
        <p:nvSpPr>
          <p:cNvPr id="64" name="Shape 62"/>
          <p:cNvSpPr/>
          <p:nvPr/>
        </p:nvSpPr>
        <p:spPr>
          <a:xfrm>
            <a:off x="5454396" y="2057400"/>
            <a:ext cx="0" cy="2651760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527548" y="4215384"/>
            <a:ext cx="1389888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88.8%</a:t>
            </a:r>
            <a:endParaRPr lang="en-US" sz="920" dirty="0"/>
          </a:p>
        </p:txBody>
      </p:sp>
      <p:sp>
        <p:nvSpPr>
          <p:cNvPr id="66" name="Shape 64"/>
          <p:cNvSpPr/>
          <p:nvPr/>
        </p:nvSpPr>
        <p:spPr>
          <a:xfrm>
            <a:off x="6990588" y="2057400"/>
            <a:ext cx="0" cy="2651760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063740" y="4215384"/>
            <a:ext cx="1581912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73.4%</a:t>
            </a:r>
            <a:endParaRPr lang="en-US" sz="920" dirty="0"/>
          </a:p>
        </p:txBody>
      </p:sp>
      <p:sp>
        <p:nvSpPr>
          <p:cNvPr id="68" name="Shape 66"/>
          <p:cNvSpPr/>
          <p:nvPr/>
        </p:nvSpPr>
        <p:spPr>
          <a:xfrm>
            <a:off x="8718804" y="2057400"/>
            <a:ext cx="0" cy="2651760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791956" y="4215384"/>
            <a:ext cx="148590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644</a:t>
            </a:r>
            <a:endParaRPr lang="en-US" sz="920" dirty="0"/>
          </a:p>
        </p:txBody>
      </p:sp>
      <p:sp>
        <p:nvSpPr>
          <p:cNvPr id="70" name="Text 68"/>
          <p:cNvSpPr/>
          <p:nvPr/>
        </p:nvSpPr>
        <p:spPr>
          <a:xfrm>
            <a:off x="786384" y="5257800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notebook chart is available for this section, so the diagnosis remains an editable native table rather than a recreated bar chart.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20040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261872" y="301752"/>
            <a:ext cx="9875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 Business Impact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61288"/>
            <a:ext cx="11274552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6199632"/>
            <a:ext cx="11274552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6345936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SMB Bundle Monitoring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927080" y="6345936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21792" y="148132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data supports monitoring; proving incremental value requires new datasets and counterfactual design.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58368" y="2331720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87552" y="2295144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current data supports: launch traction, paid-base development, modeled subscription revenue, and early paid quality.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8368" y="3044952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87552" y="3008376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cannot prove: incrementality, seller value uplift, or marketplace quality impact.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58368" y="3758184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87552" y="3721608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placeholders as a roadmap for future dashboard modules and required data feeds.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20040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261872" y="301752"/>
            <a:ext cx="9875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 Future Data Requirements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61288"/>
            <a:ext cx="11274552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6199632"/>
            <a:ext cx="11274552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6345936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SMB Bundle Monitoring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927080" y="6345936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21792" y="134416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future modules complete the business-impact story: revenue impact, controlled lift, seller value, sales steering, and marketplace guardrails.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02920" y="1901952"/>
            <a:ext cx="11064240" cy="3401568"/>
          </a:xfrm>
          <a:prstGeom prst="rect">
            <a:avLst/>
          </a:prstGeom>
          <a:solidFill>
            <a:srgbClr val="000000">
              <a:alpha val="0"/>
            </a:srgbClr>
          </a:solidFill>
          <a:ln w="8890">
            <a:solidFill>
              <a:srgbClr val="2B2B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1901952"/>
            <a:ext cx="11064240" cy="566928"/>
          </a:xfrm>
          <a:prstGeom prst="rect">
            <a:avLst/>
          </a:prstGeom>
          <a:solidFill>
            <a:srgbClr val="171717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1938528"/>
            <a:ext cx="1623974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3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</a:t>
            </a:r>
            <a:endParaRPr lang="en-US" sz="730" dirty="0"/>
          </a:p>
        </p:txBody>
      </p:sp>
      <p:sp>
        <p:nvSpPr>
          <p:cNvPr id="12" name="Shape 10"/>
          <p:cNvSpPr/>
          <p:nvPr/>
        </p:nvSpPr>
        <p:spPr>
          <a:xfrm>
            <a:off x="2273198" y="1901952"/>
            <a:ext cx="0" cy="3401568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46350" y="1938528"/>
            <a:ext cx="2287829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3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question</a:t>
            </a:r>
            <a:endParaRPr lang="en-US" sz="730" dirty="0"/>
          </a:p>
        </p:txBody>
      </p:sp>
      <p:sp>
        <p:nvSpPr>
          <p:cNvPr id="14" name="Shape 12"/>
          <p:cNvSpPr/>
          <p:nvPr/>
        </p:nvSpPr>
        <p:spPr>
          <a:xfrm>
            <a:off x="4707331" y="1901952"/>
            <a:ext cx="0" cy="3401568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80483" y="1938528"/>
            <a:ext cx="2841041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3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visual</a:t>
            </a:r>
            <a:endParaRPr lang="en-US" sz="730" dirty="0"/>
          </a:p>
        </p:txBody>
      </p:sp>
      <p:sp>
        <p:nvSpPr>
          <p:cNvPr id="16" name="Shape 14"/>
          <p:cNvSpPr/>
          <p:nvPr/>
        </p:nvSpPr>
        <p:spPr>
          <a:xfrm>
            <a:off x="7694676" y="1901952"/>
            <a:ext cx="0" cy="3401568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67828" y="1938528"/>
            <a:ext cx="3726180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3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 data</a:t>
            </a:r>
            <a:endParaRPr lang="en-US" sz="730" dirty="0"/>
          </a:p>
        </p:txBody>
      </p:sp>
      <p:sp>
        <p:nvSpPr>
          <p:cNvPr id="18" name="Shape 16"/>
          <p:cNvSpPr/>
          <p:nvPr/>
        </p:nvSpPr>
        <p:spPr>
          <a:xfrm>
            <a:off x="502920" y="2468880"/>
            <a:ext cx="1106424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2505456"/>
            <a:ext cx="1623974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impact</a:t>
            </a:r>
            <a:endParaRPr lang="en-US" sz="730" dirty="0"/>
          </a:p>
        </p:txBody>
      </p:sp>
      <p:sp>
        <p:nvSpPr>
          <p:cNvPr id="20" name="Shape 18"/>
          <p:cNvSpPr/>
          <p:nvPr/>
        </p:nvSpPr>
        <p:spPr>
          <a:xfrm>
            <a:off x="2273198" y="1901952"/>
            <a:ext cx="0" cy="3401568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346350" y="2505456"/>
            <a:ext cx="2287829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bundle revenue incremental?</a:t>
            </a:r>
            <a:endParaRPr lang="en-US" sz="730" dirty="0"/>
          </a:p>
        </p:txBody>
      </p:sp>
      <p:sp>
        <p:nvSpPr>
          <p:cNvPr id="22" name="Shape 20"/>
          <p:cNvSpPr/>
          <p:nvPr/>
        </p:nvSpPr>
        <p:spPr>
          <a:xfrm>
            <a:off x="4707331" y="1901952"/>
            <a:ext cx="0" cy="3401568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0483" y="2505456"/>
            <a:ext cx="2841041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waterfall: new bundle revenue, lost feature/CPC revenue, net impact</a:t>
            </a:r>
            <a:endParaRPr lang="en-US" sz="730" dirty="0"/>
          </a:p>
        </p:txBody>
      </p:sp>
      <p:sp>
        <p:nvSpPr>
          <p:cNvPr id="24" name="Shape 22"/>
          <p:cNvSpPr/>
          <p:nvPr/>
        </p:nvSpPr>
        <p:spPr>
          <a:xfrm>
            <a:off x="7694676" y="1901952"/>
            <a:ext cx="0" cy="3401568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67828" y="2505456"/>
            <a:ext cx="3726180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 bundle invoices, collected revenue, refunds, feature fees, insertion fees, Pro CPC revenue</a:t>
            </a:r>
            <a:endParaRPr lang="en-US" sz="730" dirty="0"/>
          </a:p>
        </p:txBody>
      </p:sp>
      <p:sp>
        <p:nvSpPr>
          <p:cNvPr id="26" name="Shape 24"/>
          <p:cNvSpPr/>
          <p:nvPr/>
        </p:nvSpPr>
        <p:spPr>
          <a:xfrm>
            <a:off x="502920" y="3035808"/>
            <a:ext cx="1106424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6072" y="3072384"/>
            <a:ext cx="1623974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Controlled impact</a:t>
            </a:r>
            <a:endParaRPr lang="en-US" sz="730" dirty="0"/>
          </a:p>
        </p:txBody>
      </p:sp>
      <p:sp>
        <p:nvSpPr>
          <p:cNvPr id="28" name="Shape 26"/>
          <p:cNvSpPr/>
          <p:nvPr/>
        </p:nvSpPr>
        <p:spPr>
          <a:xfrm>
            <a:off x="2273198" y="1901952"/>
            <a:ext cx="0" cy="3401568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46350" y="3072384"/>
            <a:ext cx="2287829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 because of bundles?</a:t>
            </a:r>
            <a:endParaRPr lang="en-US" sz="730" dirty="0"/>
          </a:p>
        </p:txBody>
      </p:sp>
      <p:sp>
        <p:nvSpPr>
          <p:cNvPr id="30" name="Shape 28"/>
          <p:cNvSpPr/>
          <p:nvPr/>
        </p:nvSpPr>
        <p:spPr>
          <a:xfrm>
            <a:off x="4707331" y="1901952"/>
            <a:ext cx="0" cy="3401568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80483" y="3072384"/>
            <a:ext cx="2841041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Relative-time line: adopters vs matched non-adopters</a:t>
            </a:r>
            <a:endParaRPr lang="en-US" sz="730" dirty="0"/>
          </a:p>
        </p:txBody>
      </p:sp>
      <p:sp>
        <p:nvSpPr>
          <p:cNvPr id="32" name="Shape 30"/>
          <p:cNvSpPr/>
          <p:nvPr/>
        </p:nvSpPr>
        <p:spPr>
          <a:xfrm>
            <a:off x="7694676" y="1901952"/>
            <a:ext cx="0" cy="3401568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67828" y="3072384"/>
            <a:ext cx="3726180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Pre/post seller history, comparable non-adopters, category, seller size, prior spend</a:t>
            </a:r>
            <a:endParaRPr lang="en-US" sz="730" dirty="0"/>
          </a:p>
        </p:txBody>
      </p:sp>
      <p:sp>
        <p:nvSpPr>
          <p:cNvPr id="34" name="Shape 32"/>
          <p:cNvSpPr/>
          <p:nvPr/>
        </p:nvSpPr>
        <p:spPr>
          <a:xfrm>
            <a:off x="502920" y="3602736"/>
            <a:ext cx="1106424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76072" y="3639312"/>
            <a:ext cx="1623974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Seller value</a:t>
            </a:r>
            <a:endParaRPr lang="en-US" sz="730" dirty="0"/>
          </a:p>
        </p:txBody>
      </p:sp>
      <p:sp>
        <p:nvSpPr>
          <p:cNvPr id="36" name="Shape 34"/>
          <p:cNvSpPr/>
          <p:nvPr/>
        </p:nvSpPr>
        <p:spPr>
          <a:xfrm>
            <a:off x="2273198" y="1901952"/>
            <a:ext cx="0" cy="3401568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346350" y="3639312"/>
            <a:ext cx="2287829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sellers get better outcomes?</a:t>
            </a:r>
            <a:endParaRPr lang="en-US" sz="730" dirty="0"/>
          </a:p>
        </p:txBody>
      </p:sp>
      <p:sp>
        <p:nvSpPr>
          <p:cNvPr id="38" name="Shape 36"/>
          <p:cNvSpPr/>
          <p:nvPr/>
        </p:nvSpPr>
        <p:spPr>
          <a:xfrm>
            <a:off x="4707331" y="1901952"/>
            <a:ext cx="0" cy="3401568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80483" y="3639312"/>
            <a:ext cx="2841041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Indexed before/after line for leads per active ad</a:t>
            </a:r>
            <a:endParaRPr lang="en-US" sz="730" dirty="0"/>
          </a:p>
        </p:txBody>
      </p:sp>
      <p:sp>
        <p:nvSpPr>
          <p:cNvPr id="40" name="Shape 38"/>
          <p:cNvSpPr/>
          <p:nvPr/>
        </p:nvSpPr>
        <p:spPr>
          <a:xfrm>
            <a:off x="7694676" y="1901952"/>
            <a:ext cx="0" cy="3401568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767828" y="3639312"/>
            <a:ext cx="3726180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 views, leads, messages, bids, phone clicks, web clicks, active ads, sold-item proxy</a:t>
            </a:r>
            <a:endParaRPr lang="en-US" sz="730" dirty="0"/>
          </a:p>
        </p:txBody>
      </p:sp>
      <p:sp>
        <p:nvSpPr>
          <p:cNvPr id="42" name="Shape 40"/>
          <p:cNvSpPr/>
          <p:nvPr/>
        </p:nvSpPr>
        <p:spPr>
          <a:xfrm>
            <a:off x="502920" y="4169664"/>
            <a:ext cx="1106424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6072" y="4206240"/>
            <a:ext cx="1623974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steering</a:t>
            </a:r>
            <a:endParaRPr lang="en-US" sz="730" dirty="0"/>
          </a:p>
        </p:txBody>
      </p:sp>
      <p:sp>
        <p:nvSpPr>
          <p:cNvPr id="44" name="Shape 42"/>
          <p:cNvSpPr/>
          <p:nvPr/>
        </p:nvSpPr>
        <p:spPr>
          <a:xfrm>
            <a:off x="2273198" y="1901952"/>
            <a:ext cx="0" cy="3401568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346350" y="4206240"/>
            <a:ext cx="2287829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should launch effort focus?</a:t>
            </a:r>
            <a:endParaRPr lang="en-US" sz="730" dirty="0"/>
          </a:p>
        </p:txBody>
      </p:sp>
      <p:sp>
        <p:nvSpPr>
          <p:cNvPr id="46" name="Shape 44"/>
          <p:cNvSpPr/>
          <p:nvPr/>
        </p:nvSpPr>
        <p:spPr>
          <a:xfrm>
            <a:off x="4707331" y="1901952"/>
            <a:ext cx="0" cy="3401568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780483" y="4206240"/>
            <a:ext cx="2841041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Compact segment table by category, seller size, spend tier, and outreach batch</a:t>
            </a:r>
            <a:endParaRPr lang="en-US" sz="730" dirty="0"/>
          </a:p>
        </p:txBody>
      </p:sp>
      <p:sp>
        <p:nvSpPr>
          <p:cNvPr id="48" name="Shape 46"/>
          <p:cNvSpPr/>
          <p:nvPr/>
        </p:nvSpPr>
        <p:spPr>
          <a:xfrm>
            <a:off x="7694676" y="1901952"/>
            <a:ext cx="0" cy="3401568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67828" y="4206240"/>
            <a:ext cx="3726180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Seller category, active listings, historical spend tier, feature usage, outreach batch/channel</a:t>
            </a:r>
            <a:endParaRPr lang="en-US" sz="730" dirty="0"/>
          </a:p>
        </p:txBody>
      </p:sp>
      <p:sp>
        <p:nvSpPr>
          <p:cNvPr id="50" name="Shape 48"/>
          <p:cNvSpPr/>
          <p:nvPr/>
        </p:nvSpPr>
        <p:spPr>
          <a:xfrm>
            <a:off x="502920" y="4736592"/>
            <a:ext cx="1106424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6072" y="4773168"/>
            <a:ext cx="1623974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Marketplace guardrails</a:t>
            </a:r>
            <a:endParaRPr lang="en-US" sz="730" dirty="0"/>
          </a:p>
        </p:txBody>
      </p:sp>
      <p:sp>
        <p:nvSpPr>
          <p:cNvPr id="52" name="Shape 50"/>
          <p:cNvSpPr/>
          <p:nvPr/>
        </p:nvSpPr>
        <p:spPr>
          <a:xfrm>
            <a:off x="2273198" y="1901952"/>
            <a:ext cx="0" cy="3401568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346350" y="4773168"/>
            <a:ext cx="2287829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there quality risks as bundles scale?</a:t>
            </a:r>
            <a:endParaRPr lang="en-US" sz="730" dirty="0"/>
          </a:p>
        </p:txBody>
      </p:sp>
      <p:sp>
        <p:nvSpPr>
          <p:cNvPr id="54" name="Shape 52"/>
          <p:cNvSpPr/>
          <p:nvPr/>
        </p:nvSpPr>
        <p:spPr>
          <a:xfrm>
            <a:off x="4707331" y="1901952"/>
            <a:ext cx="0" cy="3401568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780483" y="4773168"/>
            <a:ext cx="2841041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 trend lines by bundle status</a:t>
            </a:r>
            <a:endParaRPr lang="en-US" sz="730" dirty="0"/>
          </a:p>
        </p:txBody>
      </p:sp>
      <p:sp>
        <p:nvSpPr>
          <p:cNvPr id="56" name="Shape 54"/>
          <p:cNvSpPr/>
          <p:nvPr/>
        </p:nvSpPr>
        <p:spPr>
          <a:xfrm>
            <a:off x="7694676" y="1901952"/>
            <a:ext cx="0" cy="3401568"/>
          </a:xfrm>
          <a:prstGeom prst="line">
            <a:avLst/>
          </a:prstGeom>
          <a:noFill/>
          <a:ln w="6350">
            <a:solidFill>
              <a:srgbClr val="2B2B2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67828" y="4773168"/>
            <a:ext cx="3726180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Complaints, reported ads, duplicate/spam signals, buyer engagement quality</a:t>
            </a:r>
            <a:endParaRPr lang="en-US" sz="73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20040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261872" y="301752"/>
            <a:ext cx="9875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 Future Impact Visual Mockups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61288"/>
            <a:ext cx="11274552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6199632"/>
            <a:ext cx="11274552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6345936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SMB Bundle Monitoring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927080" y="6345936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21792" y="134416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Dummy-data mockups show the dashboard shapes needed once actual invoices, seller outcomes, control groups, and guardrail metrics exist.</a:t>
            </a:r>
            <a:endParaRPr lang="en-US" sz="1550" dirty="0"/>
          </a:p>
        </p:txBody>
      </p:sp>
      <p:pic>
        <p:nvPicPr>
          <p:cNvPr id="9" name="Image 0" descr="/Users/omertal/PycharmProjects/Marketplaats/outputs/019ec668-313f-7a42-b45f-b7e468004534/presentations/q3-monitor-png/assets/future_impact_mocku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96766" y="1865376"/>
            <a:ext cx="6602227" cy="37947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68680" y="5687568"/>
            <a:ext cx="9875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Important: this notebook visual uses dummy data only. It demonstrates chart shape, not business results.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SMB Bundles 3 Monitor</dc:title>
  <dc:subject>SMB Bundle Dashboard</dc:subject>
  <dc:creator>Omer Tal</dc:creator>
  <cp:lastModifiedBy>Omer Tal</cp:lastModifiedBy>
  <cp:revision>1</cp:revision>
  <dcterms:created xsi:type="dcterms:W3CDTF">2026-06-14T14:19:04Z</dcterms:created>
  <dcterms:modified xsi:type="dcterms:W3CDTF">2026-06-14T14:19:04Z</dcterms:modified>
</cp:coreProperties>
</file>