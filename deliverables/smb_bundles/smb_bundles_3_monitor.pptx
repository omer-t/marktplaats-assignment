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image" Target="../media/q3_cohort_heatmap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905" y="899770"/>
            <a:ext cx="3600907" cy="389534"/>
          </a:xfrm>
          <a:prstGeom prst="rect">
            <a:avLst/>
          </a:prstGeom>
          <a:noFill/>
          <a:ln/>
        </p:spPr>
        <p:txBody>
          <a:bodyPr lIns="0" tIns="0" rIns="0" bIns="0" anchor="t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FFD2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 Identify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1033272" y="923544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D2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09905" y="1399946"/>
            <a:ext cx="3600907" cy="389534"/>
          </a:xfrm>
          <a:prstGeom prst="rect">
            <a:avLst/>
          </a:prstGeom>
          <a:noFill/>
          <a:ln/>
        </p:spPr>
        <p:txBody>
          <a:bodyPr lIns="0" tIns="0" rIns="0" bIns="0" anchor="t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2FB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Prioritize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33272" y="1435608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45B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12064" y="2257654"/>
            <a:ext cx="10500055" cy="829361"/>
          </a:xfrm>
          <a:prstGeom prst="rect">
            <a:avLst/>
          </a:prstGeom>
          <a:noFill/>
          <a:ln/>
        </p:spPr>
        <p:txBody>
          <a:bodyPr lIns="0" tIns="0" rIns="0" bIns="0" anchor="t">
            <a:normAutofit/>
          </a:bodyPr>
          <a:lstStyle/>
          <a:p>
            <a:pPr indent="0" marL="0">
              <a:buNone/>
            </a:pPr>
            <a:r>
              <a:rPr lang="en-US" sz="7000" b="1" dirty="0">
                <a:solidFill>
                  <a:srgbClr val="3DD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 Monitor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2240280" y="2852928"/>
            <a:ext cx="44805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200" b="1" dirty="0">
                <a:solidFill>
                  <a:srgbClr val="3DD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512064" y="3377794"/>
            <a:ext cx="9999878" cy="360274"/>
          </a:xfrm>
          <a:prstGeom prst="rect">
            <a:avLst/>
          </a:prstGeom>
          <a:noFill/>
          <a:ln/>
        </p:spPr>
        <p:txBody>
          <a:bodyPr lIns="0" tIns="0" rIns="0" bIns="0" anchor="t">
            <a:normAutofit/>
          </a:bodyPr>
          <a:lstStyle/>
          <a:p>
            <a:pPr indent="0" marL="0">
              <a:buNone/>
            </a:pPr>
            <a:r>
              <a:rPr lang="en-US" sz="2200" dirty="0" b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bundle adoption, revenue, and customer quality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09905" y="4590288"/>
            <a:ext cx="3600907" cy="389534"/>
          </a:xfrm>
          <a:prstGeom prst="rect">
            <a:avLst/>
          </a:prstGeom>
          <a:noFill/>
          <a:ln/>
        </p:spPr>
        <p:txBody>
          <a:bodyPr lIns="0" tIns="0" rIns="0" bIns="0" anchor="t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FF7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Scale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33272" y="489204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7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57200" y="6199632"/>
            <a:ext cx="11274552" cy="0"/>
          </a:xfrm>
          <a:prstGeom prst="line">
            <a:avLst/>
          </a:prstGeom>
          <a:noFill/>
          <a:ln w="12700">
            <a:solidFill>
              <a:srgbClr val="2B2B2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146536" y="6291072"/>
            <a:ext cx="590702" cy="228600"/>
          </a:xfrm>
          <a:prstGeom prst="rect">
            <a:avLst/>
          </a:prstGeom>
          <a:noFill/>
          <a:ln/>
        </p:spPr>
        <p:txBody>
          <a:bodyPr lIns="57150" tIns="38100" rIns="57150" bIns="38100" anchor="t">
            <a:normAutofit/>
          </a:bodyPr>
          <a:lstStyle/>
          <a:p>
            <a:pPr algn="r" indent="0" marL="0">
              <a:buNone/>
            </a:pPr>
            <a:r>
              <a:rPr lang="en-US" sz="900" dirty="0" b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/ 12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2102" y="323698"/>
            <a:ext cx="819302" cy="629107"/>
          </a:xfrm>
          <a:prstGeom prst="rect">
            <a:avLst/>
          </a:prstGeom>
          <a:noFill/>
          <a:ln/>
        </p:spPr>
        <p:txBody>
          <a:bodyPr lIns="57150" tIns="38100" rIns="57150" bIns="3810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3DD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426464" y="323698"/>
            <a:ext cx="9784080" cy="714146"/>
          </a:xfrm>
          <a:prstGeom prst="rect">
            <a:avLst/>
          </a:prstGeom>
          <a:noFill/>
          <a:ln/>
        </p:spPr>
        <p:txBody>
          <a:bodyPr lIns="57150" tIns="38100" rIns="57150" bIns="38100" anchor="t"/>
          <a:lstStyle/>
          <a:p>
            <a:pPr algn="l" indent="0" marL="0">
              <a:buNone/>
            </a:pPr>
            <a:r>
              <a:rPr lang="en-US" sz="3600" dirty="0" b="1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Dashboard Framing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161288"/>
            <a:ext cx="11274552" cy="0"/>
          </a:xfrm>
          <a:prstGeom prst="line">
            <a:avLst/>
          </a:prstGeom>
          <a:noFill/>
          <a:ln w="12700">
            <a:solidFill>
              <a:srgbClr val="2B2B2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6199632"/>
            <a:ext cx="11274552" cy="0"/>
          </a:xfrm>
          <a:prstGeom prst="line">
            <a:avLst/>
          </a:prstGeom>
          <a:noFill/>
          <a:ln w="12700">
            <a:solidFill>
              <a:srgbClr val="2B2B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12064" y="6345936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A8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SMB Bundle Monitoring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0927080" y="6345936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A8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16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713232" y="1444752"/>
            <a:ext cx="10378440" cy="1426464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normAutofit/>
          </a:bodyPr>
          <a:lstStyle/>
          <a:p>
            <a:pPr algn="l" indent="-220000" marL="292000">
              <a:buClr>
                <a:srgbClr val="3DDC97"/>
              </a:buClr>
              <a:buSzPct val="80000"/>
              <a:buFont typeface="Arial"/>
              <a:buChar char="■"/>
              <a:spcAft>
                <a:spcPts val="1036"/>
              </a:spcAft>
              <a:defRPr>
                <a:solidFill>
                  <a:srgbClr val="3DDC97"/>
                </a:solidFill>
              </a:defRPr>
            </a:pPr>
            <a:r>
              <a:rPr lang="en-US" sz="1220" b="1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Goal: monitor whether SMB Bundles are gaining traction, converting to paid usage, and creating measurable value.</a:t>
            </a:r>
            <a:endParaRPr lang="en-US" sz="1220" dirty="0"/>
          </a:p>
          <a:p>
            <a:pPr algn="l" indent="-220000" marL="292000">
              <a:buClr>
                <a:srgbClr val="3DDC97"/>
              </a:buClr>
              <a:buSzPct val="80000"/>
              <a:buFont typeface="Arial"/>
              <a:buChar char="■"/>
              <a:spcAft>
                <a:spcPts val="1036"/>
              </a:spcAft>
              <a:defRPr>
                <a:solidFill>
                  <a:srgbClr val="3DDC97"/>
                </a:solidFill>
              </a:defRPr>
            </a:pPr>
            <a:r>
              <a:rPr lang="en-US" sz="1220" dirty="0">
                <a:solidFill>
                  <a:srgbClr val="A8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Structure: three dashboard views, each answering a different business question.</a:t>
            </a:r>
            <a:endParaRPr lang="en-US" sz="1220" dirty="0"/>
          </a:p>
          <a:p>
            <a:pPr algn="l" indent="-220000" marL="292000">
              <a:buClr>
                <a:srgbClr val="3DDC97"/>
              </a:buClr>
              <a:buSzPct val="80000"/>
              <a:buFont typeface="Arial"/>
              <a:buChar char="■"/>
              <a:spcAft>
                <a:spcPts val="1036"/>
              </a:spcAft>
              <a:defRPr>
                <a:solidFill>
                  <a:srgbClr val="3DDC97"/>
                </a:solidFill>
              </a:defRPr>
            </a:pPr>
            <a:r>
              <a:rPr lang="en-US" sz="1220" dirty="0">
                <a:solidFill>
                  <a:srgbClr val="A8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Default view: all sellers. Use filters only to diagnose differences.</a:t>
            </a:r>
            <a:endParaRPr lang="en-US" sz="1220" dirty="0"/>
          </a:p>
          <a:p>
            <a:pPr algn="l" indent="-220000" marL="292000">
              <a:buClr>
                <a:srgbClr val="3DDC97"/>
              </a:buClr>
              <a:buSzPct val="80000"/>
              <a:buFont typeface="Arial"/>
              <a:buChar char="■"/>
              <a:defRPr>
                <a:solidFill>
                  <a:srgbClr val="3DDC97"/>
                </a:solidFill>
              </a:defRPr>
            </a:pPr>
            <a:r>
              <a:rPr lang="en-US" sz="1220" dirty="0">
                <a:solidFill>
                  <a:srgbClr val="A8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scope: the registration file supports adoption, paid-base, modeled revenue, and early quality. Full impact needs extra revenue and seller-outcome data.</a:t>
            </a:r>
            <a:endParaRPr lang="en-US" sz="1220" dirty="0"/>
          </a:p>
        </p:txBody>
      </p:sp>
      <p:sp>
        <p:nvSpPr>
          <p:cNvPr id="16" name="Shape 14"/>
          <p:cNvSpPr/>
          <p:nvPr/>
        </p:nvSpPr>
        <p:spPr>
          <a:xfrm>
            <a:off x="603504" y="3154680"/>
            <a:ext cx="3310128" cy="2084832"/>
          </a:xfrm>
          <a:prstGeom prst="rect">
            <a:avLst/>
          </a:prstGeom>
          <a:solidFill>
            <a:srgbClr val="121212"/>
          </a:solidFill>
          <a:ln w="8890">
            <a:solidFill>
              <a:srgbClr val="2B2B2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03504" y="3154680"/>
            <a:ext cx="3310128" cy="50292"/>
          </a:xfrm>
          <a:prstGeom prst="rect">
            <a:avLst/>
          </a:prstGeom>
          <a:solidFill>
            <a:srgbClr val="3DDC97"/>
          </a:solidFill>
          <a:ln w="12700">
            <a:solidFill>
              <a:srgbClr val="3DDC9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68096" y="3337560"/>
            <a:ext cx="2944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DD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Overview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68096" y="3776472"/>
            <a:ext cx="1417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30" b="1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</a:t>
            </a:r>
            <a:endParaRPr lang="en-US" sz="730" dirty="0"/>
          </a:p>
        </p:txBody>
      </p:sp>
      <p:sp>
        <p:nvSpPr>
          <p:cNvPr id="20" name="Text 18"/>
          <p:cNvSpPr/>
          <p:nvPr/>
        </p:nvSpPr>
        <p:spPr>
          <a:xfrm>
            <a:off x="768096" y="3941064"/>
            <a:ext cx="2944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launch traction and monetized adoption</a:t>
            </a:r>
            <a:endParaRPr lang="en-US" sz="920" dirty="0"/>
          </a:p>
        </p:txBody>
      </p:sp>
      <p:sp>
        <p:nvSpPr>
          <p:cNvPr id="21" name="Text 19"/>
          <p:cNvSpPr/>
          <p:nvPr/>
        </p:nvSpPr>
        <p:spPr>
          <a:xfrm>
            <a:off x="768096" y="4288536"/>
            <a:ext cx="1417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30" b="1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question</a:t>
            </a:r>
            <a:endParaRPr lang="en-US" sz="730" dirty="0"/>
          </a:p>
        </p:txBody>
      </p:sp>
      <p:sp>
        <p:nvSpPr>
          <p:cNvPr id="22" name="Text 20"/>
          <p:cNvSpPr/>
          <p:nvPr/>
        </p:nvSpPr>
        <p:spPr>
          <a:xfrm>
            <a:off x="768096" y="4453128"/>
            <a:ext cx="2944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 bundles gaining commercial traction?</a:t>
            </a:r>
            <a:endParaRPr lang="en-US" sz="920" dirty="0"/>
          </a:p>
        </p:txBody>
      </p:sp>
      <p:sp>
        <p:nvSpPr>
          <p:cNvPr id="23" name="Text 21"/>
          <p:cNvSpPr/>
          <p:nvPr/>
        </p:nvSpPr>
        <p:spPr>
          <a:xfrm>
            <a:off x="768096" y="4800600"/>
            <a:ext cx="1417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30" b="1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 enrichments</a:t>
            </a:r>
            <a:endParaRPr lang="en-US" sz="730" dirty="0"/>
          </a:p>
        </p:txBody>
      </p:sp>
      <p:sp>
        <p:nvSpPr>
          <p:cNvPr id="24" name="Text 22"/>
          <p:cNvSpPr/>
          <p:nvPr/>
        </p:nvSpPr>
        <p:spPr>
          <a:xfrm>
            <a:off x="768096" y="4965192"/>
            <a:ext cx="2944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A8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 invoiced revenue and payment status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334256" y="3154680"/>
            <a:ext cx="3310128" cy="2084832"/>
          </a:xfrm>
          <a:prstGeom prst="rect">
            <a:avLst/>
          </a:prstGeom>
          <a:solidFill>
            <a:srgbClr val="121212"/>
          </a:solidFill>
          <a:ln w="8890">
            <a:solidFill>
              <a:srgbClr val="2B2B2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334256" y="3154680"/>
            <a:ext cx="3310128" cy="50292"/>
          </a:xfrm>
          <a:prstGeom prst="rect">
            <a:avLst/>
          </a:prstGeom>
          <a:solidFill>
            <a:srgbClr val="3DDC97"/>
          </a:solidFill>
          <a:ln w="12700">
            <a:solidFill>
              <a:srgbClr val="3DDC9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498848" y="3337560"/>
            <a:ext cx="2944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DD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Quality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498848" y="3776472"/>
            <a:ext cx="1417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30" b="1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</a:t>
            </a:r>
            <a:endParaRPr lang="en-US" sz="730" dirty="0"/>
          </a:p>
        </p:txBody>
      </p:sp>
      <p:sp>
        <p:nvSpPr>
          <p:cNvPr id="29" name="Text 27"/>
          <p:cNvSpPr/>
          <p:nvPr/>
        </p:nvSpPr>
        <p:spPr>
          <a:xfrm>
            <a:off x="4498848" y="3941064"/>
            <a:ext cx="2944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 conversion, retention, and segment differences</a:t>
            </a:r>
            <a:endParaRPr lang="en-US" sz="920" dirty="0"/>
          </a:p>
        </p:txBody>
      </p:sp>
      <p:sp>
        <p:nvSpPr>
          <p:cNvPr id="30" name="Text 28"/>
          <p:cNvSpPr/>
          <p:nvPr/>
        </p:nvSpPr>
        <p:spPr>
          <a:xfrm>
            <a:off x="4498848" y="4288536"/>
            <a:ext cx="1417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30" b="1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question</a:t>
            </a:r>
            <a:endParaRPr lang="en-US" sz="730" dirty="0"/>
          </a:p>
        </p:txBody>
      </p:sp>
      <p:sp>
        <p:nvSpPr>
          <p:cNvPr id="31" name="Text 29"/>
          <p:cNvSpPr/>
          <p:nvPr/>
        </p:nvSpPr>
        <p:spPr>
          <a:xfrm>
            <a:off x="4498848" y="4453128"/>
            <a:ext cx="2944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 registrations becoming retained paid customers?</a:t>
            </a:r>
            <a:endParaRPr lang="en-US" sz="920" dirty="0"/>
          </a:p>
        </p:txBody>
      </p:sp>
      <p:sp>
        <p:nvSpPr>
          <p:cNvPr id="32" name="Text 30"/>
          <p:cNvSpPr/>
          <p:nvPr/>
        </p:nvSpPr>
        <p:spPr>
          <a:xfrm>
            <a:off x="4498848" y="4800600"/>
            <a:ext cx="1417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30" b="1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 enrichments</a:t>
            </a:r>
            <a:endParaRPr lang="en-US" sz="730" dirty="0"/>
          </a:p>
        </p:txBody>
      </p:sp>
      <p:sp>
        <p:nvSpPr>
          <p:cNvPr id="33" name="Text 31"/>
          <p:cNvSpPr/>
          <p:nvPr/>
        </p:nvSpPr>
        <p:spPr>
          <a:xfrm>
            <a:off x="4498848" y="4965192"/>
            <a:ext cx="2944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A8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Seller size, category, spend tier, outreach batch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8065008" y="3154680"/>
            <a:ext cx="3310128" cy="2084832"/>
          </a:xfrm>
          <a:prstGeom prst="rect">
            <a:avLst/>
          </a:prstGeom>
          <a:solidFill>
            <a:srgbClr val="121212"/>
          </a:solidFill>
          <a:ln w="8890">
            <a:solidFill>
              <a:srgbClr val="2B2B2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065008" y="3154680"/>
            <a:ext cx="3310128" cy="50292"/>
          </a:xfrm>
          <a:prstGeom prst="rect">
            <a:avLst/>
          </a:prstGeom>
          <a:solidFill>
            <a:srgbClr val="3DDC97"/>
          </a:solidFill>
          <a:ln w="12700">
            <a:solidFill>
              <a:srgbClr val="3DDC9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229600" y="3337560"/>
            <a:ext cx="2944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DD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Impact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8229600" y="3776472"/>
            <a:ext cx="1417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30" b="1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</a:t>
            </a:r>
            <a:endParaRPr lang="en-US" sz="730" dirty="0"/>
          </a:p>
        </p:txBody>
      </p:sp>
      <p:sp>
        <p:nvSpPr>
          <p:cNvPr id="38" name="Text 36"/>
          <p:cNvSpPr/>
          <p:nvPr/>
        </p:nvSpPr>
        <p:spPr>
          <a:xfrm>
            <a:off x="8229600" y="3941064"/>
            <a:ext cx="2944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Quantify value for Marktplaats and sellers</a:t>
            </a:r>
            <a:endParaRPr lang="en-US" sz="920" dirty="0"/>
          </a:p>
        </p:txBody>
      </p:sp>
      <p:sp>
        <p:nvSpPr>
          <p:cNvPr id="39" name="Text 37"/>
          <p:cNvSpPr/>
          <p:nvPr/>
        </p:nvSpPr>
        <p:spPr>
          <a:xfrm>
            <a:off x="8229600" y="4288536"/>
            <a:ext cx="1417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30" b="1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question</a:t>
            </a:r>
            <a:endParaRPr lang="en-US" sz="730" dirty="0"/>
          </a:p>
        </p:txBody>
      </p:sp>
      <p:sp>
        <p:nvSpPr>
          <p:cNvPr id="40" name="Text 38"/>
          <p:cNvSpPr/>
          <p:nvPr/>
        </p:nvSpPr>
        <p:spPr>
          <a:xfrm>
            <a:off x="8229600" y="4453128"/>
            <a:ext cx="2944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 bundles creating measurable value?</a:t>
            </a:r>
            <a:endParaRPr lang="en-US" sz="920" dirty="0"/>
          </a:p>
        </p:txBody>
      </p:sp>
      <p:sp>
        <p:nvSpPr>
          <p:cNvPr id="41" name="Text 39"/>
          <p:cNvSpPr/>
          <p:nvPr/>
        </p:nvSpPr>
        <p:spPr>
          <a:xfrm>
            <a:off x="8229600" y="4800600"/>
            <a:ext cx="1417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30" b="1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 enrichments</a:t>
            </a:r>
            <a:endParaRPr lang="en-US" sz="730" dirty="0"/>
          </a:p>
        </p:txBody>
      </p:sp>
      <p:sp>
        <p:nvSpPr>
          <p:cNvPr id="42" name="Text 40"/>
          <p:cNvSpPr/>
          <p:nvPr/>
        </p:nvSpPr>
        <p:spPr>
          <a:xfrm>
            <a:off x="8229600" y="4965192"/>
            <a:ext cx="2944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A8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 invoiced revenue and seller outcome data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2102" y="323698"/>
            <a:ext cx="819302" cy="629107"/>
          </a:xfrm>
          <a:prstGeom prst="rect">
            <a:avLst/>
          </a:prstGeom>
          <a:noFill/>
          <a:ln/>
        </p:spPr>
        <p:txBody>
          <a:bodyPr lIns="57150" tIns="38100" rIns="57150" bIns="3810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3DD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426464" y="323698"/>
            <a:ext cx="9784080" cy="714146"/>
          </a:xfrm>
          <a:prstGeom prst="rect">
            <a:avLst/>
          </a:prstGeom>
          <a:noFill/>
          <a:ln/>
        </p:spPr>
        <p:txBody>
          <a:bodyPr lIns="57150" tIns="38100" rIns="57150" bIns="38100" anchor="t"/>
          <a:lstStyle/>
          <a:p>
            <a:pPr algn="l" indent="0" marL="0">
              <a:buNone/>
            </a:pPr>
            <a:r>
              <a:rPr lang="en-US" sz="3600" dirty="0" b="1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Sales Overview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161288"/>
            <a:ext cx="11274552" cy="0"/>
          </a:xfrm>
          <a:prstGeom prst="line">
            <a:avLst/>
          </a:prstGeom>
          <a:noFill/>
          <a:ln w="12700">
            <a:solidFill>
              <a:srgbClr val="2B2B2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6199632"/>
            <a:ext cx="11274552" cy="0"/>
          </a:xfrm>
          <a:prstGeom prst="line">
            <a:avLst/>
          </a:prstGeom>
          <a:noFill/>
          <a:ln w="12700">
            <a:solidFill>
              <a:srgbClr val="2B2B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12064" y="6345936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A8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SMB Bundle Monitoring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0927080" y="6345936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A8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16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777240" y="1627632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normAutofit/>
          </a:bodyPr>
          <a:lstStyle/>
          <a:p>
            <a:pPr algn="l" indent="-220000" marL="292000">
              <a:buClr>
                <a:srgbClr val="3DDC97"/>
              </a:buClr>
              <a:buSzPct val="80000"/>
              <a:buFont typeface="Arial"/>
              <a:buChar char="■"/>
              <a:defRPr>
                <a:solidFill>
                  <a:srgbClr val="3DDC97"/>
                </a:solidFill>
              </a:defRPr>
            </a:pPr>
            <a:r>
              <a:rPr lang="en-US" sz="1800" b="1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 SMB Bundles gaining commercial traction?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2102" y="323698"/>
            <a:ext cx="819302" cy="629107"/>
          </a:xfrm>
          <a:prstGeom prst="rect">
            <a:avLst/>
          </a:prstGeom>
          <a:noFill/>
          <a:ln/>
        </p:spPr>
        <p:txBody>
          <a:bodyPr lIns="57150" tIns="38100" rIns="57150" bIns="3810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3DD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426464" y="323698"/>
            <a:ext cx="9784080" cy="714146"/>
          </a:xfrm>
          <a:prstGeom prst="rect">
            <a:avLst/>
          </a:prstGeom>
          <a:noFill/>
          <a:ln/>
        </p:spPr>
        <p:txBody>
          <a:bodyPr lIns="57150" tIns="38100" rIns="57150" bIns="38100" anchor="t"/>
          <a:lstStyle/>
          <a:p>
            <a:pPr algn="l" indent="0" marL="0">
              <a:buNone/>
            </a:pPr>
            <a:r>
              <a:rPr lang="en-US" sz="3600" dirty="0" b="1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2.1 KPI Snapshot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161288"/>
            <a:ext cx="11274552" cy="0"/>
          </a:xfrm>
          <a:prstGeom prst="line">
            <a:avLst/>
          </a:prstGeom>
          <a:noFill/>
          <a:ln w="12700">
            <a:solidFill>
              <a:srgbClr val="2B2B2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6199632"/>
            <a:ext cx="11274552" cy="0"/>
          </a:xfrm>
          <a:prstGeom prst="line">
            <a:avLst/>
          </a:prstGeom>
          <a:noFill/>
          <a:ln w="12700">
            <a:solidFill>
              <a:srgbClr val="2B2B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12064" y="6345936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A8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SMB Bundle Monitoring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0927080" y="6345936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A8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16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713232" y="1380744"/>
            <a:ext cx="10332720" cy="1042416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normAutofit/>
          </a:bodyPr>
          <a:lstStyle/>
          <a:p>
            <a:pPr algn="l" indent="-220000" marL="292000">
              <a:buClr>
                <a:srgbClr val="3DDC97"/>
              </a:buClr>
              <a:buSzPct val="80000"/>
              <a:buFont typeface="Arial"/>
              <a:buChar char="■"/>
              <a:spcAft>
                <a:spcPts val="1036"/>
              </a:spcAft>
              <a:defRPr>
                <a:solidFill>
                  <a:srgbClr val="3DDC97"/>
                </a:solidFill>
              </a:defRPr>
            </a:pPr>
            <a:r>
              <a:rPr lang="en-US" sz="1250" dirty="0">
                <a:solidFill>
                  <a:srgbClr val="A8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Question: what is the latest headline readout?</a:t>
            </a:r>
            <a:endParaRPr lang="en-US" sz="1250" dirty="0"/>
          </a:p>
          <a:p>
            <a:pPr algn="l" indent="-220000" marL="292000">
              <a:buClr>
                <a:srgbClr val="3DDC97"/>
              </a:buClr>
              <a:buSzPct val="80000"/>
              <a:buFont typeface="Arial"/>
              <a:buChar char="■"/>
              <a:spcAft>
                <a:spcPts val="1036"/>
              </a:spcAft>
              <a:defRPr>
                <a:solidFill>
                  <a:srgbClr val="3DDC97"/>
                </a:solidFill>
              </a:defRPr>
            </a:pPr>
            <a:r>
              <a:rPr lang="en-US" sz="1250" dirty="0">
                <a:solidFill>
                  <a:srgbClr val="A8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Read: current active bundles, rolling 4-week registrations, Plus share, and latest complete 4-week modeled revenue.</a:t>
            </a:r>
            <a:endParaRPr lang="en-US" sz="1250" dirty="0"/>
          </a:p>
          <a:p>
            <a:pPr algn="l" indent="-220000" marL="292000">
              <a:buClr>
                <a:srgbClr val="3DDC97"/>
              </a:buClr>
              <a:buSzPct val="80000"/>
              <a:buFont typeface="Arial"/>
              <a:buChar char="■"/>
              <a:defRPr>
                <a:solidFill>
                  <a:srgbClr val="3DDC97"/>
                </a:solidFill>
              </a:defRPr>
            </a:pPr>
            <a:r>
              <a:rPr lang="en-US" sz="1250" dirty="0">
                <a:solidFill>
                  <a:srgbClr val="A8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Caveat: snapshot combines current status, rolling windows, and complete-period revenue.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85800" y="2779776"/>
            <a:ext cx="3246120" cy="822960"/>
          </a:xfrm>
          <a:prstGeom prst="rect">
            <a:avLst/>
          </a:prstGeom>
          <a:solidFill>
            <a:srgbClr val="121212"/>
          </a:solidFill>
          <a:ln w="7620">
            <a:solidFill>
              <a:srgbClr val="2B2B2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5800" y="2779776"/>
            <a:ext cx="3246120" cy="41148"/>
          </a:xfrm>
          <a:prstGeom prst="rect">
            <a:avLst/>
          </a:prstGeom>
          <a:solidFill>
            <a:srgbClr val="3DDC97"/>
          </a:solidFill>
          <a:ln w="12700">
            <a:solidFill>
              <a:srgbClr val="3DDC9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3816" y="2962656"/>
            <a:ext cx="2944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20" b="1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2025-04-29</a:t>
            </a:r>
            <a:endParaRPr lang="en-US" sz="1620" dirty="0"/>
          </a:p>
        </p:txBody>
      </p:sp>
      <p:sp>
        <p:nvSpPr>
          <p:cNvPr id="17" name="Text 15"/>
          <p:cNvSpPr/>
          <p:nvPr/>
        </p:nvSpPr>
        <p:spPr>
          <a:xfrm>
            <a:off x="813816" y="3291840"/>
            <a:ext cx="2944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A8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 date</a:t>
            </a:r>
            <a:endParaRPr lang="en-US" sz="820" dirty="0"/>
          </a:p>
        </p:txBody>
      </p:sp>
      <p:sp>
        <p:nvSpPr>
          <p:cNvPr id="18" name="Shape 16"/>
          <p:cNvSpPr/>
          <p:nvPr/>
        </p:nvSpPr>
        <p:spPr>
          <a:xfrm>
            <a:off x="4389120" y="2779776"/>
            <a:ext cx="3246120" cy="822960"/>
          </a:xfrm>
          <a:prstGeom prst="rect">
            <a:avLst/>
          </a:prstGeom>
          <a:solidFill>
            <a:srgbClr val="121212"/>
          </a:solidFill>
          <a:ln w="7620">
            <a:solidFill>
              <a:srgbClr val="2B2B2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389120" y="2779776"/>
            <a:ext cx="3246120" cy="41148"/>
          </a:xfrm>
          <a:prstGeom prst="rect">
            <a:avLst/>
          </a:prstGeom>
          <a:solidFill>
            <a:srgbClr val="3DDC97"/>
          </a:solidFill>
          <a:ln w="12700">
            <a:solidFill>
              <a:srgbClr val="3DDC9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17136" y="2962656"/>
            <a:ext cx="2944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20" b="1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2,709 (+0% w/w)</a:t>
            </a:r>
            <a:endParaRPr lang="en-US" sz="1620" dirty="0"/>
          </a:p>
        </p:txBody>
      </p:sp>
      <p:sp>
        <p:nvSpPr>
          <p:cNvPr id="21" name="Text 19"/>
          <p:cNvSpPr/>
          <p:nvPr/>
        </p:nvSpPr>
        <p:spPr>
          <a:xfrm>
            <a:off x="4517136" y="3291840"/>
            <a:ext cx="2944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A8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paid bundles</a:t>
            </a:r>
            <a:endParaRPr lang="en-US" sz="820" dirty="0"/>
          </a:p>
        </p:txBody>
      </p:sp>
      <p:sp>
        <p:nvSpPr>
          <p:cNvPr id="22" name="Shape 20"/>
          <p:cNvSpPr/>
          <p:nvPr/>
        </p:nvSpPr>
        <p:spPr>
          <a:xfrm>
            <a:off x="8092440" y="2779776"/>
            <a:ext cx="3246120" cy="822960"/>
          </a:xfrm>
          <a:prstGeom prst="rect">
            <a:avLst/>
          </a:prstGeom>
          <a:solidFill>
            <a:srgbClr val="121212"/>
          </a:solidFill>
          <a:ln w="7620">
            <a:solidFill>
              <a:srgbClr val="2B2B2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92440" y="2779776"/>
            <a:ext cx="3246120" cy="41148"/>
          </a:xfrm>
          <a:prstGeom prst="rect">
            <a:avLst/>
          </a:prstGeom>
          <a:solidFill>
            <a:srgbClr val="3DDC97"/>
          </a:solidFill>
          <a:ln w="12700">
            <a:solidFill>
              <a:srgbClr val="3DDC9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20456" y="2962656"/>
            <a:ext cx="2944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20" b="1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(+0% w/w)</a:t>
            </a:r>
            <a:endParaRPr lang="en-US" sz="1620" dirty="0"/>
          </a:p>
        </p:txBody>
      </p:sp>
      <p:sp>
        <p:nvSpPr>
          <p:cNvPr id="25" name="Text 23"/>
          <p:cNvSpPr/>
          <p:nvPr/>
        </p:nvSpPr>
        <p:spPr>
          <a:xfrm>
            <a:off x="8220456" y="3291840"/>
            <a:ext cx="2944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A8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trial bundles</a:t>
            </a:r>
            <a:endParaRPr lang="en-US" sz="820" dirty="0"/>
          </a:p>
        </p:txBody>
      </p:sp>
      <p:sp>
        <p:nvSpPr>
          <p:cNvPr id="26" name="Shape 24"/>
          <p:cNvSpPr/>
          <p:nvPr/>
        </p:nvSpPr>
        <p:spPr>
          <a:xfrm>
            <a:off x="685800" y="3858768"/>
            <a:ext cx="3246120" cy="822960"/>
          </a:xfrm>
          <a:prstGeom prst="rect">
            <a:avLst/>
          </a:prstGeom>
          <a:solidFill>
            <a:srgbClr val="121212"/>
          </a:solidFill>
          <a:ln w="7620">
            <a:solidFill>
              <a:srgbClr val="2B2B2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85800" y="3858768"/>
            <a:ext cx="3246120" cy="41148"/>
          </a:xfrm>
          <a:prstGeom prst="rect">
            <a:avLst/>
          </a:prstGeom>
          <a:solidFill>
            <a:srgbClr val="3DDC97"/>
          </a:solidFill>
          <a:ln w="12700">
            <a:solidFill>
              <a:srgbClr val="3DDC9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13816" y="4041648"/>
            <a:ext cx="2944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20" b="1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 (+156% vs prior 4wk)</a:t>
            </a:r>
            <a:endParaRPr lang="en-US" sz="1620" dirty="0"/>
          </a:p>
        </p:txBody>
      </p:sp>
      <p:sp>
        <p:nvSpPr>
          <p:cNvPr id="29" name="Text 27"/>
          <p:cNvSpPr/>
          <p:nvPr/>
        </p:nvSpPr>
        <p:spPr>
          <a:xfrm>
            <a:off x="813816" y="4370832"/>
            <a:ext cx="2944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A8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registration in 4wk</a:t>
            </a:r>
            <a:endParaRPr lang="en-US" sz="820" dirty="0"/>
          </a:p>
        </p:txBody>
      </p:sp>
      <p:sp>
        <p:nvSpPr>
          <p:cNvPr id="30" name="Shape 28"/>
          <p:cNvSpPr/>
          <p:nvPr/>
        </p:nvSpPr>
        <p:spPr>
          <a:xfrm>
            <a:off x="4389120" y="3858768"/>
            <a:ext cx="3246120" cy="822960"/>
          </a:xfrm>
          <a:prstGeom prst="rect">
            <a:avLst/>
          </a:prstGeom>
          <a:solidFill>
            <a:srgbClr val="121212"/>
          </a:solidFill>
          <a:ln w="7620">
            <a:solidFill>
              <a:srgbClr val="2B2B2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389120" y="3858768"/>
            <a:ext cx="3246120" cy="41148"/>
          </a:xfrm>
          <a:prstGeom prst="rect">
            <a:avLst/>
          </a:prstGeom>
          <a:solidFill>
            <a:srgbClr val="3DDC97"/>
          </a:solidFill>
          <a:ln w="12700">
            <a:solidFill>
              <a:srgbClr val="3DDC9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17136" y="4041648"/>
            <a:ext cx="2944368" cy="237744"/>
          </a:xfrm>
          <a:prstGeom prst="rect">
            <a:avLst/>
          </a:prstGeom>
          <a:noFill/>
          <a:ln/>
        </p:spPr>
        <p:txBody>
          <a:bodyPr lIns="0" tIns="0" rIns="0" bIns="0" anchor="t">
            <a:normAutofit/>
          </a:bodyPr>
          <a:lstStyle/>
          <a:p>
            <a:pPr algn="l" indent="0" marL="0">
              <a:buNone/>
            </a:pPr>
            <a:r>
              <a:rPr lang="en-US" sz="1620" b="1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40.9% (+0.1pp w/w)</a:t>
            </a:r>
            <a:endParaRPr lang="en-US" sz="1620" dirty="0"/>
          </a:p>
        </p:txBody>
      </p:sp>
      <p:sp>
        <p:nvSpPr>
          <p:cNvPr id="33" name="Text 31"/>
          <p:cNvSpPr/>
          <p:nvPr/>
        </p:nvSpPr>
        <p:spPr>
          <a:xfrm>
            <a:off x="4517136" y="4370832"/>
            <a:ext cx="2944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A8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Plus share of active paid bundles</a:t>
            </a:r>
            <a:endParaRPr lang="en-US" sz="820" dirty="0"/>
          </a:p>
        </p:txBody>
      </p:sp>
      <p:sp>
        <p:nvSpPr>
          <p:cNvPr id="34" name="Shape 32"/>
          <p:cNvSpPr/>
          <p:nvPr/>
        </p:nvSpPr>
        <p:spPr>
          <a:xfrm>
            <a:off x="8092440" y="3858768"/>
            <a:ext cx="3246120" cy="822960"/>
          </a:xfrm>
          <a:prstGeom prst="rect">
            <a:avLst/>
          </a:prstGeom>
          <a:solidFill>
            <a:srgbClr val="121212"/>
          </a:solidFill>
          <a:ln w="7620">
            <a:solidFill>
              <a:srgbClr val="2B2B2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092440" y="3858768"/>
            <a:ext cx="3246120" cy="41148"/>
          </a:xfrm>
          <a:prstGeom prst="rect">
            <a:avLst/>
          </a:prstGeom>
          <a:solidFill>
            <a:srgbClr val="3DDC97"/>
          </a:solidFill>
          <a:ln w="12700">
            <a:solidFill>
              <a:srgbClr val="3DDC9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220456" y="4041648"/>
            <a:ext cx="2944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20" b="1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€88,373 (+0% vs prev 4wk)</a:t>
            </a:r>
            <a:endParaRPr lang="en-US" sz="1620" dirty="0"/>
          </a:p>
        </p:txBody>
      </p:sp>
      <p:sp>
        <p:nvSpPr>
          <p:cNvPr id="37" name="Text 35"/>
          <p:cNvSpPr/>
          <p:nvPr/>
        </p:nvSpPr>
        <p:spPr>
          <a:xfrm>
            <a:off x="8220456" y="4370832"/>
            <a:ext cx="2944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A8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Modeled revenue in latest complete 4wk period</a:t>
            </a:r>
            <a:endParaRPr lang="en-US" sz="8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2102" y="323698"/>
            <a:ext cx="819302" cy="629107"/>
          </a:xfrm>
          <a:prstGeom prst="rect">
            <a:avLst/>
          </a:prstGeom>
          <a:noFill/>
          <a:ln/>
        </p:spPr>
        <p:txBody>
          <a:bodyPr lIns="57150" tIns="38100" rIns="57150" bIns="3810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3DD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426464" y="323698"/>
            <a:ext cx="9784080" cy="714146"/>
          </a:xfrm>
          <a:prstGeom prst="rect">
            <a:avLst/>
          </a:prstGeom>
          <a:noFill/>
          <a:ln/>
        </p:spPr>
        <p:txBody>
          <a:bodyPr lIns="57150" tIns="38100" rIns="57150" bIns="38100" anchor="t"/>
          <a:lstStyle/>
          <a:p>
            <a:pPr algn="l" indent="0" marL="0">
              <a:buNone/>
            </a:pPr>
            <a:r>
              <a:rPr lang="en-US" sz="3600" dirty="0" b="1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2.2 Weekly New Registrations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161288"/>
            <a:ext cx="11274552" cy="0"/>
          </a:xfrm>
          <a:prstGeom prst="line">
            <a:avLst/>
          </a:prstGeom>
          <a:noFill/>
          <a:ln w="12700">
            <a:solidFill>
              <a:srgbClr val="2B2B2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6199632"/>
            <a:ext cx="11274552" cy="0"/>
          </a:xfrm>
          <a:prstGeom prst="line">
            <a:avLst/>
          </a:prstGeom>
          <a:noFill/>
          <a:ln w="12700">
            <a:solidFill>
              <a:srgbClr val="2B2B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12064" y="6345936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A8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SMB Bundle Monitoring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0927080" y="6345936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A8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16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713232" y="1353312"/>
            <a:ext cx="10378440" cy="1152144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normAutofit/>
          </a:bodyPr>
          <a:lstStyle/>
          <a:p>
            <a:pPr algn="l" indent="-220000" marL="292000">
              <a:buClr>
                <a:srgbClr val="3DDC97"/>
              </a:buClr>
              <a:buSzPct val="80000"/>
              <a:buFont typeface="Arial"/>
              <a:buChar char="■"/>
              <a:spcAft>
                <a:spcPts val="532"/>
              </a:spcAft>
              <a:defRPr>
                <a:solidFill>
                  <a:srgbClr val="3DDC97"/>
                </a:solidFill>
              </a:defRPr>
            </a:pPr>
            <a:r>
              <a:rPr lang="en-US" sz="1130" dirty="0">
                <a:solidFill>
                  <a:srgbClr val="A8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Question: is launch demand growing, stable, or fading?</a:t>
            </a:r>
            <a:endParaRPr lang="en-US" sz="1130" dirty="0"/>
          </a:p>
          <a:p>
            <a:pPr algn="l" indent="-220000" marL="292000">
              <a:buClr>
                <a:srgbClr val="3DDC97"/>
              </a:buClr>
              <a:buSzPct val="80000"/>
              <a:buFont typeface="Arial"/>
              <a:buChar char="■"/>
              <a:spcAft>
                <a:spcPts val="532"/>
              </a:spcAft>
              <a:defRPr>
                <a:solidFill>
                  <a:srgbClr val="3DDC97"/>
                </a:solidFill>
              </a:defRPr>
            </a:pPr>
            <a:r>
              <a:rPr lang="en-US" sz="1130" dirty="0">
                <a:solidFill>
                  <a:srgbClr val="A8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Read: weekly first bundle starts, split by Basic and Plus.</a:t>
            </a:r>
            <a:endParaRPr lang="en-US" sz="1130" dirty="0"/>
          </a:p>
          <a:p>
            <a:pPr algn="l" indent="-220000" marL="292000">
              <a:buClr>
                <a:srgbClr val="3DDC97"/>
              </a:buClr>
              <a:buSzPct val="80000"/>
              <a:buFont typeface="Arial"/>
              <a:buChar char="■"/>
              <a:spcAft>
                <a:spcPts val="532"/>
              </a:spcAft>
              <a:defRPr>
                <a:solidFill>
                  <a:srgbClr val="3DDC97"/>
                </a:solidFill>
              </a:defRPr>
            </a:pPr>
            <a:r>
              <a:rPr lang="en-US" sz="1130" dirty="0">
                <a:solidFill>
                  <a:srgbClr val="A8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Caveat: registrations include trial starts, not paid subscriptions.</a:t>
            </a:r>
            <a:endParaRPr lang="en-US" sz="1130" dirty="0"/>
          </a:p>
          <a:p>
            <a:pPr algn="l" indent="-220000" marL="292000">
              <a:buClr>
                <a:srgbClr val="3DDC97"/>
              </a:buClr>
              <a:buSzPct val="80000"/>
              <a:buFont typeface="Arial"/>
              <a:buChar char="■"/>
              <a:defRPr>
                <a:solidFill>
                  <a:srgbClr val="3DDC97"/>
                </a:solidFill>
              </a:defRPr>
            </a:pPr>
            <a:r>
              <a:rPr lang="en-US" sz="1130" dirty="0">
                <a:solidFill>
                  <a:srgbClr val="A8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Controls: date range, customer type, bundle.</a:t>
            </a:r>
            <a:endParaRPr lang="en-US" sz="1130" dirty="0"/>
          </a:p>
        </p:txBody>
      </p:sp>
      <p:pic>
        <p:nvPicPr>
          <p:cNvPr id="16" name="Image 0" descr="/Users/omertal/PycharmProjects/Marketplaats/outputs/019ec668-313f-7a42-b45f-b7e468004534/presentations/q3-verbatim-refresh/assets/weekly_new_registratio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07690" y="2514600"/>
            <a:ext cx="7288940" cy="30632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2102" y="323698"/>
            <a:ext cx="819302" cy="629107"/>
          </a:xfrm>
          <a:prstGeom prst="rect">
            <a:avLst/>
          </a:prstGeom>
          <a:noFill/>
          <a:ln/>
        </p:spPr>
        <p:txBody>
          <a:bodyPr lIns="57150" tIns="38100" rIns="57150" bIns="3810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3DD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426464" y="323698"/>
            <a:ext cx="9784080" cy="714146"/>
          </a:xfrm>
          <a:prstGeom prst="rect">
            <a:avLst/>
          </a:prstGeom>
          <a:noFill/>
          <a:ln/>
        </p:spPr>
        <p:txBody>
          <a:bodyPr lIns="57150" tIns="38100" rIns="57150" bIns="38100" anchor="t"/>
          <a:lstStyle/>
          <a:p>
            <a:pPr algn="l" indent="0" marL="0">
              <a:buNone/>
            </a:pPr>
            <a:r>
              <a:rPr lang="en-US" sz="3600" dirty="0" b="1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2.3 Active Bundles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161288"/>
            <a:ext cx="11274552" cy="0"/>
          </a:xfrm>
          <a:prstGeom prst="line">
            <a:avLst/>
          </a:prstGeom>
          <a:noFill/>
          <a:ln w="12700">
            <a:solidFill>
              <a:srgbClr val="2B2B2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6199632"/>
            <a:ext cx="11274552" cy="0"/>
          </a:xfrm>
          <a:prstGeom prst="line">
            <a:avLst/>
          </a:prstGeom>
          <a:noFill/>
          <a:ln w="12700">
            <a:solidFill>
              <a:srgbClr val="2B2B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12064" y="6345936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A8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SMB Bundle Monitoring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0927080" y="6345936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A8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16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713232" y="1353312"/>
            <a:ext cx="10378440" cy="1152144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normAutofit/>
          </a:bodyPr>
          <a:lstStyle/>
          <a:p>
            <a:pPr algn="l" indent="-220000" marL="292000">
              <a:buClr>
                <a:srgbClr val="3DDC97"/>
              </a:buClr>
              <a:buSzPct val="80000"/>
              <a:buFont typeface="Arial"/>
              <a:buChar char="■"/>
              <a:spcAft>
                <a:spcPts val="532"/>
              </a:spcAft>
              <a:defRPr>
                <a:solidFill>
                  <a:srgbClr val="3DDC97"/>
                </a:solidFill>
              </a:defRPr>
            </a:pPr>
            <a:r>
              <a:rPr lang="en-US" sz="1130" dirty="0">
                <a:solidFill>
                  <a:srgbClr val="A8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Question: is the bundle base turning into paid adoption?</a:t>
            </a:r>
            <a:endParaRPr lang="en-US" sz="1130" dirty="0"/>
          </a:p>
          <a:p>
            <a:pPr algn="l" indent="-220000" marL="292000">
              <a:buClr>
                <a:srgbClr val="3DDC97"/>
              </a:buClr>
              <a:buSzPct val="80000"/>
              <a:buFont typeface="Arial"/>
              <a:buChar char="■"/>
              <a:spcAft>
                <a:spcPts val="532"/>
              </a:spcAft>
              <a:defRPr>
                <a:solidFill>
                  <a:srgbClr val="3DDC97"/>
                </a:solidFill>
              </a:defRPr>
            </a:pPr>
            <a:r>
              <a:rPr lang="en-US" sz="1130" dirty="0">
                <a:solidFill>
                  <a:srgbClr val="A8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Read: paid vs trial bundles over time. Solid lines are paid; dashed lines are trial.</a:t>
            </a:r>
            <a:endParaRPr lang="en-US" sz="1130" dirty="0"/>
          </a:p>
          <a:p>
            <a:pPr algn="l" indent="-220000" marL="292000">
              <a:buClr>
                <a:srgbClr val="3DDC97"/>
              </a:buClr>
              <a:buSzPct val="80000"/>
              <a:buFont typeface="Arial"/>
              <a:buChar char="■"/>
              <a:spcAft>
                <a:spcPts val="532"/>
              </a:spcAft>
              <a:defRPr>
                <a:solidFill>
                  <a:srgbClr val="3DDC97"/>
                </a:solidFill>
              </a:defRPr>
            </a:pPr>
            <a:r>
              <a:rPr lang="en-US" sz="1130" dirty="0">
                <a:solidFill>
                  <a:srgbClr val="A8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Caveat: active status comes from registration intervals, not payment records.</a:t>
            </a:r>
            <a:endParaRPr lang="en-US" sz="1130" dirty="0"/>
          </a:p>
          <a:p>
            <a:pPr algn="l" indent="-220000" marL="292000">
              <a:buClr>
                <a:srgbClr val="3DDC97"/>
              </a:buClr>
              <a:buSzPct val="80000"/>
              <a:buFont typeface="Arial"/>
              <a:buChar char="■"/>
              <a:defRPr>
                <a:solidFill>
                  <a:srgbClr val="3DDC97"/>
                </a:solidFill>
              </a:defRPr>
            </a:pPr>
            <a:r>
              <a:rPr lang="en-US" sz="1130" dirty="0">
                <a:solidFill>
                  <a:srgbClr val="A8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Controls: date range, customer type, bundle.</a:t>
            </a:r>
            <a:endParaRPr lang="en-US" sz="1130" dirty="0"/>
          </a:p>
        </p:txBody>
      </p:sp>
      <p:pic>
        <p:nvPicPr>
          <p:cNvPr id="16" name="Image 0" descr="/Users/omertal/PycharmProjects/Marketplaats/outputs/019ec668-313f-7a42-b45f-b7e468004534/presentations/q3-verbatim-refresh/assets/active_bundl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56636" y="2514600"/>
            <a:ext cx="7391048" cy="30632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2102" y="323698"/>
            <a:ext cx="819302" cy="629107"/>
          </a:xfrm>
          <a:prstGeom prst="rect">
            <a:avLst/>
          </a:prstGeom>
          <a:noFill/>
          <a:ln/>
        </p:spPr>
        <p:txBody>
          <a:bodyPr lIns="57150" tIns="38100" rIns="57150" bIns="3810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3DD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426464" y="323698"/>
            <a:ext cx="9784080" cy="714146"/>
          </a:xfrm>
          <a:prstGeom prst="rect">
            <a:avLst/>
          </a:prstGeom>
          <a:noFill/>
          <a:ln/>
        </p:spPr>
        <p:txBody>
          <a:bodyPr lIns="57150" tIns="38100" rIns="57150" bIns="38100" anchor="t"/>
          <a:lstStyle/>
          <a:p>
            <a:pPr algn="l" indent="0" marL="0">
              <a:buNone/>
            </a:pPr>
            <a:r>
              <a:rPr lang="en-US" sz="3600" dirty="0" b="1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2.4 Plus Share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161288"/>
            <a:ext cx="11274552" cy="0"/>
          </a:xfrm>
          <a:prstGeom prst="line">
            <a:avLst/>
          </a:prstGeom>
          <a:noFill/>
          <a:ln w="12700">
            <a:solidFill>
              <a:srgbClr val="2B2B2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6199632"/>
            <a:ext cx="11274552" cy="0"/>
          </a:xfrm>
          <a:prstGeom prst="line">
            <a:avLst/>
          </a:prstGeom>
          <a:noFill/>
          <a:ln w="12700">
            <a:solidFill>
              <a:srgbClr val="2B2B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12064" y="6345936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A8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SMB Bundle Monitoring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0927080" y="6345936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A8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16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713232" y="1353312"/>
            <a:ext cx="10378440" cy="868680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normAutofit/>
          </a:bodyPr>
          <a:lstStyle/>
          <a:p>
            <a:pPr algn="l" indent="-220000" marL="292000">
              <a:buClr>
                <a:srgbClr val="3DDC97"/>
              </a:buClr>
              <a:buSzPct val="80000"/>
              <a:buFont typeface="Arial"/>
              <a:buChar char="■"/>
              <a:spcAft>
                <a:spcPts val="532"/>
              </a:spcAft>
              <a:defRPr>
                <a:solidFill>
                  <a:srgbClr val="3DDC97"/>
                </a:solidFill>
              </a:defRPr>
            </a:pPr>
            <a:r>
              <a:rPr lang="en-US" sz="1130" dirty="0">
                <a:solidFill>
                  <a:srgbClr val="A8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Question: is the paid base shifting toward Plus?</a:t>
            </a:r>
            <a:endParaRPr lang="en-US" sz="1130" dirty="0"/>
          </a:p>
          <a:p>
            <a:pPr algn="l" indent="-220000" marL="292000">
              <a:buClr>
                <a:srgbClr val="3DDC97"/>
              </a:buClr>
              <a:buSzPct val="80000"/>
              <a:buFont typeface="Arial"/>
              <a:buChar char="■"/>
              <a:spcAft>
                <a:spcPts val="532"/>
              </a:spcAft>
              <a:defRPr>
                <a:solidFill>
                  <a:srgbClr val="3DDC97"/>
                </a:solidFill>
              </a:defRPr>
            </a:pPr>
            <a:r>
              <a:rPr lang="en-US" sz="1130" dirty="0">
                <a:solidFill>
                  <a:srgbClr val="A8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Read: Plus share of active paid bundles over time.</a:t>
            </a:r>
            <a:endParaRPr lang="en-US" sz="1130" dirty="0"/>
          </a:p>
          <a:p>
            <a:pPr algn="l" indent="-220000" marL="292000">
              <a:buClr>
                <a:srgbClr val="3DDC97"/>
              </a:buClr>
              <a:buSzPct val="80000"/>
              <a:buFont typeface="Arial"/>
              <a:buChar char="■"/>
              <a:defRPr>
                <a:solidFill>
                  <a:srgbClr val="3DDC97"/>
                </a:solidFill>
              </a:defRPr>
            </a:pPr>
            <a:r>
              <a:rPr lang="en-US" sz="1130" dirty="0">
                <a:solidFill>
                  <a:srgbClr val="A8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Controls: date range and customer type.</a:t>
            </a:r>
            <a:endParaRPr lang="en-US" sz="1130" dirty="0"/>
          </a:p>
        </p:txBody>
      </p:sp>
      <p:pic>
        <p:nvPicPr>
          <p:cNvPr id="14" name="Image 0" descr="/Users/omertal/PycharmProjects/Marketplaats/outputs/019ec668-313f-7a42-b45f-b7e468004534/presentations/q3-verbatim-refresh/assets/plus_sha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06439" y="2240280"/>
            <a:ext cx="6000001" cy="33375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2102" y="323698"/>
            <a:ext cx="819302" cy="629107"/>
          </a:xfrm>
          <a:prstGeom prst="rect">
            <a:avLst/>
          </a:prstGeom>
          <a:noFill/>
          <a:ln/>
        </p:spPr>
        <p:txBody>
          <a:bodyPr lIns="57150" tIns="38100" rIns="57150" bIns="3810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3DD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426464" y="323698"/>
            <a:ext cx="9784080" cy="714146"/>
          </a:xfrm>
          <a:prstGeom prst="rect">
            <a:avLst/>
          </a:prstGeom>
          <a:noFill/>
          <a:ln/>
        </p:spPr>
        <p:txBody>
          <a:bodyPr lIns="57150" tIns="38100" rIns="57150" bIns="38100" anchor="t"/>
          <a:lstStyle/>
          <a:p>
            <a:pPr algn="l" indent="0" marL="0">
              <a:buNone/>
            </a:pPr>
            <a:r>
              <a:rPr lang="en-US" sz="3600" dirty="0" b="1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Customer Quality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161288"/>
            <a:ext cx="11274552" cy="0"/>
          </a:xfrm>
          <a:prstGeom prst="line">
            <a:avLst/>
          </a:prstGeom>
          <a:noFill/>
          <a:ln w="12700">
            <a:solidFill>
              <a:srgbClr val="2B2B2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6199632"/>
            <a:ext cx="11274552" cy="0"/>
          </a:xfrm>
          <a:prstGeom prst="line">
            <a:avLst/>
          </a:prstGeom>
          <a:noFill/>
          <a:ln w="12700">
            <a:solidFill>
              <a:srgbClr val="2B2B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12064" y="6345936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A8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SMB Bundle Monitoring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0927080" y="6345936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A8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/ 16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777240" y="1627632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normAutofit/>
          </a:bodyPr>
          <a:lstStyle/>
          <a:p>
            <a:pPr algn="l" indent="-220000" marL="292000">
              <a:buClr>
                <a:srgbClr val="3DDC97"/>
              </a:buClr>
              <a:buSzPct val="80000"/>
              <a:buFont typeface="Arial"/>
              <a:buChar char="■"/>
              <a:defRPr>
                <a:solidFill>
                  <a:srgbClr val="3DDC97"/>
                </a:solidFill>
              </a:defRPr>
            </a:pPr>
            <a:r>
              <a:rPr lang="en-US" sz="1800" b="1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 registrations becoming retained paid customers?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2102" y="323698"/>
            <a:ext cx="819302" cy="629107"/>
          </a:xfrm>
          <a:prstGeom prst="rect">
            <a:avLst/>
          </a:prstGeom>
          <a:noFill/>
          <a:ln/>
        </p:spPr>
        <p:txBody>
          <a:bodyPr lIns="57150" tIns="38100" rIns="57150" bIns="3810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3DD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426464" y="323698"/>
            <a:ext cx="9784080" cy="714146"/>
          </a:xfrm>
          <a:prstGeom prst="rect">
            <a:avLst/>
          </a:prstGeom>
          <a:noFill/>
          <a:ln/>
        </p:spPr>
        <p:txBody>
          <a:bodyPr lIns="57150" tIns="38100" rIns="57150" bIns="38100" anchor="t"/>
          <a:lstStyle/>
          <a:p>
            <a:pPr algn="l" indent="0" marL="0">
              <a:buNone/>
            </a:pPr>
            <a:r>
              <a:rPr lang="en-US" sz="3600" dirty="0" b="1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3.1 Cohort Health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161288"/>
            <a:ext cx="11274552" cy="0"/>
          </a:xfrm>
          <a:prstGeom prst="line">
            <a:avLst/>
          </a:prstGeom>
          <a:noFill/>
          <a:ln w="12700">
            <a:solidFill>
              <a:srgbClr val="2B2B2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6199632"/>
            <a:ext cx="11274552" cy="0"/>
          </a:xfrm>
          <a:prstGeom prst="line">
            <a:avLst/>
          </a:prstGeom>
          <a:noFill/>
          <a:ln w="12700">
            <a:solidFill>
              <a:srgbClr val="2B2B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12064" y="6345936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A8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SMB Bundle Monitoring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0927080" y="6345936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A8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/ 16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713232" y="1353312"/>
            <a:ext cx="10579608" cy="950976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normAutofit/>
          </a:bodyPr>
          <a:lstStyle/>
          <a:p>
            <a:pPr algn="l" indent="-220000" marL="292000">
              <a:buClr>
                <a:srgbClr val="3DDC97"/>
              </a:buClr>
              <a:buSzPct val="80000"/>
              <a:buFont typeface="Arial"/>
              <a:buChar char="■"/>
              <a:spcAft>
                <a:spcPts val="748"/>
              </a:spcAft>
              <a:defRPr>
                <a:solidFill>
                  <a:srgbClr val="3DDC97"/>
                </a:solidFill>
              </a:defRPr>
            </a:pPr>
            <a:r>
              <a:rPr lang="en-US" sz="1180" dirty="0">
                <a:solidFill>
                  <a:srgbClr val="A8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Question: do cohorts stay active paid after trial and later billing cycles?</a:t>
            </a:r>
            <a:endParaRPr lang="en-US" sz="1180" dirty="0"/>
          </a:p>
          <a:p>
            <a:pPr algn="l" indent="-220000" marL="292000">
              <a:buClr>
                <a:srgbClr val="3DDC97"/>
              </a:buClr>
              <a:buSzPct val="80000"/>
              <a:buFont typeface="Arial"/>
              <a:buChar char="■"/>
              <a:spcAft>
                <a:spcPts val="748"/>
              </a:spcAft>
              <a:defRPr>
                <a:solidFill>
                  <a:srgbClr val="3DDC97"/>
                </a:solidFill>
              </a:defRPr>
            </a:pPr>
            <a:r>
              <a:rPr lang="en-US" sz="1180" dirty="0">
                <a:solidFill>
                  <a:srgbClr val="A8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Read: 28-day cohorts by first bundle start; darker cells mean higher active paid rate.</a:t>
            </a:r>
            <a:endParaRPr lang="en-US" sz="1180" dirty="0"/>
          </a:p>
          <a:p>
            <a:pPr algn="l" indent="-220000" marL="292000">
              <a:buClr>
                <a:srgbClr val="3DDC97"/>
              </a:buClr>
              <a:buSzPct val="80000"/>
              <a:buFont typeface="Arial"/>
              <a:buChar char="■"/>
              <a:defRPr>
                <a:solidFill>
                  <a:srgbClr val="3DDC97"/>
                </a:solidFill>
              </a:defRPr>
            </a:pPr>
            <a:r>
              <a:rPr lang="en-US" sz="1180" dirty="0">
                <a:solidFill>
                  <a:srgbClr val="A8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Caveat: blank cells are immature checkpoints, not zero conversion.</a:t>
            </a:r>
            <a:endParaRPr lang="en-US" sz="1180" dirty="0"/>
          </a:p>
        </p:txBody>
      </p:sp>
      <p:pic>
        <p:nvPicPr>
          <p:cNvPr id="14" name="Image 0" descr="/Users/omertal/PycharmProjects/Marketplaats/outputs/019ec668-313f-7a42-b45f-b7e468004534/presentations/q3-cohort-heatmap-png/assets/cohort_heat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2468880"/>
            <a:ext cx="11018520" cy="32461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2102" y="323698"/>
            <a:ext cx="819302" cy="629107"/>
          </a:xfrm>
          <a:prstGeom prst="rect">
            <a:avLst/>
          </a:prstGeom>
          <a:noFill/>
          <a:ln/>
        </p:spPr>
        <p:txBody>
          <a:bodyPr lIns="57150" tIns="38100" rIns="57150" bIns="3810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3DD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426464" y="323698"/>
            <a:ext cx="9784080" cy="714146"/>
          </a:xfrm>
          <a:prstGeom prst="rect">
            <a:avLst/>
          </a:prstGeom>
          <a:noFill/>
          <a:ln/>
        </p:spPr>
        <p:txBody>
          <a:bodyPr lIns="57150" tIns="38100" rIns="57150" bIns="38100" anchor="t"/>
          <a:lstStyle/>
          <a:p>
            <a:pPr algn="l" indent="0" marL="0">
              <a:buNone/>
            </a:pPr>
            <a:r>
              <a:rPr lang="en-US" sz="3600" dirty="0" b="1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3.2 Segment Health Snapshot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161288"/>
            <a:ext cx="11274552" cy="0"/>
          </a:xfrm>
          <a:prstGeom prst="line">
            <a:avLst/>
          </a:prstGeom>
          <a:noFill/>
          <a:ln w="12700">
            <a:solidFill>
              <a:srgbClr val="2B2B2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6199632"/>
            <a:ext cx="11274552" cy="0"/>
          </a:xfrm>
          <a:prstGeom prst="line">
            <a:avLst/>
          </a:prstGeom>
          <a:noFill/>
          <a:ln w="12700">
            <a:solidFill>
              <a:srgbClr val="2B2B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12064" y="6345936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A8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SMB Bundle Monitoring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0927080" y="6345936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A8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16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713232" y="1353312"/>
            <a:ext cx="10332720" cy="950976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normAutofit/>
          </a:bodyPr>
          <a:lstStyle/>
          <a:p>
            <a:pPr algn="l" indent="-220000" marL="292000">
              <a:buClr>
                <a:srgbClr val="3DDC97"/>
              </a:buClr>
              <a:buSzPct val="80000"/>
              <a:buFont typeface="Arial"/>
              <a:buChar char="■"/>
              <a:spcAft>
                <a:spcPts val="748"/>
              </a:spcAft>
              <a:defRPr>
                <a:solidFill>
                  <a:srgbClr val="3DDC97"/>
                </a:solidFill>
              </a:defRPr>
            </a:pPr>
            <a:r>
              <a:rPr lang="en-US" sz="1180" dirty="0">
                <a:solidFill>
                  <a:srgbClr val="A8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Question: which segments look stronger now?</a:t>
            </a:r>
            <a:endParaRPr lang="en-US" sz="1180" dirty="0"/>
          </a:p>
          <a:p>
            <a:pPr algn="l" indent="-220000" marL="292000">
              <a:buClr>
                <a:srgbClr val="3DDC97"/>
              </a:buClr>
              <a:buSzPct val="80000"/>
              <a:buFont typeface="Arial"/>
              <a:buChar char="■"/>
              <a:spcAft>
                <a:spcPts val="748"/>
              </a:spcAft>
              <a:defRPr>
                <a:solidFill>
                  <a:srgbClr val="3DDC97"/>
                </a:solidFill>
              </a:defRPr>
            </a:pPr>
            <a:r>
              <a:rPr lang="en-US" sz="1180" dirty="0">
                <a:solidFill>
                  <a:srgbClr val="A8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Read: current snapshot by available cuts: customer type, first bundle type, and current bundle status.</a:t>
            </a:r>
            <a:endParaRPr lang="en-US" sz="1180" dirty="0"/>
          </a:p>
          <a:p>
            <a:pPr algn="l" indent="-220000" marL="292000">
              <a:buClr>
                <a:srgbClr val="3DDC97"/>
              </a:buClr>
              <a:buSzPct val="80000"/>
              <a:buFont typeface="Arial"/>
              <a:buChar char="■"/>
              <a:defRPr>
                <a:solidFill>
                  <a:srgbClr val="3DDC97"/>
                </a:solidFill>
              </a:defRPr>
            </a:pPr>
            <a:r>
              <a:rPr lang="en-US" sz="1180" dirty="0">
                <a:solidFill>
                  <a:srgbClr val="A8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Caveat: stronger sales steering needs seller-size, spend, and outreach data.</a:t>
            </a:r>
            <a:endParaRPr lang="en-US" sz="1180" dirty="0"/>
          </a:p>
        </p:txBody>
      </p:sp>
      <p:sp>
        <p:nvSpPr>
          <p:cNvPr id="14" name="Shape 12"/>
          <p:cNvSpPr/>
          <p:nvPr/>
        </p:nvSpPr>
        <p:spPr>
          <a:xfrm>
            <a:off x="411480" y="2514600"/>
            <a:ext cx="11384280" cy="347472"/>
          </a:xfrm>
          <a:prstGeom prst="rect">
            <a:avLst/>
          </a:prstGeom>
          <a:solidFill>
            <a:srgbClr val="171717"/>
          </a:solidFill>
          <a:ln w="6350">
            <a:solidFill>
              <a:srgbClr val="2B2B2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" y="2546604"/>
            <a:ext cx="1807312" cy="2834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670" b="1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</a:t>
            </a:r>
            <a:endParaRPr lang="en-US" sz="670" dirty="0"/>
          </a:p>
        </p:txBody>
      </p:sp>
      <p:sp>
        <p:nvSpPr>
          <p:cNvPr id="16" name="Shape 14"/>
          <p:cNvSpPr/>
          <p:nvPr/>
        </p:nvSpPr>
        <p:spPr>
          <a:xfrm>
            <a:off x="2346808" y="2514600"/>
            <a:ext cx="0" cy="2779776"/>
          </a:xfrm>
          <a:prstGeom prst="line">
            <a:avLst/>
          </a:prstGeom>
          <a:noFill/>
          <a:ln w="5715">
            <a:solidFill>
              <a:srgbClr val="2B2B2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410816" y="2546604"/>
            <a:ext cx="1465783" cy="2834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670" b="1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 value</a:t>
            </a:r>
            <a:endParaRPr lang="en-US" sz="670" dirty="0"/>
          </a:p>
        </p:txBody>
      </p:sp>
      <p:sp>
        <p:nvSpPr>
          <p:cNvPr id="18" name="Shape 16"/>
          <p:cNvSpPr/>
          <p:nvPr/>
        </p:nvSpPr>
        <p:spPr>
          <a:xfrm>
            <a:off x="3940607" y="2514600"/>
            <a:ext cx="0" cy="2779776"/>
          </a:xfrm>
          <a:prstGeom prst="line">
            <a:avLst/>
          </a:prstGeom>
          <a:noFill/>
          <a:ln w="5715">
            <a:solidFill>
              <a:srgbClr val="2B2B2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004615" y="2546604"/>
            <a:ext cx="1124255" cy="2834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670" b="1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Registrations</a:t>
            </a:r>
            <a:endParaRPr lang="en-US" sz="670" dirty="0"/>
          </a:p>
        </p:txBody>
      </p:sp>
      <p:sp>
        <p:nvSpPr>
          <p:cNvPr id="20" name="Shape 18"/>
          <p:cNvSpPr/>
          <p:nvPr/>
        </p:nvSpPr>
        <p:spPr>
          <a:xfrm>
            <a:off x="5192878" y="2514600"/>
            <a:ext cx="0" cy="2779776"/>
          </a:xfrm>
          <a:prstGeom prst="line">
            <a:avLst/>
          </a:prstGeom>
          <a:noFill/>
          <a:ln w="5715">
            <a:solidFill>
              <a:srgbClr val="2B2B2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256886" y="2546604"/>
            <a:ext cx="1693469" cy="2834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670" b="1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Day-28 paid conversion</a:t>
            </a:r>
            <a:endParaRPr lang="en-US" sz="670" dirty="0"/>
          </a:p>
        </p:txBody>
      </p:sp>
      <p:sp>
        <p:nvSpPr>
          <p:cNvPr id="22" name="Shape 20"/>
          <p:cNvSpPr/>
          <p:nvPr/>
        </p:nvSpPr>
        <p:spPr>
          <a:xfrm>
            <a:off x="7014362" y="2514600"/>
            <a:ext cx="0" cy="2779776"/>
          </a:xfrm>
          <a:prstGeom prst="line">
            <a:avLst/>
          </a:prstGeom>
          <a:noFill/>
          <a:ln w="5715">
            <a:solidFill>
              <a:srgbClr val="2B2B2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078370" y="2546604"/>
            <a:ext cx="1807312" cy="2834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670" b="1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Plus share of active paid bundles</a:t>
            </a:r>
            <a:endParaRPr lang="en-US" sz="670" dirty="0"/>
          </a:p>
        </p:txBody>
      </p:sp>
      <p:sp>
        <p:nvSpPr>
          <p:cNvPr id="24" name="Shape 22"/>
          <p:cNvSpPr/>
          <p:nvPr/>
        </p:nvSpPr>
        <p:spPr>
          <a:xfrm>
            <a:off x="8949690" y="2514600"/>
            <a:ext cx="0" cy="2779776"/>
          </a:xfrm>
          <a:prstGeom prst="line">
            <a:avLst/>
          </a:prstGeom>
          <a:noFill/>
          <a:ln w="5715">
            <a:solidFill>
              <a:srgbClr val="2B2B2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013698" y="2546604"/>
            <a:ext cx="1238098" cy="2834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670" b="1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paid bundles</a:t>
            </a:r>
            <a:endParaRPr lang="en-US" sz="670" dirty="0"/>
          </a:p>
        </p:txBody>
      </p:sp>
      <p:sp>
        <p:nvSpPr>
          <p:cNvPr id="26" name="Shape 24"/>
          <p:cNvSpPr/>
          <p:nvPr/>
        </p:nvSpPr>
        <p:spPr>
          <a:xfrm>
            <a:off x="10315804" y="2514600"/>
            <a:ext cx="0" cy="2779776"/>
          </a:xfrm>
          <a:prstGeom prst="line">
            <a:avLst/>
          </a:prstGeom>
          <a:noFill/>
          <a:ln w="5715">
            <a:solidFill>
              <a:srgbClr val="2B2B2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379812" y="2546604"/>
            <a:ext cx="1351940" cy="2834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670" b="1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no-bundle share</a:t>
            </a:r>
            <a:endParaRPr lang="en-US" sz="670" dirty="0"/>
          </a:p>
        </p:txBody>
      </p:sp>
      <p:sp>
        <p:nvSpPr>
          <p:cNvPr id="28" name="Shape 26"/>
          <p:cNvSpPr/>
          <p:nvPr/>
        </p:nvSpPr>
        <p:spPr>
          <a:xfrm>
            <a:off x="411480" y="2862072"/>
            <a:ext cx="11384280" cy="347472"/>
          </a:xfrm>
          <a:prstGeom prst="rect">
            <a:avLst/>
          </a:prstGeom>
          <a:solidFill>
            <a:srgbClr val="000000"/>
          </a:solidFill>
          <a:ln w="6350">
            <a:solidFill>
              <a:srgbClr val="2B2B2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5488" y="2894076"/>
            <a:ext cx="1807312" cy="2834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67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bundle status</a:t>
            </a:r>
            <a:endParaRPr lang="en-US" sz="670" dirty="0"/>
          </a:p>
        </p:txBody>
      </p:sp>
      <p:sp>
        <p:nvSpPr>
          <p:cNvPr id="30" name="Shape 28"/>
          <p:cNvSpPr/>
          <p:nvPr/>
        </p:nvSpPr>
        <p:spPr>
          <a:xfrm>
            <a:off x="2346808" y="2514600"/>
            <a:ext cx="0" cy="2779776"/>
          </a:xfrm>
          <a:prstGeom prst="line">
            <a:avLst/>
          </a:prstGeom>
          <a:noFill/>
          <a:ln w="5715">
            <a:solidFill>
              <a:srgbClr val="2B2B2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410816" y="2894076"/>
            <a:ext cx="1465783" cy="2834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67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</a:t>
            </a:r>
            <a:endParaRPr lang="en-US" sz="670" dirty="0"/>
          </a:p>
        </p:txBody>
      </p:sp>
      <p:sp>
        <p:nvSpPr>
          <p:cNvPr id="32" name="Shape 30"/>
          <p:cNvSpPr/>
          <p:nvPr/>
        </p:nvSpPr>
        <p:spPr>
          <a:xfrm>
            <a:off x="3940607" y="2514600"/>
            <a:ext cx="0" cy="2779776"/>
          </a:xfrm>
          <a:prstGeom prst="line">
            <a:avLst/>
          </a:prstGeom>
          <a:noFill/>
          <a:ln w="5715">
            <a:solidFill>
              <a:srgbClr val="2B2B2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004615" y="2894076"/>
            <a:ext cx="1124255" cy="2834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67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1,602</a:t>
            </a:r>
            <a:endParaRPr lang="en-US" sz="670" dirty="0"/>
          </a:p>
        </p:txBody>
      </p:sp>
      <p:sp>
        <p:nvSpPr>
          <p:cNvPr id="34" name="Shape 32"/>
          <p:cNvSpPr/>
          <p:nvPr/>
        </p:nvSpPr>
        <p:spPr>
          <a:xfrm>
            <a:off x="5192878" y="2514600"/>
            <a:ext cx="0" cy="2779776"/>
          </a:xfrm>
          <a:prstGeom prst="line">
            <a:avLst/>
          </a:prstGeom>
          <a:noFill/>
          <a:ln w="5715">
            <a:solidFill>
              <a:srgbClr val="2B2B2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256886" y="2894076"/>
            <a:ext cx="1693469" cy="2834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67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93.4%</a:t>
            </a:r>
            <a:endParaRPr lang="en-US" sz="670" dirty="0"/>
          </a:p>
        </p:txBody>
      </p:sp>
      <p:sp>
        <p:nvSpPr>
          <p:cNvPr id="36" name="Shape 34"/>
          <p:cNvSpPr/>
          <p:nvPr/>
        </p:nvSpPr>
        <p:spPr>
          <a:xfrm>
            <a:off x="7014362" y="2514600"/>
            <a:ext cx="0" cy="2779776"/>
          </a:xfrm>
          <a:prstGeom prst="line">
            <a:avLst/>
          </a:prstGeom>
          <a:noFill/>
          <a:ln w="5715">
            <a:solidFill>
              <a:srgbClr val="2B2B2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078370" y="2894076"/>
            <a:ext cx="1807312" cy="2834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67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0.0%</a:t>
            </a:r>
            <a:endParaRPr lang="en-US" sz="670" dirty="0"/>
          </a:p>
        </p:txBody>
      </p:sp>
      <p:sp>
        <p:nvSpPr>
          <p:cNvPr id="38" name="Shape 36"/>
          <p:cNvSpPr/>
          <p:nvPr/>
        </p:nvSpPr>
        <p:spPr>
          <a:xfrm>
            <a:off x="8949690" y="2514600"/>
            <a:ext cx="0" cy="2779776"/>
          </a:xfrm>
          <a:prstGeom prst="line">
            <a:avLst/>
          </a:prstGeom>
          <a:noFill/>
          <a:ln w="5715">
            <a:solidFill>
              <a:srgbClr val="2B2B2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013698" y="2894076"/>
            <a:ext cx="1238098" cy="2834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67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1,602</a:t>
            </a:r>
            <a:endParaRPr lang="en-US" sz="670" dirty="0"/>
          </a:p>
        </p:txBody>
      </p:sp>
      <p:sp>
        <p:nvSpPr>
          <p:cNvPr id="40" name="Shape 38"/>
          <p:cNvSpPr/>
          <p:nvPr/>
        </p:nvSpPr>
        <p:spPr>
          <a:xfrm>
            <a:off x="10315804" y="2514600"/>
            <a:ext cx="0" cy="2779776"/>
          </a:xfrm>
          <a:prstGeom prst="line">
            <a:avLst/>
          </a:prstGeom>
          <a:noFill/>
          <a:ln w="5715">
            <a:solidFill>
              <a:srgbClr val="2B2B2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0379812" y="2894076"/>
            <a:ext cx="1351940" cy="2834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67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0.0%</a:t>
            </a:r>
            <a:endParaRPr lang="en-US" sz="670" dirty="0"/>
          </a:p>
        </p:txBody>
      </p:sp>
      <p:sp>
        <p:nvSpPr>
          <p:cNvPr id="42" name="Shape 40"/>
          <p:cNvSpPr/>
          <p:nvPr/>
        </p:nvSpPr>
        <p:spPr>
          <a:xfrm>
            <a:off x="411480" y="3209544"/>
            <a:ext cx="11384280" cy="347472"/>
          </a:xfrm>
          <a:prstGeom prst="rect">
            <a:avLst/>
          </a:prstGeom>
          <a:solidFill>
            <a:srgbClr val="000000"/>
          </a:solidFill>
          <a:ln w="6350">
            <a:solidFill>
              <a:srgbClr val="2B2B2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5488" y="3241548"/>
            <a:ext cx="1807312" cy="2834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67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bundle status</a:t>
            </a:r>
            <a:endParaRPr lang="en-US" sz="670" dirty="0"/>
          </a:p>
        </p:txBody>
      </p:sp>
      <p:sp>
        <p:nvSpPr>
          <p:cNvPr id="44" name="Shape 42"/>
          <p:cNvSpPr/>
          <p:nvPr/>
        </p:nvSpPr>
        <p:spPr>
          <a:xfrm>
            <a:off x="2346808" y="2514600"/>
            <a:ext cx="0" cy="2779776"/>
          </a:xfrm>
          <a:prstGeom prst="line">
            <a:avLst/>
          </a:prstGeom>
          <a:noFill/>
          <a:ln w="5715">
            <a:solidFill>
              <a:srgbClr val="2B2B2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410816" y="3241548"/>
            <a:ext cx="1465783" cy="2834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67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bundle</a:t>
            </a:r>
            <a:endParaRPr lang="en-US" sz="670" dirty="0"/>
          </a:p>
        </p:txBody>
      </p:sp>
      <p:sp>
        <p:nvSpPr>
          <p:cNvPr id="46" name="Shape 44"/>
          <p:cNvSpPr/>
          <p:nvPr/>
        </p:nvSpPr>
        <p:spPr>
          <a:xfrm>
            <a:off x="3940607" y="2514600"/>
            <a:ext cx="0" cy="2779776"/>
          </a:xfrm>
          <a:prstGeom prst="line">
            <a:avLst/>
          </a:prstGeom>
          <a:noFill/>
          <a:ln w="5715">
            <a:solidFill>
              <a:srgbClr val="2B2B2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004615" y="3241548"/>
            <a:ext cx="1124255" cy="2834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67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1,367</a:t>
            </a:r>
            <a:endParaRPr lang="en-US" sz="670" dirty="0"/>
          </a:p>
        </p:txBody>
      </p:sp>
      <p:sp>
        <p:nvSpPr>
          <p:cNvPr id="48" name="Shape 46"/>
          <p:cNvSpPr/>
          <p:nvPr/>
        </p:nvSpPr>
        <p:spPr>
          <a:xfrm>
            <a:off x="5192878" y="2514600"/>
            <a:ext cx="0" cy="2779776"/>
          </a:xfrm>
          <a:prstGeom prst="line">
            <a:avLst/>
          </a:prstGeom>
          <a:noFill/>
          <a:ln w="5715">
            <a:solidFill>
              <a:srgbClr val="2B2B2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256886" y="3241548"/>
            <a:ext cx="1693469" cy="2834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67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83.3%</a:t>
            </a:r>
            <a:endParaRPr lang="en-US" sz="670" dirty="0"/>
          </a:p>
        </p:txBody>
      </p:sp>
      <p:sp>
        <p:nvSpPr>
          <p:cNvPr id="50" name="Shape 48"/>
          <p:cNvSpPr/>
          <p:nvPr/>
        </p:nvSpPr>
        <p:spPr>
          <a:xfrm>
            <a:off x="7014362" y="2514600"/>
            <a:ext cx="0" cy="2779776"/>
          </a:xfrm>
          <a:prstGeom prst="line">
            <a:avLst/>
          </a:prstGeom>
          <a:noFill/>
          <a:ln w="5715">
            <a:solidFill>
              <a:srgbClr val="2B2B2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078370" y="3241548"/>
            <a:ext cx="1807312" cy="2834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endParaRPr lang="en-US" sz="670" dirty="0"/>
          </a:p>
        </p:txBody>
      </p:sp>
      <p:sp>
        <p:nvSpPr>
          <p:cNvPr id="52" name="Shape 50"/>
          <p:cNvSpPr/>
          <p:nvPr/>
        </p:nvSpPr>
        <p:spPr>
          <a:xfrm>
            <a:off x="8949690" y="2514600"/>
            <a:ext cx="0" cy="2779776"/>
          </a:xfrm>
          <a:prstGeom prst="line">
            <a:avLst/>
          </a:prstGeom>
          <a:noFill/>
          <a:ln w="5715">
            <a:solidFill>
              <a:srgbClr val="2B2B2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013698" y="3241548"/>
            <a:ext cx="1238098" cy="2834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67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670" dirty="0"/>
          </a:p>
        </p:txBody>
      </p:sp>
      <p:sp>
        <p:nvSpPr>
          <p:cNvPr id="54" name="Shape 52"/>
          <p:cNvSpPr/>
          <p:nvPr/>
        </p:nvSpPr>
        <p:spPr>
          <a:xfrm>
            <a:off x="10315804" y="2514600"/>
            <a:ext cx="0" cy="2779776"/>
          </a:xfrm>
          <a:prstGeom prst="line">
            <a:avLst/>
          </a:prstGeom>
          <a:noFill/>
          <a:ln w="5715">
            <a:solidFill>
              <a:srgbClr val="2B2B2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0379812" y="3241548"/>
            <a:ext cx="1351940" cy="2834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67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100.0%</a:t>
            </a:r>
            <a:endParaRPr lang="en-US" sz="670" dirty="0"/>
          </a:p>
        </p:txBody>
      </p:sp>
      <p:sp>
        <p:nvSpPr>
          <p:cNvPr id="56" name="Shape 54"/>
          <p:cNvSpPr/>
          <p:nvPr/>
        </p:nvSpPr>
        <p:spPr>
          <a:xfrm>
            <a:off x="411480" y="3557016"/>
            <a:ext cx="11384280" cy="347472"/>
          </a:xfrm>
          <a:prstGeom prst="rect">
            <a:avLst/>
          </a:prstGeom>
          <a:solidFill>
            <a:srgbClr val="000000"/>
          </a:solidFill>
          <a:ln w="6350">
            <a:solidFill>
              <a:srgbClr val="2B2B2B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75488" y="3589020"/>
            <a:ext cx="1807312" cy="2834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67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bundle status</a:t>
            </a:r>
            <a:endParaRPr lang="en-US" sz="670" dirty="0"/>
          </a:p>
        </p:txBody>
      </p:sp>
      <p:sp>
        <p:nvSpPr>
          <p:cNvPr id="58" name="Shape 56"/>
          <p:cNvSpPr/>
          <p:nvPr/>
        </p:nvSpPr>
        <p:spPr>
          <a:xfrm>
            <a:off x="2346808" y="2514600"/>
            <a:ext cx="0" cy="2779776"/>
          </a:xfrm>
          <a:prstGeom prst="line">
            <a:avLst/>
          </a:prstGeom>
          <a:noFill/>
          <a:ln w="5715">
            <a:solidFill>
              <a:srgbClr val="2B2B2B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410816" y="3589020"/>
            <a:ext cx="1465783" cy="2834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67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Plus</a:t>
            </a:r>
            <a:endParaRPr lang="en-US" sz="670" dirty="0"/>
          </a:p>
        </p:txBody>
      </p:sp>
      <p:sp>
        <p:nvSpPr>
          <p:cNvPr id="60" name="Shape 58"/>
          <p:cNvSpPr/>
          <p:nvPr/>
        </p:nvSpPr>
        <p:spPr>
          <a:xfrm>
            <a:off x="3940607" y="2514600"/>
            <a:ext cx="0" cy="2779776"/>
          </a:xfrm>
          <a:prstGeom prst="line">
            <a:avLst/>
          </a:prstGeom>
          <a:noFill/>
          <a:ln w="5715">
            <a:solidFill>
              <a:srgbClr val="2B2B2B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004615" y="3589020"/>
            <a:ext cx="1124255" cy="2834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67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1,107</a:t>
            </a:r>
            <a:endParaRPr lang="en-US" sz="670" dirty="0"/>
          </a:p>
        </p:txBody>
      </p:sp>
      <p:sp>
        <p:nvSpPr>
          <p:cNvPr id="62" name="Shape 60"/>
          <p:cNvSpPr/>
          <p:nvPr/>
        </p:nvSpPr>
        <p:spPr>
          <a:xfrm>
            <a:off x="5192878" y="2514600"/>
            <a:ext cx="0" cy="2779776"/>
          </a:xfrm>
          <a:prstGeom prst="line">
            <a:avLst/>
          </a:prstGeom>
          <a:noFill/>
          <a:ln w="5715">
            <a:solidFill>
              <a:srgbClr val="2B2B2B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256886" y="3589020"/>
            <a:ext cx="1693469" cy="2834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67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90.2%</a:t>
            </a:r>
            <a:endParaRPr lang="en-US" sz="670" dirty="0"/>
          </a:p>
        </p:txBody>
      </p:sp>
      <p:sp>
        <p:nvSpPr>
          <p:cNvPr id="64" name="Shape 62"/>
          <p:cNvSpPr/>
          <p:nvPr/>
        </p:nvSpPr>
        <p:spPr>
          <a:xfrm>
            <a:off x="7014362" y="2514600"/>
            <a:ext cx="0" cy="2779776"/>
          </a:xfrm>
          <a:prstGeom prst="line">
            <a:avLst/>
          </a:prstGeom>
          <a:noFill/>
          <a:ln w="5715">
            <a:solidFill>
              <a:srgbClr val="2B2B2B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078370" y="3589020"/>
            <a:ext cx="1807312" cy="2834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67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100.0%</a:t>
            </a:r>
            <a:endParaRPr lang="en-US" sz="670" dirty="0"/>
          </a:p>
        </p:txBody>
      </p:sp>
      <p:sp>
        <p:nvSpPr>
          <p:cNvPr id="66" name="Shape 64"/>
          <p:cNvSpPr/>
          <p:nvPr/>
        </p:nvSpPr>
        <p:spPr>
          <a:xfrm>
            <a:off x="8949690" y="2514600"/>
            <a:ext cx="0" cy="2779776"/>
          </a:xfrm>
          <a:prstGeom prst="line">
            <a:avLst/>
          </a:prstGeom>
          <a:noFill/>
          <a:ln w="5715">
            <a:solidFill>
              <a:srgbClr val="2B2B2B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9013698" y="3589020"/>
            <a:ext cx="1238098" cy="2834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67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1,107</a:t>
            </a:r>
            <a:endParaRPr lang="en-US" sz="670" dirty="0"/>
          </a:p>
        </p:txBody>
      </p:sp>
      <p:sp>
        <p:nvSpPr>
          <p:cNvPr id="68" name="Shape 66"/>
          <p:cNvSpPr/>
          <p:nvPr/>
        </p:nvSpPr>
        <p:spPr>
          <a:xfrm>
            <a:off x="10315804" y="2514600"/>
            <a:ext cx="0" cy="2779776"/>
          </a:xfrm>
          <a:prstGeom prst="line">
            <a:avLst/>
          </a:prstGeom>
          <a:noFill/>
          <a:ln w="5715">
            <a:solidFill>
              <a:srgbClr val="2B2B2B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10379812" y="3589020"/>
            <a:ext cx="1351940" cy="2834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67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0.0%</a:t>
            </a:r>
            <a:endParaRPr lang="en-US" sz="670" dirty="0"/>
          </a:p>
        </p:txBody>
      </p:sp>
      <p:sp>
        <p:nvSpPr>
          <p:cNvPr id="70" name="Shape 68"/>
          <p:cNvSpPr/>
          <p:nvPr/>
        </p:nvSpPr>
        <p:spPr>
          <a:xfrm>
            <a:off x="411480" y="3904488"/>
            <a:ext cx="11384280" cy="347472"/>
          </a:xfrm>
          <a:prstGeom prst="rect">
            <a:avLst/>
          </a:prstGeom>
          <a:solidFill>
            <a:srgbClr val="000000"/>
          </a:solidFill>
          <a:ln w="6350">
            <a:solidFill>
              <a:srgbClr val="2B2B2B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75488" y="3936492"/>
            <a:ext cx="1807312" cy="2834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67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type</a:t>
            </a:r>
            <a:endParaRPr lang="en-US" sz="670" dirty="0"/>
          </a:p>
        </p:txBody>
      </p:sp>
      <p:sp>
        <p:nvSpPr>
          <p:cNvPr id="72" name="Shape 70"/>
          <p:cNvSpPr/>
          <p:nvPr/>
        </p:nvSpPr>
        <p:spPr>
          <a:xfrm>
            <a:off x="2346808" y="2514600"/>
            <a:ext cx="0" cy="2779776"/>
          </a:xfrm>
          <a:prstGeom prst="line">
            <a:avLst/>
          </a:prstGeom>
          <a:noFill/>
          <a:ln w="5715">
            <a:solidFill>
              <a:srgbClr val="2B2B2B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2410816" y="3936492"/>
            <a:ext cx="1465783" cy="2834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67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SYI</a:t>
            </a:r>
            <a:endParaRPr lang="en-US" sz="670" dirty="0"/>
          </a:p>
        </p:txBody>
      </p:sp>
      <p:sp>
        <p:nvSpPr>
          <p:cNvPr id="74" name="Shape 72"/>
          <p:cNvSpPr/>
          <p:nvPr/>
        </p:nvSpPr>
        <p:spPr>
          <a:xfrm>
            <a:off x="3940607" y="2514600"/>
            <a:ext cx="0" cy="2779776"/>
          </a:xfrm>
          <a:prstGeom prst="line">
            <a:avLst/>
          </a:prstGeom>
          <a:noFill/>
          <a:ln w="5715">
            <a:solidFill>
              <a:srgbClr val="2B2B2B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4004615" y="3936492"/>
            <a:ext cx="1124255" cy="2834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67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3,137</a:t>
            </a:r>
            <a:endParaRPr lang="en-US" sz="670" dirty="0"/>
          </a:p>
        </p:txBody>
      </p:sp>
      <p:sp>
        <p:nvSpPr>
          <p:cNvPr id="76" name="Shape 74"/>
          <p:cNvSpPr/>
          <p:nvPr/>
        </p:nvSpPr>
        <p:spPr>
          <a:xfrm>
            <a:off x="5192878" y="2514600"/>
            <a:ext cx="0" cy="2779776"/>
          </a:xfrm>
          <a:prstGeom prst="line">
            <a:avLst/>
          </a:prstGeom>
          <a:noFill/>
          <a:ln w="5715">
            <a:solidFill>
              <a:srgbClr val="2B2B2B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5256886" y="3936492"/>
            <a:ext cx="1693469" cy="2834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67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89.1%</a:t>
            </a:r>
            <a:endParaRPr lang="en-US" sz="670" dirty="0"/>
          </a:p>
        </p:txBody>
      </p:sp>
      <p:sp>
        <p:nvSpPr>
          <p:cNvPr id="78" name="Shape 76"/>
          <p:cNvSpPr/>
          <p:nvPr/>
        </p:nvSpPr>
        <p:spPr>
          <a:xfrm>
            <a:off x="7014362" y="2514600"/>
            <a:ext cx="0" cy="2779776"/>
          </a:xfrm>
          <a:prstGeom prst="line">
            <a:avLst/>
          </a:prstGeom>
          <a:noFill/>
          <a:ln w="5715">
            <a:solidFill>
              <a:srgbClr val="2B2B2B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7078370" y="3936492"/>
            <a:ext cx="1807312" cy="2834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67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40.9%</a:t>
            </a:r>
            <a:endParaRPr lang="en-US" sz="670" dirty="0"/>
          </a:p>
        </p:txBody>
      </p:sp>
      <p:sp>
        <p:nvSpPr>
          <p:cNvPr id="80" name="Shape 78"/>
          <p:cNvSpPr/>
          <p:nvPr/>
        </p:nvSpPr>
        <p:spPr>
          <a:xfrm>
            <a:off x="8949690" y="2514600"/>
            <a:ext cx="0" cy="2779776"/>
          </a:xfrm>
          <a:prstGeom prst="line">
            <a:avLst/>
          </a:prstGeom>
          <a:noFill/>
          <a:ln w="5715">
            <a:solidFill>
              <a:srgbClr val="2B2B2B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9013698" y="3936492"/>
            <a:ext cx="1238098" cy="2834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67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2,093</a:t>
            </a:r>
            <a:endParaRPr lang="en-US" sz="670" dirty="0"/>
          </a:p>
        </p:txBody>
      </p:sp>
      <p:sp>
        <p:nvSpPr>
          <p:cNvPr id="82" name="Shape 80"/>
          <p:cNvSpPr/>
          <p:nvPr/>
        </p:nvSpPr>
        <p:spPr>
          <a:xfrm>
            <a:off x="10315804" y="2514600"/>
            <a:ext cx="0" cy="2779776"/>
          </a:xfrm>
          <a:prstGeom prst="line">
            <a:avLst/>
          </a:prstGeom>
          <a:noFill/>
          <a:ln w="5715">
            <a:solidFill>
              <a:srgbClr val="2B2B2B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10379812" y="3936492"/>
            <a:ext cx="1351940" cy="2834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67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33.3%</a:t>
            </a:r>
            <a:endParaRPr lang="en-US" sz="670" dirty="0"/>
          </a:p>
        </p:txBody>
      </p:sp>
      <p:sp>
        <p:nvSpPr>
          <p:cNvPr id="84" name="Shape 82"/>
          <p:cNvSpPr/>
          <p:nvPr/>
        </p:nvSpPr>
        <p:spPr>
          <a:xfrm>
            <a:off x="411480" y="4251960"/>
            <a:ext cx="11384280" cy="347472"/>
          </a:xfrm>
          <a:prstGeom prst="rect">
            <a:avLst/>
          </a:prstGeom>
          <a:solidFill>
            <a:srgbClr val="000000"/>
          </a:solidFill>
          <a:ln w="6350">
            <a:solidFill>
              <a:srgbClr val="2B2B2B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475488" y="4283964"/>
            <a:ext cx="1807312" cy="2834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67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type</a:t>
            </a:r>
            <a:endParaRPr lang="en-US" sz="670" dirty="0"/>
          </a:p>
        </p:txBody>
      </p:sp>
      <p:sp>
        <p:nvSpPr>
          <p:cNvPr id="86" name="Shape 84"/>
          <p:cNvSpPr/>
          <p:nvPr/>
        </p:nvSpPr>
        <p:spPr>
          <a:xfrm>
            <a:off x="2346808" y="2514600"/>
            <a:ext cx="0" cy="2779776"/>
          </a:xfrm>
          <a:prstGeom prst="line">
            <a:avLst/>
          </a:prstGeom>
          <a:noFill/>
          <a:ln w="5715">
            <a:solidFill>
              <a:srgbClr val="2B2B2B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2410816" y="4283964"/>
            <a:ext cx="1465783" cy="2834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67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</a:t>
            </a:r>
            <a:endParaRPr lang="en-US" sz="670" dirty="0"/>
          </a:p>
        </p:txBody>
      </p:sp>
      <p:sp>
        <p:nvSpPr>
          <p:cNvPr id="88" name="Shape 86"/>
          <p:cNvSpPr/>
          <p:nvPr/>
        </p:nvSpPr>
        <p:spPr>
          <a:xfrm>
            <a:off x="3940607" y="2514600"/>
            <a:ext cx="0" cy="2779776"/>
          </a:xfrm>
          <a:prstGeom prst="line">
            <a:avLst/>
          </a:prstGeom>
          <a:noFill/>
          <a:ln w="5715">
            <a:solidFill>
              <a:srgbClr val="2B2B2B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4004615" y="4283964"/>
            <a:ext cx="1124255" cy="2834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67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939</a:t>
            </a:r>
            <a:endParaRPr lang="en-US" sz="670" dirty="0"/>
          </a:p>
        </p:txBody>
      </p:sp>
      <p:sp>
        <p:nvSpPr>
          <p:cNvPr id="90" name="Shape 88"/>
          <p:cNvSpPr/>
          <p:nvPr/>
        </p:nvSpPr>
        <p:spPr>
          <a:xfrm>
            <a:off x="5192878" y="2514600"/>
            <a:ext cx="0" cy="2779776"/>
          </a:xfrm>
          <a:prstGeom prst="line">
            <a:avLst/>
          </a:prstGeom>
          <a:noFill/>
          <a:ln w="5715">
            <a:solidFill>
              <a:srgbClr val="2B2B2B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5256886" y="4283964"/>
            <a:ext cx="1693469" cy="2834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67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89.5%</a:t>
            </a:r>
            <a:endParaRPr lang="en-US" sz="670" dirty="0"/>
          </a:p>
        </p:txBody>
      </p:sp>
      <p:sp>
        <p:nvSpPr>
          <p:cNvPr id="92" name="Shape 90"/>
          <p:cNvSpPr/>
          <p:nvPr/>
        </p:nvSpPr>
        <p:spPr>
          <a:xfrm>
            <a:off x="7014362" y="2514600"/>
            <a:ext cx="0" cy="2779776"/>
          </a:xfrm>
          <a:prstGeom prst="line">
            <a:avLst/>
          </a:prstGeom>
          <a:noFill/>
          <a:ln w="5715">
            <a:solidFill>
              <a:srgbClr val="2B2B2B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7078370" y="4283964"/>
            <a:ext cx="1807312" cy="2834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67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40.7%</a:t>
            </a:r>
            <a:endParaRPr lang="en-US" sz="670" dirty="0"/>
          </a:p>
        </p:txBody>
      </p:sp>
      <p:sp>
        <p:nvSpPr>
          <p:cNvPr id="94" name="Shape 92"/>
          <p:cNvSpPr/>
          <p:nvPr/>
        </p:nvSpPr>
        <p:spPr>
          <a:xfrm>
            <a:off x="8949690" y="2514600"/>
            <a:ext cx="0" cy="2779776"/>
          </a:xfrm>
          <a:prstGeom prst="line">
            <a:avLst/>
          </a:prstGeom>
          <a:noFill/>
          <a:ln w="5715">
            <a:solidFill>
              <a:srgbClr val="2B2B2B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9013698" y="4283964"/>
            <a:ext cx="1238098" cy="2834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67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616</a:t>
            </a:r>
            <a:endParaRPr lang="en-US" sz="670" dirty="0"/>
          </a:p>
        </p:txBody>
      </p:sp>
      <p:sp>
        <p:nvSpPr>
          <p:cNvPr id="96" name="Shape 94"/>
          <p:cNvSpPr/>
          <p:nvPr/>
        </p:nvSpPr>
        <p:spPr>
          <a:xfrm>
            <a:off x="10315804" y="2514600"/>
            <a:ext cx="0" cy="2779776"/>
          </a:xfrm>
          <a:prstGeom prst="line">
            <a:avLst/>
          </a:prstGeom>
          <a:noFill/>
          <a:ln w="5715">
            <a:solidFill>
              <a:srgbClr val="2B2B2B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10379812" y="4283964"/>
            <a:ext cx="1351940" cy="2834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67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34.4%</a:t>
            </a:r>
            <a:endParaRPr lang="en-US" sz="670" dirty="0"/>
          </a:p>
        </p:txBody>
      </p:sp>
      <p:sp>
        <p:nvSpPr>
          <p:cNvPr id="98" name="Shape 96"/>
          <p:cNvSpPr/>
          <p:nvPr/>
        </p:nvSpPr>
        <p:spPr>
          <a:xfrm>
            <a:off x="411480" y="4599432"/>
            <a:ext cx="11384280" cy="347472"/>
          </a:xfrm>
          <a:prstGeom prst="rect">
            <a:avLst/>
          </a:prstGeom>
          <a:solidFill>
            <a:srgbClr val="000000"/>
          </a:solidFill>
          <a:ln w="6350">
            <a:solidFill>
              <a:srgbClr val="2B2B2B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475488" y="4631436"/>
            <a:ext cx="1807312" cy="2834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67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bundle type</a:t>
            </a:r>
            <a:endParaRPr lang="en-US" sz="670" dirty="0"/>
          </a:p>
        </p:txBody>
      </p:sp>
      <p:sp>
        <p:nvSpPr>
          <p:cNvPr id="100" name="Shape 98"/>
          <p:cNvSpPr/>
          <p:nvPr/>
        </p:nvSpPr>
        <p:spPr>
          <a:xfrm>
            <a:off x="2346808" y="2514600"/>
            <a:ext cx="0" cy="2779776"/>
          </a:xfrm>
          <a:prstGeom prst="line">
            <a:avLst/>
          </a:prstGeom>
          <a:noFill/>
          <a:ln w="5715">
            <a:solidFill>
              <a:srgbClr val="2B2B2B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2410816" y="4631436"/>
            <a:ext cx="1465783" cy="2834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67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Basic-first</a:t>
            </a:r>
            <a:endParaRPr lang="en-US" sz="670" dirty="0"/>
          </a:p>
        </p:txBody>
      </p:sp>
      <p:sp>
        <p:nvSpPr>
          <p:cNvPr id="102" name="Shape 100"/>
          <p:cNvSpPr/>
          <p:nvPr/>
        </p:nvSpPr>
        <p:spPr>
          <a:xfrm>
            <a:off x="3940607" y="2514600"/>
            <a:ext cx="0" cy="2779776"/>
          </a:xfrm>
          <a:prstGeom prst="line">
            <a:avLst/>
          </a:prstGeom>
          <a:noFill/>
          <a:ln w="5715">
            <a:solidFill>
              <a:srgbClr val="2B2B2B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4004615" y="4631436"/>
            <a:ext cx="1124255" cy="2834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67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2,791</a:t>
            </a:r>
            <a:endParaRPr lang="en-US" sz="670" dirty="0"/>
          </a:p>
        </p:txBody>
      </p:sp>
      <p:sp>
        <p:nvSpPr>
          <p:cNvPr id="104" name="Shape 102"/>
          <p:cNvSpPr/>
          <p:nvPr/>
        </p:nvSpPr>
        <p:spPr>
          <a:xfrm>
            <a:off x="5192878" y="2514600"/>
            <a:ext cx="0" cy="2779776"/>
          </a:xfrm>
          <a:prstGeom prst="line">
            <a:avLst/>
          </a:prstGeom>
          <a:noFill/>
          <a:ln w="5715">
            <a:solidFill>
              <a:srgbClr val="2B2B2B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5256886" y="4631436"/>
            <a:ext cx="1693469" cy="2834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67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89.4%</a:t>
            </a:r>
            <a:endParaRPr lang="en-US" sz="670" dirty="0"/>
          </a:p>
        </p:txBody>
      </p:sp>
      <p:sp>
        <p:nvSpPr>
          <p:cNvPr id="106" name="Shape 104"/>
          <p:cNvSpPr/>
          <p:nvPr/>
        </p:nvSpPr>
        <p:spPr>
          <a:xfrm>
            <a:off x="7014362" y="2514600"/>
            <a:ext cx="0" cy="2779776"/>
          </a:xfrm>
          <a:prstGeom prst="line">
            <a:avLst/>
          </a:prstGeom>
          <a:noFill/>
          <a:ln w="5715">
            <a:solidFill>
              <a:srgbClr val="2B2B2B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7078370" y="4631436"/>
            <a:ext cx="1807312" cy="2834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67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25.5%</a:t>
            </a:r>
            <a:endParaRPr lang="en-US" sz="670" dirty="0"/>
          </a:p>
        </p:txBody>
      </p:sp>
      <p:sp>
        <p:nvSpPr>
          <p:cNvPr id="108" name="Shape 106"/>
          <p:cNvSpPr/>
          <p:nvPr/>
        </p:nvSpPr>
        <p:spPr>
          <a:xfrm>
            <a:off x="8949690" y="2514600"/>
            <a:ext cx="0" cy="2779776"/>
          </a:xfrm>
          <a:prstGeom prst="line">
            <a:avLst/>
          </a:prstGeom>
          <a:noFill/>
          <a:ln w="5715">
            <a:solidFill>
              <a:srgbClr val="2B2B2B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9013698" y="4631436"/>
            <a:ext cx="1238098" cy="2834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67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1,845</a:t>
            </a:r>
            <a:endParaRPr lang="en-US" sz="670" dirty="0"/>
          </a:p>
        </p:txBody>
      </p:sp>
      <p:sp>
        <p:nvSpPr>
          <p:cNvPr id="110" name="Shape 108"/>
          <p:cNvSpPr/>
          <p:nvPr/>
        </p:nvSpPr>
        <p:spPr>
          <a:xfrm>
            <a:off x="10315804" y="2514600"/>
            <a:ext cx="0" cy="2779776"/>
          </a:xfrm>
          <a:prstGeom prst="line">
            <a:avLst/>
          </a:prstGeom>
          <a:noFill/>
          <a:ln w="5715">
            <a:solidFill>
              <a:srgbClr val="2B2B2B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10379812" y="4631436"/>
            <a:ext cx="1351940" cy="2834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67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33.9%</a:t>
            </a:r>
            <a:endParaRPr lang="en-US" sz="670" dirty="0"/>
          </a:p>
        </p:txBody>
      </p:sp>
      <p:sp>
        <p:nvSpPr>
          <p:cNvPr id="112" name="Shape 110"/>
          <p:cNvSpPr/>
          <p:nvPr/>
        </p:nvSpPr>
        <p:spPr>
          <a:xfrm>
            <a:off x="411480" y="4946904"/>
            <a:ext cx="11384280" cy="347472"/>
          </a:xfrm>
          <a:prstGeom prst="rect">
            <a:avLst/>
          </a:prstGeom>
          <a:solidFill>
            <a:srgbClr val="000000"/>
          </a:solidFill>
          <a:ln w="6350">
            <a:solidFill>
              <a:srgbClr val="2B2B2B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475488" y="4978908"/>
            <a:ext cx="1807312" cy="2834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67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bundle type</a:t>
            </a:r>
            <a:endParaRPr lang="en-US" sz="670" dirty="0"/>
          </a:p>
        </p:txBody>
      </p:sp>
      <p:sp>
        <p:nvSpPr>
          <p:cNvPr id="114" name="Shape 112"/>
          <p:cNvSpPr/>
          <p:nvPr/>
        </p:nvSpPr>
        <p:spPr>
          <a:xfrm>
            <a:off x="2346808" y="2514600"/>
            <a:ext cx="0" cy="2779776"/>
          </a:xfrm>
          <a:prstGeom prst="line">
            <a:avLst/>
          </a:prstGeom>
          <a:noFill/>
          <a:ln w="5715">
            <a:solidFill>
              <a:srgbClr val="2B2B2B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2410816" y="4978908"/>
            <a:ext cx="1465783" cy="2834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67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Plus-first</a:t>
            </a:r>
            <a:endParaRPr lang="en-US" sz="670" dirty="0"/>
          </a:p>
        </p:txBody>
      </p:sp>
      <p:sp>
        <p:nvSpPr>
          <p:cNvPr id="116" name="Shape 114"/>
          <p:cNvSpPr/>
          <p:nvPr/>
        </p:nvSpPr>
        <p:spPr>
          <a:xfrm>
            <a:off x="3940607" y="2514600"/>
            <a:ext cx="0" cy="2779776"/>
          </a:xfrm>
          <a:prstGeom prst="line">
            <a:avLst/>
          </a:prstGeom>
          <a:noFill/>
          <a:ln w="5715">
            <a:solidFill>
              <a:srgbClr val="2B2B2B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4004615" y="4978908"/>
            <a:ext cx="1124255" cy="2834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67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1,285</a:t>
            </a:r>
            <a:endParaRPr lang="en-US" sz="670" dirty="0"/>
          </a:p>
        </p:txBody>
      </p:sp>
      <p:sp>
        <p:nvSpPr>
          <p:cNvPr id="118" name="Shape 116"/>
          <p:cNvSpPr/>
          <p:nvPr/>
        </p:nvSpPr>
        <p:spPr>
          <a:xfrm>
            <a:off x="5192878" y="2514600"/>
            <a:ext cx="0" cy="2779776"/>
          </a:xfrm>
          <a:prstGeom prst="line">
            <a:avLst/>
          </a:prstGeom>
          <a:noFill/>
          <a:ln w="5715">
            <a:solidFill>
              <a:srgbClr val="2B2B2B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5256886" y="4978908"/>
            <a:ext cx="1693469" cy="2834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67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88.7%</a:t>
            </a:r>
            <a:endParaRPr lang="en-US" sz="670" dirty="0"/>
          </a:p>
        </p:txBody>
      </p:sp>
      <p:sp>
        <p:nvSpPr>
          <p:cNvPr id="120" name="Shape 118"/>
          <p:cNvSpPr/>
          <p:nvPr/>
        </p:nvSpPr>
        <p:spPr>
          <a:xfrm>
            <a:off x="7014362" y="2514600"/>
            <a:ext cx="0" cy="2779776"/>
          </a:xfrm>
          <a:prstGeom prst="line">
            <a:avLst/>
          </a:prstGeom>
          <a:noFill/>
          <a:ln w="5715">
            <a:solidFill>
              <a:srgbClr val="2B2B2B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7078370" y="4978908"/>
            <a:ext cx="1807312" cy="2834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67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73.6%</a:t>
            </a:r>
            <a:endParaRPr lang="en-US" sz="670" dirty="0"/>
          </a:p>
        </p:txBody>
      </p:sp>
      <p:sp>
        <p:nvSpPr>
          <p:cNvPr id="122" name="Shape 120"/>
          <p:cNvSpPr/>
          <p:nvPr/>
        </p:nvSpPr>
        <p:spPr>
          <a:xfrm>
            <a:off x="8949690" y="2514600"/>
            <a:ext cx="0" cy="2779776"/>
          </a:xfrm>
          <a:prstGeom prst="line">
            <a:avLst/>
          </a:prstGeom>
          <a:noFill/>
          <a:ln w="5715">
            <a:solidFill>
              <a:srgbClr val="2B2B2B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9013698" y="4978908"/>
            <a:ext cx="1238098" cy="2834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67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864</a:t>
            </a:r>
            <a:endParaRPr lang="en-US" sz="670" dirty="0"/>
          </a:p>
        </p:txBody>
      </p:sp>
      <p:sp>
        <p:nvSpPr>
          <p:cNvPr id="124" name="Shape 122"/>
          <p:cNvSpPr/>
          <p:nvPr/>
        </p:nvSpPr>
        <p:spPr>
          <a:xfrm>
            <a:off x="10315804" y="2514600"/>
            <a:ext cx="0" cy="2779776"/>
          </a:xfrm>
          <a:prstGeom prst="line">
            <a:avLst/>
          </a:prstGeom>
          <a:noFill/>
          <a:ln w="5715">
            <a:solidFill>
              <a:srgbClr val="2B2B2B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10380269" y="4978908"/>
            <a:ext cx="1351483" cy="283464"/>
          </a:xfrm>
          <a:prstGeom prst="rect">
            <a:avLst/>
          </a:prstGeom>
          <a:noFill/>
          <a:ln/>
        </p:spPr>
        <p:txBody>
          <a:bodyPr lIns="0" tIns="0" rIns="0" bIns="0" anchor="t">
            <a:normAutofit/>
          </a:bodyPr>
          <a:lstStyle/>
          <a:p>
            <a:pPr algn="l" indent="0" marL="0">
              <a:buNone/>
            </a:pPr>
            <a:r>
              <a:rPr lang="en-US" sz="670" dirty="0" b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32.8%</a:t>
            </a:r>
            <a:endParaRPr lang="en-US" sz="67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>
  <p:cSld name="Slide 1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2102" y="323698"/>
            <a:ext cx="819302" cy="629107"/>
          </a:xfrm>
          <a:prstGeom prst="rect">
            <a:avLst/>
          </a:prstGeom>
          <a:noFill/>
          <a:ln/>
        </p:spPr>
        <p:txBody>
          <a:bodyPr lIns="57150" tIns="38100" rIns="57150" bIns="3810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3DD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426464" y="323698"/>
            <a:ext cx="9784080" cy="714146"/>
          </a:xfrm>
          <a:prstGeom prst="rect">
            <a:avLst/>
          </a:prstGeom>
          <a:noFill/>
          <a:ln/>
        </p:spPr>
        <p:txBody>
          <a:bodyPr lIns="57150" tIns="38100" rIns="57150" bIns="38100" anchor="t"/>
          <a:lstStyle/>
          <a:p>
            <a:pPr algn="l" indent="0" marL="0">
              <a:buNone/>
            </a:pPr>
            <a:r>
              <a:rPr lang="en-US" sz="3600" dirty="0" b="1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3.2 Segment Health Snapshot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161288"/>
            <a:ext cx="11274552" cy="0"/>
          </a:xfrm>
          <a:prstGeom prst="line">
            <a:avLst/>
          </a:prstGeom>
          <a:noFill/>
          <a:ln w="12700">
            <a:solidFill>
              <a:srgbClr val="2B2B2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6199632"/>
            <a:ext cx="11274552" cy="0"/>
          </a:xfrm>
          <a:prstGeom prst="line">
            <a:avLst/>
          </a:prstGeom>
          <a:noFill/>
          <a:ln w="12700">
            <a:solidFill>
              <a:srgbClr val="2B2B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12064" y="6345936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A8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SMB Bundle Monitoring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0927080" y="6345936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A8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16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685800" y="1572768"/>
            <a:ext cx="10744200" cy="475488"/>
          </a:xfrm>
          <a:prstGeom prst="rect">
            <a:avLst/>
          </a:prstGeom>
          <a:solidFill>
            <a:srgbClr val="171717"/>
          </a:solidFill>
          <a:ln w="6350">
            <a:solidFill>
              <a:srgbClr val="2B2B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" y="1604772"/>
            <a:ext cx="2880360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Potential merge</a:t>
            </a:r>
            <a:endParaRPr lang="en-US" sz="820" dirty="0"/>
          </a:p>
        </p:txBody>
      </p:sp>
      <p:sp>
        <p:nvSpPr>
          <p:cNvPr id="10" name="Shape 8"/>
          <p:cNvSpPr/>
          <p:nvPr/>
        </p:nvSpPr>
        <p:spPr>
          <a:xfrm>
            <a:off x="3694176" y="1572768"/>
            <a:ext cx="0" cy="3803904"/>
          </a:xfrm>
          <a:prstGeom prst="line">
            <a:avLst/>
          </a:prstGeom>
          <a:noFill/>
          <a:ln w="5715">
            <a:solidFill>
              <a:srgbClr val="2B2B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58184" y="1604772"/>
            <a:ext cx="7607808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helps</a:t>
            </a:r>
            <a:endParaRPr lang="en-US" sz="820" dirty="0"/>
          </a:p>
        </p:txBody>
      </p:sp>
      <p:sp>
        <p:nvSpPr>
          <p:cNvPr id="12" name="Shape 10"/>
          <p:cNvSpPr/>
          <p:nvPr/>
        </p:nvSpPr>
        <p:spPr>
          <a:xfrm>
            <a:off x="685800" y="2048256"/>
            <a:ext cx="10744200" cy="475488"/>
          </a:xfrm>
          <a:prstGeom prst="rect">
            <a:avLst/>
          </a:prstGeom>
          <a:solidFill>
            <a:srgbClr val="000000"/>
          </a:solidFill>
          <a:ln w="6350">
            <a:solidFill>
              <a:srgbClr val="2B2B2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9808" y="2080260"/>
            <a:ext cx="2880360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SMB likelihood score</a:t>
            </a:r>
            <a:endParaRPr lang="en-US" sz="820" dirty="0"/>
          </a:p>
        </p:txBody>
      </p:sp>
      <p:sp>
        <p:nvSpPr>
          <p:cNvPr id="14" name="Shape 12"/>
          <p:cNvSpPr/>
          <p:nvPr/>
        </p:nvSpPr>
        <p:spPr>
          <a:xfrm>
            <a:off x="3694176" y="1572768"/>
            <a:ext cx="0" cy="3803904"/>
          </a:xfrm>
          <a:prstGeom prst="line">
            <a:avLst/>
          </a:prstGeom>
          <a:noFill/>
          <a:ln w="5715">
            <a:solidFill>
              <a:srgbClr val="2B2B2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58184" y="2080260"/>
            <a:ext cx="7607808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Separates likely business sellers from lighter consumer-like sellers.</a:t>
            </a:r>
            <a:endParaRPr lang="en-US" sz="820" dirty="0"/>
          </a:p>
        </p:txBody>
      </p:sp>
      <p:sp>
        <p:nvSpPr>
          <p:cNvPr id="16" name="Shape 14"/>
          <p:cNvSpPr/>
          <p:nvPr/>
        </p:nvSpPr>
        <p:spPr>
          <a:xfrm>
            <a:off x="685800" y="2523744"/>
            <a:ext cx="10744200" cy="475488"/>
          </a:xfrm>
          <a:prstGeom prst="rect">
            <a:avLst/>
          </a:prstGeom>
          <a:solidFill>
            <a:srgbClr val="000000"/>
          </a:solidFill>
          <a:ln w="6350">
            <a:solidFill>
              <a:srgbClr val="2B2B2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9808" y="2555748"/>
            <a:ext cx="2880360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Outreach readiness score</a:t>
            </a:r>
            <a:endParaRPr lang="en-US" sz="820" dirty="0"/>
          </a:p>
        </p:txBody>
      </p:sp>
      <p:sp>
        <p:nvSpPr>
          <p:cNvPr id="18" name="Shape 16"/>
          <p:cNvSpPr/>
          <p:nvPr/>
        </p:nvSpPr>
        <p:spPr>
          <a:xfrm>
            <a:off x="3694176" y="1572768"/>
            <a:ext cx="0" cy="3803904"/>
          </a:xfrm>
          <a:prstGeom prst="line">
            <a:avLst/>
          </a:prstGeom>
          <a:noFill/>
          <a:ln w="5715">
            <a:solidFill>
              <a:srgbClr val="2B2B2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58184" y="2555748"/>
            <a:ext cx="7607808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Shows whether sales-prioritized sellers convert and retain better.</a:t>
            </a:r>
            <a:endParaRPr lang="en-US" sz="820" dirty="0"/>
          </a:p>
        </p:txBody>
      </p:sp>
      <p:sp>
        <p:nvSpPr>
          <p:cNvPr id="20" name="Shape 18"/>
          <p:cNvSpPr/>
          <p:nvPr/>
        </p:nvSpPr>
        <p:spPr>
          <a:xfrm>
            <a:off x="685800" y="2999232"/>
            <a:ext cx="10744200" cy="475488"/>
          </a:xfrm>
          <a:prstGeom prst="rect">
            <a:avLst/>
          </a:prstGeom>
          <a:solidFill>
            <a:srgbClr val="000000"/>
          </a:solidFill>
          <a:ln w="6350">
            <a:solidFill>
              <a:srgbClr val="2B2B2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9808" y="3031236"/>
            <a:ext cx="2880360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Historical spend tier</a:t>
            </a:r>
            <a:endParaRPr lang="en-US" sz="820" dirty="0"/>
          </a:p>
        </p:txBody>
      </p:sp>
      <p:sp>
        <p:nvSpPr>
          <p:cNvPr id="22" name="Shape 20"/>
          <p:cNvSpPr/>
          <p:nvPr/>
        </p:nvSpPr>
        <p:spPr>
          <a:xfrm>
            <a:off x="3694176" y="1572768"/>
            <a:ext cx="0" cy="3803904"/>
          </a:xfrm>
          <a:prstGeom prst="line">
            <a:avLst/>
          </a:prstGeom>
          <a:noFill/>
          <a:ln w="5715">
            <a:solidFill>
              <a:srgbClr val="2B2B2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758184" y="3031236"/>
            <a:ext cx="7607808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Distinguishes high-value sellers from low-spend adopters.</a:t>
            </a:r>
            <a:endParaRPr lang="en-US" sz="820" dirty="0"/>
          </a:p>
        </p:txBody>
      </p:sp>
      <p:sp>
        <p:nvSpPr>
          <p:cNvPr id="24" name="Shape 22"/>
          <p:cNvSpPr/>
          <p:nvPr/>
        </p:nvSpPr>
        <p:spPr>
          <a:xfrm>
            <a:off x="685800" y="3474720"/>
            <a:ext cx="10744200" cy="475488"/>
          </a:xfrm>
          <a:prstGeom prst="rect">
            <a:avLst/>
          </a:prstGeom>
          <a:solidFill>
            <a:srgbClr val="000000"/>
          </a:solidFill>
          <a:ln w="6350">
            <a:solidFill>
              <a:srgbClr val="2B2B2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9808" y="3506724"/>
            <a:ext cx="2880360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Seller size / activity tier</a:t>
            </a:r>
            <a:endParaRPr lang="en-US" sz="820" dirty="0"/>
          </a:p>
        </p:txBody>
      </p:sp>
      <p:sp>
        <p:nvSpPr>
          <p:cNvPr id="26" name="Shape 24"/>
          <p:cNvSpPr/>
          <p:nvPr/>
        </p:nvSpPr>
        <p:spPr>
          <a:xfrm>
            <a:off x="3694176" y="1572768"/>
            <a:ext cx="0" cy="3803904"/>
          </a:xfrm>
          <a:prstGeom prst="line">
            <a:avLst/>
          </a:prstGeom>
          <a:noFill/>
          <a:ln w="5715">
            <a:solidFill>
              <a:srgbClr val="2B2B2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758184" y="3506724"/>
            <a:ext cx="7607808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Identifies whether bundles work better for large or small sellers.</a:t>
            </a:r>
            <a:endParaRPr lang="en-US" sz="820" dirty="0"/>
          </a:p>
        </p:txBody>
      </p:sp>
      <p:sp>
        <p:nvSpPr>
          <p:cNvPr id="28" name="Shape 26"/>
          <p:cNvSpPr/>
          <p:nvPr/>
        </p:nvSpPr>
        <p:spPr>
          <a:xfrm>
            <a:off x="685800" y="3950208"/>
            <a:ext cx="10744200" cy="475488"/>
          </a:xfrm>
          <a:prstGeom prst="rect">
            <a:avLst/>
          </a:prstGeom>
          <a:solidFill>
            <a:srgbClr val="000000"/>
          </a:solidFill>
          <a:ln w="6350">
            <a:solidFill>
              <a:srgbClr val="2B2B2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9808" y="3982212"/>
            <a:ext cx="2880360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 performance tier</a:t>
            </a:r>
            <a:endParaRPr lang="en-US" sz="820" dirty="0"/>
          </a:p>
        </p:txBody>
      </p:sp>
      <p:sp>
        <p:nvSpPr>
          <p:cNvPr id="30" name="Shape 28"/>
          <p:cNvSpPr/>
          <p:nvPr/>
        </p:nvSpPr>
        <p:spPr>
          <a:xfrm>
            <a:off x="3694176" y="1572768"/>
            <a:ext cx="0" cy="3803904"/>
          </a:xfrm>
          <a:prstGeom prst="line">
            <a:avLst/>
          </a:prstGeom>
          <a:noFill/>
          <a:ln w="5715">
            <a:solidFill>
              <a:srgbClr val="2B2B2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758184" y="3982212"/>
            <a:ext cx="7607808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Separates Pro sellers with real traffic from Pro sellers with low engagement.</a:t>
            </a:r>
            <a:endParaRPr lang="en-US" sz="820" dirty="0"/>
          </a:p>
        </p:txBody>
      </p:sp>
      <p:sp>
        <p:nvSpPr>
          <p:cNvPr id="32" name="Shape 30"/>
          <p:cNvSpPr/>
          <p:nvPr/>
        </p:nvSpPr>
        <p:spPr>
          <a:xfrm>
            <a:off x="685800" y="4425696"/>
            <a:ext cx="10744200" cy="475488"/>
          </a:xfrm>
          <a:prstGeom prst="rect">
            <a:avLst/>
          </a:prstGeom>
          <a:solidFill>
            <a:srgbClr val="000000"/>
          </a:solidFill>
          <a:ln w="6350">
            <a:solidFill>
              <a:srgbClr val="2B2B2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49808" y="4457700"/>
            <a:ext cx="2880360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Seller outcome tier</a:t>
            </a:r>
            <a:endParaRPr lang="en-US" sz="820" dirty="0"/>
          </a:p>
        </p:txBody>
      </p:sp>
      <p:sp>
        <p:nvSpPr>
          <p:cNvPr id="34" name="Shape 32"/>
          <p:cNvSpPr/>
          <p:nvPr/>
        </p:nvSpPr>
        <p:spPr>
          <a:xfrm>
            <a:off x="3694176" y="1572768"/>
            <a:ext cx="0" cy="3803904"/>
          </a:xfrm>
          <a:prstGeom prst="line">
            <a:avLst/>
          </a:prstGeom>
          <a:noFill/>
          <a:ln w="5715">
            <a:solidFill>
              <a:srgbClr val="2B2B2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758184" y="4457700"/>
            <a:ext cx="7607808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Shows whether bundles create value for sellers, not only platform revenue.</a:t>
            </a:r>
            <a:endParaRPr lang="en-US" sz="820" dirty="0"/>
          </a:p>
        </p:txBody>
      </p:sp>
      <p:sp>
        <p:nvSpPr>
          <p:cNvPr id="36" name="Shape 34"/>
          <p:cNvSpPr/>
          <p:nvPr/>
        </p:nvSpPr>
        <p:spPr>
          <a:xfrm>
            <a:off x="685800" y="4901184"/>
            <a:ext cx="10744200" cy="475488"/>
          </a:xfrm>
          <a:prstGeom prst="rect">
            <a:avLst/>
          </a:prstGeom>
          <a:solidFill>
            <a:srgbClr val="000000"/>
          </a:solidFill>
          <a:ln w="6350">
            <a:solidFill>
              <a:srgbClr val="2B2B2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49808" y="4933188"/>
            <a:ext cx="2880360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Outreach batch / channel</a:t>
            </a:r>
            <a:endParaRPr lang="en-US" sz="820" dirty="0"/>
          </a:p>
        </p:txBody>
      </p:sp>
      <p:sp>
        <p:nvSpPr>
          <p:cNvPr id="38" name="Shape 36"/>
          <p:cNvSpPr/>
          <p:nvPr/>
        </p:nvSpPr>
        <p:spPr>
          <a:xfrm>
            <a:off x="3694176" y="1572768"/>
            <a:ext cx="0" cy="3803904"/>
          </a:xfrm>
          <a:prstGeom prst="line">
            <a:avLst/>
          </a:prstGeom>
          <a:noFill/>
          <a:ln w="5715">
            <a:solidFill>
              <a:srgbClr val="2B2B2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758184" y="4933188"/>
            <a:ext cx="7607808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Connects launch execution to registration and paid conversion quality.</a:t>
            </a:r>
            <a:endParaRPr lang="en-US" sz="82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>
  <p:cSld name="Slide 1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2102" y="323698"/>
            <a:ext cx="819302" cy="629107"/>
          </a:xfrm>
          <a:prstGeom prst="rect">
            <a:avLst/>
          </a:prstGeom>
          <a:noFill/>
          <a:ln/>
        </p:spPr>
        <p:txBody>
          <a:bodyPr lIns="57150" tIns="38100" rIns="57150" bIns="3810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3DD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426464" y="320040"/>
            <a:ext cx="9784080" cy="713232"/>
          </a:xfrm>
          <a:prstGeom prst="rect">
            <a:avLst/>
          </a:prstGeom>
          <a:noFill/>
          <a:ln/>
        </p:spPr>
        <p:txBody>
          <a:bodyPr lIns="57150" tIns="38100" rIns="57150" bIns="38100" anchor="t"/>
          <a:lstStyle/>
          <a:p>
            <a:pPr algn="l" indent="0" marL="0">
              <a:buNone/>
            </a:pPr>
            <a:r>
              <a:rPr lang="en-US" sz="3600" dirty="0" b="1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 Change Alerts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161288"/>
            <a:ext cx="11274552" cy="0"/>
          </a:xfrm>
          <a:prstGeom prst="line">
            <a:avLst/>
          </a:prstGeom>
          <a:noFill/>
          <a:ln w="12700">
            <a:solidFill>
              <a:srgbClr val="2B2B2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6199632"/>
            <a:ext cx="11274552" cy="0"/>
          </a:xfrm>
          <a:prstGeom prst="line">
            <a:avLst/>
          </a:prstGeom>
          <a:noFill/>
          <a:ln w="12700">
            <a:solidFill>
              <a:srgbClr val="2B2B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12064" y="6345936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A8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SMB Bundle Monitoring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0927080" y="6345936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A8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16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713232" y="1353312"/>
            <a:ext cx="10332720" cy="987552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normAutofit/>
          </a:bodyPr>
          <a:lstStyle/>
          <a:p>
            <a:pPr algn="l" indent="-220000" marL="292000">
              <a:buClr>
                <a:srgbClr val="3DDC97"/>
              </a:buClr>
              <a:buSzPct val="80000"/>
              <a:buFont typeface="Arial"/>
              <a:buChar char="■"/>
              <a:spcAft>
                <a:spcPts val="892"/>
              </a:spcAft>
              <a:defRPr>
                <a:solidFill>
                  <a:srgbClr val="3DDC97"/>
                </a:solidFill>
              </a:defRPr>
            </a:pPr>
            <a:r>
              <a:rPr lang="en-US" sz="1200" dirty="0">
                <a:solidFill>
                  <a:srgbClr val="A8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Question: which segments changed sharply in the last 4 weeks?</a:t>
            </a:r>
            <a:endParaRPr lang="en-US" sz="1200" dirty="0"/>
          </a:p>
          <a:p>
            <a:pPr algn="l" indent="-220000" marL="292000">
              <a:buClr>
                <a:srgbClr val="3DDC97"/>
              </a:buClr>
              <a:buSzPct val="80000"/>
              <a:buFont typeface="Arial"/>
              <a:buChar char="■"/>
              <a:spcAft>
                <a:spcPts val="892"/>
              </a:spcAft>
              <a:defRPr>
                <a:solidFill>
                  <a:srgbClr val="3DDC97"/>
                </a:solidFill>
              </a:defRPr>
            </a:pPr>
            <a:r>
              <a:rPr lang="en-US" sz="1200" dirty="0">
                <a:solidFill>
                  <a:srgbClr val="A8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Read: biggest increases and declines in the selected metric.</a:t>
            </a:r>
            <a:endParaRPr lang="en-US" sz="1200" dirty="0"/>
          </a:p>
          <a:p>
            <a:pPr algn="l" indent="-220000" marL="292000">
              <a:buClr>
                <a:srgbClr val="3DDC97"/>
              </a:buClr>
              <a:buSzPct val="80000"/>
              <a:buFont typeface="Arial"/>
              <a:buChar char="■"/>
              <a:defRPr>
                <a:solidFill>
                  <a:srgbClr val="3DDC97"/>
                </a:solidFill>
              </a:defRPr>
            </a:pPr>
            <a:r>
              <a:rPr lang="en-US" sz="1200" dirty="0">
                <a:solidFill>
                  <a:srgbClr val="A8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Dummy data, not measured results.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31520" y="2788920"/>
            <a:ext cx="10698480" cy="658368"/>
          </a:xfrm>
          <a:prstGeom prst="rect">
            <a:avLst/>
          </a:prstGeom>
          <a:solidFill>
            <a:srgbClr val="171717"/>
          </a:solidFill>
          <a:ln w="6350">
            <a:solidFill>
              <a:srgbClr val="2B2B2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95528" y="2820924"/>
            <a:ext cx="2439619" cy="5943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299155" y="2788920"/>
            <a:ext cx="0" cy="1316736"/>
          </a:xfrm>
          <a:prstGeom prst="line">
            <a:avLst/>
          </a:prstGeom>
          <a:noFill/>
          <a:ln w="5715">
            <a:solidFill>
              <a:srgbClr val="2B2B2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63163" y="2820924"/>
            <a:ext cx="3937406" cy="5943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Potential merged data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7364578" y="2788920"/>
            <a:ext cx="0" cy="1316736"/>
          </a:xfrm>
          <a:prstGeom prst="line">
            <a:avLst/>
          </a:prstGeom>
          <a:noFill/>
          <a:ln w="5715">
            <a:solidFill>
              <a:srgbClr val="2B2B2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28586" y="2820924"/>
            <a:ext cx="3937406" cy="5943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would show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731520" y="3447288"/>
            <a:ext cx="10698480" cy="658368"/>
          </a:xfrm>
          <a:prstGeom prst="rect">
            <a:avLst/>
          </a:prstGeom>
          <a:solidFill>
            <a:srgbClr val="000000"/>
          </a:solidFill>
          <a:ln w="6350">
            <a:solidFill>
              <a:srgbClr val="2B2B2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95528" y="3479292"/>
            <a:ext cx="2439619" cy="5943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Recent change alerts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3299155" y="2788920"/>
            <a:ext cx="0" cy="1316736"/>
          </a:xfrm>
          <a:prstGeom prst="line">
            <a:avLst/>
          </a:prstGeom>
          <a:noFill/>
          <a:ln w="5715">
            <a:solidFill>
              <a:srgbClr val="2B2B2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63163" y="3479292"/>
            <a:ext cx="3937406" cy="5943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or weekly segment snapshots joined to registration history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7364578" y="2788920"/>
            <a:ext cx="0" cy="1316736"/>
          </a:xfrm>
          <a:prstGeom prst="line">
            <a:avLst/>
          </a:prstGeom>
          <a:noFill/>
          <a:ln w="5715">
            <a:solidFill>
              <a:srgbClr val="2B2B2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28586" y="3479292"/>
            <a:ext cx="3937406" cy="5943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Sharp 4-week changes in active paid bundles, no-bundle share, or Plus share.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1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2102" y="323698"/>
            <a:ext cx="819302" cy="629107"/>
          </a:xfrm>
          <a:prstGeom prst="rect">
            <a:avLst/>
          </a:prstGeom>
          <a:noFill/>
          <a:ln/>
        </p:spPr>
        <p:txBody>
          <a:bodyPr lIns="57150" tIns="38100" rIns="57150" bIns="3810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3DD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426464" y="320040"/>
            <a:ext cx="9784080" cy="713232"/>
          </a:xfrm>
          <a:prstGeom prst="rect">
            <a:avLst/>
          </a:prstGeom>
          <a:noFill/>
          <a:ln/>
        </p:spPr>
        <p:txBody>
          <a:bodyPr lIns="57150" tIns="38100" rIns="57150" bIns="38100" anchor="t"/>
          <a:lstStyle/>
          <a:p>
            <a:pPr algn="l" indent="0" marL="0">
              <a:buNone/>
            </a:pPr>
            <a:r>
              <a:rPr lang="en-US" sz="3600" dirty="0" b="1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Recent Segment Change Alerts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161288"/>
            <a:ext cx="11274552" cy="0"/>
          </a:xfrm>
          <a:prstGeom prst="line">
            <a:avLst/>
          </a:prstGeom>
          <a:noFill/>
          <a:ln w="12700">
            <a:solidFill>
              <a:srgbClr val="2B2B2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6199632"/>
            <a:ext cx="11274552" cy="0"/>
          </a:xfrm>
          <a:prstGeom prst="line">
            <a:avLst/>
          </a:prstGeom>
          <a:noFill/>
          <a:ln w="12700">
            <a:solidFill>
              <a:srgbClr val="2B2B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12064" y="6345936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A8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SMB Bundle Monitoring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0927080" y="6345936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A8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16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713232" y="1353312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normAutofit/>
          </a:bodyPr>
          <a:lstStyle/>
          <a:p>
            <a:pPr algn="l" indent="-220000" marL="292000">
              <a:buClr>
                <a:srgbClr val="3DDC97"/>
              </a:buClr>
              <a:buSzPct val="80000"/>
              <a:buFont typeface="Arial"/>
              <a:buChar char="■"/>
              <a:spcAft>
                <a:spcPts val="892"/>
              </a:spcAft>
              <a:defRPr>
                <a:solidFill>
                  <a:srgbClr val="3DDC97"/>
                </a:solidFill>
              </a:defRPr>
            </a:pPr>
            <a:r>
              <a:rPr lang="en-US" sz="1200" dirty="0">
                <a:solidFill>
                  <a:srgbClr val="A8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shown: largest recent changes in active paid rate by segment.</a:t>
            </a:r>
            <a:endParaRPr lang="en-US" sz="1200" dirty="0"/>
          </a:p>
          <a:p>
            <a:pPr algn="l" indent="-220000" marL="292000">
              <a:buClr>
                <a:srgbClr val="3DDC97"/>
              </a:buClr>
              <a:buSzPct val="80000"/>
              <a:buFont typeface="Arial"/>
              <a:buChar char="■"/>
              <a:defRPr>
                <a:solidFill>
                  <a:srgbClr val="3DDC97"/>
                </a:solidFill>
              </a:defRPr>
            </a:pPr>
            <a:r>
              <a:rPr lang="en-US" sz="1200" dirty="0">
                <a:solidFill>
                  <a:srgbClr val="A8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matters: highlights where follow-up is most urgent.</a:t>
            </a:r>
            <a:endParaRPr lang="en-US" sz="1200" dirty="0"/>
          </a:p>
        </p:txBody>
      </p:sp>
      <p:pic>
        <p:nvPicPr>
          <p:cNvPr id="12" name="Image 0" descr="/Users/omertal/PycharmProjects/Marketplaats/outputs/019ec668-313f-7a42-b45f-b7e468004534/presentations/q3-verbatim-refresh/assets/segment_change_aler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45123" y="2148840"/>
            <a:ext cx="7322634" cy="3429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>
  <p:cSld name="Slide 1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2102" y="323698"/>
            <a:ext cx="819302" cy="629107"/>
          </a:xfrm>
          <a:prstGeom prst="rect">
            <a:avLst/>
          </a:prstGeom>
          <a:noFill/>
          <a:ln/>
        </p:spPr>
        <p:txBody>
          <a:bodyPr lIns="57150" tIns="38100" rIns="57150" bIns="3810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3DD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426464" y="323698"/>
            <a:ext cx="9784080" cy="714146"/>
          </a:xfrm>
          <a:prstGeom prst="rect">
            <a:avLst/>
          </a:prstGeom>
          <a:noFill/>
          <a:ln/>
        </p:spPr>
        <p:txBody>
          <a:bodyPr lIns="57150" tIns="38100" rIns="57150" bIns="38100" anchor="t"/>
          <a:lstStyle/>
          <a:p>
            <a:pPr algn="l" indent="0" marL="0">
              <a:buNone/>
            </a:pPr>
            <a:r>
              <a:rPr lang="en-US" sz="3600" dirty="0" b="1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Business Impact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161288"/>
            <a:ext cx="11274552" cy="0"/>
          </a:xfrm>
          <a:prstGeom prst="line">
            <a:avLst/>
          </a:prstGeom>
          <a:noFill/>
          <a:ln w="12700">
            <a:solidFill>
              <a:srgbClr val="2B2B2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6199632"/>
            <a:ext cx="11274552" cy="0"/>
          </a:xfrm>
          <a:prstGeom prst="line">
            <a:avLst/>
          </a:prstGeom>
          <a:noFill/>
          <a:ln w="12700">
            <a:solidFill>
              <a:srgbClr val="2B2B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12064" y="6345936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A8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SMB Bundle Monitoring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0927080" y="6345936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A8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16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777240" y="1627632"/>
            <a:ext cx="9966960" cy="1591056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normAutofit/>
          </a:bodyPr>
          <a:lstStyle/>
          <a:p>
            <a:pPr algn="l" indent="-220000" marL="292000">
              <a:buClr>
                <a:srgbClr val="3DDC97"/>
              </a:buClr>
              <a:buSzPct val="80000"/>
              <a:buFont typeface="Arial"/>
              <a:buChar char="■"/>
              <a:spcAft>
                <a:spcPts val="2000"/>
              </a:spcAft>
              <a:defRPr>
                <a:solidFill>
                  <a:srgbClr val="3DDC97"/>
                </a:solidFill>
              </a:defRPr>
            </a:pPr>
            <a:r>
              <a:rPr lang="en-US" sz="18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 bundles creating measurable value for Marktplaats and sellers?</a:t>
            </a:r>
            <a:endParaRPr lang="en-US" sz="1800" dirty="0"/>
          </a:p>
          <a:p>
            <a:pPr algn="l" indent="-220000" marL="292000">
              <a:buClr>
                <a:srgbClr val="3DDC97"/>
              </a:buClr>
              <a:buSzPct val="80000"/>
              <a:buFont typeface="Arial"/>
              <a:buChar char="■"/>
              <a:spcAft>
                <a:spcPts val="2000"/>
              </a:spcAft>
              <a:defRPr>
                <a:solidFill>
                  <a:srgbClr val="3DDC97"/>
                </a:solidFill>
              </a:defRPr>
            </a:pPr>
            <a:r>
              <a:rPr lang="en-US" sz="18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data supports: modeled paid revenue and bundle revenue mix.</a:t>
            </a:r>
            <a:endParaRPr lang="en-US" sz="1800" dirty="0"/>
          </a:p>
          <a:p>
            <a:pPr algn="l" indent="-220000" marL="292000">
              <a:buClr>
                <a:srgbClr val="3DDC97"/>
              </a:buClr>
              <a:buSzPct val="80000"/>
              <a:buFont typeface="Arial"/>
              <a:buChar char="■"/>
              <a:defRPr>
                <a:solidFill>
                  <a:srgbClr val="3DDC97"/>
                </a:solidFill>
              </a:defRPr>
            </a:pPr>
            <a:r>
              <a:rPr lang="en-US" sz="18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Still missing: actual invoiced revenue and seller outcome data.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1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2102" y="323698"/>
            <a:ext cx="819302" cy="629107"/>
          </a:xfrm>
          <a:prstGeom prst="rect">
            <a:avLst/>
          </a:prstGeom>
          <a:noFill/>
          <a:ln/>
        </p:spPr>
        <p:txBody>
          <a:bodyPr lIns="57150" tIns="38100" rIns="57150" bIns="3810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3DD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426464" y="323698"/>
            <a:ext cx="9784080" cy="714146"/>
          </a:xfrm>
          <a:prstGeom prst="rect">
            <a:avLst/>
          </a:prstGeom>
          <a:noFill/>
          <a:ln/>
        </p:spPr>
        <p:txBody>
          <a:bodyPr lIns="57150" tIns="38100" rIns="57150" bIns="38100" anchor="t"/>
          <a:lstStyle/>
          <a:p>
            <a:pPr algn="l" indent="0" marL="0">
              <a:buNone/>
            </a:pPr>
            <a:r>
              <a:rPr lang="en-US" sz="3600" dirty="0" b="1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4.1 Modeled Paid Revenue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161288"/>
            <a:ext cx="11274552" cy="0"/>
          </a:xfrm>
          <a:prstGeom prst="line">
            <a:avLst/>
          </a:prstGeom>
          <a:noFill/>
          <a:ln w="12700">
            <a:solidFill>
              <a:srgbClr val="2B2B2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6199632"/>
            <a:ext cx="11274552" cy="0"/>
          </a:xfrm>
          <a:prstGeom prst="line">
            <a:avLst/>
          </a:prstGeom>
          <a:noFill/>
          <a:ln w="12700">
            <a:solidFill>
              <a:srgbClr val="2B2B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12064" y="6345936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A8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SMB Bundle Monitoring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0927080" y="6345936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A8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/ 16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713232" y="1353312"/>
            <a:ext cx="10332720" cy="950976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normAutofit/>
          </a:bodyPr>
          <a:lstStyle/>
          <a:p>
            <a:pPr algn="l" indent="-220000" marL="292000">
              <a:buClr>
                <a:srgbClr val="3DDC97"/>
              </a:buClr>
              <a:buSzPct val="80000"/>
              <a:buFont typeface="Arial"/>
              <a:buChar char="■"/>
              <a:spcAft>
                <a:spcPts val="748"/>
              </a:spcAft>
              <a:defRPr>
                <a:solidFill>
                  <a:srgbClr val="3DDC97"/>
                </a:solidFill>
              </a:defRPr>
            </a:pPr>
            <a:r>
              <a:rPr lang="en-US" sz="1180" dirty="0">
                <a:solidFill>
                  <a:srgbClr val="A8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Question: is paid adoption translating into subscription revenue?</a:t>
            </a:r>
            <a:endParaRPr lang="en-US" sz="1180" dirty="0"/>
          </a:p>
          <a:p>
            <a:pPr algn="l" indent="-220000" marL="292000">
              <a:buClr>
                <a:srgbClr val="3DDC97"/>
              </a:buClr>
              <a:buSzPct val="80000"/>
              <a:buFont typeface="Arial"/>
              <a:buChar char="■"/>
              <a:spcAft>
                <a:spcPts val="748"/>
              </a:spcAft>
              <a:defRPr>
                <a:solidFill>
                  <a:srgbClr val="3DDC97"/>
                </a:solidFill>
              </a:defRPr>
            </a:pPr>
            <a:r>
              <a:rPr lang="en-US" sz="1180" dirty="0">
                <a:solidFill>
                  <a:srgbClr val="A8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Read: modeled 4-week paid revenue and Basic vs Plus revenue mix.</a:t>
            </a:r>
            <a:endParaRPr lang="en-US" sz="1180" dirty="0"/>
          </a:p>
          <a:p>
            <a:pPr algn="l" indent="-220000" marL="292000">
              <a:buClr>
                <a:srgbClr val="3DDC97"/>
              </a:buClr>
              <a:buSzPct val="80000"/>
              <a:buFont typeface="Arial"/>
              <a:buChar char="■"/>
              <a:defRPr>
                <a:solidFill>
                  <a:srgbClr val="3DDC97"/>
                </a:solidFill>
              </a:defRPr>
            </a:pPr>
            <a:r>
              <a:rPr lang="en-US" sz="1180" dirty="0">
                <a:solidFill>
                  <a:srgbClr val="A8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Caveat: modeled from intervals and list prices; not invoiced or incremental revenue.</a:t>
            </a:r>
            <a:endParaRPr lang="en-US" sz="1180" dirty="0"/>
          </a:p>
        </p:txBody>
      </p:sp>
      <p:pic>
        <p:nvPicPr>
          <p:cNvPr id="14" name="Image 0" descr="/Users/omertal/PycharmProjects/Marketplaats/outputs/019ec668-313f-7a42-b45f-b7e468004534/presentations/q3-verbatim-refresh/assets/modeled_paid_reven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1820" y="2286000"/>
            <a:ext cx="6037945" cy="2423160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7726680" y="2212848"/>
            <a:ext cx="3429000" cy="283464"/>
          </a:xfrm>
          <a:prstGeom prst="rect">
            <a:avLst/>
          </a:prstGeom>
          <a:solidFill>
            <a:srgbClr val="171717"/>
          </a:solidFill>
          <a:ln w="6350">
            <a:solidFill>
              <a:srgbClr val="2B2B2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790688" y="2244852"/>
            <a:ext cx="1037844" cy="2194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710" b="1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period_start</a:t>
            </a:r>
            <a:endParaRPr lang="en-US" sz="710" dirty="0"/>
          </a:p>
        </p:txBody>
      </p:sp>
      <p:sp>
        <p:nvSpPr>
          <p:cNvPr id="17" name="Shape 14"/>
          <p:cNvSpPr/>
          <p:nvPr/>
        </p:nvSpPr>
        <p:spPr>
          <a:xfrm>
            <a:off x="8892540" y="2212848"/>
            <a:ext cx="0" cy="2551176"/>
          </a:xfrm>
          <a:prstGeom prst="line">
            <a:avLst/>
          </a:prstGeom>
          <a:noFill/>
          <a:ln w="5715">
            <a:solidFill>
              <a:srgbClr val="2B2B2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956548" y="2244852"/>
            <a:ext cx="1175004" cy="2194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710" b="1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modeled_paid_revenue_eur</a:t>
            </a:r>
            <a:endParaRPr lang="en-US" sz="710" dirty="0"/>
          </a:p>
        </p:txBody>
      </p:sp>
      <p:sp>
        <p:nvSpPr>
          <p:cNvPr id="19" name="Shape 16"/>
          <p:cNvSpPr/>
          <p:nvPr/>
        </p:nvSpPr>
        <p:spPr>
          <a:xfrm>
            <a:off x="10195560" y="2212848"/>
            <a:ext cx="0" cy="2551176"/>
          </a:xfrm>
          <a:prstGeom prst="line">
            <a:avLst/>
          </a:prstGeom>
          <a:noFill/>
          <a:ln w="5715">
            <a:solidFill>
              <a:srgbClr val="2B2B2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0259568" y="2244852"/>
            <a:ext cx="832104" cy="2194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710" b="1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paid_billing_events</a:t>
            </a:r>
            <a:endParaRPr lang="en-US" sz="710" dirty="0"/>
          </a:p>
        </p:txBody>
      </p:sp>
      <p:sp>
        <p:nvSpPr>
          <p:cNvPr id="21" name="Shape 18"/>
          <p:cNvSpPr/>
          <p:nvPr/>
        </p:nvSpPr>
        <p:spPr>
          <a:xfrm>
            <a:off x="7726680" y="2496312"/>
            <a:ext cx="3429000" cy="283464"/>
          </a:xfrm>
          <a:prstGeom prst="rect">
            <a:avLst/>
          </a:prstGeom>
          <a:solidFill>
            <a:srgbClr val="000000"/>
          </a:solidFill>
          <a:ln w="6350">
            <a:solidFill>
              <a:srgbClr val="2B2B2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790688" y="2528316"/>
            <a:ext cx="1037844" cy="2194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71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2024-10-10</a:t>
            </a:r>
            <a:endParaRPr lang="en-US" sz="710" dirty="0"/>
          </a:p>
        </p:txBody>
      </p:sp>
      <p:sp>
        <p:nvSpPr>
          <p:cNvPr id="23" name="Shape 20"/>
          <p:cNvSpPr/>
          <p:nvPr/>
        </p:nvSpPr>
        <p:spPr>
          <a:xfrm>
            <a:off x="8892540" y="2212848"/>
            <a:ext cx="0" cy="2551176"/>
          </a:xfrm>
          <a:prstGeom prst="line">
            <a:avLst/>
          </a:prstGeom>
          <a:noFill/>
          <a:ln w="5715">
            <a:solidFill>
              <a:srgbClr val="2B2B2B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956548" y="2528316"/>
            <a:ext cx="1175004" cy="2194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71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€84,993</a:t>
            </a:r>
            <a:endParaRPr lang="en-US" sz="710" dirty="0"/>
          </a:p>
        </p:txBody>
      </p:sp>
      <p:sp>
        <p:nvSpPr>
          <p:cNvPr id="25" name="Shape 22"/>
          <p:cNvSpPr/>
          <p:nvPr/>
        </p:nvSpPr>
        <p:spPr>
          <a:xfrm>
            <a:off x="10195560" y="2212848"/>
            <a:ext cx="0" cy="2551176"/>
          </a:xfrm>
          <a:prstGeom prst="line">
            <a:avLst/>
          </a:prstGeom>
          <a:noFill/>
          <a:ln w="5715">
            <a:solidFill>
              <a:srgbClr val="2B2B2B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0259568" y="2528316"/>
            <a:ext cx="832104" cy="2194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71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2,670</a:t>
            </a:r>
            <a:endParaRPr lang="en-US" sz="710" dirty="0"/>
          </a:p>
        </p:txBody>
      </p:sp>
      <p:sp>
        <p:nvSpPr>
          <p:cNvPr id="27" name="Shape 24"/>
          <p:cNvSpPr/>
          <p:nvPr/>
        </p:nvSpPr>
        <p:spPr>
          <a:xfrm>
            <a:off x="7726680" y="2779776"/>
            <a:ext cx="3429000" cy="283464"/>
          </a:xfrm>
          <a:prstGeom prst="rect">
            <a:avLst/>
          </a:prstGeom>
          <a:solidFill>
            <a:srgbClr val="000000"/>
          </a:solidFill>
          <a:ln w="6350">
            <a:solidFill>
              <a:srgbClr val="2B2B2B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7790688" y="2811780"/>
            <a:ext cx="1037844" cy="2194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71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2024-11-07</a:t>
            </a:r>
            <a:endParaRPr lang="en-US" sz="710" dirty="0"/>
          </a:p>
        </p:txBody>
      </p:sp>
      <p:sp>
        <p:nvSpPr>
          <p:cNvPr id="29" name="Shape 26"/>
          <p:cNvSpPr/>
          <p:nvPr/>
        </p:nvSpPr>
        <p:spPr>
          <a:xfrm>
            <a:off x="8892540" y="2212848"/>
            <a:ext cx="0" cy="2551176"/>
          </a:xfrm>
          <a:prstGeom prst="line">
            <a:avLst/>
          </a:prstGeom>
          <a:noFill/>
          <a:ln w="5715">
            <a:solidFill>
              <a:srgbClr val="2B2B2B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8956548" y="2811780"/>
            <a:ext cx="1175004" cy="2194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71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€87,303</a:t>
            </a:r>
            <a:endParaRPr lang="en-US" sz="710" dirty="0"/>
          </a:p>
        </p:txBody>
      </p:sp>
      <p:sp>
        <p:nvSpPr>
          <p:cNvPr id="31" name="Shape 28"/>
          <p:cNvSpPr/>
          <p:nvPr/>
        </p:nvSpPr>
        <p:spPr>
          <a:xfrm>
            <a:off x="10195560" y="2212848"/>
            <a:ext cx="0" cy="2551176"/>
          </a:xfrm>
          <a:prstGeom prst="line">
            <a:avLst/>
          </a:prstGeom>
          <a:noFill/>
          <a:ln w="5715">
            <a:solidFill>
              <a:srgbClr val="2B2B2B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10259568" y="2811780"/>
            <a:ext cx="832104" cy="2194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71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2,727</a:t>
            </a:r>
            <a:endParaRPr lang="en-US" sz="710" dirty="0"/>
          </a:p>
        </p:txBody>
      </p:sp>
      <p:sp>
        <p:nvSpPr>
          <p:cNvPr id="33" name="Shape 30"/>
          <p:cNvSpPr/>
          <p:nvPr/>
        </p:nvSpPr>
        <p:spPr>
          <a:xfrm>
            <a:off x="7726680" y="3063240"/>
            <a:ext cx="3429000" cy="283464"/>
          </a:xfrm>
          <a:prstGeom prst="rect">
            <a:avLst/>
          </a:prstGeom>
          <a:solidFill>
            <a:srgbClr val="000000"/>
          </a:solidFill>
          <a:ln w="6350">
            <a:solidFill>
              <a:srgbClr val="2B2B2B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790688" y="3095244"/>
            <a:ext cx="1037844" cy="2194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71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2024-12-05</a:t>
            </a:r>
            <a:endParaRPr lang="en-US" sz="710" dirty="0"/>
          </a:p>
        </p:txBody>
      </p:sp>
      <p:sp>
        <p:nvSpPr>
          <p:cNvPr id="35" name="Shape 32"/>
          <p:cNvSpPr/>
          <p:nvPr/>
        </p:nvSpPr>
        <p:spPr>
          <a:xfrm>
            <a:off x="8892540" y="2212848"/>
            <a:ext cx="0" cy="2551176"/>
          </a:xfrm>
          <a:prstGeom prst="line">
            <a:avLst/>
          </a:prstGeom>
          <a:noFill/>
          <a:ln w="5715">
            <a:solidFill>
              <a:srgbClr val="2B2B2B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8956548" y="3095244"/>
            <a:ext cx="1175004" cy="2194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71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€87,573</a:t>
            </a:r>
            <a:endParaRPr lang="en-US" sz="710" dirty="0"/>
          </a:p>
        </p:txBody>
      </p:sp>
      <p:sp>
        <p:nvSpPr>
          <p:cNvPr id="37" name="Shape 34"/>
          <p:cNvSpPr/>
          <p:nvPr/>
        </p:nvSpPr>
        <p:spPr>
          <a:xfrm>
            <a:off x="10195560" y="2212848"/>
            <a:ext cx="0" cy="2551176"/>
          </a:xfrm>
          <a:prstGeom prst="line">
            <a:avLst/>
          </a:prstGeom>
          <a:noFill/>
          <a:ln w="5715">
            <a:solidFill>
              <a:srgbClr val="2B2B2B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10259568" y="3095244"/>
            <a:ext cx="832104" cy="2194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71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2,721</a:t>
            </a:r>
            <a:endParaRPr lang="en-US" sz="710" dirty="0"/>
          </a:p>
        </p:txBody>
      </p:sp>
      <p:sp>
        <p:nvSpPr>
          <p:cNvPr id="39" name="Shape 36"/>
          <p:cNvSpPr/>
          <p:nvPr/>
        </p:nvSpPr>
        <p:spPr>
          <a:xfrm>
            <a:off x="7726680" y="3346704"/>
            <a:ext cx="3429000" cy="283464"/>
          </a:xfrm>
          <a:prstGeom prst="rect">
            <a:avLst/>
          </a:prstGeom>
          <a:solidFill>
            <a:srgbClr val="000000"/>
          </a:solidFill>
          <a:ln w="6350">
            <a:solidFill>
              <a:srgbClr val="2B2B2B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7790688" y="3378708"/>
            <a:ext cx="1037844" cy="2194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71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2025-01-02</a:t>
            </a:r>
            <a:endParaRPr lang="en-US" sz="710" dirty="0"/>
          </a:p>
        </p:txBody>
      </p:sp>
      <p:sp>
        <p:nvSpPr>
          <p:cNvPr id="41" name="Shape 38"/>
          <p:cNvSpPr/>
          <p:nvPr/>
        </p:nvSpPr>
        <p:spPr>
          <a:xfrm>
            <a:off x="8892540" y="2212848"/>
            <a:ext cx="0" cy="2551176"/>
          </a:xfrm>
          <a:prstGeom prst="line">
            <a:avLst/>
          </a:prstGeom>
          <a:noFill/>
          <a:ln w="5715">
            <a:solidFill>
              <a:srgbClr val="2B2B2B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8956548" y="3378708"/>
            <a:ext cx="1175004" cy="2194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71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€88,243</a:t>
            </a:r>
            <a:endParaRPr lang="en-US" sz="710" dirty="0"/>
          </a:p>
        </p:txBody>
      </p:sp>
      <p:sp>
        <p:nvSpPr>
          <p:cNvPr id="43" name="Shape 40"/>
          <p:cNvSpPr/>
          <p:nvPr/>
        </p:nvSpPr>
        <p:spPr>
          <a:xfrm>
            <a:off x="10195560" y="2212848"/>
            <a:ext cx="0" cy="2551176"/>
          </a:xfrm>
          <a:prstGeom prst="line">
            <a:avLst/>
          </a:prstGeom>
          <a:noFill/>
          <a:ln w="5715">
            <a:solidFill>
              <a:srgbClr val="2B2B2B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10259568" y="3378708"/>
            <a:ext cx="832104" cy="2194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71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2,738</a:t>
            </a:r>
            <a:endParaRPr lang="en-US" sz="710" dirty="0"/>
          </a:p>
        </p:txBody>
      </p:sp>
      <p:sp>
        <p:nvSpPr>
          <p:cNvPr id="45" name="Shape 42"/>
          <p:cNvSpPr/>
          <p:nvPr/>
        </p:nvSpPr>
        <p:spPr>
          <a:xfrm>
            <a:off x="7726680" y="3630168"/>
            <a:ext cx="3429000" cy="283464"/>
          </a:xfrm>
          <a:prstGeom prst="rect">
            <a:avLst/>
          </a:prstGeom>
          <a:solidFill>
            <a:srgbClr val="000000"/>
          </a:solidFill>
          <a:ln w="6350">
            <a:solidFill>
              <a:srgbClr val="2B2B2B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7790688" y="3662172"/>
            <a:ext cx="1037844" cy="2194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71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2025-01-30</a:t>
            </a:r>
            <a:endParaRPr lang="en-US" sz="710" dirty="0"/>
          </a:p>
        </p:txBody>
      </p:sp>
      <p:sp>
        <p:nvSpPr>
          <p:cNvPr id="47" name="Shape 44"/>
          <p:cNvSpPr/>
          <p:nvPr/>
        </p:nvSpPr>
        <p:spPr>
          <a:xfrm>
            <a:off x="8892540" y="2212848"/>
            <a:ext cx="0" cy="2551176"/>
          </a:xfrm>
          <a:prstGeom prst="line">
            <a:avLst/>
          </a:prstGeom>
          <a:noFill/>
          <a:ln w="5715">
            <a:solidFill>
              <a:srgbClr val="2B2B2B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8956548" y="3662172"/>
            <a:ext cx="1175004" cy="2194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71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€88,723</a:t>
            </a:r>
            <a:endParaRPr lang="en-US" sz="710" dirty="0"/>
          </a:p>
        </p:txBody>
      </p:sp>
      <p:sp>
        <p:nvSpPr>
          <p:cNvPr id="49" name="Shape 46"/>
          <p:cNvSpPr/>
          <p:nvPr/>
        </p:nvSpPr>
        <p:spPr>
          <a:xfrm>
            <a:off x="10195560" y="2212848"/>
            <a:ext cx="0" cy="2551176"/>
          </a:xfrm>
          <a:prstGeom prst="line">
            <a:avLst/>
          </a:prstGeom>
          <a:noFill/>
          <a:ln w="5715">
            <a:solidFill>
              <a:srgbClr val="2B2B2B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10259568" y="3662172"/>
            <a:ext cx="832104" cy="2194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71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2,744</a:t>
            </a:r>
            <a:endParaRPr lang="en-US" sz="710" dirty="0"/>
          </a:p>
        </p:txBody>
      </p:sp>
      <p:sp>
        <p:nvSpPr>
          <p:cNvPr id="51" name="Shape 48"/>
          <p:cNvSpPr/>
          <p:nvPr/>
        </p:nvSpPr>
        <p:spPr>
          <a:xfrm>
            <a:off x="7726680" y="3913632"/>
            <a:ext cx="3429000" cy="283464"/>
          </a:xfrm>
          <a:prstGeom prst="rect">
            <a:avLst/>
          </a:prstGeom>
          <a:solidFill>
            <a:srgbClr val="000000"/>
          </a:solidFill>
          <a:ln w="6350">
            <a:solidFill>
              <a:srgbClr val="2B2B2B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7790688" y="3945636"/>
            <a:ext cx="1037844" cy="2194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71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2025-02-27</a:t>
            </a:r>
            <a:endParaRPr lang="en-US" sz="710" dirty="0"/>
          </a:p>
        </p:txBody>
      </p:sp>
      <p:sp>
        <p:nvSpPr>
          <p:cNvPr id="53" name="Shape 50"/>
          <p:cNvSpPr/>
          <p:nvPr/>
        </p:nvSpPr>
        <p:spPr>
          <a:xfrm>
            <a:off x="8892540" y="2212848"/>
            <a:ext cx="0" cy="2551176"/>
          </a:xfrm>
          <a:prstGeom prst="line">
            <a:avLst/>
          </a:prstGeom>
          <a:noFill/>
          <a:ln w="5715">
            <a:solidFill>
              <a:srgbClr val="2B2B2B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8956548" y="3945636"/>
            <a:ext cx="1175004" cy="2194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71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€88,123</a:t>
            </a:r>
            <a:endParaRPr lang="en-US" sz="710" dirty="0"/>
          </a:p>
        </p:txBody>
      </p:sp>
      <p:sp>
        <p:nvSpPr>
          <p:cNvPr id="55" name="Shape 52"/>
          <p:cNvSpPr/>
          <p:nvPr/>
        </p:nvSpPr>
        <p:spPr>
          <a:xfrm>
            <a:off x="10195560" y="2212848"/>
            <a:ext cx="0" cy="2551176"/>
          </a:xfrm>
          <a:prstGeom prst="line">
            <a:avLst/>
          </a:prstGeom>
          <a:noFill/>
          <a:ln w="5715">
            <a:solidFill>
              <a:srgbClr val="2B2B2B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10259568" y="3945636"/>
            <a:ext cx="832104" cy="2194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71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2,735</a:t>
            </a:r>
            <a:endParaRPr lang="en-US" sz="710" dirty="0"/>
          </a:p>
        </p:txBody>
      </p:sp>
      <p:sp>
        <p:nvSpPr>
          <p:cNvPr id="57" name="Shape 54"/>
          <p:cNvSpPr/>
          <p:nvPr/>
        </p:nvSpPr>
        <p:spPr>
          <a:xfrm>
            <a:off x="7726680" y="4197096"/>
            <a:ext cx="3429000" cy="283464"/>
          </a:xfrm>
          <a:prstGeom prst="rect">
            <a:avLst/>
          </a:prstGeom>
          <a:solidFill>
            <a:srgbClr val="000000"/>
          </a:solidFill>
          <a:ln w="6350">
            <a:solidFill>
              <a:srgbClr val="2B2B2B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7790688" y="4229100"/>
            <a:ext cx="1037844" cy="2194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71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2025-03-27</a:t>
            </a:r>
            <a:endParaRPr lang="en-US" sz="710" dirty="0"/>
          </a:p>
        </p:txBody>
      </p:sp>
      <p:sp>
        <p:nvSpPr>
          <p:cNvPr id="59" name="Shape 56"/>
          <p:cNvSpPr/>
          <p:nvPr/>
        </p:nvSpPr>
        <p:spPr>
          <a:xfrm>
            <a:off x="8892540" y="2212848"/>
            <a:ext cx="0" cy="2551176"/>
          </a:xfrm>
          <a:prstGeom prst="line">
            <a:avLst/>
          </a:prstGeom>
          <a:noFill/>
          <a:ln w="5715">
            <a:solidFill>
              <a:srgbClr val="2B2B2B"/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8956548" y="4229100"/>
            <a:ext cx="1175004" cy="2194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71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€88,373</a:t>
            </a:r>
            <a:endParaRPr lang="en-US" sz="710" dirty="0"/>
          </a:p>
        </p:txBody>
      </p:sp>
      <p:sp>
        <p:nvSpPr>
          <p:cNvPr id="61" name="Shape 58"/>
          <p:cNvSpPr/>
          <p:nvPr/>
        </p:nvSpPr>
        <p:spPr>
          <a:xfrm>
            <a:off x="10195560" y="2212848"/>
            <a:ext cx="0" cy="2551176"/>
          </a:xfrm>
          <a:prstGeom prst="line">
            <a:avLst/>
          </a:prstGeom>
          <a:noFill/>
          <a:ln w="5715">
            <a:solidFill>
              <a:srgbClr val="2B2B2B"/>
            </a:solidFill>
            <a:prstDash val="solid"/>
          </a:ln>
        </p:spPr>
      </p:sp>
      <p:sp>
        <p:nvSpPr>
          <p:cNvPr id="62" name="Text 59"/>
          <p:cNvSpPr/>
          <p:nvPr/>
        </p:nvSpPr>
        <p:spPr>
          <a:xfrm>
            <a:off x="10259568" y="4229100"/>
            <a:ext cx="832104" cy="2194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71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2,746</a:t>
            </a:r>
            <a:endParaRPr lang="en-US" sz="710" dirty="0"/>
          </a:p>
        </p:txBody>
      </p:sp>
      <p:sp>
        <p:nvSpPr>
          <p:cNvPr id="63" name="Shape 60"/>
          <p:cNvSpPr/>
          <p:nvPr/>
        </p:nvSpPr>
        <p:spPr>
          <a:xfrm>
            <a:off x="7726680" y="4480560"/>
            <a:ext cx="3429000" cy="283464"/>
          </a:xfrm>
          <a:prstGeom prst="rect">
            <a:avLst/>
          </a:prstGeom>
          <a:solidFill>
            <a:srgbClr val="000000"/>
          </a:solidFill>
          <a:ln w="6350">
            <a:solidFill>
              <a:srgbClr val="2B2B2B"/>
            </a:solidFill>
            <a:prstDash val="solid"/>
          </a:ln>
        </p:spPr>
      </p:sp>
      <p:sp>
        <p:nvSpPr>
          <p:cNvPr id="64" name="Text 61"/>
          <p:cNvSpPr/>
          <p:nvPr/>
        </p:nvSpPr>
        <p:spPr>
          <a:xfrm>
            <a:off x="7790688" y="4512564"/>
            <a:ext cx="1037844" cy="2194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71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2025-04-24</a:t>
            </a:r>
            <a:endParaRPr lang="en-US" sz="710" dirty="0"/>
          </a:p>
        </p:txBody>
      </p:sp>
      <p:sp>
        <p:nvSpPr>
          <p:cNvPr id="65" name="Shape 62"/>
          <p:cNvSpPr/>
          <p:nvPr/>
        </p:nvSpPr>
        <p:spPr>
          <a:xfrm>
            <a:off x="8892540" y="2212848"/>
            <a:ext cx="0" cy="2551176"/>
          </a:xfrm>
          <a:prstGeom prst="line">
            <a:avLst/>
          </a:prstGeom>
          <a:noFill/>
          <a:ln w="5715">
            <a:solidFill>
              <a:srgbClr val="2B2B2B"/>
            </a:solidFill>
            <a:prstDash val="solid"/>
          </a:ln>
        </p:spPr>
      </p:sp>
      <p:sp>
        <p:nvSpPr>
          <p:cNvPr id="66" name="Text 63"/>
          <p:cNvSpPr/>
          <p:nvPr/>
        </p:nvSpPr>
        <p:spPr>
          <a:xfrm>
            <a:off x="8956548" y="4512564"/>
            <a:ext cx="1175004" cy="2194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71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€21,144</a:t>
            </a:r>
            <a:endParaRPr lang="en-US" sz="710" dirty="0"/>
          </a:p>
        </p:txBody>
      </p:sp>
      <p:sp>
        <p:nvSpPr>
          <p:cNvPr id="67" name="Shape 64"/>
          <p:cNvSpPr/>
          <p:nvPr/>
        </p:nvSpPr>
        <p:spPr>
          <a:xfrm>
            <a:off x="10195560" y="2212848"/>
            <a:ext cx="0" cy="2551176"/>
          </a:xfrm>
          <a:prstGeom prst="line">
            <a:avLst/>
          </a:prstGeom>
          <a:noFill/>
          <a:ln w="5715">
            <a:solidFill>
              <a:srgbClr val="2B2B2B"/>
            </a:solidFill>
            <a:prstDash val="solid"/>
          </a:ln>
        </p:spPr>
      </p:sp>
      <p:sp>
        <p:nvSpPr>
          <p:cNvPr id="68" name="Text 65"/>
          <p:cNvSpPr/>
          <p:nvPr/>
        </p:nvSpPr>
        <p:spPr>
          <a:xfrm>
            <a:off x="10259568" y="4512564"/>
            <a:ext cx="832104" cy="2194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71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648</a:t>
            </a:r>
            <a:endParaRPr lang="en-US" sz="710" dirty="0"/>
          </a:p>
        </p:txBody>
      </p:sp>
      <p:pic>
        <p:nvPicPr>
          <p:cNvPr id="69" name="Image 1" descr="/Users/omertal/PycharmProjects/Marketplaats/outputs/019ec668-313f-7a42-b45f-b7e468004534/presentations/q3-verbatim-refresh/assets/latest_revenue_by_bund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0441" y="4736592"/>
            <a:ext cx="1508319" cy="86868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1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2102" y="323698"/>
            <a:ext cx="819302" cy="629107"/>
          </a:xfrm>
          <a:prstGeom prst="rect">
            <a:avLst/>
          </a:prstGeom>
          <a:noFill/>
          <a:ln/>
        </p:spPr>
        <p:txBody>
          <a:bodyPr lIns="57150" tIns="38100" rIns="57150" bIns="3810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3DD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426464" y="323698"/>
            <a:ext cx="9784080" cy="714146"/>
          </a:xfrm>
          <a:prstGeom prst="rect">
            <a:avLst/>
          </a:prstGeom>
          <a:noFill/>
          <a:ln/>
        </p:spPr>
        <p:txBody>
          <a:bodyPr lIns="57150" tIns="38100" rIns="57150" bIns="38100" anchor="t"/>
          <a:lstStyle/>
          <a:p>
            <a:pPr algn="l" indent="0" marL="0">
              <a:buNone/>
            </a:pPr>
            <a:r>
              <a:rPr lang="en-US" sz="3600" dirty="0" b="1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 Seller Outcome Uplift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161288"/>
            <a:ext cx="11274552" cy="0"/>
          </a:xfrm>
          <a:prstGeom prst="line">
            <a:avLst/>
          </a:prstGeom>
          <a:noFill/>
          <a:ln w="12700">
            <a:solidFill>
              <a:srgbClr val="2B2B2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6199632"/>
            <a:ext cx="11274552" cy="0"/>
          </a:xfrm>
          <a:prstGeom prst="line">
            <a:avLst/>
          </a:prstGeom>
          <a:noFill/>
          <a:ln w="12700">
            <a:solidFill>
              <a:srgbClr val="2B2B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12064" y="6345936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A8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SMB Bundle Monitoring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0927080" y="6345936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A8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/ 16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713232" y="1353312"/>
            <a:ext cx="10378440" cy="868680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normAutofit/>
          </a:bodyPr>
          <a:lstStyle/>
          <a:p>
            <a:pPr algn="l" indent="-220000" marL="292000">
              <a:buClr>
                <a:srgbClr val="3DDC97"/>
              </a:buClr>
              <a:buSzPct val="80000"/>
              <a:buFont typeface="Arial"/>
              <a:buChar char="■"/>
              <a:spcAft>
                <a:spcPts val="532"/>
              </a:spcAft>
              <a:defRPr>
                <a:solidFill>
                  <a:srgbClr val="3DDC97"/>
                </a:solidFill>
              </a:defRPr>
            </a:pPr>
            <a:r>
              <a:rPr lang="en-US" sz="1130" dirty="0">
                <a:solidFill>
                  <a:srgbClr val="A8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Question: do bundles help sellers generate more leads?</a:t>
            </a:r>
            <a:endParaRPr lang="en-US" sz="1130" dirty="0"/>
          </a:p>
          <a:p>
            <a:pPr algn="l" indent="-220000" marL="292000">
              <a:buClr>
                <a:srgbClr val="3DDC97"/>
              </a:buClr>
              <a:buSzPct val="80000"/>
              <a:buFont typeface="Arial"/>
              <a:buChar char="■"/>
              <a:spcAft>
                <a:spcPts val="532"/>
              </a:spcAft>
              <a:defRPr>
                <a:solidFill>
                  <a:srgbClr val="3DDC97"/>
                </a:solidFill>
              </a:defRPr>
            </a:pPr>
            <a:r>
              <a:rPr lang="en-US" sz="1130" dirty="0">
                <a:solidFill>
                  <a:srgbClr val="A8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Read: lead uplift vs pre-bundle baseline, split by Basic and Plus.</a:t>
            </a:r>
            <a:endParaRPr lang="en-US" sz="1130" dirty="0"/>
          </a:p>
          <a:p>
            <a:pPr algn="l" indent="-220000" marL="292000">
              <a:buClr>
                <a:srgbClr val="3DDC97"/>
              </a:buClr>
              <a:buSzPct val="80000"/>
              <a:buFont typeface="Arial"/>
              <a:buChar char="■"/>
              <a:defRPr>
                <a:solidFill>
                  <a:srgbClr val="3DDC97"/>
                </a:solidFill>
              </a:defRPr>
            </a:pPr>
            <a:r>
              <a:rPr lang="en-US" sz="1130" dirty="0">
                <a:solidFill>
                  <a:srgbClr val="A8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Dummy data, not measured results.</a:t>
            </a:r>
            <a:endParaRPr lang="en-US" sz="1130" dirty="0"/>
          </a:p>
        </p:txBody>
      </p:sp>
      <p:pic>
        <p:nvPicPr>
          <p:cNvPr id="14" name="Image 0" descr="/Users/omertal/PycharmProjects/Marketplaats/outputs/019ec668-313f-7a42-b45f-b7e468004534/presentations/q3-verbatim-refresh/assets/seller_leads_uplif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65267" y="2240280"/>
            <a:ext cx="5282347" cy="33375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SMB Bundles 3 Monitor</dc:title>
  <dc:subject>SMB Bundle Dashboard</dc:subject>
  <dc:creator>Omer Tal</dc:creator>
  <cp:lastModifiedBy>Omer Tal</cp:lastModifiedBy>
  <cp:revision>1</cp:revision>
  <dcterms:created xsi:type="dcterms:W3CDTF">2026-06-14T19:44:45Z</dcterms:created>
  <dcterms:modified xsi:type="dcterms:W3CDTF">2026-06-14T19:44:45Z</dcterms:modified>
</cp:coreProperties>
</file>