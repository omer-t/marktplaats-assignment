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02_0.xml" ContentType="application/vnd.ms-powerpoint.comment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omments/modernComment_106_0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omments/modernComment_10B_0.xml" ContentType="application/vnd.ms-powerpoint.comment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7" r:id="rId9"/>
    <p:sldId id="272" r:id="rId10"/>
    <p:sldId id="269" r:id="rId11"/>
    <p:sldId id="271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15BEED1-CB72-B48E-F02F-A910FFABA975}" name="Omer Tal" initials="OT" userId="4873ff6cd3b5db5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8A8A8"/>
    <a:srgbClr val="3DDC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266"/>
    <p:restoredTop sz="94691"/>
  </p:normalViewPr>
  <p:slideViewPr>
    <p:cSldViewPr snapToGrid="0" snapToObjects="1">
      <p:cViewPr>
        <p:scale>
          <a:sx n="157" d="100"/>
          <a:sy n="157" d="100"/>
        </p:scale>
        <p:origin x="7712" y="1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omments/modernComment_10B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41D02F3-DA95-284C-996F-FF48BCCDF6BD}" authorId="{415BEED1-CB72-B48E-F02F-A910FFABA975}" created="2026-06-15T19:56:50.029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7"/>
      <ac:spMk id="13" creationId="{A90C4CDA-20E1-4A66-06B2-6B57882CCD19}"/>
    </ac:deMkLst>
    <p188:txBody>
      <a:bodyPr/>
      <a:lstStyle/>
      <a:p>
        <a:r>
          <a:rPr lang="en-US"/>
          <a:t>Remove</a:t>
        </a:r>
      </a:p>
    </p188:txBody>
  </p188:cm>
</p188:cmLst>
</file>

<file path=ppt/comments/modernComment_102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B84F299-764A-F143-BE81-B532CE6611A3}" authorId="{415BEED1-CB72-B48E-F02F-A910FFABA975}" created="2026-06-15T19:52:39.82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58"/>
      <ac:spMk id="29" creationId="{A1B36AC2-DD7B-52CC-4B11-0FB1FD870343}"/>
    </ac:deMkLst>
    <p188:txBody>
      <a:bodyPr/>
      <a:lstStyle/>
      <a:p>
        <a:r>
          <a:rPr lang="en-US"/>
          <a:t>Increase size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D2EE5E7-B8E8-C34F-8705-6ED94DEE77F9}" authorId="{415BEED1-CB72-B48E-F02F-A910FFABA975}" created="2026-06-15T19:54:25.61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0" sldId="262"/>
      <ac:spMk id="11" creationId="{58492A07-403A-0E9C-FBBA-EBE9C0ACDA9C}"/>
    </ac:deMkLst>
    <p188:txBody>
      <a:bodyPr/>
      <a:lstStyle/>
      <a:p>
        <a:r>
          <a:rPr lang="en-US"/>
          <a:t>remove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32061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64343-87FA-54D9-5BE6-37B511EE8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BEE2F-4F27-3C69-6E57-A1B1FE5007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FE572-FD21-D2F6-7670-A81980571D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C54CCA-6375-311E-431A-D42C2EBEC9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9703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0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0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B_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905" y="899770"/>
            <a:ext cx="3600907" cy="389534"/>
          </a:xfrm>
          <a:prstGeom prst="rect">
            <a:avLst/>
          </a:prstGeom>
          <a:noFill/>
          <a:ln/>
        </p:spPr>
        <p:txBody>
          <a:bodyPr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D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Identify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033272" y="9235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09905" y="1399946"/>
            <a:ext cx="3600907" cy="389534"/>
          </a:xfrm>
          <a:prstGeom prst="rect">
            <a:avLst/>
          </a:prstGeom>
          <a:noFill/>
          <a:ln/>
        </p:spPr>
        <p:txBody>
          <a:bodyPr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2FB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Prioritize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33272" y="143560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12064" y="2257654"/>
            <a:ext cx="10500055" cy="829361"/>
          </a:xfrm>
          <a:prstGeom prst="rect">
            <a:avLst/>
          </a:prstGeom>
          <a:noFill/>
          <a:ln/>
        </p:spPr>
        <p:txBody>
          <a:bodyPr lIns="0" tIns="0" rIns="0" bIns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70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Monitor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240280" y="2852928"/>
            <a:ext cx="4480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512064" y="3377794"/>
            <a:ext cx="9999878" cy="360274"/>
          </a:xfrm>
          <a:prstGeom prst="rect">
            <a:avLst/>
          </a:prstGeom>
          <a:noFill/>
          <a:ln/>
        </p:spPr>
        <p:txBody>
          <a:bodyPr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2200" b="0" dirty="0">
                <a:solidFill>
                  <a:srgbClr val="A7A7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bundle adoption, revenue, and customer quality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9905" y="4590288"/>
            <a:ext cx="3600907" cy="389534"/>
          </a:xfrm>
          <a:prstGeom prst="rect">
            <a:avLst/>
          </a:prstGeom>
          <a:noFill/>
          <a:ln/>
        </p:spPr>
        <p:txBody>
          <a:bodyPr lIns="0" tIns="0" rIns="0" bIns="0" anchor="t">
            <a:norm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FF7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Scale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3272" y="489204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146536" y="6291072"/>
            <a:ext cx="590702" cy="228600"/>
          </a:xfrm>
          <a:prstGeom prst="rect">
            <a:avLst/>
          </a:prstGeom>
          <a:noFill/>
          <a:ln/>
        </p:spPr>
        <p:txBody>
          <a:bodyPr lIns="57150" tIns="38100" rIns="57150" bIns="38100" anchor="t">
            <a:normAutofit/>
          </a:bodyPr>
          <a:lstStyle/>
          <a:p>
            <a:pPr marL="0" indent="0" algn="r">
              <a:buNone/>
            </a:pPr>
            <a:r>
              <a:rPr lang="en-US" sz="900" b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12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Dashboard Framing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16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13232" y="1444752"/>
            <a:ext cx="10378440" cy="142646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monitor whether SMB Bundles are gaining traction, converting to paid usage, and creating measurable value.</a:t>
            </a:r>
            <a:endParaRPr lang="en-US" sz="1220" dirty="0"/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controls such as filters and breakdown dimensions for deep-dive.</a:t>
            </a:r>
            <a:endParaRPr lang="en-US" sz="1220" dirty="0"/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Suggested data enrichments:</a:t>
            </a:r>
          </a:p>
          <a:p>
            <a:pPr marL="749200" lvl="1" indent="-220000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2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revenue and seller-outcome data to assess impact</a:t>
            </a:r>
          </a:p>
          <a:p>
            <a:pPr marL="749200" lvl="1" indent="-220000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20" dirty="0">
                <a:solidFill>
                  <a:srgbClr val="A8A8A8"/>
                </a:solidFill>
                <a:latin typeface="Arial" pitchFamily="34" charset="0"/>
                <a:cs typeface="Arial" pitchFamily="34" charset="-120"/>
              </a:rPr>
              <a:t>SMB likelihood, Outreach readiness, and various seller activity dataset for detailed segmentation</a:t>
            </a:r>
            <a:endParaRPr lang="en-US" sz="122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157B41A-A5C7-7B4E-FAA6-71A4C0656DCA}"/>
              </a:ext>
            </a:extLst>
          </p:cNvPr>
          <p:cNvSpPr/>
          <p:nvPr/>
        </p:nvSpPr>
        <p:spPr>
          <a:xfrm>
            <a:off x="658368" y="3048714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Structure: Three Dashboard Views</a:t>
            </a:r>
            <a:endParaRPr lang="en-US" sz="1800" dirty="0">
              <a:solidFill>
                <a:srgbClr val="3DDC97"/>
              </a:solidFill>
            </a:endParaRPr>
          </a:p>
        </p:txBody>
      </p:sp>
      <p:sp>
        <p:nvSpPr>
          <p:cNvPr id="11" name="Dashboard Card Background 1"/>
          <p:cNvSpPr/>
          <p:nvPr/>
        </p:nvSpPr>
        <p:spPr>
          <a:xfrm>
            <a:off x="658368" y="3505914"/>
            <a:ext cx="3401568" cy="1795208"/>
          </a:xfrm>
          <a:prstGeom prst="rect">
            <a:avLst/>
          </a:prstGeom>
          <a:solidFill>
            <a:srgbClr val="111111"/>
          </a:solidFill>
          <a:ln w="9525">
            <a:solidFill>
              <a:srgbClr val="2A2A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Dashboard Card Header 1"/>
          <p:cNvSpPr/>
          <p:nvPr/>
        </p:nvSpPr>
        <p:spPr>
          <a:xfrm>
            <a:off x="658368" y="3505914"/>
            <a:ext cx="3401568" cy="420624"/>
          </a:xfrm>
          <a:prstGeom prst="rect">
            <a:avLst/>
          </a:prstGeom>
          <a:solidFill>
            <a:srgbClr val="171717"/>
          </a:solidFill>
          <a:ln w="9525">
            <a:solidFill>
              <a:srgbClr val="2A2A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" name="Dashboard Card Accent 1"/>
          <p:cNvSpPr/>
          <p:nvPr/>
        </p:nvSpPr>
        <p:spPr>
          <a:xfrm>
            <a:off x="658368" y="3505914"/>
            <a:ext cx="64008" cy="1795208"/>
          </a:xfrm>
          <a:prstGeom prst="rect">
            <a:avLst/>
          </a:prstGeom>
          <a:solidFill>
            <a:srgbClr val="3DDC97"/>
          </a:solidFill>
          <a:ln w="9525">
            <a:solidFill>
              <a:srgbClr val="3DDC9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" name="Dashboard Card Text 1"/>
          <p:cNvSpPr txBox="1"/>
          <p:nvPr/>
        </p:nvSpPr>
        <p:spPr>
          <a:xfrm>
            <a:off x="841248" y="3615642"/>
            <a:ext cx="3072384" cy="159757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/>
            <a:r>
              <a:rPr lang="en-US" sz="158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Sales Overview</a:t>
            </a:r>
          </a:p>
          <a:p>
            <a:pPr algn="l"/>
            <a:endParaRPr lang="en-US" sz="1580" dirty="0">
              <a:solidFill>
                <a:srgbClr val="F2F2F2"/>
              </a:solidFill>
            </a:endParaRPr>
          </a:p>
          <a:p>
            <a:pPr algn="l"/>
            <a:r>
              <a:rPr lang="en-US" sz="920" b="1" dirty="0">
                <a:solidFill>
                  <a:srgbClr val="3DDC97"/>
                </a:solidFill>
                <a:latin typeface="Arial"/>
                <a:ea typeface="Arial"/>
                <a:cs typeface="Arial"/>
              </a:rPr>
              <a:t>Goal</a:t>
            </a:r>
            <a:endParaRPr lang="en-US" sz="920" dirty="0">
              <a:solidFill>
                <a:srgbClr val="3DDC97"/>
              </a:solidFill>
            </a:endParaRPr>
          </a:p>
          <a:p>
            <a:pPr algn="l"/>
            <a:r>
              <a:rPr lang="en-US" sz="116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Track launch traction and monetized adoption</a:t>
            </a:r>
            <a:endParaRPr lang="en-US" sz="1160" dirty="0">
              <a:solidFill>
                <a:srgbClr val="F2F2F2"/>
              </a:solidFill>
            </a:endParaRPr>
          </a:p>
          <a:p>
            <a:pPr algn="l"/>
            <a:endParaRPr lang="en-US" sz="920" b="1" dirty="0">
              <a:solidFill>
                <a:srgbClr val="3DDC97"/>
              </a:solidFill>
              <a:latin typeface="Arial"/>
              <a:ea typeface="Arial"/>
              <a:cs typeface="Arial"/>
            </a:endParaRPr>
          </a:p>
          <a:p>
            <a:pPr algn="l"/>
            <a:r>
              <a:rPr lang="en-US" sz="920" b="1" dirty="0">
                <a:solidFill>
                  <a:srgbClr val="3DDC97"/>
                </a:solidFill>
                <a:latin typeface="Arial"/>
                <a:ea typeface="Arial"/>
                <a:cs typeface="Arial"/>
              </a:rPr>
              <a:t>Main question</a:t>
            </a:r>
            <a:endParaRPr lang="en-US" sz="920" dirty="0">
              <a:solidFill>
                <a:srgbClr val="3DDC97"/>
              </a:solidFill>
            </a:endParaRPr>
          </a:p>
          <a:p>
            <a:pPr algn="l"/>
            <a:r>
              <a:rPr lang="en-US" sz="112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Are bundles gaining commercial traction?</a:t>
            </a:r>
            <a:endParaRPr lang="en-US" sz="1120" dirty="0">
              <a:solidFill>
                <a:srgbClr val="F2F2F2"/>
              </a:solidFill>
            </a:endParaRPr>
          </a:p>
        </p:txBody>
      </p:sp>
      <p:sp>
        <p:nvSpPr>
          <p:cNvPr id="15" name="Dashboard Card Background 2"/>
          <p:cNvSpPr/>
          <p:nvPr/>
        </p:nvSpPr>
        <p:spPr>
          <a:xfrm>
            <a:off x="4315968" y="3505914"/>
            <a:ext cx="3401568" cy="1795208"/>
          </a:xfrm>
          <a:prstGeom prst="rect">
            <a:avLst/>
          </a:prstGeom>
          <a:solidFill>
            <a:srgbClr val="111111"/>
          </a:solidFill>
          <a:ln w="9525">
            <a:solidFill>
              <a:srgbClr val="2A2A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" name="Dashboard Card Header 2"/>
          <p:cNvSpPr/>
          <p:nvPr/>
        </p:nvSpPr>
        <p:spPr>
          <a:xfrm>
            <a:off x="4315968" y="3505914"/>
            <a:ext cx="3401568" cy="420624"/>
          </a:xfrm>
          <a:prstGeom prst="rect">
            <a:avLst/>
          </a:prstGeom>
          <a:solidFill>
            <a:srgbClr val="171717"/>
          </a:solidFill>
          <a:ln w="9525">
            <a:solidFill>
              <a:srgbClr val="2A2A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Dashboard Card Accent 2"/>
          <p:cNvSpPr/>
          <p:nvPr/>
        </p:nvSpPr>
        <p:spPr>
          <a:xfrm>
            <a:off x="4315968" y="3505914"/>
            <a:ext cx="64008" cy="1795208"/>
          </a:xfrm>
          <a:prstGeom prst="rect">
            <a:avLst/>
          </a:prstGeom>
          <a:solidFill>
            <a:srgbClr val="3DDC97"/>
          </a:solidFill>
          <a:ln w="9525">
            <a:solidFill>
              <a:srgbClr val="3DDC9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8" name="Dashboard Card Text 2"/>
          <p:cNvSpPr txBox="1"/>
          <p:nvPr/>
        </p:nvSpPr>
        <p:spPr>
          <a:xfrm>
            <a:off x="4498848" y="3615642"/>
            <a:ext cx="3072384" cy="159757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/>
            <a:r>
              <a:rPr lang="en-US" sz="158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Customer Quality</a:t>
            </a:r>
            <a:endParaRPr lang="en-US" sz="1580" dirty="0">
              <a:solidFill>
                <a:srgbClr val="F2F2F2"/>
              </a:solidFill>
            </a:endParaRPr>
          </a:p>
          <a:p>
            <a:pPr algn="l"/>
            <a:endParaRPr lang="en-US" sz="920" b="1" dirty="0">
              <a:solidFill>
                <a:srgbClr val="3DDC97"/>
              </a:solidFill>
              <a:latin typeface="Arial"/>
              <a:ea typeface="Arial"/>
              <a:cs typeface="Arial"/>
            </a:endParaRPr>
          </a:p>
          <a:p>
            <a:pPr algn="l"/>
            <a:r>
              <a:rPr lang="en-US" sz="920" b="1" dirty="0">
                <a:solidFill>
                  <a:srgbClr val="3DDC97"/>
                </a:solidFill>
                <a:latin typeface="Arial"/>
                <a:ea typeface="Arial"/>
                <a:cs typeface="Arial"/>
              </a:rPr>
              <a:t>Goal</a:t>
            </a:r>
            <a:endParaRPr lang="en-US" sz="920" dirty="0">
              <a:solidFill>
                <a:srgbClr val="3DDC97"/>
              </a:solidFill>
            </a:endParaRPr>
          </a:p>
          <a:p>
            <a:pPr algn="l"/>
            <a:r>
              <a:rPr lang="en-US" sz="116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Monitor conversion, retention, and segment differences</a:t>
            </a:r>
          </a:p>
          <a:p>
            <a:pPr algn="l"/>
            <a:endParaRPr lang="en-US" sz="1160" dirty="0">
              <a:solidFill>
                <a:srgbClr val="F2F2F2"/>
              </a:solidFill>
            </a:endParaRPr>
          </a:p>
          <a:p>
            <a:pPr algn="l"/>
            <a:r>
              <a:rPr lang="en-US" sz="920" b="1" dirty="0">
                <a:solidFill>
                  <a:srgbClr val="3DDC97"/>
                </a:solidFill>
                <a:latin typeface="Arial"/>
                <a:ea typeface="Arial"/>
                <a:cs typeface="Arial"/>
              </a:rPr>
              <a:t>Main question</a:t>
            </a:r>
            <a:endParaRPr lang="en-US" sz="920" dirty="0">
              <a:solidFill>
                <a:srgbClr val="3DDC97"/>
              </a:solidFill>
            </a:endParaRPr>
          </a:p>
          <a:p>
            <a:pPr algn="l"/>
            <a:r>
              <a:rPr lang="en-US" sz="112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Are registrations becoming retained paid customers?</a:t>
            </a:r>
            <a:endParaRPr lang="en-US" sz="1120" dirty="0">
              <a:solidFill>
                <a:srgbClr val="F2F2F2"/>
              </a:solidFill>
            </a:endParaRPr>
          </a:p>
        </p:txBody>
      </p:sp>
      <p:sp>
        <p:nvSpPr>
          <p:cNvPr id="19" name="Dashboard Card Background 3"/>
          <p:cNvSpPr/>
          <p:nvPr/>
        </p:nvSpPr>
        <p:spPr>
          <a:xfrm>
            <a:off x="7973568" y="3505914"/>
            <a:ext cx="3401568" cy="1795208"/>
          </a:xfrm>
          <a:prstGeom prst="rect">
            <a:avLst/>
          </a:prstGeom>
          <a:solidFill>
            <a:srgbClr val="111111"/>
          </a:solidFill>
          <a:ln w="9525">
            <a:solidFill>
              <a:srgbClr val="2A2A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" name="Dashboard Card Header 3"/>
          <p:cNvSpPr/>
          <p:nvPr/>
        </p:nvSpPr>
        <p:spPr>
          <a:xfrm>
            <a:off x="7973568" y="3505914"/>
            <a:ext cx="3401568" cy="420624"/>
          </a:xfrm>
          <a:prstGeom prst="rect">
            <a:avLst/>
          </a:prstGeom>
          <a:solidFill>
            <a:srgbClr val="171717"/>
          </a:solidFill>
          <a:ln w="9525">
            <a:solidFill>
              <a:srgbClr val="2A2A2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" name="Dashboard Card Accent 3"/>
          <p:cNvSpPr/>
          <p:nvPr/>
        </p:nvSpPr>
        <p:spPr>
          <a:xfrm>
            <a:off x="7973568" y="3505914"/>
            <a:ext cx="64008" cy="1795208"/>
          </a:xfrm>
          <a:prstGeom prst="rect">
            <a:avLst/>
          </a:prstGeom>
          <a:solidFill>
            <a:srgbClr val="3DDC97"/>
          </a:solidFill>
          <a:ln w="9525">
            <a:solidFill>
              <a:srgbClr val="3DDC97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Dashboard Card Text 3"/>
          <p:cNvSpPr txBox="1"/>
          <p:nvPr/>
        </p:nvSpPr>
        <p:spPr>
          <a:xfrm>
            <a:off x="8156448" y="3615642"/>
            <a:ext cx="3072384" cy="159757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algn="l"/>
            <a:r>
              <a:rPr lang="en-US" sz="158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Business Impact</a:t>
            </a:r>
            <a:endParaRPr lang="en-US" sz="1580" dirty="0">
              <a:solidFill>
                <a:srgbClr val="F2F2F2"/>
              </a:solidFill>
            </a:endParaRPr>
          </a:p>
          <a:p>
            <a:pPr algn="l"/>
            <a:endParaRPr lang="en-US" sz="920" b="1" dirty="0">
              <a:solidFill>
                <a:srgbClr val="3DDC97"/>
              </a:solidFill>
              <a:latin typeface="Arial"/>
              <a:ea typeface="Arial"/>
              <a:cs typeface="Arial"/>
            </a:endParaRPr>
          </a:p>
          <a:p>
            <a:pPr algn="l"/>
            <a:r>
              <a:rPr lang="en-US" sz="920" b="1" dirty="0">
                <a:solidFill>
                  <a:srgbClr val="3DDC97"/>
                </a:solidFill>
                <a:latin typeface="Arial"/>
                <a:ea typeface="Arial"/>
                <a:cs typeface="Arial"/>
              </a:rPr>
              <a:t>Goal</a:t>
            </a:r>
            <a:endParaRPr lang="en-US" sz="920" dirty="0">
              <a:solidFill>
                <a:srgbClr val="3DDC97"/>
              </a:solidFill>
            </a:endParaRPr>
          </a:p>
          <a:p>
            <a:pPr algn="l"/>
            <a:r>
              <a:rPr lang="en-US" sz="116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Quantify value for Marktplaats and sellers</a:t>
            </a:r>
            <a:endParaRPr lang="en-US" sz="1160" dirty="0">
              <a:solidFill>
                <a:srgbClr val="F2F2F2"/>
              </a:solidFill>
            </a:endParaRPr>
          </a:p>
          <a:p>
            <a:pPr algn="l"/>
            <a:endParaRPr lang="en-US" sz="920" b="1" dirty="0">
              <a:solidFill>
                <a:srgbClr val="3DDC97"/>
              </a:solidFill>
              <a:latin typeface="Arial"/>
              <a:ea typeface="Arial"/>
              <a:cs typeface="Arial"/>
            </a:endParaRPr>
          </a:p>
          <a:p>
            <a:pPr algn="l"/>
            <a:r>
              <a:rPr lang="en-US" sz="920" b="1" dirty="0">
                <a:solidFill>
                  <a:srgbClr val="3DDC97"/>
                </a:solidFill>
                <a:latin typeface="Arial"/>
                <a:ea typeface="Arial"/>
                <a:cs typeface="Arial"/>
              </a:rPr>
              <a:t>Main question</a:t>
            </a:r>
            <a:endParaRPr lang="en-US" sz="920" dirty="0">
              <a:solidFill>
                <a:srgbClr val="3DDC97"/>
              </a:solidFill>
            </a:endParaRPr>
          </a:p>
          <a:p>
            <a:pPr algn="l"/>
            <a:r>
              <a:rPr lang="en-US" sz="1120" b="1" dirty="0">
                <a:solidFill>
                  <a:srgbClr val="F2F2F2"/>
                </a:solidFill>
                <a:latin typeface="Arial"/>
                <a:ea typeface="Arial"/>
                <a:cs typeface="Arial"/>
              </a:rPr>
              <a:t>Are bundles creating measurable value?</a:t>
            </a:r>
            <a:endParaRPr lang="en-US" sz="1120" dirty="0">
              <a:solidFill>
                <a:srgbClr val="F2F2F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Sales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3656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16</a:t>
            </a:r>
            <a:endParaRPr lang="en-US" sz="75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F1AA4C55-897C-E486-30E1-7CC79E3B2262}"/>
              </a:ext>
            </a:extLst>
          </p:cNvPr>
          <p:cNvSpPr/>
          <p:nvPr/>
        </p:nvSpPr>
        <p:spPr>
          <a:xfrm>
            <a:off x="713232" y="2465401"/>
            <a:ext cx="10332720" cy="320035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latest headline readout?</a:t>
            </a:r>
            <a:endParaRPr lang="en-US" sz="1200" b="1" dirty="0">
              <a:solidFill>
                <a:schemeClr val="bg1"/>
              </a:solidFill>
            </a:endParaRP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0B1B998A-0D92-C82C-22E5-E59587629547}"/>
              </a:ext>
            </a:extLst>
          </p:cNvPr>
          <p:cNvSpPr/>
          <p:nvPr/>
        </p:nvSpPr>
        <p:spPr>
          <a:xfrm>
            <a:off x="685800" y="3004892"/>
            <a:ext cx="3246120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13">
            <a:extLst>
              <a:ext uri="{FF2B5EF4-FFF2-40B4-BE49-F238E27FC236}">
                <a16:creationId xmlns:a16="http://schemas.microsoft.com/office/drawing/2014/main" id="{F0FBC6D7-CDC2-10D3-715E-1BB9DC3F3D2F}"/>
              </a:ext>
            </a:extLst>
          </p:cNvPr>
          <p:cNvSpPr/>
          <p:nvPr/>
        </p:nvSpPr>
        <p:spPr>
          <a:xfrm>
            <a:off x="685800" y="3004892"/>
            <a:ext cx="3246120" cy="411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C35B6179-AACE-BD6F-9523-6370C8F0F73A}"/>
              </a:ext>
            </a:extLst>
          </p:cNvPr>
          <p:cNvSpPr/>
          <p:nvPr/>
        </p:nvSpPr>
        <p:spPr>
          <a:xfrm>
            <a:off x="813816" y="3187772"/>
            <a:ext cx="2944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2025-04-29</a:t>
            </a:r>
            <a:endParaRPr lang="en-US" sz="1620" dirty="0"/>
          </a:p>
        </p:txBody>
      </p:sp>
      <p:sp>
        <p:nvSpPr>
          <p:cNvPr id="13" name="Text 15">
            <a:extLst>
              <a:ext uri="{FF2B5EF4-FFF2-40B4-BE49-F238E27FC236}">
                <a16:creationId xmlns:a16="http://schemas.microsoft.com/office/drawing/2014/main" id="{E83338F3-8A09-4622-72FE-0F09C16E79B9}"/>
              </a:ext>
            </a:extLst>
          </p:cNvPr>
          <p:cNvSpPr/>
          <p:nvPr/>
        </p:nvSpPr>
        <p:spPr>
          <a:xfrm>
            <a:off x="813816" y="3516956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date</a:t>
            </a:r>
            <a:endParaRPr lang="en-US" sz="820" dirty="0"/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2495EE56-9E33-219F-E644-73947C8D84CA}"/>
              </a:ext>
            </a:extLst>
          </p:cNvPr>
          <p:cNvSpPr/>
          <p:nvPr/>
        </p:nvSpPr>
        <p:spPr>
          <a:xfrm>
            <a:off x="4389120" y="3004892"/>
            <a:ext cx="3246120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7">
            <a:extLst>
              <a:ext uri="{FF2B5EF4-FFF2-40B4-BE49-F238E27FC236}">
                <a16:creationId xmlns:a16="http://schemas.microsoft.com/office/drawing/2014/main" id="{BA20CD5D-96C4-11A3-2522-DB759D8D769A}"/>
              </a:ext>
            </a:extLst>
          </p:cNvPr>
          <p:cNvSpPr/>
          <p:nvPr/>
        </p:nvSpPr>
        <p:spPr>
          <a:xfrm>
            <a:off x="4389120" y="3004892"/>
            <a:ext cx="3246120" cy="411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8">
            <a:extLst>
              <a:ext uri="{FF2B5EF4-FFF2-40B4-BE49-F238E27FC236}">
                <a16:creationId xmlns:a16="http://schemas.microsoft.com/office/drawing/2014/main" id="{E92F90E2-5031-97FE-EB2F-553CB0B4F51A}"/>
              </a:ext>
            </a:extLst>
          </p:cNvPr>
          <p:cNvSpPr/>
          <p:nvPr/>
        </p:nvSpPr>
        <p:spPr>
          <a:xfrm>
            <a:off x="4517136" y="3187772"/>
            <a:ext cx="2944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2,709 (+0% w/w)</a:t>
            </a:r>
            <a:endParaRPr lang="en-US" sz="1620" dirty="0"/>
          </a:p>
        </p:txBody>
      </p:sp>
      <p:sp>
        <p:nvSpPr>
          <p:cNvPr id="17" name="Text 19">
            <a:extLst>
              <a:ext uri="{FF2B5EF4-FFF2-40B4-BE49-F238E27FC236}">
                <a16:creationId xmlns:a16="http://schemas.microsoft.com/office/drawing/2014/main" id="{A4485A5A-0068-34BB-AAEC-D237C1C349B7}"/>
              </a:ext>
            </a:extLst>
          </p:cNvPr>
          <p:cNvSpPr/>
          <p:nvPr/>
        </p:nvSpPr>
        <p:spPr>
          <a:xfrm>
            <a:off x="4517136" y="3516956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paid bundles</a:t>
            </a:r>
            <a:endParaRPr lang="en-US" sz="820" dirty="0"/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E8D8C2EB-B52A-DFFA-973A-DA8CF0E43B2E}"/>
              </a:ext>
            </a:extLst>
          </p:cNvPr>
          <p:cNvSpPr/>
          <p:nvPr/>
        </p:nvSpPr>
        <p:spPr>
          <a:xfrm>
            <a:off x="8092440" y="3004892"/>
            <a:ext cx="3246120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21">
            <a:extLst>
              <a:ext uri="{FF2B5EF4-FFF2-40B4-BE49-F238E27FC236}">
                <a16:creationId xmlns:a16="http://schemas.microsoft.com/office/drawing/2014/main" id="{CF162971-27EE-C838-5AF6-9EA8FB901361}"/>
              </a:ext>
            </a:extLst>
          </p:cNvPr>
          <p:cNvSpPr/>
          <p:nvPr/>
        </p:nvSpPr>
        <p:spPr>
          <a:xfrm>
            <a:off x="8092440" y="3004892"/>
            <a:ext cx="3246120" cy="411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22">
            <a:extLst>
              <a:ext uri="{FF2B5EF4-FFF2-40B4-BE49-F238E27FC236}">
                <a16:creationId xmlns:a16="http://schemas.microsoft.com/office/drawing/2014/main" id="{F8602653-2773-72C8-9182-F99647EC3033}"/>
              </a:ext>
            </a:extLst>
          </p:cNvPr>
          <p:cNvSpPr/>
          <p:nvPr/>
        </p:nvSpPr>
        <p:spPr>
          <a:xfrm>
            <a:off x="8220456" y="3187772"/>
            <a:ext cx="2944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(+0% w/w)</a:t>
            </a:r>
            <a:endParaRPr lang="en-US" sz="1620" dirty="0"/>
          </a:p>
        </p:txBody>
      </p:sp>
      <p:sp>
        <p:nvSpPr>
          <p:cNvPr id="21" name="Text 23">
            <a:extLst>
              <a:ext uri="{FF2B5EF4-FFF2-40B4-BE49-F238E27FC236}">
                <a16:creationId xmlns:a16="http://schemas.microsoft.com/office/drawing/2014/main" id="{8F6A79B8-933C-9B1C-D67D-FDF3218B4F79}"/>
              </a:ext>
            </a:extLst>
          </p:cNvPr>
          <p:cNvSpPr/>
          <p:nvPr/>
        </p:nvSpPr>
        <p:spPr>
          <a:xfrm>
            <a:off x="8220456" y="3516956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trial bundles</a:t>
            </a:r>
            <a:endParaRPr lang="en-US" sz="820" dirty="0"/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87AAA9F5-7048-69FE-0136-1CEB2A5576AC}"/>
              </a:ext>
            </a:extLst>
          </p:cNvPr>
          <p:cNvSpPr/>
          <p:nvPr/>
        </p:nvSpPr>
        <p:spPr>
          <a:xfrm>
            <a:off x="685800" y="4083884"/>
            <a:ext cx="3246120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5">
            <a:extLst>
              <a:ext uri="{FF2B5EF4-FFF2-40B4-BE49-F238E27FC236}">
                <a16:creationId xmlns:a16="http://schemas.microsoft.com/office/drawing/2014/main" id="{41B56EDB-1C32-5A67-F18B-71DCA26C624F}"/>
              </a:ext>
            </a:extLst>
          </p:cNvPr>
          <p:cNvSpPr/>
          <p:nvPr/>
        </p:nvSpPr>
        <p:spPr>
          <a:xfrm>
            <a:off x="685800" y="4083884"/>
            <a:ext cx="3246120" cy="411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6">
            <a:extLst>
              <a:ext uri="{FF2B5EF4-FFF2-40B4-BE49-F238E27FC236}">
                <a16:creationId xmlns:a16="http://schemas.microsoft.com/office/drawing/2014/main" id="{E00D1E40-2ACC-8D27-0854-2E741812B355}"/>
              </a:ext>
            </a:extLst>
          </p:cNvPr>
          <p:cNvSpPr/>
          <p:nvPr/>
        </p:nvSpPr>
        <p:spPr>
          <a:xfrm>
            <a:off x="813816" y="4266764"/>
            <a:ext cx="2944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(+156% vs prior 4wk)</a:t>
            </a:r>
            <a:endParaRPr lang="en-US" sz="1620" dirty="0"/>
          </a:p>
        </p:txBody>
      </p:sp>
      <p:sp>
        <p:nvSpPr>
          <p:cNvPr id="25" name="Text 27">
            <a:extLst>
              <a:ext uri="{FF2B5EF4-FFF2-40B4-BE49-F238E27FC236}">
                <a16:creationId xmlns:a16="http://schemas.microsoft.com/office/drawing/2014/main" id="{D0602E78-9123-E509-A44D-635478E78DFC}"/>
              </a:ext>
            </a:extLst>
          </p:cNvPr>
          <p:cNvSpPr/>
          <p:nvPr/>
        </p:nvSpPr>
        <p:spPr>
          <a:xfrm>
            <a:off x="813816" y="4595948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registration in 4wk</a:t>
            </a:r>
            <a:endParaRPr lang="en-US" sz="820" dirty="0"/>
          </a:p>
        </p:txBody>
      </p:sp>
      <p:sp>
        <p:nvSpPr>
          <p:cNvPr id="26" name="Shape 28">
            <a:extLst>
              <a:ext uri="{FF2B5EF4-FFF2-40B4-BE49-F238E27FC236}">
                <a16:creationId xmlns:a16="http://schemas.microsoft.com/office/drawing/2014/main" id="{4A9DA027-9F43-37E4-CD56-8BAD890AE15D}"/>
              </a:ext>
            </a:extLst>
          </p:cNvPr>
          <p:cNvSpPr/>
          <p:nvPr/>
        </p:nvSpPr>
        <p:spPr>
          <a:xfrm>
            <a:off x="4389120" y="4083884"/>
            <a:ext cx="3246120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9">
            <a:extLst>
              <a:ext uri="{FF2B5EF4-FFF2-40B4-BE49-F238E27FC236}">
                <a16:creationId xmlns:a16="http://schemas.microsoft.com/office/drawing/2014/main" id="{90A8EF38-54B4-3B5A-5D0F-8BBE8AC4EDC0}"/>
              </a:ext>
            </a:extLst>
          </p:cNvPr>
          <p:cNvSpPr/>
          <p:nvPr/>
        </p:nvSpPr>
        <p:spPr>
          <a:xfrm>
            <a:off x="4389120" y="4083884"/>
            <a:ext cx="3246120" cy="411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30">
            <a:extLst>
              <a:ext uri="{FF2B5EF4-FFF2-40B4-BE49-F238E27FC236}">
                <a16:creationId xmlns:a16="http://schemas.microsoft.com/office/drawing/2014/main" id="{5A3BF420-1CEF-DBE1-0C5D-A4B8D4C04422}"/>
              </a:ext>
            </a:extLst>
          </p:cNvPr>
          <p:cNvSpPr/>
          <p:nvPr/>
        </p:nvSpPr>
        <p:spPr>
          <a:xfrm>
            <a:off x="4517136" y="4266764"/>
            <a:ext cx="2944368" cy="237744"/>
          </a:xfrm>
          <a:prstGeom prst="rect">
            <a:avLst/>
          </a:prstGeom>
          <a:noFill/>
          <a:ln/>
        </p:spPr>
        <p:txBody>
          <a:bodyPr lIns="0" tIns="0" rIns="0" bIns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40.9% (+0.1pp w/w)</a:t>
            </a:r>
            <a:endParaRPr lang="en-US" sz="1620" dirty="0"/>
          </a:p>
        </p:txBody>
      </p:sp>
      <p:sp>
        <p:nvSpPr>
          <p:cNvPr id="29" name="Text 31">
            <a:extLst>
              <a:ext uri="{FF2B5EF4-FFF2-40B4-BE49-F238E27FC236}">
                <a16:creationId xmlns:a16="http://schemas.microsoft.com/office/drawing/2014/main" id="{A1B36AC2-DD7B-52CC-4B11-0FB1FD870343}"/>
              </a:ext>
            </a:extLst>
          </p:cNvPr>
          <p:cNvSpPr/>
          <p:nvPr/>
        </p:nvSpPr>
        <p:spPr>
          <a:xfrm>
            <a:off x="4517136" y="4595948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share of active paid bundles</a:t>
            </a:r>
            <a:endParaRPr lang="en-US" sz="820" dirty="0"/>
          </a:p>
        </p:txBody>
      </p:sp>
      <p:sp>
        <p:nvSpPr>
          <p:cNvPr id="30" name="Shape 32">
            <a:extLst>
              <a:ext uri="{FF2B5EF4-FFF2-40B4-BE49-F238E27FC236}">
                <a16:creationId xmlns:a16="http://schemas.microsoft.com/office/drawing/2014/main" id="{8A3EB60E-EF41-EFDF-211E-526BDAC44B28}"/>
              </a:ext>
            </a:extLst>
          </p:cNvPr>
          <p:cNvSpPr/>
          <p:nvPr/>
        </p:nvSpPr>
        <p:spPr>
          <a:xfrm>
            <a:off x="8092440" y="4083884"/>
            <a:ext cx="3246120" cy="822960"/>
          </a:xfrm>
          <a:prstGeom prst="rect">
            <a:avLst/>
          </a:prstGeom>
          <a:solidFill>
            <a:srgbClr val="121212"/>
          </a:solidFill>
          <a:ln w="762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33">
            <a:extLst>
              <a:ext uri="{FF2B5EF4-FFF2-40B4-BE49-F238E27FC236}">
                <a16:creationId xmlns:a16="http://schemas.microsoft.com/office/drawing/2014/main" id="{7ADE43E9-A3E2-3F76-3607-16A5C334F2D3}"/>
              </a:ext>
            </a:extLst>
          </p:cNvPr>
          <p:cNvSpPr/>
          <p:nvPr/>
        </p:nvSpPr>
        <p:spPr>
          <a:xfrm>
            <a:off x="8092440" y="4083884"/>
            <a:ext cx="3246120" cy="41148"/>
          </a:xfrm>
          <a:prstGeom prst="rect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4">
            <a:extLst>
              <a:ext uri="{FF2B5EF4-FFF2-40B4-BE49-F238E27FC236}">
                <a16:creationId xmlns:a16="http://schemas.microsoft.com/office/drawing/2014/main" id="{213645EE-733D-B030-9D50-6AF388D9521E}"/>
              </a:ext>
            </a:extLst>
          </p:cNvPr>
          <p:cNvSpPr/>
          <p:nvPr/>
        </p:nvSpPr>
        <p:spPr>
          <a:xfrm>
            <a:off x="8220456" y="4266764"/>
            <a:ext cx="2944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62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€88,373 (+0% vs prior 4wk)</a:t>
            </a:r>
            <a:endParaRPr lang="en-US" sz="1620" dirty="0"/>
          </a:p>
        </p:txBody>
      </p:sp>
      <p:sp>
        <p:nvSpPr>
          <p:cNvPr id="33" name="Text 35">
            <a:extLst>
              <a:ext uri="{FF2B5EF4-FFF2-40B4-BE49-F238E27FC236}">
                <a16:creationId xmlns:a16="http://schemas.microsoft.com/office/drawing/2014/main" id="{C0AEFDED-4714-8C71-92CE-D2C0323C4AAB}"/>
              </a:ext>
            </a:extLst>
          </p:cNvPr>
          <p:cNvSpPr/>
          <p:nvPr/>
        </p:nvSpPr>
        <p:spPr>
          <a:xfrm>
            <a:off x="8220456" y="4595948"/>
            <a:ext cx="2944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20" b="1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revenue in 4wk</a:t>
            </a:r>
            <a:endParaRPr lang="en-US" sz="82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9E83545F-8161-3F4E-4497-E6EF9BDF1AB7}"/>
              </a:ext>
            </a:extLst>
          </p:cNvPr>
          <p:cNvSpPr/>
          <p:nvPr/>
        </p:nvSpPr>
        <p:spPr>
          <a:xfrm>
            <a:off x="771753" y="1889329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Snapshot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Sales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16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13232" y="1865037"/>
            <a:ext cx="10378440" cy="695619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launch demand growing, stable, or fading?</a:t>
            </a:r>
            <a:endParaRPr lang="en-US" sz="1200" b="1" dirty="0">
              <a:solidFill>
                <a:schemeClr val="bg1"/>
              </a:solidFill>
            </a:endParaRP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Caveat: registrations = trial starts, not paid subscriptions start.</a:t>
            </a:r>
            <a:endParaRPr lang="en-US" sz="1200" dirty="0"/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Controls: date range, customer type (SYI/Pro), bundle type.</a:t>
            </a:r>
            <a:endParaRPr lang="en-US" sz="1200" dirty="0"/>
          </a:p>
        </p:txBody>
      </p:sp>
      <p:pic>
        <p:nvPicPr>
          <p:cNvPr id="16" name="Image 0" descr="/Users/omertal/PycharmProjects/Marketplaats/outputs/019ec668-313f-7a42-b45f-b7e468004534/presentations/q3-verbatim-refresh/assets/weekly_new_registr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" y="2697145"/>
            <a:ext cx="7635240" cy="320040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B6868E87-5826-9A5F-B86F-E312696514EE}"/>
              </a:ext>
            </a:extLst>
          </p:cNvPr>
          <p:cNvSpPr/>
          <p:nvPr/>
        </p:nvSpPr>
        <p:spPr>
          <a:xfrm>
            <a:off x="771753" y="1369772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Registrations Trend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Sales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16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13232" y="1922724"/>
            <a:ext cx="10378440" cy="569409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bundle base turning into paid adoption?</a:t>
            </a:r>
            <a:endParaRPr lang="en-US" sz="1200" b="1" dirty="0">
              <a:solidFill>
                <a:schemeClr val="bg1"/>
              </a:solidFill>
            </a:endParaRPr>
          </a:p>
          <a:p>
            <a:pPr marL="292000" indent="-220000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Controls: date range, customer type (SYI/Pro), , bundle.</a:t>
            </a:r>
            <a:endParaRPr lang="en-US" sz="1200" dirty="0"/>
          </a:p>
        </p:txBody>
      </p:sp>
      <p:pic>
        <p:nvPicPr>
          <p:cNvPr id="16" name="Image 0" descr="/Users/omertal/PycharmProjects/Marketplaats/outputs/019ec668-313f-7a42-b45f-b7e468004534/presentations/q3-verbatim-refresh/assets/active_bund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" y="2638436"/>
            <a:ext cx="7738110" cy="3200400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0F9658F8-8548-26DF-6B8C-5704492E8516}"/>
              </a:ext>
            </a:extLst>
          </p:cNvPr>
          <p:cNvSpPr/>
          <p:nvPr/>
        </p:nvSpPr>
        <p:spPr>
          <a:xfrm>
            <a:off x="771753" y="1369772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Bundles Trend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Sales Overview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16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13232" y="1895520"/>
            <a:ext cx="10378440" cy="543218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paid base shifting toward Plus?</a:t>
            </a:r>
            <a:endParaRPr lang="en-US" sz="1200" b="1" dirty="0">
              <a:solidFill>
                <a:schemeClr val="bg1"/>
              </a:solidFill>
            </a:endParaRP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Controls: date range and customer type.</a:t>
            </a:r>
            <a:endParaRPr lang="en-US" sz="1200" dirty="0"/>
          </a:p>
        </p:txBody>
      </p:sp>
      <p:pic>
        <p:nvPicPr>
          <p:cNvPr id="14" name="Image 0" descr="/Users/omertal/PycharmProjects/Marketplaats/outputs/019ec668-313f-7a42-b45f-b7e468004534/presentations/q3-verbatim-refresh/assets/plus_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53" y="2581320"/>
            <a:ext cx="6000001" cy="3337560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8492A07-403A-0E9C-FBBA-EBE9C0ACDA9C}"/>
              </a:ext>
            </a:extLst>
          </p:cNvPr>
          <p:cNvSpPr/>
          <p:nvPr/>
        </p:nvSpPr>
        <p:spPr>
          <a:xfrm>
            <a:off x="771753" y="1432898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Share Trend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Customer Quality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16</a:t>
            </a:r>
            <a:endParaRPr lang="en-US" sz="75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F7BB1421-DDB5-9E85-3D1C-FD586F742C58}"/>
              </a:ext>
            </a:extLst>
          </p:cNvPr>
          <p:cNvSpPr/>
          <p:nvPr/>
        </p:nvSpPr>
        <p:spPr>
          <a:xfrm>
            <a:off x="771753" y="1953222"/>
            <a:ext cx="5390148" cy="468172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cohorts stay active paid after trial and later billing cycles?</a:t>
            </a:r>
            <a:endParaRPr lang="en-US" sz="1200" b="1" dirty="0">
              <a:solidFill>
                <a:schemeClr val="bg1"/>
              </a:solidFill>
            </a:endParaRP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Caveat: blank cells are immature checkpoints, not zero conversion.</a:t>
            </a:r>
            <a:endParaRPr lang="en-US" sz="1200" dirty="0"/>
          </a:p>
        </p:txBody>
      </p:sp>
      <p:pic>
        <p:nvPicPr>
          <p:cNvPr id="10" name="Image 0" descr="/Users/omertal/PycharmProjects/Marketplaats/outputs/019ec668-313f-7a42-b45f-b7e468004534/presentations/q3-cohort-heatmap-png/assets/cohort_heatmap.png">
            <a:extLst>
              <a:ext uri="{FF2B5EF4-FFF2-40B4-BE49-F238E27FC236}">
                <a16:creationId xmlns:a16="http://schemas.microsoft.com/office/drawing/2014/main" id="{5043DC03-D2C3-15AC-EA01-812389B223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632227"/>
            <a:ext cx="6986016" cy="3145536"/>
          </a:xfrm>
          <a:prstGeom prst="rect">
            <a:avLst/>
          </a:prstGeom>
        </p:spPr>
      </p:pic>
      <p:sp>
        <p:nvSpPr>
          <p:cNvPr id="11" name="Text 7">
            <a:extLst>
              <a:ext uri="{FF2B5EF4-FFF2-40B4-BE49-F238E27FC236}">
                <a16:creationId xmlns:a16="http://schemas.microsoft.com/office/drawing/2014/main" id="{506444A7-9A74-279D-60CE-0E3F27417A54}"/>
              </a:ext>
            </a:extLst>
          </p:cNvPr>
          <p:cNvSpPr/>
          <p:nvPr/>
        </p:nvSpPr>
        <p:spPr>
          <a:xfrm>
            <a:off x="835829" y="1453273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Health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0040"/>
            <a:ext cx="9784080" cy="713232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Customer Quality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750" dirty="0"/>
          </a:p>
        </p:txBody>
      </p:sp>
      <p:graphicFrame>
        <p:nvGraphicFramePr>
          <p:cNvPr id="11" name="Native Segment Enrichment Opportunity Table">
            <a:extLst>
              <a:ext uri="{FF2B5EF4-FFF2-40B4-BE49-F238E27FC236}">
                <a16:creationId xmlns:a16="http://schemas.microsoft.com/office/drawing/2014/main" id="{16D02375-431C-5A18-B25E-FBA2D93FAE7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4106848"/>
              </p:ext>
            </p:extLst>
          </p:nvPr>
        </p:nvGraphicFramePr>
        <p:xfrm>
          <a:off x="6975742" y="2286000"/>
          <a:ext cx="4541521" cy="2008430"/>
        </p:xfrm>
        <a:graphic>
          <a:graphicData uri="http://schemas.openxmlformats.org/drawingml/2006/table">
            <a:tbl>
              <a:tblPr firstRow="1" bandRow="1"/>
              <a:tblGrid>
                <a:gridCol w="1628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25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5289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Potential merge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Why it helps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101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SMB likelihood score</a:t>
                      </a:r>
                      <a:endParaRPr lang="en-US" sz="900" b="1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Separates likely business sellers from lighter consumer-like sellers.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101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Outreach readiness score</a:t>
                      </a:r>
                      <a:endParaRPr lang="en-US" sz="900" b="1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Shows whether sales-prioritized sellers convert and retain better.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101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Historical spend tier</a:t>
                      </a:r>
                      <a:endParaRPr lang="en-US" sz="900" b="1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Distinguishes high and low-spend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101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Seller size / activity tier</a:t>
                      </a:r>
                      <a:endParaRPr lang="en-US" sz="900" b="1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Identifies whether bundles work better for large or small sellers.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101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Outreach batch / channel</a:t>
                      </a:r>
                      <a:endParaRPr lang="en-US" sz="900" b="1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Connects launch execution to registration and paid conversion quality.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 7">
            <a:extLst>
              <a:ext uri="{FF2B5EF4-FFF2-40B4-BE49-F238E27FC236}">
                <a16:creationId xmlns:a16="http://schemas.microsoft.com/office/drawing/2014/main" id="{E511A023-960A-587F-CD6E-7395818DC30D}"/>
              </a:ext>
            </a:extLst>
          </p:cNvPr>
          <p:cNvSpPr/>
          <p:nvPr/>
        </p:nvSpPr>
        <p:spPr>
          <a:xfrm>
            <a:off x="7290365" y="1694688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Segmentation Merge</a:t>
            </a:r>
            <a:endParaRPr lang="en-US" sz="1800" dirty="0">
              <a:solidFill>
                <a:srgbClr val="3DDC97"/>
              </a:solidFill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90C4CDA-20E1-4A66-06B2-6B57882CCD19}"/>
              </a:ext>
            </a:extLst>
          </p:cNvPr>
          <p:cNvSpPr/>
          <p:nvPr/>
        </p:nvSpPr>
        <p:spPr>
          <a:xfrm>
            <a:off x="1279031" y="1694688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Segmentation Health Snapshot</a:t>
            </a:r>
            <a:endParaRPr lang="en-US" sz="1800" dirty="0">
              <a:solidFill>
                <a:srgbClr val="3DDC97"/>
              </a:solidFill>
            </a:endParaRPr>
          </a:p>
        </p:txBody>
      </p:sp>
      <p:graphicFrame>
        <p:nvGraphicFramePr>
          <p:cNvPr id="14" name="Native Segmentation Health Snapshot Table"/>
          <p:cNvGraphicFramePr/>
          <p:nvPr>
            <p:extLst>
              <p:ext uri="{D42A27DB-BD31-4B8C-83A1-F6EECF244321}">
                <p14:modId xmlns:p14="http://schemas.microsoft.com/office/powerpoint/2010/main" val="3171993652"/>
              </p:ext>
            </p:extLst>
          </p:nvPr>
        </p:nvGraphicFramePr>
        <p:xfrm>
          <a:off x="588578" y="2286000"/>
          <a:ext cx="6082245" cy="1691640"/>
        </p:xfrm>
        <a:graphic>
          <a:graphicData uri="http://schemas.openxmlformats.org/drawingml/2006/table">
            <a:tbl>
              <a:tblPr firstRow="1" bandRow="1"/>
              <a:tblGrid>
                <a:gridCol w="9983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47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15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20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77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134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435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Segment dimension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Segment value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Registrations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Paid conversion at 28d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% Plus of active paid bundles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Active paid bundles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 dirty="0">
                          <a:solidFill>
                            <a:srgbClr val="F2F2F2"/>
                          </a:solidFill>
                          <a:latin typeface="Arial"/>
                          <a:ea typeface="Arial"/>
                          <a:cs typeface="Arial"/>
                        </a:rPr>
                        <a:t>Current no-bundle share</a:t>
                      </a:r>
                      <a:endParaRPr lang="en-US" sz="900" dirty="0">
                        <a:solidFill>
                          <a:srgbClr val="F2F2F2"/>
                        </a:solidFill>
                      </a:endParaRPr>
                    </a:p>
                  </a:txBody>
                  <a:tcPr>
                    <a:solidFill>
                      <a:srgbClr val="1717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Customer type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SYI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3,137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89.1%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40.9%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2,093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33.3%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Customer type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Pro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939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89.5%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40.7%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616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34.4%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First bundle type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Basic-first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2,791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89.4%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25.5%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1,845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33.9%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1B1B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0312"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First bundle type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Plus-first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1,285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88.7%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73.6%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864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dirty="0">
                          <a:solidFill>
                            <a:srgbClr val="D8D8D8"/>
                          </a:solidFill>
                          <a:latin typeface="Arial"/>
                          <a:ea typeface="Arial"/>
                          <a:cs typeface="Arial"/>
                        </a:rPr>
                        <a:t>32.8%</a:t>
                      </a:r>
                      <a:endParaRPr lang="en-US" sz="900" dirty="0">
                        <a:solidFill>
                          <a:srgbClr val="D8D8D8"/>
                        </a:solidFill>
                      </a:endParaRPr>
                    </a:p>
                  </a:txBody>
                  <a:tcPr>
                    <a:solidFill>
                      <a:srgbClr val="0B0B0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F45063-ADD3-E4C1-9025-57F8E991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05BCBA3-485D-0558-7581-02CD4A1946AD}"/>
              </a:ext>
            </a:extLst>
          </p:cNvPr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6E0E7D-5FCB-B0B3-C8A3-E5665E907814}"/>
              </a:ext>
            </a:extLst>
          </p:cNvPr>
          <p:cNvSpPr/>
          <p:nvPr/>
        </p:nvSpPr>
        <p:spPr>
          <a:xfrm>
            <a:off x="1426464" y="320040"/>
            <a:ext cx="9784080" cy="713232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Customer Quality</a:t>
            </a:r>
            <a:endParaRPr lang="en-US" sz="36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FCF010D-5742-E6DD-7CAC-8B81CAAF9623}"/>
              </a:ext>
            </a:extLst>
          </p:cNvPr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9F38785-A7A0-008C-F42E-02F57BCCE287}"/>
              </a:ext>
            </a:extLst>
          </p:cNvPr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BA9E207-5DBF-DF91-B077-A025146CB8D3}"/>
              </a:ext>
            </a:extLst>
          </p:cNvPr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29D9A72-3C4F-04BE-543A-9DEABE220422}"/>
              </a:ext>
            </a:extLst>
          </p:cNvPr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16</a:t>
            </a:r>
            <a:endParaRPr lang="en-US" sz="7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1861B29F-6FBF-D771-CD5F-1B6C231F8C58}"/>
              </a:ext>
            </a:extLst>
          </p:cNvPr>
          <p:cNvSpPr/>
          <p:nvPr/>
        </p:nvSpPr>
        <p:spPr>
          <a:xfrm>
            <a:off x="713232" y="2078918"/>
            <a:ext cx="10332720" cy="741633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segments changed sharply in the last 4 weeks? </a:t>
            </a: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Highlights where follow-up is most urgent.</a:t>
            </a:r>
            <a:endParaRPr lang="en-US" sz="1200" b="1" dirty="0">
              <a:solidFill>
                <a:schemeClr val="bg1"/>
              </a:solidFill>
            </a:endParaRP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Controls: displayed metrics can be dynamically selected, as well as comparison time window.</a:t>
            </a: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Caveat: dummy data. </a:t>
            </a:r>
            <a:endParaRPr lang="en-US" sz="1200" dirty="0"/>
          </a:p>
        </p:txBody>
      </p:sp>
      <p:pic>
        <p:nvPicPr>
          <p:cNvPr id="8" name="Image 0" descr="/Users/omertal/PycharmProjects/Marketplaats/outputs/019ec668-313f-7a42-b45f-b7e468004534/presentations/q3-verbatim-refresh/assets/segment_change_alerts.png">
            <a:extLst>
              <a:ext uri="{FF2B5EF4-FFF2-40B4-BE49-F238E27FC236}">
                <a16:creationId xmlns:a16="http://schemas.microsoft.com/office/drawing/2014/main" id="{25AFA8D2-BB0F-35EA-55A9-7312003174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" y="3082448"/>
            <a:ext cx="5760720" cy="2692400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BFB4888C-4C22-D83C-3207-DB830EBE601B}"/>
              </a:ext>
            </a:extLst>
          </p:cNvPr>
          <p:cNvSpPr/>
          <p:nvPr/>
        </p:nvSpPr>
        <p:spPr>
          <a:xfrm>
            <a:off x="771753" y="1586073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Change Alerts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64499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Business Impact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7356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16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77240" y="1627632"/>
            <a:ext cx="9966960" cy="813354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4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bundles creating measurable value for Marktplaats and sellers?</a:t>
            </a:r>
            <a:endParaRPr lang="en-US" sz="1400" b="1" dirty="0"/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4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data supports: modeled paid revenue and bundle revenue mix.</a:t>
            </a:r>
            <a:endParaRPr lang="en-US" sz="1400" dirty="0">
              <a:solidFill>
                <a:srgbClr val="A8A8A8"/>
              </a:solidFill>
            </a:endParaRP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4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missing: actual invoiced revenue and seller outcome data.</a:t>
            </a:r>
            <a:endParaRPr lang="en-US" sz="1400" dirty="0">
              <a:solidFill>
                <a:srgbClr val="A8A8A8"/>
              </a:solidFill>
            </a:endParaRP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D0B213D9-F323-42EE-7B73-B36DCDBEE3C9}"/>
              </a:ext>
            </a:extLst>
          </p:cNvPr>
          <p:cNvSpPr/>
          <p:nvPr/>
        </p:nvSpPr>
        <p:spPr>
          <a:xfrm>
            <a:off x="4158843" y="2649474"/>
            <a:ext cx="6277571" cy="541721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paid adoption translating into subscription revenue?</a:t>
            </a:r>
            <a:endParaRPr lang="en-US" sz="1200" b="1" dirty="0">
              <a:solidFill>
                <a:schemeClr val="bg1"/>
              </a:solidFill>
            </a:endParaRP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Caveat: modeled from intervals and list prices; not invoiced or incremental revenue.</a:t>
            </a:r>
            <a:endParaRPr lang="en-US" sz="1200" dirty="0"/>
          </a:p>
        </p:txBody>
      </p:sp>
      <p:pic>
        <p:nvPicPr>
          <p:cNvPr id="10" name="Image 0" descr="/Users/omertal/PycharmProjects/Marketplaats/outputs/019ec668-313f-7a42-b45f-b7e468004534/presentations/q3-verbatim-refresh/assets/modeled_paid_revenue.png">
            <a:extLst>
              <a:ext uri="{FF2B5EF4-FFF2-40B4-BE49-F238E27FC236}">
                <a16:creationId xmlns:a16="http://schemas.microsoft.com/office/drawing/2014/main" id="{4B2ADD72-2B2B-8A40-706E-C5CD58764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" y="3251626"/>
            <a:ext cx="6774180" cy="2720340"/>
          </a:xfrm>
          <a:prstGeom prst="rect">
            <a:avLst/>
          </a:prstGeom>
        </p:spPr>
      </p:pic>
      <p:pic>
        <p:nvPicPr>
          <p:cNvPr id="11" name="Image 1" descr="/Users/omertal/PycharmProjects/Marketplaats/outputs/019ec668-313f-7a42-b45f-b7e468004534/presentations/q3-verbatim-refresh/assets/latest_revenue_by_bundle.png">
            <a:extLst>
              <a:ext uri="{FF2B5EF4-FFF2-40B4-BE49-F238E27FC236}">
                <a16:creationId xmlns:a16="http://schemas.microsoft.com/office/drawing/2014/main" id="{43D5609A-95FC-D5C4-18C0-2C8803DD05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8545" y="3288707"/>
            <a:ext cx="3202940" cy="1840865"/>
          </a:xfrm>
          <a:prstGeom prst="rect">
            <a:avLst/>
          </a:prstGeom>
        </p:spPr>
      </p:pic>
      <p:sp>
        <p:nvSpPr>
          <p:cNvPr id="12" name="Text 7">
            <a:extLst>
              <a:ext uri="{FF2B5EF4-FFF2-40B4-BE49-F238E27FC236}">
                <a16:creationId xmlns:a16="http://schemas.microsoft.com/office/drawing/2014/main" id="{DE05CE03-24EE-389B-775A-73B47F056831}"/>
              </a:ext>
            </a:extLst>
          </p:cNvPr>
          <p:cNvSpPr/>
          <p:nvPr/>
        </p:nvSpPr>
        <p:spPr>
          <a:xfrm>
            <a:off x="953774" y="2604863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3DDC97"/>
                </a:solidFill>
                <a:latin typeface="Arial" pitchFamily="34" charset="0"/>
                <a:cs typeface="Arial" pitchFamily="34" charset="-120"/>
              </a:rPr>
              <a:t>Modeled Bundle Revenue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2102" y="323698"/>
            <a:ext cx="819302" cy="629107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426464" y="323698"/>
            <a:ext cx="9784080" cy="714146"/>
          </a:xfrm>
          <a:prstGeom prst="rect">
            <a:avLst/>
          </a:prstGeom>
          <a:noFill/>
          <a:ln/>
        </p:spPr>
        <p:txBody>
          <a:bodyPr lIns="57150" tIns="38100" rIns="57150" bIns="38100" anchor="t"/>
          <a:lstStyle/>
          <a:p>
            <a:r>
              <a:rPr lang="en-US" sz="3600" b="1" dirty="0">
                <a:solidFill>
                  <a:srgbClr val="F2F2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Business Impact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1161288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6199632"/>
            <a:ext cx="11274552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12064" y="6345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Bundle Dashboard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10927080" y="6345936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5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16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713232" y="1873513"/>
            <a:ext cx="5577104" cy="868680"/>
          </a:xfrm>
          <a:prstGeom prst="rect">
            <a:avLst/>
          </a:prstGeom>
          <a:noFill/>
          <a:ln/>
        </p:spPr>
        <p:txBody>
          <a:bodyPr wrap="square" lIns="0" tIns="0" rIns="0" bIns="0" anchor="t">
            <a:normAutofit/>
          </a:bodyPr>
          <a:lstStyle/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bundles help sellers generate more leads?</a:t>
            </a:r>
            <a:endParaRPr lang="en-US" sz="1200" b="1" dirty="0">
              <a:solidFill>
                <a:schemeClr val="bg1"/>
              </a:solidFill>
            </a:endParaRP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Controls: breakdown by bundle type, </a:t>
            </a:r>
          </a:p>
          <a:p>
            <a:pPr marL="292000" indent="-220000" algn="l">
              <a:buClr>
                <a:srgbClr val="3DDC97"/>
              </a:buClr>
              <a:buSzPct val="80000"/>
              <a:buFont typeface="Arial"/>
              <a:buChar char="■"/>
              <a:defRPr>
                <a:solidFill>
                  <a:srgbClr val="3DDC97"/>
                </a:solidFill>
              </a:defRPr>
            </a:pPr>
            <a:r>
              <a:rPr lang="en-US" sz="1200" dirty="0">
                <a:solidFill>
                  <a:srgbClr val="A8A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Caveat: dummy data, requires seller-level lead data</a:t>
            </a:r>
            <a:endParaRPr lang="en-US" sz="1200" dirty="0"/>
          </a:p>
        </p:txBody>
      </p:sp>
      <p:pic>
        <p:nvPicPr>
          <p:cNvPr id="14" name="Image 0" descr="/Users/omertal/PycharmProjects/Marketplaats/outputs/019ec668-313f-7a42-b45f-b7e468004534/presentations/q3-verbatim-refresh/assets/seller_leads_upl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753" y="2632936"/>
            <a:ext cx="5109210" cy="3223260"/>
          </a:xfrm>
          <a:prstGeom prst="rect">
            <a:avLst/>
          </a:prstGeom>
        </p:spPr>
      </p:pic>
      <p:sp>
        <p:nvSpPr>
          <p:cNvPr id="8" name="Text 7">
            <a:extLst>
              <a:ext uri="{FF2B5EF4-FFF2-40B4-BE49-F238E27FC236}">
                <a16:creationId xmlns:a16="http://schemas.microsoft.com/office/drawing/2014/main" id="{6C844CF1-7CFA-C0E8-8EBA-570160ED3754}"/>
              </a:ext>
            </a:extLst>
          </p:cNvPr>
          <p:cNvSpPr/>
          <p:nvPr/>
        </p:nvSpPr>
        <p:spPr>
          <a:xfrm>
            <a:off x="953774" y="1376285"/>
            <a:ext cx="4226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3DDC97"/>
                </a:solidFill>
                <a:latin typeface="Arial" pitchFamily="34" charset="0"/>
                <a:cs typeface="Arial" pitchFamily="34" charset="-120"/>
              </a:rPr>
              <a:t>Seller Outcome Uplift</a:t>
            </a:r>
            <a:endParaRPr lang="en-US" sz="1800" dirty="0">
              <a:solidFill>
                <a:srgbClr val="3DDC97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708</Words>
  <Application>Microsoft Macintosh PowerPoint</Application>
  <PresentationFormat>Widescreen</PresentationFormat>
  <Paragraphs>174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SMB Bundles 3 Monitor</dc:title>
  <dc:subject>SMB Bundle Dashboard</dc:subject>
  <dc:creator>Omer Tal</dc:creator>
  <cp:lastModifiedBy>Omer Tal</cp:lastModifiedBy>
  <cp:revision>25</cp:revision>
  <dcterms:created xsi:type="dcterms:W3CDTF">2026-06-14T19:44:45Z</dcterms:created>
  <dcterms:modified xsi:type="dcterms:W3CDTF">2026-06-15T20:24:27Z</dcterms:modified>
</cp:coreProperties>
</file>