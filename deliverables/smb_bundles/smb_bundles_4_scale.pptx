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63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1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01 Inactive"/>
          <p:cNvSpPr/>
          <p:nvPr/>
        </p:nvSpPr>
        <p:spPr>
          <a:xfrm>
            <a:off x="609600" y="900112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Section 02 Inactive"/>
          <p:cNvSpPr/>
          <p:nvPr/>
        </p:nvSpPr>
        <p:spPr>
          <a:xfrm>
            <a:off x="609600" y="1400175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6" name="Section 04 Subtitle"/>
          <p:cNvSpPr/>
          <p:nvPr/>
        </p:nvSpPr>
        <p:spPr>
          <a:xfrm>
            <a:off x="512445" y="3960000"/>
            <a:ext cx="10000298" cy="450000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lang="en-US" sz="2200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Use Lifecycle and in-product prompts to grow adoption</a:t>
            </a:r>
            <a:endParaRPr sz="2200" dirty="0">
              <a:solidFill>
                <a:srgbClr val="A7A7A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ection 03 Inactive"/>
          <p:cNvSpPr/>
          <p:nvPr/>
        </p:nvSpPr>
        <p:spPr>
          <a:xfrm>
            <a:off x="609600" y="1900238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8" name="Section 04 Active"/>
          <p:cNvSpPr/>
          <p:nvPr/>
        </p:nvSpPr>
        <p:spPr>
          <a:xfrm>
            <a:off x="512445" y="2840000"/>
            <a:ext cx="10500360" cy="829628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70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 Scale</a:t>
            </a:r>
          </a:p>
        </p:txBody>
      </p:sp>
      <p:sp>
        <p:nvSpPr>
          <p:cNvPr id="9" name="Bottom Separator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Q4 preview page marker">
            <a:extLst>
              <a:ext uri="{FF2B5EF4-FFF2-40B4-BE49-F238E27FC236}">
                <ns2:creationId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 / 07</a:t>
            </a: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ns3:creationId val="1264683463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>
  <p:cSld name="Slide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Campaign Objective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ns2:creationId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07</a:t>
            </a: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SMB bundles to active sellers with a high SMB likelihood score, then sequence outreach by readiness so the strongest candidates receive the first conversion push.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Campaign Objective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>
                <a:solidFill>
                  <a:srgbClr val="D9D9D9"/>
                </a:solidFill>
              </a:rPr>
              <a:t>Promote SMB bundles to active sellers with a high SMB likelihood score (from question #1).</a:t>
            </a:r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>
                <a:solidFill>
                  <a:srgbClr val="D9D9D9"/>
                </a:solidFill>
              </a:rPr>
              <a:t>Start with sellers who also have a high readiness score (from question #2), then expand to broader seller groups.</a:t>
            </a:r>
          </a:p>
        </p:txBody>
      </p:sp>
      <p:sp>
        <p:nvSpPr>
          <p:cNvPr id="11" name="Text 9"/>
          <p:cNvSpPr/>
          <p:nvPr/>
        </p:nvSpPr>
        <p:spPr>
          <a:xfrm>
            <a:off x="6492239" y="2148840"/>
            <a:ext cx="3304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Future Campaigns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42032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>
                <a:solidFill>
                  <a:srgbClr val="D9D9D9"/>
                </a:solidFill>
              </a:rPr>
              <a:t>Reactivation campaign for SMB sellers with declining performance.</a:t>
            </a:r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>
                <a:solidFill>
                  <a:srgbClr val="D9D9D9"/>
                </a:solidFill>
              </a:rPr>
              <a:t>Upsell campaign from Basic to Plus.</a:t>
            </a:r>
          </a:p>
        </p:txBody>
      </p:sp>
      <p:sp>
        <p:nvSpPr>
          <p:cNvPr id="13" name="Text 11"/>
          <p:cNvSpPr/>
          <p:nvPr/>
        </p:nvSpPr>
        <p:spPr>
          <a:xfrm>
            <a:off x="621792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Flow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SMB likelihood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business signal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01568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66160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readiness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first-wave priority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51576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81344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45936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expansion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45936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+ Tier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31352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61120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25712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impact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25712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holdout-based KPIs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Target Audience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ns2:creationId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07</a:t>
            </a: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audience: active sellers without an SMB bundle. Use SMB-likelihood and readiness scores to set message intensity by segment.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21792" y="2040000"/>
            <a:ext cx="274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Segments</a:t>
            </a:r>
            <a:endParaRPr lang="en-US" sz="1800" dirty="0"/>
          </a:p>
        </p:txBody>
      </p:sp>
      <p:graphicFrame>
        <p:nvGraphicFramePr>
          <p:cNvPr id="27" name="Audience segment table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760000" y="2440000"/>
          <a:ext cx="9480000" cy="253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ns2:colId val="20000"/>
                    </a:ext>
                  </a:extLst>
                </a:gridCol>
                <a:gridCol w="3740000">
                  <a:extLst>
                    <a:ext uri="{9D8B030D-6E8A-4147-A177-3AD203B41FA5}">
                      <ns2:colId val="20001"/>
                    </a:ext>
                  </a:extLst>
                </a:gridCol>
                <a:gridCol w="44800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Segment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Audience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Campaign role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1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high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Direct conversion push: upgrade now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2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medium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Education and nurture: explain bundle benefits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4021254877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3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Medium SMB likelihood + medium/low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Light-touch awareness and interest validation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2169815287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Excluded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Low SMB likelihood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Avoid intrusive promotion to likely consumers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1406103413"/>
                  </a:ext>
                </a:extLst>
              </a:tr>
            </a:tbl>
          </a:graphicData>
        </a:graphic>
      </p:graphicFrame>
      <p:sp>
        <p:nvSpPr>
          <p:cNvPr id="28" name="Target audience closing"/>
          <p:cNvSpPr/>
          <p:nvPr/>
        </p:nvSpPr>
        <p:spPr>
          <a:xfrm>
            <a:off x="760000" y="5230000"/>
            <a:ext cx="9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D9D9D9"/>
                </a:solidFill>
              </a:rPr>
              <a:t>Start with Tier 1 for the strongest adoption impact, then broaden to Tier 2 and Tier 3 through scalable CRM and in-platform prompts.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ns2:creationId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07</a:t>
            </a: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Channels intro"/>
          <p:cNvSpPr/>
          <p:nvPr/>
        </p:nvSpPr>
        <p:spPr>
          <a:xfrm>
            <a:off x="621792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two complementary channels: lifecycle CRM for behavior-triggered outreach and in-platform prompts for high-intent seller moments.</a:t>
            </a:r>
            <a:endParaRPr lang="en-US" sz="1500" dirty="0"/>
          </a:p>
        </p:txBody>
      </p:sp>
      <p:sp>
        <p:nvSpPr>
          <p:cNvPr id="9" name="Channel mix label"/>
          <p:cNvSpPr/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800" dirty="0"/>
          </a:p>
        </p:txBody>
      </p:sp>
      <p:sp>
        <p:nvSpPr>
          <p:cNvPr id="10" name="Lifecycle CRM card"/>
          <p:cNvSpPr/>
          <p:nvPr/>
        </p:nvSpPr>
        <p:spPr>
          <a:xfrm>
            <a:off x="621792" y="2606040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ifecycle CRM accent"/>
          <p:cNvSpPr/>
          <p:nvPr/>
        </p:nvSpPr>
        <p:spPr>
          <a:xfrm>
            <a:off x="621792" y="2606040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ifecycle CRM title"/>
          <p:cNvSpPr/>
          <p:nvPr/>
        </p:nvSpPr>
        <p:spPr>
          <a:xfrm>
            <a:off x="804672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CRM</a:t>
            </a:r>
            <a:endParaRPr lang="en-US" sz="1700" dirty="0"/>
          </a:p>
        </p:txBody>
      </p:sp>
      <p:sp>
        <p:nvSpPr>
          <p:cNvPr id="13" name="Lifecycle CRM body"/>
          <p:cNvSpPr/>
          <p:nvPr/>
        </p:nvSpPr>
        <p:spPr>
          <a:xfrm>
            <a:off x="804672" y="3264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CRM journeys triggered by seller behavior, such as repeated listing, paid-feature use, competitive-category activity, or buyer interest without a bundle.</a:t>
            </a:r>
            <a:endParaRPr lang="en-US" sz="1250" dirty="0"/>
          </a:p>
        </p:txBody>
      </p:sp>
      <p:sp>
        <p:nvSpPr>
          <p:cNvPr id="14" name="Lifecycle CRM role"/>
          <p:cNvSpPr/>
          <p:nvPr/>
        </p:nvSpPr>
        <p:spPr>
          <a:xfrm>
            <a:off x="804672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role: strongest for proactive journeys when readiness and seller behavior both signal intent.</a:t>
            </a:r>
            <a:endParaRPr lang="en-US" sz="1100" dirty="0"/>
          </a:p>
        </p:txBody>
      </p:sp>
      <p:sp>
        <p:nvSpPr>
          <p:cNvPr id="15" name="In-platform Prompts card"/>
          <p:cNvSpPr/>
          <p:nvPr/>
        </p:nvSpPr>
        <p:spPr>
          <a:xfrm>
            <a:off x="6291072" y="2606040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n-platform Prompts accent"/>
          <p:cNvSpPr/>
          <p:nvPr/>
        </p:nvSpPr>
        <p:spPr>
          <a:xfrm>
            <a:off x="6291072" y="2606040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n-platform Prompts title"/>
          <p:cNvSpPr/>
          <p:nvPr/>
        </p:nvSpPr>
        <p:spPr>
          <a:xfrm>
            <a:off x="6473952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In-platform Prompts</a:t>
            </a:r>
            <a:endParaRPr lang="en-US" sz="1700" dirty="0"/>
          </a:p>
        </p:txBody>
      </p:sp>
      <p:sp>
        <p:nvSpPr>
          <p:cNvPr id="18" name="In-platform Prompts body"/>
          <p:cNvSpPr/>
          <p:nvPr/>
        </p:nvSpPr>
        <p:spPr>
          <a:xfrm>
            <a:off x="6473952" y="3264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in high-intent seller surfaces: seller dashboard, listing creation, listing management, and paid-feature purchase flows.</a:t>
            </a:r>
            <a:endParaRPr lang="en-US" sz="1250" dirty="0"/>
          </a:p>
        </p:txBody>
      </p:sp>
      <p:sp>
        <p:nvSpPr>
          <p:cNvPr id="19" name="In-platform Prompts role"/>
          <p:cNvSpPr/>
          <p:nvPr/>
        </p:nvSpPr>
        <p:spPr>
          <a:xfrm>
            <a:off x="6473952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role: reinforces the CRM message at the moment sellers manage supply or visibility spend.</a:t>
            </a:r>
            <a:endParaRPr lang="en-US" sz="1100" dirty="0"/>
          </a:p>
        </p:txBody>
      </p:sp>
      <p:sp>
        <p:nvSpPr>
          <p:cNvPr id="20" name="How channels work label"/>
          <p:cNvSpPr/>
          <p:nvPr/>
        </p:nvSpPr>
        <p:spPr>
          <a:xfrm>
            <a:off x="621792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Work Together</a:t>
            </a:r>
            <a:endParaRPr lang="en-US" sz="1800" dirty="0"/>
          </a:p>
        </p:txBody>
      </p:sp>
      <p:sp>
        <p:nvSpPr>
          <p:cNvPr id="21" name="How channels work body"/>
          <p:cNvSpPr/>
          <p:nvPr/>
        </p:nvSpPr>
        <p:spPr>
          <a:xfrm>
            <a:off x="621792" y="527304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creates the targeted outreach path; in-platform prompts reinforce the message at the moment of seller intent.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lide 3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Lifecycle CRM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ns2:creationId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07</a:t>
            </a: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email / CRM journeys triggered by seller behavior.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Triggers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50000" y="2240000"/>
          <a:ext cx="10040000" cy="2260000"/>
        </p:xfrm>
        <a:graphic>
          <a:graphicData uri="http://schemas.openxmlformats.org/drawingml/2006/table">
            <a:tbl>
              <a:tblPr/>
              <a:tblGrid>
                <a:gridCol w="3400000">
                  <a:extLst>
                    <a:ext uri="{9D8B030D-6E8A-4147-A177-3AD203B41FA5}">
                      <ns2:colId val="20000"/>
                    </a:ext>
                  </a:extLst>
                </a:gridCol>
                <a:gridCol w="66400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45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40" b="1">
                          <a:solidFill>
                            <a:srgbClr val="F2F2F2"/>
                          </a:solidFill>
                        </a:rPr>
                        <a:t>Trigger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40" b="1">
                          <a:solidFill>
                            <a:srgbClr val="F2F2F2"/>
                          </a:solidFill>
                        </a:rPr>
                        <a:t>Purpose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Seller lists repeatedly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Promote bundle when commercial intent is high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Seller uses paid features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Position bundle as a structured visibility product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373867942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Seller operates in competitive category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Promote differentiation benefit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232773239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Seller receives buyer interest but has no bundle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Promote visibility/professionalization as next step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3708948510"/>
                  </a:ext>
                </a:extLst>
              </a:tr>
            </a:tbl>
          </a:graphicData>
        </a:graphic>
      </p:graphicFrame>
      <p:sp>
        <p:nvSpPr>
          <p:cNvPr id="11" name="Apply by tier label"/>
          <p:cNvSpPr/>
          <p:nvPr/>
        </p:nvSpPr>
        <p:spPr>
          <a:xfrm>
            <a:off x="621792" y="4630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sz="1450" b="1">
                <a:solidFill>
                  <a:srgbClr val="FF735B"/>
                </a:solidFill>
              </a:rPr>
              <a:t>Apply by Tier</a:t>
            </a:r>
          </a:p>
        </p:txBody>
      </p:sp>
      <p:graphicFrame>
        <p:nvGraphicFramePr>
          <p:cNvPr id="12" name="Lifecycle apply by tier table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50000" y="4980000"/>
          <a:ext cx="10040000" cy="1463040"/>
        </p:xfrm>
        <a:graphic>
          <a:graphicData uri="http://schemas.openxmlformats.org/drawingml/2006/table">
            <a:tbl>
              <a:tblPr/>
              <a:tblGrid>
                <a:gridCol w="1000000">
                  <a:extLst>
                    <a:ext uri="{9D8B030D-6E8A-4147-A177-3AD203B41FA5}">
                      <ns2:colId val="20000"/>
                    </a:ext>
                  </a:extLst>
                </a:gridCol>
                <a:gridCol w="4300000">
                  <a:extLst>
                    <a:ext uri="{9D8B030D-6E8A-4147-A177-3AD203B41FA5}">
                      <ns2:colId val="20001"/>
                    </a:ext>
                  </a:extLst>
                </a:gridCol>
                <a:gridCol w="47400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25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2F2F2"/>
                          </a:solidFill>
                        </a:rPr>
                        <a:t>Tier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2F2F2"/>
                          </a:solidFill>
                        </a:rPr>
                        <a:t>When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1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Any strong trigger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2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Repeated or high-value trigger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ns2:rowId val="408783487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3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Test cell only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ns2:rowId val="5280638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lide 4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In-platform Prompts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ns2:creationId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07</a:t>
            </a: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prompts in high-intent seller surfaces.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Surfaces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50000" y="2240000"/>
          <a:ext cx="10040000" cy="2260000"/>
        </p:xfrm>
        <a:graphic>
          <a:graphicData uri="http://schemas.openxmlformats.org/drawingml/2006/table">
            <a:tbl>
              <a:tblPr/>
              <a:tblGrid>
                <a:gridCol w="3200000">
                  <a:extLst>
                    <a:ext uri="{9D8B030D-6E8A-4147-A177-3AD203B41FA5}">
                      <ns2:colId val="20000"/>
                    </a:ext>
                  </a:extLst>
                </a:gridCol>
                <a:gridCol w="68400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45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40" b="1">
                          <a:solidFill>
                            <a:srgbClr val="F2F2F2"/>
                          </a:solidFill>
                        </a:rPr>
                        <a:t>Surface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40" b="1">
                          <a:solidFill>
                            <a:srgbClr val="F2F2F2"/>
                          </a:solidFill>
                        </a:rPr>
                        <a:t>Why this moment works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Seller dashboard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Natural moment to link bundles to better performance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Listing creation flow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Bundle can improve listings from day one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2764092538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Listing management page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Bundle is a broader upgrade than one-off ad fixes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4212111096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Paid-feature purchase flow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0">
                          <a:solidFill>
                            <a:srgbClr val="D9D9D9"/>
                          </a:solidFill>
                        </a:rPr>
                        <a:t>Bundle is a structured alternative to single visibility purchases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1013337409"/>
                  </a:ext>
                </a:extLst>
              </a:tr>
            </a:tbl>
          </a:graphicData>
        </a:graphic>
      </p:graphicFrame>
      <p:sp>
        <p:nvSpPr>
          <p:cNvPr id="11" name="Apply by tier label"/>
          <p:cNvSpPr/>
          <p:nvPr/>
        </p:nvSpPr>
        <p:spPr>
          <a:xfrm>
            <a:off x="621792" y="4630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sz="1450" b="1">
                <a:solidFill>
                  <a:srgbClr val="FF735B"/>
                </a:solidFill>
              </a:rPr>
              <a:t>Apply by Tier</a:t>
            </a:r>
          </a:p>
        </p:txBody>
      </p:sp>
      <p:graphicFrame>
        <p:nvGraphicFramePr>
          <p:cNvPr id="12" name="Prompts apply by tier table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50000" y="4980000"/>
          <a:ext cx="10040000" cy="1463040"/>
        </p:xfrm>
        <a:graphic>
          <a:graphicData uri="http://schemas.openxmlformats.org/drawingml/2006/table">
            <a:tbl>
              <a:tblPr/>
              <a:tblGrid>
                <a:gridCol w="1000000">
                  <a:extLst>
                    <a:ext uri="{9D8B030D-6E8A-4147-A177-3AD203B41FA5}">
                      <ns2:colId val="20000"/>
                    </a:ext>
                  </a:extLst>
                </a:gridCol>
                <a:gridCol w="4300000">
                  <a:extLst>
                    <a:ext uri="{9D8B030D-6E8A-4147-A177-3AD203B41FA5}">
                      <ns2:colId val="20001"/>
                    </a:ext>
                  </a:extLst>
                </a:gridCol>
                <a:gridCol w="47400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25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2F2F2"/>
                          </a:solidFill>
                        </a:rPr>
                        <a:t>Tier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2F2F2"/>
                          </a:solidFill>
                        </a:rPr>
                        <a:t>When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1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All high-intent surfaces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2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Selected high-intent surfaces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ns2:rowId val="3137132510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3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30" b="0">
                          <a:solidFill>
                            <a:srgbClr val="D9D9D9"/>
                          </a:solidFill>
                        </a:rPr>
                        <a:t>Lowest-friction surfaces only</a:t>
                      </a:r>
                    </a:p>
                  </a:txBody>
                  <a:tcPr marL="26000" marR="26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ns2:rowId val="26670593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lide 5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KPIs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Scale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ns2:creationId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07 / 07</a:t>
            </a: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 6"/>
          <p:cNvSpPr/>
          <p:nvPr/>
        </p:nvSpPr>
        <p:spPr>
          <a:xfrm>
            <a:off x="621792" y="1900000"/>
            <a:ext cx="2743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Primary KPI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21792" y="2220000"/>
          <a:ext cx="10424160" cy="102000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4700000">
                  <a:extLst>
                    <a:ext uri="{9D8B030D-6E8A-4147-A177-3AD203B41FA5}">
                      <ns2:colId val="20001"/>
                    </a:ext>
                  </a:extLst>
                </a:gridCol>
                <a:gridCol w="272416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51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20" b="1">
                          <a:solidFill>
                            <a:srgbClr val="F2F2F2"/>
                          </a:solidFill>
                        </a:rPr>
                        <a:t>KPI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20" b="1">
                          <a:solidFill>
                            <a:srgbClr val="F2F2F2"/>
                          </a:solidFill>
                        </a:rPr>
                        <a:t>Definition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20" b="1">
                          <a:solidFill>
                            <a:srgbClr val="F2F2F2"/>
                          </a:solidFill>
                        </a:rPr>
                        <a:t>Why it matters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 b="0">
                          <a:solidFill>
                            <a:srgbClr val="D9D9D9"/>
                          </a:solidFill>
                        </a:rPr>
                        <a:t>Incremental SMB Bundle adoption rate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 b="0">
                          <a:solidFill>
                            <a:srgbClr val="D9D9D9"/>
                          </a:solidFill>
                        </a:rPr>
                        <a:t>Exposed adoption rate minus holdout adoption rate, overall and by tier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 b="0">
                          <a:solidFill>
                            <a:srgbClr val="D9D9D9"/>
                          </a:solidFill>
                        </a:rPr>
                        <a:t>Separates real lift from natural adoption.</a:t>
                      </a:r>
                    </a:p>
                  </a:txBody>
                  <a:tcPr marL="32000" marR="32000" marT="26000" marB="2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1792" y="3510000"/>
            <a:ext cx="3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Secondary KPIs</a:t>
            </a:r>
            <a:endParaRPr lang="en-US" sz="1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21792" y="3840000"/>
          <a:ext cx="6250000" cy="1960000"/>
        </p:xfrm>
        <a:graphic>
          <a:graphicData uri="http://schemas.openxmlformats.org/drawingml/2006/table">
            <a:tbl>
              <a:tblPr/>
              <a:tblGrid>
                <a:gridCol w="1500000">
                  <a:extLst>
                    <a:ext uri="{9D8B030D-6E8A-4147-A177-3AD203B41FA5}">
                      <ns2:colId val="20000"/>
                    </a:ext>
                  </a:extLst>
                </a:gridCol>
                <a:gridCol w="2450000">
                  <a:extLst>
                    <a:ext uri="{9D8B030D-6E8A-4147-A177-3AD203B41FA5}">
                      <ns2:colId val="20001"/>
                    </a:ext>
                  </a:extLst>
                </a:gridCol>
                <a:gridCol w="23000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9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F2F2F2"/>
                          </a:solidFill>
                        </a:rPr>
                        <a:t>KPI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F2F2F2"/>
                          </a:solidFill>
                        </a:rPr>
                        <a:t>Definition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F2F2F2"/>
                          </a:solidFill>
                        </a:rPr>
                        <a:t>Why it matters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 b="0">
                          <a:solidFill>
                            <a:srgbClr val="D9D9D9"/>
                          </a:solidFill>
                        </a:rPr>
                        <a:t>Click-through rate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 b="0">
                          <a:solidFill>
                            <a:srgbClr val="D9D9D9"/>
                          </a:solidFill>
                        </a:rPr>
                        <a:t>Share of exposed sellers who click through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 b="0">
                          <a:solidFill>
                            <a:srgbClr val="D9D9D9"/>
                          </a:solidFill>
                        </a:rPr>
                        <a:t>Diagnoses channel and placement relevance.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 b="0">
                          <a:solidFill>
                            <a:srgbClr val="D9D9D9"/>
                          </a:solidFill>
                        </a:rPr>
                        <a:t>Trial start rate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 b="0">
                          <a:solidFill>
                            <a:srgbClr val="D9D9D9"/>
                          </a:solidFill>
                        </a:rPr>
                        <a:t>Share of exposed sellers who start a bundle trial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 b="0">
                          <a:solidFill>
                            <a:srgbClr val="D9D9D9"/>
                          </a:solidFill>
                        </a:rPr>
                        <a:t>Shows whether interest becomes action.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193352143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 b="0">
                          <a:solidFill>
                            <a:srgbClr val="D9D9D9"/>
                          </a:solidFill>
                        </a:rPr>
                        <a:t>Bundle revenue uplift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 b="0">
                          <a:solidFill>
                            <a:srgbClr val="D9D9D9"/>
                          </a:solidFill>
                        </a:rPr>
                        <a:t>Exposed bundle revenue minus holdout bundle revenue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 b="0">
                          <a:solidFill>
                            <a:srgbClr val="D9D9D9"/>
                          </a:solidFill>
                        </a:rPr>
                        <a:t>Links adoption to business value.</a:t>
                      </a:r>
                    </a:p>
                  </a:txBody>
                  <a:tcPr marL="25000" marR="25000" marT="18000" marB="18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2131940011"/>
                  </a:ext>
                </a:extLst>
              </a:tr>
            </a:tbl>
          </a:graphicData>
        </a:graphic>
      </p:graphicFrame>
      <p:sp>
        <p:nvSpPr>
          <p:cNvPr id="12" name="Combined KPI intro"/>
          <p:cNvSpPr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incremental adoption, diagnose channel response, and monitor seller-fit guardrails.</a:t>
            </a:r>
            <a:endParaRPr lang="en-US" sz="1400" dirty="0"/>
          </a:p>
        </p:txBody>
      </p:sp>
      <p:sp>
        <p:nvSpPr>
          <p:cNvPr id="13" name="Guardrail section label"/>
          <p:cNvSpPr/>
          <p:nvPr/>
        </p:nvSpPr>
        <p:spPr>
          <a:xfrm>
            <a:off x="7260000" y="3510000"/>
            <a:ext cx="33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Guardrail KPIs</a:t>
            </a:r>
            <a:endParaRPr lang="en-US" sz="1800" dirty="0"/>
          </a:p>
        </p:txBody>
      </p:sp>
      <p:sp>
        <p:nvSpPr>
          <p:cNvPr id="14" name="Guardrail intro"/>
          <p:cNvSpPr/>
          <p:nvPr/>
        </p:nvSpPr>
        <p:spPr>
          <a:xfrm>
            <a:off x="7260000" y="3820000"/>
            <a:ext cx="39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95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ensure the campaign does not overfit to short-term adoption at the expense of seller fit, product trust, or support burden.</a:t>
            </a:r>
            <a:endParaRPr lang="en-US" sz="1400" dirty="0"/>
          </a:p>
        </p:txBody>
      </p:sp>
      <p:graphicFrame>
        <p:nvGraphicFramePr>
          <p:cNvPr id="15" name="Guardrail KPI table combined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7260000" y="4390000"/>
          <a:ext cx="3900000" cy="1370000"/>
        </p:xfrm>
        <a:graphic>
          <a:graphicData uri="http://schemas.openxmlformats.org/drawingml/2006/table">
            <a:tbl>
              <a:tblPr/>
              <a:tblGrid>
                <a:gridCol w="1450000">
                  <a:extLst>
                    <a:ext uri="{9D8B030D-6E8A-4147-A177-3AD203B41FA5}">
                      <ns2:colId val="20000"/>
                    </a:ext>
                  </a:extLst>
                </a:gridCol>
                <a:gridCol w="1400000">
                  <a:extLst>
                    <a:ext uri="{9D8B030D-6E8A-4147-A177-3AD203B41FA5}">
                      <ns2:colId val="20001"/>
                    </a:ext>
                  </a:extLst>
                </a:gridCol>
                <a:gridCol w="10500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566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60" b="1">
                          <a:solidFill>
                            <a:srgbClr val="F2F2F2"/>
                          </a:solidFill>
                        </a:rPr>
                        <a:t>KPI</a:t>
                      </a:r>
                    </a:p>
                  </a:txBody>
                  <a:tcPr marL="18000" marR="18000" marT="14000" marB="14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60" b="1">
                          <a:solidFill>
                            <a:srgbClr val="F2F2F2"/>
                          </a:solidFill>
                        </a:rPr>
                        <a:t>Definition</a:t>
                      </a:r>
                    </a:p>
                  </a:txBody>
                  <a:tcPr marL="18000" marR="18000" marT="14000" marB="14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60" b="1">
                          <a:solidFill>
                            <a:srgbClr val="F2F2F2"/>
                          </a:solidFill>
                        </a:rPr>
                        <a:t>Why it matters</a:t>
                      </a:r>
                    </a:p>
                  </a:txBody>
                  <a:tcPr marL="18000" marR="18000" marT="14000" marB="14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566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680" b="0">
                          <a:solidFill>
                            <a:srgbClr val="D9D9D9"/>
                          </a:solidFill>
                        </a:rPr>
                        <a:t>Early cancellation / downgrade rate</a:t>
                      </a:r>
                    </a:p>
                  </a:txBody>
                  <a:tcPr marL="18000" marR="18000" marT="14000" marB="14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680" b="0">
                          <a:solidFill>
                            <a:srgbClr val="D9D9D9"/>
                          </a:solidFill>
                        </a:rPr>
                        <a:t>Share of adopters who cancel or downgrade early</a:t>
                      </a:r>
                    </a:p>
                  </a:txBody>
                  <a:tcPr marL="18000" marR="18000" marT="14000" marB="14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680" b="0">
                          <a:solidFill>
                            <a:srgbClr val="D9D9D9"/>
                          </a:solidFill>
                        </a:rPr>
                        <a:t>Flags poor-fit or over-pushed sellers.</a:t>
                      </a:r>
                    </a:p>
                  </a:txBody>
                  <a:tcPr marL="18000" marR="18000" marT="14000" marB="14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56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680" b="0">
                          <a:solidFill>
                            <a:srgbClr val="D9D9D9"/>
                          </a:solidFill>
                        </a:rPr>
                        <a:t>Seller opt-out or complaint rate</a:t>
                      </a:r>
                    </a:p>
                  </a:txBody>
                  <a:tcPr marL="18000" marR="18000" marT="14000" marB="14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680" b="0">
                          <a:solidFill>
                            <a:srgbClr val="D9D9D9"/>
                          </a:solidFill>
                        </a:rPr>
                        <a:t>Share of exposed sellers who opt out or complain</a:t>
                      </a:r>
                    </a:p>
                  </a:txBody>
                  <a:tcPr marL="18000" marR="18000" marT="14000" marB="14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680" b="0">
                          <a:solidFill>
                            <a:srgbClr val="D9D9D9"/>
                          </a:solidFill>
                        </a:rPr>
                        <a:t>Caps campaign pressure before trust suffers.</a:t>
                      </a:r>
                    </a:p>
                  </a:txBody>
                  <a:tcPr marL="18000" marR="18000" marT="14000" marB="14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ns2:rowId val="40311426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757</Words>
  <Application>Microsoft Macintosh PowerPoint</Application>
  <PresentationFormat>Widescreen</PresentationFormat>
  <Paragraphs>153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Marktplaats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2 Q4 Scale</dc:title>
  <dc:subject>SMB Bundle Strategy - Scale</dc:subject>
  <dc:creator>Omer Tal</dc:creator>
  <cp:lastModifiedBy>Omer Tal</cp:lastModifiedBy>
  <cp:revision>10</cp:revision>
  <dcterms:created xsi:type="dcterms:W3CDTF">2026-06-14T09:21:56Z</dcterms:created>
  <dcterms:modified xsi:type="dcterms:W3CDTF">2026-06-14T13:28:09Z</dcterms:modified>
</cp:coreProperties>
</file>