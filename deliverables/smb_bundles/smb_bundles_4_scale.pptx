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0"/>
  </p:notesMasterIdLst>
  <p:sldIdLst>
    <p:sldId id="262" r:id="rId2"/>
    <p:sldId id="256" r:id="rId3"/>
    <p:sldId id="257" r:id="rId4"/>
    <p:sldId id="263" r:id="rId5"/>
    <p:sldId r:id="rId6" id="258"/>
    <p:sldId r:id="rId7" id="259"/>
    <p:sldId id="260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7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0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311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powerpoint/2010/main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ction 01 Inactive"/>
          <p:cNvSpPr/>
          <p:nvPr/>
        </p:nvSpPr>
        <p:spPr>
          <a:xfrm>
            <a:off x="609600" y="900112"/>
            <a:ext cx="3600450" cy="389572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19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  Identify</a:t>
            </a:r>
          </a:p>
        </p:txBody>
      </p:sp>
      <p:sp>
        <p:nvSpPr>
          <p:cNvPr id="5" name="Section 02 Inactive"/>
          <p:cNvSpPr/>
          <p:nvPr/>
        </p:nvSpPr>
        <p:spPr>
          <a:xfrm>
            <a:off x="609600" y="1400175"/>
            <a:ext cx="3600450" cy="389572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1900" b="1">
                <a:solidFill>
                  <a:srgbClr val="37AFFF"/>
                </a:solidFill>
                <a:latin typeface="Arial"/>
                <a:ea typeface="Arial"/>
                <a:cs typeface="Arial"/>
              </a:rPr>
              <a:t>02  Prioritize</a:t>
            </a:r>
          </a:p>
        </p:txBody>
      </p:sp>
      <p:sp>
        <p:nvSpPr>
          <p:cNvPr id="6" name="Section 04 Subtitle"/>
          <p:cNvSpPr/>
          <p:nvPr/>
        </p:nvSpPr>
        <p:spPr>
          <a:xfrm>
            <a:off x="512445" y="3960000"/>
            <a:ext cx="10000298" cy="450000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220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Promote SMB bundles through targeted campaigns and KPI guardrails</a:t>
            </a:r>
          </a:p>
        </p:txBody>
      </p:sp>
      <p:sp>
        <p:nvSpPr>
          <p:cNvPr id="7" name="Section 03 Inactive"/>
          <p:cNvSpPr/>
          <p:nvPr/>
        </p:nvSpPr>
        <p:spPr>
          <a:xfrm>
            <a:off x="609600" y="1900238"/>
            <a:ext cx="3600450" cy="389572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1900" b="1">
                <a:solidFill>
                  <a:srgbClr val="38D98C"/>
                </a:solidFill>
                <a:latin typeface="Arial"/>
                <a:ea typeface="Arial"/>
                <a:cs typeface="Arial"/>
              </a:rPr>
              <a:t>03  Monitor</a:t>
            </a:r>
          </a:p>
        </p:txBody>
      </p:sp>
      <p:sp>
        <p:nvSpPr>
          <p:cNvPr id="8" name="Section 04 Active"/>
          <p:cNvSpPr/>
          <p:nvPr/>
        </p:nvSpPr>
        <p:spPr>
          <a:xfrm>
            <a:off x="512445" y="2840000"/>
            <a:ext cx="10500360" cy="829628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70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04   Scale</a:t>
            </a:r>
          </a:p>
        </p:txBody>
      </p:sp>
      <p:sp>
        <p:nvSpPr>
          <p:cNvPr id="9" name="Bottom Separator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242424"/>
            </a:solidFill>
          </a:ln>
        </p:spPr>
      </p:sp>
      <p:sp>
        <p:nvSpPr>
          <p:cNvPr id="10" name="Q4 preview page marker"/>
          <p:cNvSpPr/>
          <p:nvPr/>
        </p:nvSpPr>
        <p:spPr>
          <a:xfrm>
            <a:off x="10744200" y="6286500"/>
            <a:ext cx="990600" cy="228600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95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</p:spTree>
    <p:extLst>
      <p:ext uri="{BB962C8B-B14F-4D97-AF65-F5344CB8AC3E}">
        <ns2:creationId val="1264683463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Campaign Objective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Scale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4173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SMB bundles to active sellers with a high SMB likelihood score, then sequence outreach by readiness so the strongest candidates receive the first conversion push.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Campaign 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792" y="25420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>
                <a:solidFill>
                  <a:srgbClr val="D9D9D9"/>
                </a:solidFill>
              </a:rPr>
              <a:t>Promote SMB bundles to active sellers with a high SMB likelihood score (from question #1).</a:t>
            </a:r>
          </a:p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>
                <a:solidFill>
                  <a:srgbClr val="D9D9D9"/>
                </a:solidFill>
              </a:rPr>
              <a:t>Start with sellers who also have a high readiness score (from question #2), then expand to broader seller groups.</a:t>
            </a:r>
          </a:p>
        </p:txBody>
      </p:sp>
      <p:sp>
        <p:nvSpPr>
          <p:cNvPr id="11" name="Text 9"/>
          <p:cNvSpPr/>
          <p:nvPr/>
        </p:nvSpPr>
        <p:spPr>
          <a:xfrm>
            <a:off x="6492239" y="2148840"/>
            <a:ext cx="3304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Future Campaigns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542032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>
                <a:solidFill>
                  <a:srgbClr val="D9D9D9"/>
                </a:solidFill>
              </a:rPr>
              <a:t>Reactivation campaign for SMB sellers with declining performance.</a:t>
            </a:r>
          </a:p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>
                <a:solidFill>
                  <a:srgbClr val="D9D9D9"/>
                </a:solidFill>
              </a:rPr>
              <a:t>Upsell campaign from Basic to Plus.</a:t>
            </a:r>
          </a:p>
        </p:txBody>
      </p:sp>
      <p:sp>
        <p:nvSpPr>
          <p:cNvPr id="13" name="Text 11"/>
          <p:cNvSpPr/>
          <p:nvPr/>
        </p:nvSpPr>
        <p:spPr>
          <a:xfrm>
            <a:off x="621792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Flow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6384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SMB likelihood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6384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business signal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71800" y="4507992"/>
            <a:ext cx="201168" cy="164592"/>
          </a:xfrm>
          <a:prstGeom prst="chevron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401568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66160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readiness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66160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first-wave priority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51576" y="4507992"/>
            <a:ext cx="201168" cy="164592"/>
          </a:xfrm>
          <a:prstGeom prst="chevron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81344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45936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expansion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45936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+ Tier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31352" y="4507992"/>
            <a:ext cx="201168" cy="164592"/>
          </a:xfrm>
          <a:prstGeom prst="chevron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961120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125712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impact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25712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holdout-based KPIs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powerpoint/2010/main" xmlns:ns3="http://schemas.microsoft.com/office/drawing/2014/main" xmlns:p="http://schemas.openxmlformats.org/presentationml/2006/main">
  <p:cSld name="Slide 2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Target Audience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Scale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71600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audience: active sellers without an SMB bundle. Use SMB-likelihood and readiness scores to set message intensity by segment.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621792" y="2040000"/>
            <a:ext cx="27432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Segments</a:t>
            </a:r>
            <a:endParaRPr lang="en-US" sz="1800" dirty="0"/>
          </a:p>
        </p:txBody>
      </p:sp>
      <p:graphicFrame>
        <p:nvGraphicFramePr>
          <p:cNvPr id="27" name="Audience segment table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60000" y="2440000"/>
          <a:ext cx="9480000" cy="2530000"/>
        </p:xfrm>
        <a:graphic>
          <a:graphicData uri="http://schemas.openxmlformats.org/drawingml/2006/table">
            <a:tbl>
              <a:tblPr/>
              <a:tblGrid>
                <a:gridCol w="1260000"/>
                <a:gridCol w="3740000"/>
                <a:gridCol w="4480000"/>
              </a:tblGrid>
              <a:tr h="47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60" b="1">
                          <a:solidFill>
                            <a:srgbClr val="F2F2F2"/>
                          </a:solidFill>
                        </a:rPr>
                        <a:t>Segment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60" b="1">
                          <a:solidFill>
                            <a:srgbClr val="F2F2F2"/>
                          </a:solidFill>
                        </a:rPr>
                        <a:t>Audience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60" b="1">
                          <a:solidFill>
                            <a:srgbClr val="F2F2F2"/>
                          </a:solidFill>
                        </a:rPr>
                        <a:t>Campaign role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Tier 1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High SMB likelihood + high readiness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Direct conversion push: upgrade now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Tier 2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High SMB likelihood + medium readiness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Education and nurture: explain bundle benefits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Tier 3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Medium SMB likelihood + medium/low readiness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Light-touch awareness and interest validation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Excluded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Low SMB likelihood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Avoid intrusive promotion to likely consumers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  <p:sp>
        <p:nvSpPr>
          <p:cNvPr id="28" name="Target audience closing"/>
          <p:cNvSpPr/>
          <p:nvPr/>
        </p:nvSpPr>
        <p:spPr>
          <a:xfrm>
            <a:off x="760000" y="5230000"/>
            <a:ext cx="948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sz="1250">
                <a:solidFill>
                  <a:srgbClr val="D9D9D9"/>
                </a:solidFill>
              </a:rPr>
              <a:t>Start with Tier 1 for the strongest adoption impact, then broaden to Tier 2 and Tier 3 through scalable CRM and in-platform prompts.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Channels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750" dirty="0"/>
          </a:p>
        </p:txBody>
      </p:sp>
      <p:sp>
        <p:nvSpPr>
          <p:cNvPr id="8" name="Channels intro"/>
          <p:cNvSpPr/>
          <p:nvPr/>
        </p:nvSpPr>
        <p:spPr>
          <a:xfrm>
            <a:off x="621792" y="1417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two complementary channels: lifecycle CRM for behavior-triggered outreach and in-platform prompts for high-intent seller moments.</a:t>
            </a:r>
            <a:endParaRPr lang="en-US" sz="1500" dirty="0"/>
          </a:p>
        </p:txBody>
      </p:sp>
      <p:sp>
        <p:nvSpPr>
          <p:cNvPr id="9" name="Channel mix label"/>
          <p:cNvSpPr/>
          <p:nvPr/>
        </p:nvSpPr>
        <p:spPr>
          <a:xfrm>
            <a:off x="621792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Mix</a:t>
            </a:r>
            <a:endParaRPr lang="en-US" sz="1800" dirty="0"/>
          </a:p>
        </p:txBody>
      </p:sp>
      <p:sp>
        <p:nvSpPr>
          <p:cNvPr id="10" name="Lifecycle CRM card"/>
          <p:cNvSpPr/>
          <p:nvPr/>
        </p:nvSpPr>
        <p:spPr>
          <a:xfrm>
            <a:off x="621792" y="2606040"/>
            <a:ext cx="5029200" cy="1828800"/>
          </a:xfrm>
          <a:custGeom>
            <a:avLst/>
            <a:pathLst>
              <a:path w="5029200" h="1828800">
                <a:moveTo>
                  <a:pt x="0" y="0"/>
                </a:moveTo>
                <a:lnTo>
                  <a:pt x="5029200" y="0"/>
                </a:lnTo>
                <a:lnTo>
                  <a:pt x="5029200" y="1693800"/>
                </a:lnTo>
                <a:cubicBezTo>
                  <a:pt x="5029200" y="1768360"/>
                  <a:pt x="4968760" y="1828800"/>
                  <a:pt x="4894200" y="1828800"/>
                </a:cubicBezTo>
                <a:lnTo>
                  <a:pt x="135000" y="1828800"/>
                </a:lnTo>
                <a:cubicBezTo>
                  <a:pt x="60440" y="1828800"/>
                  <a:pt x="0" y="1768360"/>
                  <a:pt x="0" y="1693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ifecycle CRM accent"/>
          <p:cNvSpPr/>
          <p:nvPr/>
        </p:nvSpPr>
        <p:spPr>
          <a:xfrm>
            <a:off x="621792" y="2606040"/>
            <a:ext cx="5029200" cy="38100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Lifecycle CRM title"/>
          <p:cNvSpPr/>
          <p:nvPr/>
        </p:nvSpPr>
        <p:spPr>
          <a:xfrm>
            <a:off x="804672" y="28254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CRM</a:t>
            </a:r>
            <a:endParaRPr lang="en-US" sz="1700" dirty="0"/>
          </a:p>
        </p:txBody>
      </p:sp>
      <p:sp>
        <p:nvSpPr>
          <p:cNvPr id="13" name="Lifecycle CRM body"/>
          <p:cNvSpPr/>
          <p:nvPr/>
        </p:nvSpPr>
        <p:spPr>
          <a:xfrm>
            <a:off x="804672" y="32644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/ CRM journeys triggered by seller behavior, such as repeated listing, paid-feature use, competitive-category activity, or buyer interest without a bundle.</a:t>
            </a:r>
            <a:endParaRPr lang="en-US" sz="1250" dirty="0"/>
          </a:p>
        </p:txBody>
      </p:sp>
      <p:sp>
        <p:nvSpPr>
          <p:cNvPr id="14" name="Lifecycle CRM role"/>
          <p:cNvSpPr/>
          <p:nvPr/>
        </p:nvSpPr>
        <p:spPr>
          <a:xfrm>
            <a:off x="804672" y="3977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role: strongest for proactive journeys when readiness and seller behavior both signal intent.</a:t>
            </a:r>
            <a:endParaRPr lang="en-US" sz="1100" dirty="0"/>
          </a:p>
        </p:txBody>
      </p:sp>
      <p:sp>
        <p:nvSpPr>
          <p:cNvPr id="15" name="In-platform Prompts card"/>
          <p:cNvSpPr/>
          <p:nvPr/>
        </p:nvSpPr>
        <p:spPr>
          <a:xfrm>
            <a:off x="6291072" y="2606040"/>
            <a:ext cx="5029200" cy="1828800"/>
          </a:xfrm>
          <a:custGeom>
            <a:avLst/>
            <a:pathLst>
              <a:path w="5029200" h="1828800">
                <a:moveTo>
                  <a:pt x="0" y="0"/>
                </a:moveTo>
                <a:lnTo>
                  <a:pt x="5029200" y="0"/>
                </a:lnTo>
                <a:lnTo>
                  <a:pt x="5029200" y="1693800"/>
                </a:lnTo>
                <a:cubicBezTo>
                  <a:pt x="5029200" y="1768360"/>
                  <a:pt x="4968760" y="1828800"/>
                  <a:pt x="4894200" y="1828800"/>
                </a:cubicBezTo>
                <a:lnTo>
                  <a:pt x="135000" y="1828800"/>
                </a:lnTo>
                <a:cubicBezTo>
                  <a:pt x="60440" y="1828800"/>
                  <a:pt x="0" y="1768360"/>
                  <a:pt x="0" y="1693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In-platform Prompts accent"/>
          <p:cNvSpPr/>
          <p:nvPr/>
        </p:nvSpPr>
        <p:spPr>
          <a:xfrm>
            <a:off x="6291072" y="2606040"/>
            <a:ext cx="5029200" cy="38100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In-platform Prompts title"/>
          <p:cNvSpPr/>
          <p:nvPr/>
        </p:nvSpPr>
        <p:spPr>
          <a:xfrm>
            <a:off x="6473952" y="28254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In-platform Prompts</a:t>
            </a:r>
            <a:endParaRPr lang="en-US" sz="1700" dirty="0"/>
          </a:p>
        </p:txBody>
      </p:sp>
      <p:sp>
        <p:nvSpPr>
          <p:cNvPr id="18" name="In-platform Prompts body"/>
          <p:cNvSpPr/>
          <p:nvPr/>
        </p:nvSpPr>
        <p:spPr>
          <a:xfrm>
            <a:off x="6473952" y="32644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in high-intent seller surfaces: seller dashboard, listing creation, listing management, and paid-feature purchase flows.</a:t>
            </a:r>
            <a:endParaRPr lang="en-US" sz="1250" dirty="0"/>
          </a:p>
        </p:txBody>
      </p:sp>
      <p:sp>
        <p:nvSpPr>
          <p:cNvPr id="19" name="In-platform Prompts role"/>
          <p:cNvSpPr/>
          <p:nvPr/>
        </p:nvSpPr>
        <p:spPr>
          <a:xfrm>
            <a:off x="6473952" y="3977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role: reinforces the CRM message at the moment sellers manage supply or visibility spend.</a:t>
            </a:r>
            <a:endParaRPr lang="en-US" sz="1100" dirty="0"/>
          </a:p>
        </p:txBody>
      </p:sp>
      <p:sp>
        <p:nvSpPr>
          <p:cNvPr id="20" name="How channels work label"/>
          <p:cNvSpPr/>
          <p:nvPr/>
        </p:nvSpPr>
        <p:spPr>
          <a:xfrm>
            <a:off x="621792" y="4892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They Work Together</a:t>
            </a:r>
            <a:endParaRPr lang="en-US" sz="1800" dirty="0"/>
          </a:p>
        </p:txBody>
      </p:sp>
      <p:sp>
        <p:nvSpPr>
          <p:cNvPr id="21" name="How channels work body"/>
          <p:cNvSpPr/>
          <p:nvPr/>
        </p:nvSpPr>
        <p:spPr>
          <a:xfrm>
            <a:off x="621792" y="5273040"/>
            <a:ext cx="102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creates the targeted outreach path; in-platform prompts reinforce the message at the moment of seller intent.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powerpoint/2010/main" xmlns:ns3="http://schemas.microsoft.com/office/drawing/2014/main" xmlns:p="http://schemas.openxmlformats.org/presentationml/2006/main">
  <p:cSld name="Slide 3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Lifecycle CRM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Scale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7160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email / CRM journeys triggered by seller behavior.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1840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Triggers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50000" y="2240000"/>
          <a:ext cx="10040000" cy="2260000"/>
        </p:xfrm>
        <a:graphic>
          <a:graphicData uri="http://schemas.openxmlformats.org/drawingml/2006/table">
            <a:tbl>
              <a:tblPr/>
              <a:tblGrid>
                <a:gridCol w="3400000"/>
                <a:gridCol w="6640000"/>
              </a:tblGrid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40" b="1">
                          <a:solidFill>
                            <a:srgbClr val="F2F2F2"/>
                          </a:solidFill>
                        </a:rPr>
                        <a:t>Trigger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40" b="1">
                          <a:solidFill>
                            <a:srgbClr val="F2F2F2"/>
                          </a:solidFill>
                        </a:rPr>
                        <a:t>Purpose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Seller lists repeatedly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Promote bundle when commercial intent is high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Seller uses paid features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Position bundle as a structured visibility product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Seller operates in competitive category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Promote differentiation benefit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Seller receives buyer interest but has no bundle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Promote visibility/professionalization as next step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  <p:sp>
        <p:nvSpPr>
          <p:cNvPr id="11" name="Apply by tier label"/>
          <p:cNvSpPr/>
          <p:nvPr/>
        </p:nvSpPr>
        <p:spPr>
          <a:xfrm>
            <a:off x="621792" y="4630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sz="1450" b="1">
                <a:solidFill>
                  <a:srgbClr val="FF735B"/>
                </a:solidFill>
              </a:rPr>
              <a:t>Apply by Tier</a:t>
            </a:r>
          </a:p>
        </p:txBody>
      </p:sp>
      <p:graphicFrame>
        <p:nvGraphicFramePr>
          <p:cNvPr id="12" name="Lifecycle apply by tier table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50000" y="4980000"/>
          <a:ext cx="10040000" cy="1020000"/>
        </p:xfrm>
        <a:graphic>
          <a:graphicData uri="http://schemas.openxmlformats.org/drawingml/2006/table">
            <a:tbl>
              <a:tblPr/>
              <a:tblGrid>
                <a:gridCol w="1000000"/>
                <a:gridCol w="4300000"/>
                <a:gridCol w="4740000"/>
              </a:tblGrid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F2F2F2"/>
                          </a:solidFill>
                        </a:rPr>
                        <a:t>Tier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F2F2F2"/>
                          </a:solidFill>
                        </a:rPr>
                        <a:t>When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F2F2F2"/>
                          </a:solidFill>
                        </a:rPr>
                        <a:t>Frequency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</a:tr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1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Any strong trigger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Full journey, capped over first 2 weeks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</a:tr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2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Repeated or high-value trigger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Limited nurture, lower frequency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</a:tr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3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Test cell only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One touch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powerpoint/2010/main" xmlns:ns3="http://schemas.microsoft.com/office/drawing/2014/main" xmlns:p="http://schemas.openxmlformats.org/presentationml/2006/main">
  <p:cSld name="Slide 4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In-platform Prompts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Scale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7160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prompts in high-intent seller surfaces.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1840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Surfaces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50000" y="2240000"/>
          <a:ext cx="10040000" cy="2260000"/>
        </p:xfrm>
        <a:graphic>
          <a:graphicData uri="http://schemas.openxmlformats.org/drawingml/2006/table">
            <a:tbl>
              <a:tblPr/>
              <a:tblGrid>
                <a:gridCol w="3200000"/>
                <a:gridCol w="6840000"/>
              </a:tblGrid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40" b="1">
                          <a:solidFill>
                            <a:srgbClr val="F2F2F2"/>
                          </a:solidFill>
                        </a:rPr>
                        <a:t>Surface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40" b="1">
                          <a:solidFill>
                            <a:srgbClr val="F2F2F2"/>
                          </a:solidFill>
                        </a:rPr>
                        <a:t>Why this moment works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Seller dashboard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Natural moment to link bundles to better performance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Listing creation flow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Bundle can improve listings from day one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Listing management page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Bundle is a broader upgrade than one-off ad fixes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Paid-feature purchase flow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60" b="0">
                          <a:solidFill>
                            <a:srgbClr val="D9D9D9"/>
                          </a:solidFill>
                        </a:rPr>
                        <a:t>Bundle is a structured alternative to single visibility purchases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  <p:sp>
        <p:nvSpPr>
          <p:cNvPr id="11" name="Apply by tier label"/>
          <p:cNvSpPr/>
          <p:nvPr/>
        </p:nvSpPr>
        <p:spPr>
          <a:xfrm>
            <a:off x="621792" y="4630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sz="1450" b="1">
                <a:solidFill>
                  <a:srgbClr val="FF735B"/>
                </a:solidFill>
              </a:rPr>
              <a:t>Apply by Tier</a:t>
            </a:r>
          </a:p>
        </p:txBody>
      </p:sp>
      <p:graphicFrame>
        <p:nvGraphicFramePr>
          <p:cNvPr id="12" name="Prompts apply by tier table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50000" y="4980000"/>
          <a:ext cx="10040000" cy="1020000"/>
        </p:xfrm>
        <a:graphic>
          <a:graphicData uri="http://schemas.openxmlformats.org/drawingml/2006/table">
            <a:tbl>
              <a:tblPr/>
              <a:tblGrid>
                <a:gridCol w="1000000"/>
                <a:gridCol w="4300000"/>
                <a:gridCol w="4740000"/>
              </a:tblGrid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F2F2F2"/>
                          </a:solidFill>
                        </a:rPr>
                        <a:t>Tier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F2F2F2"/>
                          </a:solidFill>
                        </a:rPr>
                        <a:t>When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F2F2F2"/>
                          </a:solidFill>
                        </a:rPr>
                        <a:t>Frequency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</a:tr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1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All high-intent surfaces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Full prompt set, capped over first 2 weeks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</a:tr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2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Selected high-intent surfaces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Limited prompts, lower frequency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</a:tr>
              <a:tr h="25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3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Lowest-friction surfaces only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30" b="0">
                          <a:solidFill>
                            <a:srgbClr val="D9D9D9"/>
                          </a:solidFill>
                        </a:rPr>
                        <a:t>One touch</a:t>
                      </a:r>
                    </a:p>
                  </a:txBody>
                  <a:tcPr marL="26000" marR="26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powerpoint/2010/main" xmlns:ns3="http://schemas.microsoft.com/office/drawing/2014/main" xmlns:p="http://schemas.openxmlformats.org/presentationml/2006/main">
  <p:cSld name="Slide 5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KPIs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Scale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900000"/>
            <a:ext cx="27432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Primary KPI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21792" y="2220000"/>
          <a:ext cx="10424160" cy="1020000"/>
        </p:xfrm>
        <a:graphic>
          <a:graphicData uri="http://schemas.openxmlformats.org/drawingml/2006/table">
            <a:tbl>
              <a:tblPr/>
              <a:tblGrid>
                <a:gridCol w="3000000"/>
                <a:gridCol w="4700000"/>
                <a:gridCol w="2724160"/>
              </a:tblGrid>
              <a:tr h="51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0" b="1">
                          <a:solidFill>
                            <a:srgbClr val="F2F2F2"/>
                          </a:solidFill>
                        </a:rPr>
                        <a:t>KPI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0" b="1">
                          <a:solidFill>
                            <a:srgbClr val="F2F2F2"/>
                          </a:solidFill>
                        </a:rPr>
                        <a:t>Definition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0" b="1">
                          <a:solidFill>
                            <a:srgbClr val="F2F2F2"/>
                          </a:solidFill>
                        </a:rPr>
                        <a:t>Why it matters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Incremental SMB Bundle adoption rate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Exposed adoption rate minus holdout adoption rate, overall and by tier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Separates real lift from natural adoption.</a:t>
                      </a:r>
                    </a:p>
                  </a:txBody>
                  <a:tcPr marL="32000" marR="32000" marT="26000" marB="2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1792" y="3510000"/>
            <a:ext cx="3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Secondary KPIs</a:t>
            </a:r>
            <a:endParaRPr lang="en-US" sz="18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21792" y="3840000"/>
          <a:ext cx="6250000" cy="1960000"/>
        </p:xfrm>
        <a:graphic>
          <a:graphicData uri="http://schemas.openxmlformats.org/drawingml/2006/table">
            <a:tbl>
              <a:tblPr/>
              <a:tblGrid>
                <a:gridCol w="1500000"/>
                <a:gridCol w="2450000"/>
                <a:gridCol w="2300000"/>
              </a:tblGrid>
              <a:tr h="49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20" b="1">
                          <a:solidFill>
                            <a:srgbClr val="F2F2F2"/>
                          </a:solidFill>
                        </a:rPr>
                        <a:t>KPI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20" b="1">
                          <a:solidFill>
                            <a:srgbClr val="F2F2F2"/>
                          </a:solidFill>
                        </a:rPr>
                        <a:t>Definition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20" b="1">
                          <a:solidFill>
                            <a:srgbClr val="F2F2F2"/>
                          </a:solidFill>
                        </a:rPr>
                        <a:t>Why it matters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9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Click-through rate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Share of exposed sellers who click through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Diagnoses channel and placement relevance.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9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Trial start rate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Share of exposed sellers who start a bundle trial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Shows whether interest becomes action.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9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Bundle revenue uplift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Exposed bundle revenue minus holdout bundle revenue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D9D9D9"/>
                          </a:solidFill>
                        </a:rPr>
                        <a:t>Links adoption to business value.</a:t>
                      </a:r>
                    </a:p>
                  </a:txBody>
                  <a:tcPr marL="25000" marR="25000" marT="18000" marB="18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  <p:sp>
        <p:nvSpPr>
          <p:cNvPr id="12" name="Combined KPI intro"/>
          <p:cNvSpPr/>
          <p:nvPr/>
        </p:nvSpPr>
        <p:spPr>
          <a:xfrm>
            <a:off x="621792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5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incremental adoption, diagnose channel response, and monitor seller-fit guardrails.</a:t>
            </a:r>
            <a:endParaRPr lang="en-US" sz="1400" dirty="0"/>
          </a:p>
        </p:txBody>
      </p:sp>
      <p:sp>
        <p:nvSpPr>
          <p:cNvPr id="13" name="Guardrail section label"/>
          <p:cNvSpPr/>
          <p:nvPr/>
        </p:nvSpPr>
        <p:spPr>
          <a:xfrm>
            <a:off x="7260000" y="3510000"/>
            <a:ext cx="33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Guardrail KPIs</a:t>
            </a:r>
            <a:endParaRPr lang="en-US" sz="1800" dirty="0"/>
          </a:p>
        </p:txBody>
      </p:sp>
      <p:sp>
        <p:nvSpPr>
          <p:cNvPr id="14" name="Guardrail intro"/>
          <p:cNvSpPr/>
          <p:nvPr/>
        </p:nvSpPr>
        <p:spPr>
          <a:xfrm>
            <a:off x="7260000" y="3820000"/>
            <a:ext cx="3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 b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ensure the campaign does not overfit to short-term adoption at the expense of seller fit, product trust, or support burden.</a:t>
            </a:r>
            <a:endParaRPr lang="en-US" sz="1400" dirty="0"/>
          </a:p>
        </p:txBody>
      </p:sp>
      <p:graphicFrame>
        <p:nvGraphicFramePr>
          <p:cNvPr id="15" name="Guardrail KPI table combined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260000" y="4390000"/>
          <a:ext cx="3900000" cy="1370000"/>
        </p:xfrm>
        <a:graphic>
          <a:graphicData uri="http://schemas.openxmlformats.org/drawingml/2006/table">
            <a:tbl>
              <a:tblPr/>
              <a:tblGrid>
                <a:gridCol w="1450000"/>
                <a:gridCol w="1400000"/>
                <a:gridCol w="1050000"/>
              </a:tblGrid>
              <a:tr h="4566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760" b="1">
                          <a:solidFill>
                            <a:srgbClr val="F2F2F2"/>
                          </a:solidFill>
                        </a:rPr>
                        <a:t>KPI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760" b="1">
                          <a:solidFill>
                            <a:srgbClr val="F2F2F2"/>
                          </a:solidFill>
                        </a:rPr>
                        <a:t>Definition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760" b="1">
                          <a:solidFill>
                            <a:srgbClr val="F2F2F2"/>
                          </a:solidFill>
                        </a:rPr>
                        <a:t>Why it matters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66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680" b="0">
                          <a:solidFill>
                            <a:srgbClr val="D9D9D9"/>
                          </a:solidFill>
                        </a:rPr>
                        <a:t>Early cancellation / downgrade rate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680" b="0">
                          <a:solidFill>
                            <a:srgbClr val="D9D9D9"/>
                          </a:solidFill>
                        </a:rPr>
                        <a:t>Share of adopters who cancel or downgrade early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680" b="0">
                          <a:solidFill>
                            <a:srgbClr val="D9D9D9"/>
                          </a:solidFill>
                        </a:rPr>
                        <a:t>Flags poor-fit or over-pushed sellers.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6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680" b="0">
                          <a:solidFill>
                            <a:srgbClr val="D9D9D9"/>
                          </a:solidFill>
                        </a:rPr>
                        <a:t>Seller opt-out or complaint rate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680" b="0">
                          <a:solidFill>
                            <a:srgbClr val="D9D9D9"/>
                          </a:solidFill>
                        </a:rPr>
                        <a:t>Share of exposed sellers who opt out or complain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680" b="0">
                          <a:solidFill>
                            <a:srgbClr val="D9D9D9"/>
                          </a:solidFill>
                        </a:rPr>
                        <a:t>Caps campaign pressure before trust suffers.</a:t>
                      </a:r>
                    </a:p>
                  </a:txBody>
                  <a:tcPr marL="18000" marR="18000" marT="14000" marB="14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powerpoint/2010/main" xmlns:ns3="http://schemas.microsoft.com/office/drawing/2014/main" xmlns:p="http://schemas.openxmlformats.org/presentationml/2006/main">
  <p:cSld name="Slide 6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Guardrail KPIs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Scale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744200" y="623620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716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ensure the campaign does not overfit to short-term adoption at the expense of seller fit, product trust, or support burden.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2029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Guardrail KPIs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650000" y="2320000"/>
          <a:ext cx="10040000" cy="1860000"/>
        </p:xfrm>
        <a:graphic>
          <a:graphicData uri="http://schemas.openxmlformats.org/drawingml/2006/table">
            <a:tbl>
              <a:tblPr/>
              <a:tblGrid>
                <a:gridCol w="3000000"/>
                <a:gridCol w="4000000"/>
                <a:gridCol w="3040000"/>
              </a:tblGrid>
              <a:tr h="62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2F2F2"/>
                          </a:solidFill>
                        </a:rPr>
                        <a:t>KPI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2F2F2"/>
                          </a:solidFill>
                        </a:rPr>
                        <a:t>Definition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2F2F2"/>
                          </a:solidFill>
                        </a:rPr>
                        <a:t>Why it matters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Early cancellation / downgrade rate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Share of adopters who cancel or downgrade early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Flags poor-fit or over-pushed sellers.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Seller opt-out or complaint rate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Share of exposed sellers who opt out or complain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80" b="0">
                          <a:solidFill>
                            <a:srgbClr val="D9D9D9"/>
                          </a:solidFill>
                        </a:rPr>
                        <a:t>Caps campaign pressure before trust suffers.</a:t>
                      </a:r>
                    </a:p>
                  </a:txBody>
                  <a:tcPr marL="33000" marR="33000" marT="30000" marB="30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1792" y="4590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Discipline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21792" y="4864608"/>
            <a:ext cx="3246120" cy="877824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21792" y="4864608"/>
            <a:ext cx="3246120" cy="36576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6384" y="502920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Incrementality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86384" y="535838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exposed sellers vs. a holdout/control group for adoption and revenue.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187952" y="4864608"/>
            <a:ext cx="3246120" cy="877824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187952" y="4864608"/>
            <a:ext cx="3246120" cy="36576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352544" y="502920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352544" y="535838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early cancellation and downgrade behavior.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754112" y="4864608"/>
            <a:ext cx="3246120" cy="877824"/>
          </a:xfrm>
          <a:prstGeom prst="roundRect">
            <a:avLst>
              <a:gd name="adj" fmla="val 8333"/>
            </a:avLst>
          </a:pr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r>
              <a:rPr>
                <a:solidFill>
                  <a:srgbClr val="D9D9D9"/>
                </a:solidFill>
              </a:rPr>
              <a:t/>
            </a:r>
          </a:p>
        </p:txBody>
      </p:sp>
      <p:sp>
        <p:nvSpPr>
          <p:cNvPr id="21" name="Shape 18"/>
          <p:cNvSpPr/>
          <p:nvPr/>
        </p:nvSpPr>
        <p:spPr>
          <a:xfrm>
            <a:off x="7754112" y="4864608"/>
            <a:ext cx="3246120" cy="36576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918704" y="502920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918704" y="535838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opt-outs and complaint rate.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8</ep:TotalTime>
  <ep:Words>797</ep:Words>
  <ep:Application>Microsoft Macintosh PowerPoint</ep:Application>
  <ep:PresentationFormat>Widescreen</ep:PresentationFormat>
  <ep:Paragraphs>138</ep:Paragraphs>
  <ep:Slides>6</ep:Slides>
  <ep:Notes>6</ep:Notes>
  <ep:HiddenSlides>0</ep:HiddenSlides>
  <ep:MMClips>0</ep:MMClips>
  <ep:ScaleCrop>false</ep:ScaleCrop>
  <ep: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ep:HeadingPairs>
  <ep:TitlesOfParts>
    <vt:vector size="11" baseType="lpstr"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ep:TitlesOfParts>
  <ep:Company>Marktplaats</ep:Company>
  <ep:LinksUpToDate>false</ep:LinksUpToDate>
  <ep:SharedDoc>false</ep:SharedDoc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2 Q4 Scale</dc:title>
  <dc:subject>SMB Bundle Strategy - Scale</dc:subject>
  <dc:creator>Omer Tal</dc:creator>
  <cp:lastModifiedBy>Omer Tal</cp:lastModifiedBy>
  <cp:revision>8</cp:revision>
  <dcterms:created xsi:type="dcterms:W3CDTF">2026-06-14T09:21:56Z</dcterms:created>
  <dcterms:modified xsi:type="dcterms:W3CDTF">2026-06-14T11:22:09Z</dcterms:modified>
</cp:coreProperties>
</file>