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96d8bfc4734ff1" /><Relationship Type="http://schemas.openxmlformats.org/officeDocument/2006/relationships/extended-properties" Target="/docProps/app.xml" Id="R320c8fe406984ad3" /><Relationship Type="http://schemas.openxmlformats.org/officeDocument/2006/relationships/officeDocument" Target="/ppt/presentation.xml" Id="R5ab51c50d03c49ce" />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>
  <p:sldMasterIdLst>
    <p:sldMasterId id="2147483648" r:id="R9dc8704213db48c6"/>
  </p:sldMasterIdLst>
  <p:notesMasterIdLst>
    <p:notesMasterId r:id="R2a4a174a24bd40f3"/>
  </p:notes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7" r:id="rIdSlide12"/>
    <p:sldId id="268" r:id="rIdSlide13"/>
    <p:sldId id="269" r:id="rIdSlide14"/>
    <p:sldId id="270" r:id="rIdSlide15"/>
    <p:sldId id="271" r:id="rIdSlide16"/>
    <p:sldId id="272" r:id="rIdSlide17"/>
    <p:sldId id="273" r:id="rIdSlide18"/>
    <p:sldId id="274" r:id="rIdSlide19"/>
    <p:sldId id="275" r:id="rIdSlide20"/>
  </p:sldIdLst>
  <p:sldSz cx="12192000" cy="6858000"/>
  <p:notesSz cx="6858000" cy="9144000"/>
  <p:defaultTextStyle>
    <ns2:defPPr>
      <ns2:defRPr lang="en-US"/>
    </ns2:defPPr>
    <ns2:lvl1pPr marL="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d939755c8c8f45da" /><Relationship Type="http://schemas.openxmlformats.org/officeDocument/2006/relationships/slideMaster" Target="/ppt/slideMasters/slideMaster1.xml" Id="R9dc8704213db48c6" /><Relationship Type="http://schemas.openxmlformats.org/officeDocument/2006/relationships/notesMaster" Target="/ppt/notesMasters/notesMaster1.xml" Id="R2a4a174a24bd40f3" /><Relationship Type="http://schemas.openxmlformats.org/officeDocument/2006/relationships/presProps" Target="/ppt/presProps.xml" Id="R8cf8a7315c124f90" /><Relationship Type="http://schemas.openxmlformats.org/officeDocument/2006/relationships/viewProps" Target="/ppt/viewProps.xml" Id="R5a602892d7e14ae2" /><Relationship Type="http://schemas.openxmlformats.org/officeDocument/2006/relationships/tableStyles" Target="/ppt/tableStyles.xml" Id="R7b78929a7b46439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Relationship Type="http://schemas.openxmlformats.org/officeDocument/2006/relationships/slide" Target="/ppt/slides/slide7.xml" Id="rIdSlide7" /><Relationship Type="http://schemas.openxmlformats.org/officeDocument/2006/relationships/slide" Target="/ppt/slides/slide8.xml" Id="rIdSlide8" /><Relationship Type="http://schemas.openxmlformats.org/officeDocument/2006/relationships/slide" Target="/ppt/slides/slide12.xml" Id="rIdSlide12" /><Relationship Type="http://schemas.openxmlformats.org/officeDocument/2006/relationships/slide" Target="/ppt/slides/slide13.xml" Id="rIdSlide13" /><Relationship Type="http://schemas.openxmlformats.org/officeDocument/2006/relationships/slide" Target="/ppt/slides/slide14.xml" Id="rIdSlide14" /><Relationship Type="http://schemas.openxmlformats.org/officeDocument/2006/relationships/slide" Target="/ppt/slides/slide15.xml" Id="rIdSlide15" /><Relationship Type="http://schemas.openxmlformats.org/officeDocument/2006/relationships/slide" Target="/ppt/slides/slide16.xml" Id="rIdSlide16" /><Relationship Type="http://schemas.openxmlformats.org/officeDocument/2006/relationships/slide" Target="/ppt/slides/slide17.xml" Id="rIdSlide17" /><Relationship Type="http://schemas.openxmlformats.org/officeDocument/2006/relationships/slide" Target="/ppt/slides/slide18.xml" Id="rIdSlide18" /><Relationship Type="http://schemas.openxmlformats.org/officeDocument/2006/relationships/slide" Target="/ppt/slides/slide19.xml" Id="rIdSlide19" /><Relationship Type="http://schemas.openxmlformats.org/officeDocument/2006/relationships/slide" Target="/ppt/slides/slide20.xml" Id="rIdSlide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6023a4afe94c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../slides/slide1.xml" Id="Rf39fa9c73bc54f04" /><Relationship Type="http://schemas.openxmlformats.org/officeDocument/2006/relationships/notesMaster" Target="/ppt/notesMasters/notesMaster1.xml" Id="R73047ea25df04462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../slides/slide2.xml" Id="Rd03e1f6806494aa6" /><Relationship Type="http://schemas.openxmlformats.org/officeDocument/2006/relationships/notesMaster" Target="/ppt/notesMasters/notesMaster1.xml" Id="Raf46a1fe5f554044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../slides/slide3.xml" Id="Rd03e1f6806494aa6" /><Relationship Type="http://schemas.openxmlformats.org/officeDocument/2006/relationships/notesMaster" Target="/ppt/notesMasters/notesMaster1.xml" Id="Raf46a1fe5f554044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../slides/slide4.xml" Id="Rd03e1f6806494aa6" /><Relationship Type="http://schemas.openxmlformats.org/officeDocument/2006/relationships/notesMaster" Target="/ppt/notesMasters/notesMaster1.xml" Id="Raf46a1fe5f554044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../slides/slide5.xml" Id="Rd03e1f6806494aa6" /><Relationship Type="http://schemas.openxmlformats.org/officeDocument/2006/relationships/notesMaster" Target="/ppt/notesMasters/notesMaster1.xml" Id="Raf46a1fe5f554044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../slides/slide6.xml" Id="Rd03e1f6806494aa6" /><Relationship Type="http://schemas.openxmlformats.org/officeDocument/2006/relationships/notesMaster" Target="/ppt/notesMasters/notesMaster1.xml" Id="Raf46a1fe5f554044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../slides/slide7.xml" Id="Rd03e1f6806494aa6" /><Relationship Type="http://schemas.openxmlformats.org/officeDocument/2006/relationships/notesMaster" Target="/ppt/notesMasters/notesMaster1.xml" Id="Raf46a1fe5f554044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../slides/slide8.xml" Id="Rd03e1f6806494aa6" /><Relationship Type="http://schemas.openxmlformats.org/officeDocument/2006/relationships/notesMaster" Target="/ppt/notesMasters/notesMaster1.xml" Id="Raf46a1fe5f554044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../slides/slide9.xml" Id="Rd03e1f6806494aa6" /><Relationship Type="http://schemas.openxmlformats.org/officeDocument/2006/relationships/notesMaster" Target="/ppt/notesMasters/notesMaster1.xml" Id="Raf46a1fe5f554044" /></Relationships>
</file>

<file path=ppt/notesSlides/_rels/notesSlide10.xml.rels><?xml version='1.0' encoding='utf-8'?>
<Relationships xmlns="http://schemas.openxmlformats.org/package/2006/relationships"><Relationship Type="http://schemas.openxmlformats.org/officeDocument/2006/relationships/slide" Target="../slides/slide10.xml" Id="Rd03e1f6806494aa6" /><Relationship Type="http://schemas.openxmlformats.org/officeDocument/2006/relationships/notesMaster" Target="/ppt/notesMasters/notesMaster1.xml" Id="Raf46a1fe5f554044" 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../slides/slide11.xml" Id="Rd03e1f6806494aa6" /><Relationship Type="http://schemas.openxmlformats.org/officeDocument/2006/relationships/notesMaster" Target="/ppt/notesMasters/notesMaster1.xml" Id="Raf46a1fe5f554044" /></Relationships>
</file>

<file path=ppt/notesSlides/_rels/notesSlide12.xml.rels><?xml version='1.0' encoding='utf-8'?>
<Relationships xmlns="http://schemas.openxmlformats.org/package/2006/relationships"><Relationship Type="http://schemas.openxmlformats.org/officeDocument/2006/relationships/slide" Target="../slides/slide12.xml" Id="R6e699de6bf9749f7" /><Relationship Type="http://schemas.openxmlformats.org/officeDocument/2006/relationships/notesMaster" Target="/ppt/notesMasters/notesMaster1.xml" Id="Rf433391ec53441b0" /></Relationships>
</file>

<file path=ppt/notesSlides/_rels/notesSlide13.xml.rels><?xml version='1.0' encoding='utf-8'?>
<Relationships xmlns="http://schemas.openxmlformats.org/package/2006/relationships"><Relationship Type="http://schemas.openxmlformats.org/officeDocument/2006/relationships/slide" Target="../slides/slide13.xml" Id="R95d203b5aebb4e18" /><Relationship Type="http://schemas.openxmlformats.org/officeDocument/2006/relationships/notesMaster" Target="/ppt/notesMasters/notesMaster1.xml" Id="R1d890bcd542a4a4b" /></Relationships>
</file>

<file path=ppt/notesSlides/_rels/notesSlide14.xml.rels><?xml version='1.0' encoding='utf-8'?>
<Relationships xmlns="http://schemas.openxmlformats.org/package/2006/relationships"><Relationship Type="http://schemas.openxmlformats.org/officeDocument/2006/relationships/slide" Target="../slides/slide14.xml" Id="R960448c0decd4a93" /><Relationship Type="http://schemas.openxmlformats.org/officeDocument/2006/relationships/notesMaster" Target="/ppt/notesMasters/notesMaster1.xml" Id="R2d5b004bce624dc9" /></Relationships>
</file>

<file path=ppt/notesSlides/_rels/notesSlide15.xml.rels><?xml version='1.0' encoding='utf-8'?>
<Relationships xmlns="http://schemas.openxmlformats.org/package/2006/relationships"><Relationship Type="http://schemas.openxmlformats.org/officeDocument/2006/relationships/slide" Target="../slides/slide15.xml" Id="R5898eba535b64e81" /><Relationship Type="http://schemas.openxmlformats.org/officeDocument/2006/relationships/notesMaster" Target="/ppt/notesMasters/notesMaster1.xml" Id="Rb169819060244f21" /></Relationships>
</file>

<file path=ppt/notesSlides/_rels/notesSlide16.xml.rels><?xml version='1.0' encoding='utf-8'?>
<Relationships xmlns="http://schemas.openxmlformats.org/package/2006/relationships"><Relationship Type="http://schemas.openxmlformats.org/officeDocument/2006/relationships/slide" Target="../slides/slide16.xml" Id="Rd4c03b65caff4e51" /><Relationship Type="http://schemas.openxmlformats.org/officeDocument/2006/relationships/notesMaster" Target="/ppt/notesMasters/notesMaster1.xml" Id="Rbbbbd4e6c66340e3" /></Relationships>
</file>

<file path=ppt/notesSlides/_rels/notesSlide17.xml.rels><?xml version='1.0' encoding='utf-8'?>
<Relationships xmlns="http://schemas.openxmlformats.org/package/2006/relationships"><Relationship Type="http://schemas.openxmlformats.org/officeDocument/2006/relationships/slide" Target="../slides/slide17.xml" Id="Rce03c0a0ddc84efc" /><Relationship Type="http://schemas.openxmlformats.org/officeDocument/2006/relationships/notesMaster" Target="/ppt/notesMasters/notesMaster1.xml" Id="R641a8450f3b84335" /></Relationships>
</file>

<file path=ppt/notesSlides/_rels/notesSlide18.xml.rels><?xml version='1.0' encoding='utf-8'?>
<Relationships xmlns="http://schemas.openxmlformats.org/package/2006/relationships"><Relationship Type="http://schemas.openxmlformats.org/officeDocument/2006/relationships/slide" Target="../slides/slide18.xml" Id="Rd9dd5872d1b940e2" /><Relationship Type="http://schemas.openxmlformats.org/officeDocument/2006/relationships/notesMaster" Target="/ppt/notesMasters/notesMaster1.xml" Id="R1932deef297746a0" /></Relationships>
</file>

<file path=ppt/notesSlides/_rels/notesSlide19.xml.rels><?xml version='1.0' encoding='utf-8'?>
<Relationships xmlns="http://schemas.openxmlformats.org/package/2006/relationships"><Relationship Type="http://schemas.openxmlformats.org/officeDocument/2006/relationships/slide" Target="../slides/slide19.xml" Id="Rf54d17c923ee4119" /><Relationship Type="http://schemas.openxmlformats.org/officeDocument/2006/relationships/notesMaster" Target="/ppt/notesMasters/notesMaster1.xml" Id="R598548ad6f7b4bbd" /></Relationships>
</file>

<file path=ppt/notesSlides/_rels/notesSlide20.xml.rels><?xml version='1.0' encoding='utf-8'?>
<Relationships xmlns="http://schemas.openxmlformats.org/package/2006/relationships"><Relationship Type="http://schemas.openxmlformats.org/officeDocument/2006/relationships/slide" Target="../slides/slide20.xml" Id="Red2a272a0d3e4e1d" /><Relationship Type="http://schemas.openxmlformats.org/officeDocument/2006/relationships/notesMaster" Target="/ppt/notesMasters/notesMaster1.xml" Id="Rd47ddfc6d0284e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797df1b2d43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22dfed27e94c58" /><Relationship Type="http://schemas.openxmlformats.org/officeDocument/2006/relationships/slideLayout" Target="/ppt/slideLayouts/slideLayout1.xml" Id="R3b59c7e95e6149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59c7e95e6149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3c3c68af8714c33" /><Relationship Type="http://schemas.openxmlformats.org/officeDocument/2006/relationships/notesSlide" Target="../notesSlides/notesSlide12.xml" Id="Rbc1f06d91d8c4890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af6dce0a828499c" /><Relationship Type="http://schemas.openxmlformats.org/officeDocument/2006/relationships/notesSlide" Target="../notesSlides/notesSlide13.xml" Id="R58c7db6a3a7f43d4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04d3c34a33d4864" /><Relationship Type="http://schemas.openxmlformats.org/officeDocument/2006/relationships/notesSlide" Target="../notesSlides/notesSlide14.xml" Id="Re908eb84f97640b5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13ded6c847c40db" /><Relationship Type="http://schemas.openxmlformats.org/officeDocument/2006/relationships/notesSlide" Target="../notesSlides/notesSlide15.xml" Id="R65ac494a3d814265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de7f3582c424810" /><Relationship Type="http://schemas.openxmlformats.org/officeDocument/2006/relationships/notesSlide" Target="../notesSlides/notesSlide16.xml" Id="Rbe2a3dba40ad4862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90ad3c948284c74" /><Relationship Type="http://schemas.openxmlformats.org/officeDocument/2006/relationships/notesSlide" Target="../notesSlides/notesSlide17.xml" Id="R2b88dfad4b3a4ae4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66eb9d2d50a460e" /><Relationship Type="http://schemas.openxmlformats.org/officeDocument/2006/relationships/notesSlide" Target="../notesSlides/notesSlide18.xml" Id="R6c62255c1ecb42e6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f6e0825de754308" /><Relationship Type="http://schemas.openxmlformats.org/officeDocument/2006/relationships/notesSlide" Target="../notesSlides/notesSlide19.xml" Id="Rdb20d8f43e6e4668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672c4285eba4043" /><Relationship Type="http://schemas.openxmlformats.org/officeDocument/2006/relationships/notesSlide" Target="../notesSlides/notesSlide20.xml" Id="Ref98aac85c9c4099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EBBD10-1276-4AAA-9B8D-C65480F9AF8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Bundle Strategy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493776" y="548640"/>
            <a:ext cx="10561320" cy="713232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SMB Bundle Strategy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1345000"/>
            <a:ext cx="10600000" cy="4572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Marktplaats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72515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demand signals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33909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noGrp="1"/>
          </p:cNvSpPr>
          <p:nvPr/>
        </p:nvSpPr>
        <p:spPr>
          <a:xfrm>
            <a:off x="33909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CRM and in-product prompts to grow adoption</a:t>
            </a:r>
          </a:p>
        </p:txBody>
      </p:sp>
      <p:sp>
        <p:nvSpPr>
          <p:cNvPr id="21" name="Meta information">
            <a:extLst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noGrp="1"/>
          </p:cNvSpPr>
          <p:nvPr/>
        </p:nvSpPr>
        <p:spPr>
          <a:xfrm>
            <a:off x="512064" y="1750000"/>
            <a:ext cx="5000000" cy="5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</a:t>
            </a:r>
          </a:p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87844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18E998B9-F88E-4699-A13C-0F116878D7D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518099F-4F90-437E-8EBF-7E40973988EF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SMB Identification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CC4322F5-8965-4F7E-88FF-C8024590E0E5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AEADAF99-75EE-4B6D-9374-F558920C9DF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0C0DF54-E1E1-4B31-AE44-37C300A4C50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B90A983-65B5-4926-8687-4CC0E482D0D9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01 / 08</a:t>
            </a:r>
          </a:p>
        </p:txBody>
      </p:sp>
      <p:sp>
        <p:nvSpPr>
          <p:cNvPr id="9" name="Framing intro">
            <a:extLst>
              <a:ext uri="{FF2B5EF4-FFF2-40B4-BE49-F238E27FC236}">
                <a16:creationId xmlns:a16="http://schemas.microsoft.com/office/drawing/2014/main" id="{9193F9C6-41EE-4080-99E5-19D607DB5747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858500" cy="3619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>
                <a:solidFill>
                  <a:srgbClr val="F3F4F6"/>
                </a:solidFill>
                <a:latin typeface="Arial"/>
                <a:ea typeface="Arial"/>
                <a:cs typeface="Arial"/>
              </a:rPr>
              <a:t>SMB likelihood is inferred from repeated commercial behavior across setup, paid intent, listing activity, category focus, and buyer demand.</a:t>
            </a:r>
          </a:p>
        </p:txBody>
      </p:sp>
      <p:sp>
        <p:nvSpPr>
          <p:cNvPr id="10" name="Signal Map label">
            <a:extLst>
              <a:ext uri="{FF2B5EF4-FFF2-40B4-BE49-F238E27FC236}">
                <a16:creationId xmlns:a16="http://schemas.microsoft.com/office/drawing/2014/main" id="{2178FA77-A0E9-4651-8A84-AC52DF717621}"/>
              </a:ext>
            </a:extLst>
          </p:cNvPr>
          <p:cNvSpPr>
            <a:spLocks noGrp="1"/>
          </p:cNvSpPr>
          <p:nvPr/>
        </p:nvSpPr>
        <p:spPr>
          <a:xfrm>
            <a:off x="609600" y="2206062"/>
            <a:ext cx="238125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Signal Map</a:t>
            </a:r>
          </a:p>
        </p:txBody>
      </p:sp>
      <p:sp>
        <p:nvSpPr>
          <p:cNvPr id="11" name="Business Setup card">
            <a:extLst>
              <a:ext uri="{FF2B5EF4-FFF2-40B4-BE49-F238E27FC236}">
                <a16:creationId xmlns:a16="http://schemas.microsoft.com/office/drawing/2014/main" id="{C7FFC7DF-4E61-4CE4-A6F2-33430D7E3FA1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Business Setup accent">
            <a:extLst>
              <a:ext uri="{FF2B5EF4-FFF2-40B4-BE49-F238E27FC236}">
                <a16:creationId xmlns:a16="http://schemas.microsoft.com/office/drawing/2014/main" id="{8F8E834F-FE5B-4DC9-8932-DFDC03636BDE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3" name="Business Setup title">
            <a:extLst>
              <a:ext uri="{FF2B5EF4-FFF2-40B4-BE49-F238E27FC236}">
                <a16:creationId xmlns:a16="http://schemas.microsoft.com/office/drawing/2014/main" id="{7D9E8E70-5B22-4E93-9701-BDB2FB316955}"/>
              </a:ext>
            </a:extLst>
          </p:cNvPr>
          <p:cNvSpPr>
            <a:spLocks noGrp="1"/>
          </p:cNvSpPr>
          <p:nvPr/>
        </p:nvSpPr>
        <p:spPr>
          <a:xfrm>
            <a:off x="76200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Business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Markers</a:t>
            </a:r>
          </a:p>
        </p:txBody>
      </p:sp>
      <p:sp>
        <p:nvSpPr>
          <p:cNvPr id="14" name="Signal bullet">
            <a:extLst>
              <a:ext uri="{FF2B5EF4-FFF2-40B4-BE49-F238E27FC236}">
                <a16:creationId xmlns:a16="http://schemas.microsoft.com/office/drawing/2014/main" id="{7B56A51E-5F3E-422F-80C4-58E8EE88FB23}"/>
              </a:ext>
            </a:extLst>
          </p:cNvPr>
          <p:cNvSpPr>
            <a:spLocks noGrp="1"/>
          </p:cNvSpPr>
          <p:nvPr/>
        </p:nvSpPr>
        <p:spPr>
          <a:xfrm>
            <a:off x="78105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Business Setup item">
            <a:extLst>
              <a:ext uri="{FF2B5EF4-FFF2-40B4-BE49-F238E27FC236}">
                <a16:creationId xmlns:a16="http://schemas.microsoft.com/office/drawing/2014/main" id="{B4FC3418-FD5C-45BD-AC2C-BC074CB59259}"/>
              </a:ext>
            </a:extLst>
          </p:cNvPr>
          <p:cNvSpPr>
            <a:spLocks noGrp="1"/>
          </p:cNvSpPr>
          <p:nvPr/>
        </p:nvSpPr>
        <p:spPr>
          <a:xfrm>
            <a:off x="91440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Corporate bank flag</a:t>
            </a:r>
          </a:p>
        </p:txBody>
      </p:sp>
      <p:sp>
        <p:nvSpPr>
          <p:cNvPr id="16" name="Signal bullet">
            <a:extLst>
              <a:ext uri="{FF2B5EF4-FFF2-40B4-BE49-F238E27FC236}">
                <a16:creationId xmlns:a16="http://schemas.microsoft.com/office/drawing/2014/main" id="{B14A1CE9-D141-4F64-A7EF-D4B4BF92A59E}"/>
              </a:ext>
            </a:extLst>
          </p:cNvPr>
          <p:cNvSpPr>
            <a:spLocks noGrp="1"/>
          </p:cNvSpPr>
          <p:nvPr/>
        </p:nvSpPr>
        <p:spPr>
          <a:xfrm>
            <a:off x="78105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Business Setup item">
            <a:extLst>
              <a:ext uri="{FF2B5EF4-FFF2-40B4-BE49-F238E27FC236}">
                <a16:creationId xmlns:a16="http://schemas.microsoft.com/office/drawing/2014/main" id="{B469ED38-7D8B-4DE8-9700-530B606571D5}"/>
              </a:ext>
            </a:extLst>
          </p:cNvPr>
          <p:cNvSpPr>
            <a:spLocks noGrp="1"/>
          </p:cNvSpPr>
          <p:nvPr/>
        </p:nvSpPr>
        <p:spPr>
          <a:xfrm>
            <a:off x="91440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External URL</a:t>
            </a:r>
          </a:p>
        </p:txBody>
      </p:sp>
      <p:sp>
        <p:nvSpPr>
          <p:cNvPr id="18" name="Paid Usage card">
            <a:extLst>
              <a:ext uri="{FF2B5EF4-FFF2-40B4-BE49-F238E27FC236}">
                <a16:creationId xmlns:a16="http://schemas.microsoft.com/office/drawing/2014/main" id="{A9DCA840-A6C9-4825-B340-E7CC272C1A10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Paid Usage accent">
            <a:extLst>
              <a:ext uri="{FF2B5EF4-FFF2-40B4-BE49-F238E27FC236}">
                <a16:creationId xmlns:a16="http://schemas.microsoft.com/office/drawing/2014/main" id="{222202EB-5AE5-42B9-82C0-54215292C2FF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Paid Usage title">
            <a:extLst>
              <a:ext uri="{FF2B5EF4-FFF2-40B4-BE49-F238E27FC236}">
                <a16:creationId xmlns:a16="http://schemas.microsoft.com/office/drawing/2014/main" id="{72DD9E6A-2D90-447E-9783-0FC7A11F6365}"/>
              </a:ext>
            </a:extLst>
          </p:cNvPr>
          <p:cNvSpPr>
            <a:spLocks noGrp="1"/>
          </p:cNvSpPr>
          <p:nvPr/>
        </p:nvSpPr>
        <p:spPr>
          <a:xfrm>
            <a:off x="298323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Usage</a:t>
            </a:r>
          </a:p>
        </p:txBody>
      </p:sp>
      <p:sp>
        <p:nvSpPr>
          <p:cNvPr id="21" name="Signal bullet">
            <a:extLst>
              <a:ext uri="{FF2B5EF4-FFF2-40B4-BE49-F238E27FC236}">
                <a16:creationId xmlns:a16="http://schemas.microsoft.com/office/drawing/2014/main" id="{CA725DE6-45B1-4EFE-B3C9-EF75F8B52A9A}"/>
              </a:ext>
            </a:extLst>
          </p:cNvPr>
          <p:cNvSpPr>
            <a:spLocks noGrp="1"/>
          </p:cNvSpPr>
          <p:nvPr/>
        </p:nvSpPr>
        <p:spPr>
          <a:xfrm>
            <a:off x="300228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Paid Usage item">
            <a:extLst>
              <a:ext uri="{FF2B5EF4-FFF2-40B4-BE49-F238E27FC236}">
                <a16:creationId xmlns:a16="http://schemas.microsoft.com/office/drawing/2014/main" id="{0675CBDE-5BDB-4CA7-ABBF-BA7C7327CCA2}"/>
              </a:ext>
            </a:extLst>
          </p:cNvPr>
          <p:cNvSpPr>
            <a:spLocks noGrp="1"/>
          </p:cNvSpPr>
          <p:nvPr/>
        </p:nvSpPr>
        <p:spPr>
          <a:xfrm>
            <a:off x="313563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Paid features</a:t>
            </a:r>
          </a:p>
        </p:txBody>
      </p:sp>
      <p:sp>
        <p:nvSpPr>
          <p:cNvPr id="23" name="Signal bullet">
            <a:extLst>
              <a:ext uri="{FF2B5EF4-FFF2-40B4-BE49-F238E27FC236}">
                <a16:creationId xmlns:a16="http://schemas.microsoft.com/office/drawing/2014/main" id="{21856CE8-A264-4587-95B3-029FD2FBDEDD}"/>
              </a:ext>
            </a:extLst>
          </p:cNvPr>
          <p:cNvSpPr>
            <a:spLocks noGrp="1"/>
          </p:cNvSpPr>
          <p:nvPr/>
        </p:nvSpPr>
        <p:spPr>
          <a:xfrm>
            <a:off x="300228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Paid Usage item">
            <a:extLst>
              <a:ext uri="{FF2B5EF4-FFF2-40B4-BE49-F238E27FC236}">
                <a16:creationId xmlns:a16="http://schemas.microsoft.com/office/drawing/2014/main" id="{77ECC5B7-96DB-4BA4-BF5D-832D68C65387}"/>
              </a:ext>
            </a:extLst>
          </p:cNvPr>
          <p:cNvSpPr>
            <a:spLocks noGrp="1"/>
          </p:cNvSpPr>
          <p:nvPr/>
        </p:nvSpPr>
        <p:spPr>
          <a:xfrm>
            <a:off x="313563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Pro CPC, invoices</a:t>
            </a:r>
          </a:p>
        </p:txBody>
      </p:sp>
      <p:sp>
        <p:nvSpPr>
          <p:cNvPr id="25" name="Seller Activity card">
            <a:extLst>
              <a:ext uri="{FF2B5EF4-FFF2-40B4-BE49-F238E27FC236}">
                <a16:creationId xmlns:a16="http://schemas.microsoft.com/office/drawing/2014/main" id="{7987C853-D92F-4CCE-9116-518E7F87387D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eller Activity accent">
            <a:extLst>
              <a:ext uri="{FF2B5EF4-FFF2-40B4-BE49-F238E27FC236}">
                <a16:creationId xmlns:a16="http://schemas.microsoft.com/office/drawing/2014/main" id="{3687BD4C-7470-40F1-98B1-0268824BAB61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eller Activity title">
            <a:extLst>
              <a:ext uri="{FF2B5EF4-FFF2-40B4-BE49-F238E27FC236}">
                <a16:creationId xmlns:a16="http://schemas.microsoft.com/office/drawing/2014/main" id="{FFDD1A22-E70D-454D-8D01-B7C064F06203}"/>
              </a:ext>
            </a:extLst>
          </p:cNvPr>
          <p:cNvSpPr>
            <a:spLocks noGrp="1"/>
          </p:cNvSpPr>
          <p:nvPr/>
        </p:nvSpPr>
        <p:spPr>
          <a:xfrm>
            <a:off x="520446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 Activity</a:t>
            </a:r>
          </a:p>
        </p:txBody>
      </p:sp>
      <p:sp>
        <p:nvSpPr>
          <p:cNvPr id="28" name="Signal bullet">
            <a:extLst>
              <a:ext uri="{FF2B5EF4-FFF2-40B4-BE49-F238E27FC236}">
                <a16:creationId xmlns:a16="http://schemas.microsoft.com/office/drawing/2014/main" id="{144F21A3-D738-452D-AAE6-160D2E809261}"/>
              </a:ext>
            </a:extLst>
          </p:cNvPr>
          <p:cNvSpPr>
            <a:spLocks noGrp="1"/>
          </p:cNvSpPr>
          <p:nvPr/>
        </p:nvSpPr>
        <p:spPr>
          <a:xfrm>
            <a:off x="522351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Seller Activity item">
            <a:extLst>
              <a:ext uri="{FF2B5EF4-FFF2-40B4-BE49-F238E27FC236}">
                <a16:creationId xmlns:a16="http://schemas.microsoft.com/office/drawing/2014/main" id="{49F3CCD9-43DB-4DF4-9E52-3895C28C1A51}"/>
              </a:ext>
            </a:extLst>
          </p:cNvPr>
          <p:cNvSpPr>
            <a:spLocks noGrp="1"/>
          </p:cNvSpPr>
          <p:nvPr/>
        </p:nvSpPr>
        <p:spPr>
          <a:xfrm>
            <a:off x="535686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Listing volume</a:t>
            </a:r>
          </a:p>
        </p:txBody>
      </p:sp>
      <p:sp>
        <p:nvSpPr>
          <p:cNvPr id="30" name="Signal bullet">
            <a:extLst>
              <a:ext uri="{FF2B5EF4-FFF2-40B4-BE49-F238E27FC236}">
                <a16:creationId xmlns:a16="http://schemas.microsoft.com/office/drawing/2014/main" id="{8BC7A4E6-11F4-43B9-9D4F-3980FAEC70AE}"/>
              </a:ext>
            </a:extLst>
          </p:cNvPr>
          <p:cNvSpPr>
            <a:spLocks noGrp="1"/>
          </p:cNvSpPr>
          <p:nvPr/>
        </p:nvSpPr>
        <p:spPr>
          <a:xfrm>
            <a:off x="522351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Seller Activity item">
            <a:extLst>
              <a:ext uri="{FF2B5EF4-FFF2-40B4-BE49-F238E27FC236}">
                <a16:creationId xmlns:a16="http://schemas.microsoft.com/office/drawing/2014/main" id="{0E9B555A-9C31-4082-A516-9A9DEA35A176}"/>
              </a:ext>
            </a:extLst>
          </p:cNvPr>
          <p:cNvSpPr>
            <a:spLocks noGrp="1"/>
          </p:cNvSpPr>
          <p:nvPr/>
        </p:nvSpPr>
        <p:spPr>
          <a:xfrm>
            <a:off x="535686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Active and recent listings</a:t>
            </a:r>
          </a:p>
        </p:txBody>
      </p:sp>
      <p:sp>
        <p:nvSpPr>
          <p:cNvPr id="32" name="Category Focus card">
            <a:extLst>
              <a:ext uri="{FF2B5EF4-FFF2-40B4-BE49-F238E27FC236}">
                <a16:creationId xmlns:a16="http://schemas.microsoft.com/office/drawing/2014/main" id="{D71119D6-85B8-4430-A6E9-786092D0560B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tegory Focus accent">
            <a:extLst>
              <a:ext uri="{FF2B5EF4-FFF2-40B4-BE49-F238E27FC236}">
                <a16:creationId xmlns:a16="http://schemas.microsoft.com/office/drawing/2014/main" id="{2E0A62FB-C9A0-4046-BEBC-07C6A8EEC3A6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ategory Focus title">
            <a:extLst>
              <a:ext uri="{FF2B5EF4-FFF2-40B4-BE49-F238E27FC236}">
                <a16:creationId xmlns:a16="http://schemas.microsoft.com/office/drawing/2014/main" id="{928DC57C-FE56-4CCB-90DA-5D3CC59B5756}"/>
              </a:ext>
            </a:extLst>
          </p:cNvPr>
          <p:cNvSpPr>
            <a:spLocks noGrp="1"/>
          </p:cNvSpPr>
          <p:nvPr/>
        </p:nvSpPr>
        <p:spPr>
          <a:xfrm>
            <a:off x="742569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Focus</a:t>
            </a:r>
          </a:p>
        </p:txBody>
      </p:sp>
      <p:sp>
        <p:nvSpPr>
          <p:cNvPr id="35" name="Signal bullet">
            <a:extLst>
              <a:ext uri="{FF2B5EF4-FFF2-40B4-BE49-F238E27FC236}">
                <a16:creationId xmlns:a16="http://schemas.microsoft.com/office/drawing/2014/main" id="{7A6351F8-4C68-48D0-B0B9-9D66CF8A3D68}"/>
              </a:ext>
            </a:extLst>
          </p:cNvPr>
          <p:cNvSpPr>
            <a:spLocks noGrp="1"/>
          </p:cNvSpPr>
          <p:nvPr/>
        </p:nvSpPr>
        <p:spPr>
          <a:xfrm>
            <a:off x="744474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Category Focus item">
            <a:extLst>
              <a:ext uri="{FF2B5EF4-FFF2-40B4-BE49-F238E27FC236}">
                <a16:creationId xmlns:a16="http://schemas.microsoft.com/office/drawing/2014/main" id="{B1A97181-513A-4A9F-A03F-DD5DB8ED741A}"/>
              </a:ext>
            </a:extLst>
          </p:cNvPr>
          <p:cNvSpPr>
            <a:spLocks noGrp="1"/>
          </p:cNvSpPr>
          <p:nvPr/>
        </p:nvSpPr>
        <p:spPr>
          <a:xfrm>
            <a:off x="757809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Repeated category use</a:t>
            </a:r>
          </a:p>
        </p:txBody>
      </p:sp>
      <p:sp>
        <p:nvSpPr>
          <p:cNvPr id="37" name="Signal bullet">
            <a:extLst>
              <a:ext uri="{FF2B5EF4-FFF2-40B4-BE49-F238E27FC236}">
                <a16:creationId xmlns:a16="http://schemas.microsoft.com/office/drawing/2014/main" id="{3BE1C13B-6D87-4F60-9FC9-A66B16638F60}"/>
              </a:ext>
            </a:extLst>
          </p:cNvPr>
          <p:cNvSpPr>
            <a:spLocks noGrp="1"/>
          </p:cNvSpPr>
          <p:nvPr/>
        </p:nvSpPr>
        <p:spPr>
          <a:xfrm>
            <a:off x="744474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Category Focus item">
            <a:extLst>
              <a:ext uri="{FF2B5EF4-FFF2-40B4-BE49-F238E27FC236}">
                <a16:creationId xmlns:a16="http://schemas.microsoft.com/office/drawing/2014/main" id="{0C6E2724-9D5D-4507-85DB-BC4B505BB9E6}"/>
              </a:ext>
            </a:extLst>
          </p:cNvPr>
          <p:cNvSpPr>
            <a:spLocks noGrp="1"/>
          </p:cNvSpPr>
          <p:nvPr/>
        </p:nvSpPr>
        <p:spPr>
          <a:xfrm>
            <a:off x="757809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Business-prone categories</a:t>
            </a:r>
          </a:p>
        </p:txBody>
      </p:sp>
      <p:sp>
        <p:nvSpPr>
          <p:cNvPr id="39" name="Buyer Demand card">
            <a:extLst>
              <a:ext uri="{FF2B5EF4-FFF2-40B4-BE49-F238E27FC236}">
                <a16:creationId xmlns:a16="http://schemas.microsoft.com/office/drawing/2014/main" id="{9664A2EA-0669-4FE7-831D-A0CC724AC0E5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Buyer Demand accent">
            <a:extLst>
              <a:ext uri="{FF2B5EF4-FFF2-40B4-BE49-F238E27FC236}">
                <a16:creationId xmlns:a16="http://schemas.microsoft.com/office/drawing/2014/main" id="{254B3EC9-675A-4691-AF61-ED63169A3219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Buyer Demand title">
            <a:extLst>
              <a:ext uri="{FF2B5EF4-FFF2-40B4-BE49-F238E27FC236}">
                <a16:creationId xmlns:a16="http://schemas.microsoft.com/office/drawing/2014/main" id="{F7C8B1E1-852F-4C6C-83A5-EB56C896C9E0}"/>
              </a:ext>
            </a:extLst>
          </p:cNvPr>
          <p:cNvSpPr>
            <a:spLocks noGrp="1"/>
          </p:cNvSpPr>
          <p:nvPr/>
        </p:nvSpPr>
        <p:spPr>
          <a:xfrm>
            <a:off x="964692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Buyer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42" name="Signal bullet">
            <a:extLst>
              <a:ext uri="{FF2B5EF4-FFF2-40B4-BE49-F238E27FC236}">
                <a16:creationId xmlns:a16="http://schemas.microsoft.com/office/drawing/2014/main" id="{29AAEA38-388B-4218-AF99-760F3ACB07B3}"/>
              </a:ext>
            </a:extLst>
          </p:cNvPr>
          <p:cNvSpPr>
            <a:spLocks noGrp="1"/>
          </p:cNvSpPr>
          <p:nvPr/>
        </p:nvSpPr>
        <p:spPr>
          <a:xfrm>
            <a:off x="966597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Buyer Demand item">
            <a:extLst>
              <a:ext uri="{FF2B5EF4-FFF2-40B4-BE49-F238E27FC236}">
                <a16:creationId xmlns:a16="http://schemas.microsoft.com/office/drawing/2014/main" id="{6EF00164-93C6-4F9D-A165-828EA0E36D9A}"/>
              </a:ext>
            </a:extLst>
          </p:cNvPr>
          <p:cNvSpPr>
            <a:spLocks noGrp="1"/>
          </p:cNvSpPr>
          <p:nvPr/>
        </p:nvSpPr>
        <p:spPr>
          <a:xfrm>
            <a:off x="979932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Engaged ads</a:t>
            </a:r>
          </a:p>
        </p:txBody>
      </p:sp>
      <p:sp>
        <p:nvSpPr>
          <p:cNvPr id="44" name="Signal bullet">
            <a:extLst>
              <a:ext uri="{FF2B5EF4-FFF2-40B4-BE49-F238E27FC236}">
                <a16:creationId xmlns:a16="http://schemas.microsoft.com/office/drawing/2014/main" id="{25757DBF-E54D-41B9-8864-36A3772C014F}"/>
              </a:ext>
            </a:extLst>
          </p:cNvPr>
          <p:cNvSpPr>
            <a:spLocks noGrp="1"/>
          </p:cNvSpPr>
          <p:nvPr/>
        </p:nvSpPr>
        <p:spPr>
          <a:xfrm>
            <a:off x="966597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Buyer Demand item">
            <a:extLst>
              <a:ext uri="{FF2B5EF4-FFF2-40B4-BE49-F238E27FC236}">
                <a16:creationId xmlns:a16="http://schemas.microsoft.com/office/drawing/2014/main" id="{C27D2C33-21D5-4658-8E6A-35747344CF5E}"/>
              </a:ext>
            </a:extLst>
          </p:cNvPr>
          <p:cNvSpPr>
            <a:spLocks noGrp="1"/>
          </p:cNvSpPr>
          <p:nvPr/>
        </p:nvSpPr>
        <p:spPr>
          <a:xfrm>
            <a:off x="979932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Unique buyers, engagement rate</a:t>
            </a:r>
          </a:p>
        </p:txBody>
      </p:sp>
      <p:sp>
        <p:nvSpPr>
          <p:cNvPr id="46" name="Scoring Flow label">
            <a:extLst>
              <a:ext uri="{FF2B5EF4-FFF2-40B4-BE49-F238E27FC236}">
                <a16:creationId xmlns:a16="http://schemas.microsoft.com/office/drawing/2014/main" id="{47D1F815-DDE6-4E60-B387-97C475589306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476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Scoring Flow</a:t>
            </a:r>
          </a:p>
        </p:txBody>
      </p:sp>
      <p:sp>
        <p:nvSpPr>
          <p:cNvPr id="47" name="Raw seller data flow node">
            <a:extLst>
              <a:ext uri="{FF2B5EF4-FFF2-40B4-BE49-F238E27FC236}">
                <a16:creationId xmlns:a16="http://schemas.microsoft.com/office/drawing/2014/main" id="{228E9DF1-5F1B-4E06-8A4C-6A9D6C33C93F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aw seller data flow title">
            <a:extLst>
              <a:ext uri="{FF2B5EF4-FFF2-40B4-BE49-F238E27FC236}">
                <a16:creationId xmlns:a16="http://schemas.microsoft.com/office/drawing/2014/main" id="{FF9E5EFA-46E4-483C-A6BB-AE380FEFF886}"/>
              </a:ext>
            </a:extLst>
          </p:cNvPr>
          <p:cNvSpPr>
            <a:spLocks noGrp="1"/>
          </p:cNvSpPr>
          <p:nvPr/>
        </p:nvSpPr>
        <p:spPr>
          <a:xfrm>
            <a:off x="78105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Raw seller data</a:t>
            </a:r>
          </a:p>
        </p:txBody>
      </p:sp>
      <p:sp>
        <p:nvSpPr>
          <p:cNvPr id="49" name="Raw seller data flow sub">
            <a:extLst>
              <a:ext uri="{FF2B5EF4-FFF2-40B4-BE49-F238E27FC236}">
                <a16:creationId xmlns:a16="http://schemas.microsoft.com/office/drawing/2014/main" id="{02C0D121-F20E-4F14-94E4-E0106269114C}"/>
              </a:ext>
            </a:extLst>
          </p:cNvPr>
          <p:cNvSpPr>
            <a:spLocks noGrp="1"/>
          </p:cNvSpPr>
          <p:nvPr/>
        </p:nvSpPr>
        <p:spPr>
          <a:xfrm>
            <a:off x="78105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schemas and columns</a:t>
            </a:r>
          </a:p>
        </p:txBody>
      </p:sp>
      <p:sp>
        <p:nvSpPr>
          <p:cNvPr id="50" name="Scoring flow arrow">
            <a:extLst>
              <a:ext uri="{FF2B5EF4-FFF2-40B4-BE49-F238E27FC236}">
                <a16:creationId xmlns:a16="http://schemas.microsoft.com/office/drawing/2014/main" id="{3210E315-A08C-47C2-881C-A1F7D60DCD59}"/>
              </a:ext>
            </a:extLst>
          </p:cNvPr>
          <p:cNvSpPr>
            <a:spLocks noGrp="1"/>
          </p:cNvSpPr>
          <p:nvPr/>
        </p:nvSpPr>
        <p:spPr>
          <a:xfrm>
            <a:off x="2990850" y="5105400"/>
            <a:ext cx="238125" cy="9525"/>
          </a:xfrm>
          <a:prstGeom prst="line">
            <a:avLst/>
          </a:prstGeom>
          <a:ln w="19050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51" name="Seller-level signals flow node">
            <a:extLst>
              <a:ext uri="{FF2B5EF4-FFF2-40B4-BE49-F238E27FC236}">
                <a16:creationId xmlns:a16="http://schemas.microsoft.com/office/drawing/2014/main" id="{F5E6095A-6A9C-49F3-A97B-339B96C4F048}"/>
              </a:ext>
            </a:extLst>
          </p:cNvPr>
          <p:cNvSpPr>
            <a:spLocks noGrp="1"/>
          </p:cNvSpPr>
          <p:nvPr/>
        </p:nvSpPr>
        <p:spPr>
          <a:xfrm>
            <a:off x="341947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eller-level signals flow title">
            <a:extLst>
              <a:ext uri="{FF2B5EF4-FFF2-40B4-BE49-F238E27FC236}">
                <a16:creationId xmlns:a16="http://schemas.microsoft.com/office/drawing/2014/main" id="{B64306AD-2C64-4117-940F-62837FE5EF2C}"/>
              </a:ext>
            </a:extLst>
          </p:cNvPr>
          <p:cNvSpPr>
            <a:spLocks noGrp="1"/>
          </p:cNvSpPr>
          <p:nvPr/>
        </p:nvSpPr>
        <p:spPr>
          <a:xfrm>
            <a:off x="359092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Seller-level signals</a:t>
            </a:r>
          </a:p>
        </p:txBody>
      </p:sp>
      <p:sp>
        <p:nvSpPr>
          <p:cNvPr id="53" name="Seller-level signals flow sub">
            <a:extLst>
              <a:ext uri="{FF2B5EF4-FFF2-40B4-BE49-F238E27FC236}">
                <a16:creationId xmlns:a16="http://schemas.microsoft.com/office/drawing/2014/main" id="{8C30BFA1-5952-479F-B5E3-391E5874D34F}"/>
              </a:ext>
            </a:extLst>
          </p:cNvPr>
          <p:cNvSpPr>
            <a:spLocks noGrp="1"/>
          </p:cNvSpPr>
          <p:nvPr/>
        </p:nvSpPr>
        <p:spPr>
          <a:xfrm>
            <a:off x="359092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one row per seller</a:t>
            </a:r>
          </a:p>
        </p:txBody>
      </p:sp>
      <p:sp>
        <p:nvSpPr>
          <p:cNvPr id="54" name="Scoring flow arrow">
            <a:extLst>
              <a:ext uri="{FF2B5EF4-FFF2-40B4-BE49-F238E27FC236}">
                <a16:creationId xmlns:a16="http://schemas.microsoft.com/office/drawing/2014/main" id="{197806AB-87A7-448B-9F2C-9E7C1B1153B5}"/>
              </a:ext>
            </a:extLst>
          </p:cNvPr>
          <p:cNvSpPr>
            <a:spLocks noGrp="1"/>
          </p:cNvSpPr>
          <p:nvPr/>
        </p:nvSpPr>
        <p:spPr>
          <a:xfrm>
            <a:off x="5800725" y="5105400"/>
            <a:ext cx="238125" cy="9525"/>
          </a:xfrm>
          <a:prstGeom prst="line">
            <a:avLst/>
          </a:prstGeom>
          <a:ln w="19050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Weighted score flow node">
            <a:extLst>
              <a:ext uri="{FF2B5EF4-FFF2-40B4-BE49-F238E27FC236}">
                <a16:creationId xmlns:a16="http://schemas.microsoft.com/office/drawing/2014/main" id="{8521D761-1E4B-439E-BE41-C720C69E78B3}"/>
              </a:ext>
            </a:extLst>
          </p:cNvPr>
          <p:cNvSpPr>
            <a:spLocks noGrp="1"/>
          </p:cNvSpPr>
          <p:nvPr/>
        </p:nvSpPr>
        <p:spPr>
          <a:xfrm>
            <a:off x="622935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Weighted score flow title">
            <a:extLst>
              <a:ext uri="{FF2B5EF4-FFF2-40B4-BE49-F238E27FC236}">
                <a16:creationId xmlns:a16="http://schemas.microsoft.com/office/drawing/2014/main" id="{4D8BBBFF-0C25-4B66-8FB2-3D1F31EFAEF6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Weighted score</a:t>
            </a:r>
          </a:p>
        </p:txBody>
      </p:sp>
      <p:sp>
        <p:nvSpPr>
          <p:cNvPr id="57" name="Weighted score flow sub">
            <a:extLst>
              <a:ext uri="{FF2B5EF4-FFF2-40B4-BE49-F238E27FC236}">
                <a16:creationId xmlns:a16="http://schemas.microsoft.com/office/drawing/2014/main" id="{14CA54AA-B2C8-4629-8C0F-B16CD5CA3561}"/>
              </a:ext>
            </a:extLst>
          </p:cNvPr>
          <p:cNvSpPr>
            <a:spLocks noGrp="1"/>
          </p:cNvSpPr>
          <p:nvPr/>
        </p:nvSpPr>
        <p:spPr>
          <a:xfrm>
            <a:off x="640080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evidence strength</a:t>
            </a:r>
          </a:p>
        </p:txBody>
      </p:sp>
      <p:sp>
        <p:nvSpPr>
          <p:cNvPr id="58" name="Scoring flow arrow">
            <a:extLst>
              <a:ext uri="{FF2B5EF4-FFF2-40B4-BE49-F238E27FC236}">
                <a16:creationId xmlns:a16="http://schemas.microsoft.com/office/drawing/2014/main" id="{DBB14361-6641-466D-BC24-AD870E154D01}"/>
              </a:ext>
            </a:extLst>
          </p:cNvPr>
          <p:cNvSpPr>
            <a:spLocks noGrp="1"/>
          </p:cNvSpPr>
          <p:nvPr/>
        </p:nvSpPr>
        <p:spPr>
          <a:xfrm>
            <a:off x="8610600" y="5105400"/>
            <a:ext cx="238125" cy="9525"/>
          </a:xfrm>
          <a:prstGeom prst="line">
            <a:avLst/>
          </a:prstGeom>
          <a:ln w="19050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Ranked SMB list flow node">
            <a:extLst>
              <a:ext uri="{FF2B5EF4-FFF2-40B4-BE49-F238E27FC236}">
                <a16:creationId xmlns:a16="http://schemas.microsoft.com/office/drawing/2014/main" id="{0CAD2441-D62F-43BD-8563-74BEBDAA21D3}"/>
              </a:ext>
            </a:extLst>
          </p:cNvPr>
          <p:cNvSpPr>
            <a:spLocks noGrp="1"/>
          </p:cNvSpPr>
          <p:nvPr/>
        </p:nvSpPr>
        <p:spPr>
          <a:xfrm>
            <a:off x="903922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Ranked SMB list flow title">
            <a:extLst>
              <a:ext uri="{FF2B5EF4-FFF2-40B4-BE49-F238E27FC236}">
                <a16:creationId xmlns:a16="http://schemas.microsoft.com/office/drawing/2014/main" id="{5474439C-A5FC-456C-A261-876B2BD3B570}"/>
              </a:ext>
            </a:extLst>
          </p:cNvPr>
          <p:cNvSpPr>
            <a:spLocks noGrp="1"/>
          </p:cNvSpPr>
          <p:nvPr/>
        </p:nvSpPr>
        <p:spPr>
          <a:xfrm>
            <a:off x="921067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Ranked SMB list</a:t>
            </a:r>
          </a:p>
        </p:txBody>
      </p:sp>
      <p:sp>
        <p:nvSpPr>
          <p:cNvPr id="61" name="Ranked SMB list flow sub">
            <a:extLst>
              <a:ext uri="{FF2B5EF4-FFF2-40B4-BE49-F238E27FC236}">
                <a16:creationId xmlns:a16="http://schemas.microsoft.com/office/drawing/2014/main" id="{CE7F21BB-EACA-4F03-8B7C-53AC29E6E3F3}"/>
              </a:ext>
            </a:extLst>
          </p:cNvPr>
          <p:cNvSpPr>
            <a:spLocks noGrp="1"/>
          </p:cNvSpPr>
          <p:nvPr/>
        </p:nvSpPr>
        <p:spPr>
          <a:xfrm>
            <a:off x="921067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prioritized outreach</a:t>
            </a:r>
          </a:p>
        </p:txBody>
      </p:sp>
      <p:sp>
        <p:nvSpPr>
          <p:cNvPr id="62" name="Scoring flow arrowhead">
            <a:extLst>
              <a:ext uri="{FF2B5EF4-FFF2-40B4-BE49-F238E27FC236}">
                <a16:creationId xmlns:a16="http://schemas.microsoft.com/office/drawing/2014/main" id="{D05CFB6C-8D02-44FC-AD74-91DF3EA6D5FD}"/>
              </a:ext>
            </a:extLst>
          </p:cNvPr>
          <p:cNvSpPr>
            <a:spLocks noGrp="1"/>
          </p:cNvSpPr>
          <p:nvPr/>
        </p:nvSpPr>
        <p:spPr>
          <a:xfrm rot="5400000">
            <a:off x="3209925" y="5057775"/>
            <a:ext cx="104775" cy="114300"/>
          </a:xfrm>
          <a:prstGeom prst="triangle">
            <a:avLst/>
          </a:prstGeom>
          <a:solidFill>
            <a:srgbClr val="FFD426"/>
          </a:solidFill>
          <a:ln w="0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63" name="Scoring flow arrowhead">
            <a:extLst>
              <a:ext uri="{FF2B5EF4-FFF2-40B4-BE49-F238E27FC236}">
                <a16:creationId xmlns:a16="http://schemas.microsoft.com/office/drawing/2014/main" id="{C200B03B-12DA-4C24-9311-151273DF82F6}"/>
              </a:ext>
            </a:extLst>
          </p:cNvPr>
          <p:cNvSpPr>
            <a:spLocks noGrp="1"/>
          </p:cNvSpPr>
          <p:nvPr/>
        </p:nvSpPr>
        <p:spPr>
          <a:xfrm rot="5400000">
            <a:off x="6019800" y="5057775"/>
            <a:ext cx="104775" cy="114300"/>
          </a:xfrm>
          <a:prstGeom prst="triangle">
            <a:avLst/>
          </a:prstGeom>
          <a:solidFill>
            <a:srgbClr val="FFD426"/>
          </a:solidFill>
          <a:ln w="0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Scoring flow arrowhead">
            <a:extLst>
              <a:ext uri="{FF2B5EF4-FFF2-40B4-BE49-F238E27FC236}">
                <a16:creationId xmlns:a16="http://schemas.microsoft.com/office/drawing/2014/main" id="{283AA54C-582E-4185-A140-A82E61B97525}"/>
              </a:ext>
            </a:extLst>
          </p:cNvPr>
          <p:cNvSpPr>
            <a:spLocks noGrp="1"/>
          </p:cNvSpPr>
          <p:nvPr/>
        </p:nvSpPr>
        <p:spPr>
          <a:xfrm rot="5400000">
            <a:off x="8829675" y="5057775"/>
            <a:ext cx="104775" cy="114300"/>
          </a:xfrm>
          <a:prstGeom prst="triangle">
            <a:avLst/>
          </a:prstGeom>
          <a:solidFill>
            <a:srgbClr val="FFD426"/>
          </a:solidFill>
          <a:ln w="0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5786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0CEAE930-5301-4774-ABA1-02002F98C03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A1CAF1D-EB3E-4CD4-967E-466BCDC4C98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1.1 Direct Business Markers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26AC3365-CB81-4893-A420-65F4D3EF53ED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A2385A8-C632-4294-88C4-17E1952BA75F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fields that directly indicate business setup or off-platform commercial presence.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DED27C2-FF28-428A-8934-60AD80247794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3">
            <a:extLst>
              <a:ext uri="{FF2B5EF4-FFF2-40B4-BE49-F238E27FC236}">
                <a16:creationId xmlns:a16="http://schemas.microsoft.com/office/drawing/2014/main" id="{48CF030B-5D63-4E67-9A1B-5919D7E3A05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latest corporate bank flag; external URL usage over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36350"/>
          <a:ext cx="10668000" cy="1543050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Bank account is corporate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Direct business setup signal.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External URL attached across multiple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External URL attached to the ad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Suggests off-platform business presence or lead routing.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F979B996-8DCD-494C-BF52-0536522BAA3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29B22D7-D482-42FB-801B-FC85377B8E3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1EC1E3C-6D24-4932-AB58-9BC30A3BD02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191668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A5491187-5023-4563-B15F-E22B5415E511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0E82C8D-68CA-4AF1-A6C5-3575F9902EA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1.2 Paid Usage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BD590048-ADFE-4D4D-854A-AF2F5009CF1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AA6361-D415-4993-BB8E-C52B2FAF69B2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who repeatedly pay for visibility, Pro traffic, or invoiced services are more likely to be commercial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B9F94FB-5A6F-48E3-8DC8-7175DBA46A40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4">
            <a:extLst>
              <a:ext uri="{FF2B5EF4-FFF2-40B4-BE49-F238E27FC236}">
                <a16:creationId xmlns:a16="http://schemas.microsoft.com/office/drawing/2014/main" id="{980F3764-2D0C-4BEC-A844-77EDA35D9A4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17300"/>
          <a:ext cx="10668000" cy="3171825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type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repeated use of paid visibility products.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spend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Measures willingness to pay for visibility.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listing fees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Insertion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paid listing behavior outside feature purchases.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CPC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Indicates performance-oriented selling.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paid traffic scale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clicks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Estimates the scale of paid Pro traffic.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Invoice month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recurring billing, not just one-off payments.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Total 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scale of invoiced spend.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1CE9DD1D-FF7E-4BF3-B8DD-6B617FCF53B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8E4C69-9D37-4210-9692-12507B1CFF21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98A34DC-964B-4F21-AA3B-54391E24405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729429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2885FD2D-6490-4A4A-8911-0BBD6A4ED82A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6A923C2-205A-4847-9A5D-22344A5A422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1.3 General Seller Activity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49C4A7F2-2AA4-46A1-8DA1-50E5B6695CB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EBE14A1-DBB6-4368-AD13-622AEFD5B5E8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that repeatedly list and stay active look more business-like than one-off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B23EAEF-5CAF-40FC-9586-633CE222C193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5">
            <a:extLst>
              <a:ext uri="{FF2B5EF4-FFF2-40B4-BE49-F238E27FC236}">
                <a16:creationId xmlns:a16="http://schemas.microsoft.com/office/drawing/2014/main" id="{89BB2F44-812F-4DF2-AFD8-CD3DD0C9144C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months; recent listing activity uses last 3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55400"/>
          <a:ext cx="10668000" cy="2095500"/>
        </p:xfrm>
        <a:graphic>
          <a:graphicData uri="http://schemas.openxmlformats.org/drawingml/2006/table">
            <a:tbl>
              <a:tblPr firstRow="1" band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Ads in last 12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User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seller volume.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Active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Max concurrent live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end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maintained inventory.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Recent listing activity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Keeps outreach focused on reachable sellers.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2C60C842-C9F8-4D2D-AE6F-8E93141C5DD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730CD1-A1F3-416B-A9D7-79C06145A85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546D82A-DB31-4ACC-ABF0-40822BEAC437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1248114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9B99C13B-D96C-4CE3-A99D-EEC47E04FC52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418B9B4-1E2F-4CC1-B49D-5F6E73EACFA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1.4 Category Specialization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389B6C05-0CB8-47D9-807C-9FB880C49BF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DAE51419-1FE7-4CE0-922B-B1D781F0F39A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56E590D-3E7B-43ED-86D8-86950CA69CF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948341B-6D56-43D2-9783-B62A329B314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16" name="Combined signal">
            <a:extLst>
              <a:ext uri="{FF2B5EF4-FFF2-40B4-BE49-F238E27FC236}">
                <a16:creationId xmlns:a16="http://schemas.microsoft.com/office/drawing/2014/main" id="{D83D076D-E780-418E-AF42-7556841364D6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Signal: SMBs often specialize in one category or a coherent category cluster.</a:t>
            </a:r>
          </a:p>
        </p:txBody>
      </p:sp>
      <p:sp>
        <p:nvSpPr>
          <p:cNvPr id="17" name="Potential Metrics">
            <a:extLst>
              <a:ext uri="{FF2B5EF4-FFF2-40B4-BE49-F238E27FC236}">
                <a16:creationId xmlns:a16="http://schemas.microsoft.com/office/drawing/2014/main" id="{803860D4-8BEE-4C49-A0F7-6B5EC0893A0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8" name="Scoring window">
            <a:extLst>
              <a:ext uri="{FF2B5EF4-FFF2-40B4-BE49-F238E27FC236}">
                <a16:creationId xmlns:a16="http://schemas.microsoft.com/office/drawing/2014/main" id="{71E17E3F-18A3-4169-9218-018DB913F7F4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Scoring window: last 12 months; use main category and specific subcategory.</a:t>
            </a:r>
          </a:p>
        </p:txBody>
      </p:sp>
      <p:graphicFrame>
        <p:nvGraphicFramePr>
          <p:cNvPr id="19" name="Potential Metrics table"/>
          <p:cNvGraphicFramePr/>
          <p:nvPr>
            <p:extLst>
              <p:ext uri="{D42A27DB-BD31-4B8C-83A1-F6EECF244321}">
                <p14:modId xmlns:p14="http://schemas.microsoft.com/office/powerpoint/2010/main" val="2713399914"/>
              </p:ext>
            </p:extLst>
          </p:nvPr>
        </p:nvGraphicFramePr>
        <p:xfrm>
          <a:off x="609600" y="2399549"/>
          <a:ext cx="10972800" cy="11201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Repeated listings in same category/subcategory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D426"/>
                          </a:solidFill>
                          <a:latin typeface="Arial"/>
                          <a:ea typeface="Arial"/>
                          <a:cs typeface="Arial"/>
                        </a:rPr>
                        <a:t>User id, Ad category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specialized and sustained supply.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Business-prone categories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D426"/>
                          </a:solidFill>
                          <a:latin typeface="Arial"/>
                          <a:ea typeface="Arial"/>
                          <a:cs typeface="Arial"/>
                        </a:rPr>
                        <a:t>Ad category, Category name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Some categories have higher expected SMB share and should raise/lower the score.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Business-prone examples label">
            <a:extLst>
              <a:ext uri="{FF2B5EF4-FFF2-40B4-BE49-F238E27FC236}">
                <a16:creationId xmlns:a16="http://schemas.microsoft.com/office/drawing/2014/main" id="{659BC4DA-48DD-4F7A-AAA1-C8016FE1E228}"/>
              </a:ext>
            </a:extLst>
          </p:cNvPr>
          <p:cNvSpPr>
            <a:spLocks noGrp="1"/>
          </p:cNvSpPr>
          <p:nvPr/>
        </p:nvSpPr>
        <p:spPr>
          <a:xfrm>
            <a:off x="609600" y="3756958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Business-Prone Category Examples</a:t>
            </a:r>
          </a:p>
        </p:txBody>
      </p:sp>
      <p:sp>
        <p:nvSpPr>
          <p:cNvPr id="35" name="Example item divider">
            <a:extLst>
              <a:ext uri="{FF2B5EF4-FFF2-40B4-BE49-F238E27FC236}">
                <a16:creationId xmlns:a16="http://schemas.microsoft.com/office/drawing/2014/main" id="{0746B772-4448-42AF-815E-C2D7BD502F99}"/>
              </a:ext>
            </a:extLst>
          </p:cNvPr>
          <p:cNvSpPr>
            <a:spLocks noGrp="1"/>
          </p:cNvSpPr>
          <p:nvPr/>
        </p:nvSpPr>
        <p:spPr>
          <a:xfrm>
            <a:off x="609600" y="3995083"/>
            <a:ext cx="333375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36" name="Example categories">
            <a:extLst>
              <a:ext uri="{FF2B5EF4-FFF2-40B4-BE49-F238E27FC236}">
                <a16:creationId xmlns:a16="http://schemas.microsoft.com/office/drawing/2014/main" id="{9B73CDFC-1992-4118-968A-20482CD149D3}"/>
              </a:ext>
            </a:extLst>
          </p:cNvPr>
          <p:cNvSpPr>
            <a:spLocks noGrp="1"/>
          </p:cNvSpPr>
          <p:nvPr/>
        </p:nvSpPr>
        <p:spPr>
          <a:xfrm>
            <a:off x="609600" y="4080808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Business Goods; Services and Tradespeople</a:t>
            </a:r>
          </a:p>
        </p:txBody>
      </p:sp>
      <p:sp>
        <p:nvSpPr>
          <p:cNvPr id="37" name="Example why">
            <a:extLst>
              <a:ext uri="{FF2B5EF4-FFF2-40B4-BE49-F238E27FC236}">
                <a16:creationId xmlns:a16="http://schemas.microsoft.com/office/drawing/2014/main" id="{1E0A8FA6-A458-42C1-80BA-A4B07BDF1EF7}"/>
              </a:ext>
            </a:extLst>
          </p:cNvPr>
          <p:cNvSpPr>
            <a:spLocks noGrp="1"/>
          </p:cNvSpPr>
          <p:nvPr/>
        </p:nvSpPr>
        <p:spPr>
          <a:xfrm>
            <a:off x="609600" y="4499908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Directly commercial supply or service provision.</a:t>
            </a:r>
          </a:p>
        </p:txBody>
      </p:sp>
      <p:sp>
        <p:nvSpPr>
          <p:cNvPr id="38" name="Example item divider">
            <a:extLst>
              <a:ext uri="{FF2B5EF4-FFF2-40B4-BE49-F238E27FC236}">
                <a16:creationId xmlns:a16="http://schemas.microsoft.com/office/drawing/2014/main" id="{2246B849-9CAA-4CDA-9731-69F8CD0A2366}"/>
              </a:ext>
            </a:extLst>
          </p:cNvPr>
          <p:cNvSpPr>
            <a:spLocks noGrp="1"/>
          </p:cNvSpPr>
          <p:nvPr/>
        </p:nvSpPr>
        <p:spPr>
          <a:xfrm>
            <a:off x="4352925" y="3995083"/>
            <a:ext cx="333375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xample categories">
            <a:extLst>
              <a:ext uri="{FF2B5EF4-FFF2-40B4-BE49-F238E27FC236}">
                <a16:creationId xmlns:a16="http://schemas.microsoft.com/office/drawing/2014/main" id="{05E1252A-3BA3-47D5-A31B-89A38C20CC26}"/>
              </a:ext>
            </a:extLst>
          </p:cNvPr>
          <p:cNvSpPr>
            <a:spLocks noGrp="1"/>
          </p:cNvSpPr>
          <p:nvPr/>
        </p:nvSpPr>
        <p:spPr>
          <a:xfrm>
            <a:off x="4352925" y="4080808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Jobs</a:t>
            </a:r>
          </a:p>
        </p:txBody>
      </p:sp>
      <p:sp>
        <p:nvSpPr>
          <p:cNvPr id="40" name="Example why">
            <a:extLst>
              <a:ext uri="{FF2B5EF4-FFF2-40B4-BE49-F238E27FC236}">
                <a16:creationId xmlns:a16="http://schemas.microsoft.com/office/drawing/2014/main" id="{68867B21-8782-4DF8-8880-22929423EB02}"/>
              </a:ext>
            </a:extLst>
          </p:cNvPr>
          <p:cNvSpPr>
            <a:spLocks noGrp="1"/>
          </p:cNvSpPr>
          <p:nvPr/>
        </p:nvSpPr>
        <p:spPr>
          <a:xfrm>
            <a:off x="4352925" y="4499908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Usually posted by employers, recruiters, or staffing businesses.</a:t>
            </a:r>
          </a:p>
        </p:txBody>
      </p:sp>
      <p:sp>
        <p:nvSpPr>
          <p:cNvPr id="41" name="Example item divider">
            <a:extLst>
              <a:ext uri="{FF2B5EF4-FFF2-40B4-BE49-F238E27FC236}">
                <a16:creationId xmlns:a16="http://schemas.microsoft.com/office/drawing/2014/main" id="{46290ABC-8BFD-49DD-91E3-CB896903A01E}"/>
              </a:ext>
            </a:extLst>
          </p:cNvPr>
          <p:cNvSpPr>
            <a:spLocks noGrp="1"/>
          </p:cNvSpPr>
          <p:nvPr/>
        </p:nvSpPr>
        <p:spPr>
          <a:xfrm>
            <a:off x="8096250" y="3995083"/>
            <a:ext cx="333375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Example categories">
            <a:extLst>
              <a:ext uri="{FF2B5EF4-FFF2-40B4-BE49-F238E27FC236}">
                <a16:creationId xmlns:a16="http://schemas.microsoft.com/office/drawing/2014/main" id="{81EB442F-FC8F-40E9-8077-ABF9D2585C70}"/>
              </a:ext>
            </a:extLst>
          </p:cNvPr>
          <p:cNvSpPr>
            <a:spLocks noGrp="1"/>
          </p:cNvSpPr>
          <p:nvPr/>
        </p:nvSpPr>
        <p:spPr>
          <a:xfrm>
            <a:off x="8096250" y="4080808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Cars; Miscellaneous Cars; Car Parts; Motorcycles; Caravans and Camping; Water Sports and Boats</a:t>
            </a:r>
          </a:p>
        </p:txBody>
      </p:sp>
      <p:sp>
        <p:nvSpPr>
          <p:cNvPr id="43" name="Example why">
            <a:extLst>
              <a:ext uri="{FF2B5EF4-FFF2-40B4-BE49-F238E27FC236}">
                <a16:creationId xmlns:a16="http://schemas.microsoft.com/office/drawing/2014/main" id="{F4F683C7-B8B2-495B-9A05-8AE2430F2B8D}"/>
              </a:ext>
            </a:extLst>
          </p:cNvPr>
          <p:cNvSpPr>
            <a:spLocks noGrp="1"/>
          </p:cNvSpPr>
          <p:nvPr/>
        </p:nvSpPr>
        <p:spPr>
          <a:xfrm>
            <a:off x="8096250" y="4499908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High-value inventory and specialist dealers are common.</a:t>
            </a:r>
          </a:p>
        </p:txBody>
      </p:sp>
      <p:sp>
        <p:nvSpPr>
          <p:cNvPr id="44" name="Example item divider">
            <a:extLst>
              <a:ext uri="{FF2B5EF4-FFF2-40B4-BE49-F238E27FC236}">
                <a16:creationId xmlns:a16="http://schemas.microsoft.com/office/drawing/2014/main" id="{270BFA4F-4A2C-451F-878F-365194EE9BFD}"/>
              </a:ext>
            </a:extLst>
          </p:cNvPr>
          <p:cNvSpPr>
            <a:spLocks noGrp="1"/>
          </p:cNvSpPr>
          <p:nvPr/>
        </p:nvSpPr>
        <p:spPr>
          <a:xfrm>
            <a:off x="609600" y="4899958"/>
            <a:ext cx="333375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Example categories">
            <a:extLst>
              <a:ext uri="{FF2B5EF4-FFF2-40B4-BE49-F238E27FC236}">
                <a16:creationId xmlns:a16="http://schemas.microsoft.com/office/drawing/2014/main" id="{E7993DFD-C6D0-4236-B790-67BBBC329E2F}"/>
              </a:ext>
            </a:extLst>
          </p:cNvPr>
          <p:cNvSpPr>
            <a:spLocks noGrp="1"/>
          </p:cNvSpPr>
          <p:nvPr/>
        </p:nvSpPr>
        <p:spPr>
          <a:xfrm>
            <a:off x="609600" y="4985683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Homes - Rental; Houses and Rooms; Vacation</a:t>
            </a:r>
          </a:p>
        </p:txBody>
      </p:sp>
      <p:sp>
        <p:nvSpPr>
          <p:cNvPr id="46" name="Example why">
            <a:extLst>
              <a:ext uri="{FF2B5EF4-FFF2-40B4-BE49-F238E27FC236}">
                <a16:creationId xmlns:a16="http://schemas.microsoft.com/office/drawing/2014/main" id="{0B46B18E-296E-4763-8294-A758936DF528}"/>
              </a:ext>
            </a:extLst>
          </p:cNvPr>
          <p:cNvSpPr>
            <a:spLocks noGrp="1"/>
          </p:cNvSpPr>
          <p:nvPr/>
        </p:nvSpPr>
        <p:spPr>
          <a:xfrm>
            <a:off x="609600" y="5404783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Repeated listings often indicate landlords, agencies, or rental operators.</a:t>
            </a:r>
          </a:p>
        </p:txBody>
      </p:sp>
      <p:sp>
        <p:nvSpPr>
          <p:cNvPr id="47" name="Example item divider">
            <a:extLst>
              <a:ext uri="{FF2B5EF4-FFF2-40B4-BE49-F238E27FC236}">
                <a16:creationId xmlns:a16="http://schemas.microsoft.com/office/drawing/2014/main" id="{A5924663-D2BA-408A-B6F2-5152499490F7}"/>
              </a:ext>
            </a:extLst>
          </p:cNvPr>
          <p:cNvSpPr>
            <a:spLocks noGrp="1"/>
          </p:cNvSpPr>
          <p:nvPr/>
        </p:nvSpPr>
        <p:spPr>
          <a:xfrm>
            <a:off x="4352925" y="4899958"/>
            <a:ext cx="333375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Example categories">
            <a:extLst>
              <a:ext uri="{FF2B5EF4-FFF2-40B4-BE49-F238E27FC236}">
                <a16:creationId xmlns:a16="http://schemas.microsoft.com/office/drawing/2014/main" id="{0D00C058-A644-42D7-B48E-4755D16D5594}"/>
              </a:ext>
            </a:extLst>
          </p:cNvPr>
          <p:cNvSpPr>
            <a:spLocks noGrp="1"/>
          </p:cNvSpPr>
          <p:nvPr/>
        </p:nvSpPr>
        <p:spPr>
          <a:xfrm>
            <a:off x="4352925" y="4985683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DIY and Renovation; Garden and Terrace; Home and Furnishings; White Goods and Appliances</a:t>
            </a:r>
          </a:p>
        </p:txBody>
      </p:sp>
      <p:sp>
        <p:nvSpPr>
          <p:cNvPr id="49" name="Example why">
            <a:extLst>
              <a:ext uri="{FF2B5EF4-FFF2-40B4-BE49-F238E27FC236}">
                <a16:creationId xmlns:a16="http://schemas.microsoft.com/office/drawing/2014/main" id="{94764D63-01EB-423D-B9FB-A8BAB35E8FFA}"/>
              </a:ext>
            </a:extLst>
          </p:cNvPr>
          <p:cNvSpPr>
            <a:spLocks noGrp="1"/>
          </p:cNvSpPr>
          <p:nvPr/>
        </p:nvSpPr>
        <p:spPr>
          <a:xfrm>
            <a:off x="4352925" y="5404783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Repeated supply suggests trades, refurbishers, or retail-like sellers.</a:t>
            </a:r>
          </a:p>
        </p:txBody>
      </p:sp>
      <p:sp>
        <p:nvSpPr>
          <p:cNvPr id="50" name="Example item divider">
            <a:extLst>
              <a:ext uri="{FF2B5EF4-FFF2-40B4-BE49-F238E27FC236}">
                <a16:creationId xmlns:a16="http://schemas.microsoft.com/office/drawing/2014/main" id="{1334D0ED-AEF6-430D-AAD4-887FB1777183}"/>
              </a:ext>
            </a:extLst>
          </p:cNvPr>
          <p:cNvSpPr>
            <a:spLocks noGrp="1"/>
          </p:cNvSpPr>
          <p:nvPr/>
        </p:nvSpPr>
        <p:spPr>
          <a:xfrm>
            <a:off x="8096250" y="4899958"/>
            <a:ext cx="333375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Example categories">
            <a:extLst>
              <a:ext uri="{FF2B5EF4-FFF2-40B4-BE49-F238E27FC236}">
                <a16:creationId xmlns:a16="http://schemas.microsoft.com/office/drawing/2014/main" id="{A86E22DA-7935-4DD0-B484-CCE1B8A94D0A}"/>
              </a:ext>
            </a:extLst>
          </p:cNvPr>
          <p:cNvSpPr>
            <a:spLocks noGrp="1"/>
          </p:cNvSpPr>
          <p:nvPr/>
        </p:nvSpPr>
        <p:spPr>
          <a:xfrm>
            <a:off x="8096250" y="4985683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Computers and Software; Telecommunications</a:t>
            </a:r>
          </a:p>
        </p:txBody>
      </p:sp>
      <p:sp>
        <p:nvSpPr>
          <p:cNvPr id="52" name="Example why">
            <a:extLst>
              <a:ext uri="{FF2B5EF4-FFF2-40B4-BE49-F238E27FC236}">
                <a16:creationId xmlns:a16="http://schemas.microsoft.com/office/drawing/2014/main" id="{F2F5919C-3E07-4504-B583-903A719166AB}"/>
              </a:ext>
            </a:extLst>
          </p:cNvPr>
          <p:cNvSpPr>
            <a:spLocks noGrp="1"/>
          </p:cNvSpPr>
          <p:nvPr/>
        </p:nvSpPr>
        <p:spPr>
          <a:xfrm>
            <a:off x="8096250" y="5404783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Repeated listings often indicate resellers or repair/retail activity.</a:t>
            </a:r>
          </a:p>
        </p:txBody>
      </p:sp>
    </p:spTree>
    <p:extLst>
      <p:ext uri="{BB962C8B-B14F-4D97-AF65-F5344CB8AC3E}">
        <p14:creationId xmlns:p14="http://schemas.microsoft.com/office/powerpoint/2010/main" val="163015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5414E398-5733-42FA-8AC9-FC62CDB977B9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E2E1750-0D53-4C0A-BB1F-EF6A1964D320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1.5 Buyer Engagement Aggregated by Seller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AEE9124F-090B-4330-B9FD-FAE6A37179C9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9B93241-B93A-4329-848E-A0BD9E6D06D9}"/>
              </a:ext>
            </a:extLst>
          </p:cNvPr>
          <p:cNvSpPr>
            <a:spLocks noGrp="1"/>
          </p:cNvSpPr>
          <p:nvPr/>
        </p:nvSpPr>
        <p:spPr>
          <a:xfrm>
            <a:off x="552450" y="135050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one popular ad can be consumer behavior; repeated buyer engagement across ads is more SMB-like.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AF42F91-6AF8-4C15-9DFE-17C07405BD39}"/>
              </a:ext>
            </a:extLst>
          </p:cNvPr>
          <p:cNvSpPr>
            <a:spLocks noGrp="1"/>
          </p:cNvSpPr>
          <p:nvPr/>
        </p:nvSpPr>
        <p:spPr>
          <a:xfrm>
            <a:off x="552450" y="180770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8">
            <a:extLst>
              <a:ext uri="{FF2B5EF4-FFF2-40B4-BE49-F238E27FC236}">
                <a16:creationId xmlns:a16="http://schemas.microsoft.com/office/drawing/2014/main" id="{B15F7C54-BBAF-4A68-BDD9-4FF118D5B67C}"/>
              </a:ext>
            </a:extLst>
          </p:cNvPr>
          <p:cNvSpPr>
            <a:spLocks noGrp="1"/>
          </p:cNvSpPr>
          <p:nvPr/>
        </p:nvSpPr>
        <p:spPr>
          <a:xfrm>
            <a:off x="552450" y="211250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512550"/>
          <a:ext cx="10668000" cy="2266950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Engaged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Avoids one-ad outliers.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Unique engaged buyers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Buyer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Seller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breadth of demand.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Months with engagement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Message date/time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traffic event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Engagement rate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impressions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Controls for exposure where possible.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7CBC6613-0781-4FB9-A474-55B89B3CA6AD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C6DD7B-FB62-4ABD-94B6-CEDCD886BE39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D743CBF-B06C-403D-9331-19C0D2447ABB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</p:spTree>
    <p:extLst>
      <p:ext uri="{BB962C8B-B14F-4D97-AF65-F5344CB8AC3E}">
        <p14:creationId xmlns:p14="http://schemas.microsoft.com/office/powerpoint/2010/main" val="172769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E2CE1683-9E40-4D07-87A3-22BA7CDF3CE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EC25269-EC06-4828-9F65-9C767AB2ADF9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Decision Mechanism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931F5EC-748C-44F2-90BF-B901A4E640CE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1948D8CD-7361-47CC-8A55-5903E8F8297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AF36372-913A-415C-BB8A-017E7ACEABD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B2FDA74-6E7C-4F43-9C11-84AD58D74CE2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9" name="Decision intro">
            <a:extLst>
              <a:ext uri="{FF2B5EF4-FFF2-40B4-BE49-F238E27FC236}">
                <a16:creationId xmlns:a16="http://schemas.microsoft.com/office/drawing/2014/main" id="{F6CED2D7-DFE5-4124-AA43-331D6EFC69FF}"/>
              </a:ext>
            </a:extLst>
          </p:cNvPr>
          <p:cNvSpPr>
            <a:spLocks noGrp="1"/>
          </p:cNvSpPr>
          <p:nvPr/>
        </p:nvSpPr>
        <p:spPr>
          <a:xfrm>
            <a:off x="552450" y="1388600"/>
            <a:ext cx="10287000" cy="4762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Create a ranked seller list by scoring each seller-level SMB signal based on strength; categories organize the signals, but the final score is built from the signals themselves.</a:t>
            </a:r>
          </a:p>
        </p:txBody>
      </p:sp>
      <p:graphicFrame>
        <p:nvGraphicFramePr>
          <p:cNvPr id="10" name="SMB score table"/>
          <p:cNvGraphicFramePr/>
          <p:nvPr/>
        </p:nvGraphicFramePr>
        <p:xfrm>
          <a:off x="552450" y="2017250"/>
          <a:ext cx="10287000" cy="1652303"/>
        </p:xfrm>
        <a:graphic>
          <a:graphicData uri="http://schemas.openxmlformats.org/drawingml/2006/table">
            <a:tbl>
              <a:tblPr firstRow="1" bandRow="1"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General Rule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Example Signals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Highest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Direct evidence of business setup.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Clear paid selling behavior.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Recurring invoice months, Pro CPC usage, paid feature spend.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SMB-like behavior that is useful but noisier.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 listing volume, repeated listings in the same category, business-prone categories, buyer engagement across ads.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Decision output">
            <a:extLst>
              <a:ext uri="{FF2B5EF4-FFF2-40B4-BE49-F238E27FC236}">
                <a16:creationId xmlns:a16="http://schemas.microsoft.com/office/drawing/2014/main" id="{E6D23BF3-2401-4FDA-BDDF-486C1AD3B8B9}"/>
              </a:ext>
            </a:extLst>
          </p:cNvPr>
          <p:cNvSpPr>
            <a:spLocks noGrp="1"/>
          </p:cNvSpPr>
          <p:nvPr/>
        </p:nvSpPr>
        <p:spPr>
          <a:xfrm>
            <a:off x="552450" y="4284200"/>
            <a:ext cx="10287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Output: ranked sellers with user_id, smb_score, confidence tier, top reasons, and recommended action.</a:t>
            </a:r>
          </a:p>
        </p:txBody>
      </p:sp>
      <p:sp>
        <p:nvSpPr>
          <p:cNvPr id="13" name="Supervised Model Scoring note">
            <a:extLst>
              <a:ext uri="{FF2B5EF4-FFF2-40B4-BE49-F238E27FC236}">
                <a16:creationId xmlns:a16="http://schemas.microsoft.com/office/drawing/2014/main" id="{E0643B7A-414D-476C-83BE-E2D75EF508D7}"/>
              </a:ext>
            </a:extLst>
          </p:cNvPr>
          <p:cNvSpPr>
            <a:spLocks noGrp="1"/>
          </p:cNvSpPr>
          <p:nvPr/>
        </p:nvSpPr>
        <p:spPr>
          <a:xfrm>
            <a:off x="552450" y="4703300"/>
            <a:ext cx="10287000" cy="90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wrap="square" lIns="57150" tIns="38100" rIns="57150" bIns="38100" anchor="t"/>
          <a:lstStyle/>
          <a:p>
            <a:pPr marL="0" indent="0">
              <a:buNone/>
              <a:defRPr sz="1100"/>
            </a:pPr>
            <a:r>
              <a:rPr sz="15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Supervised Model Scoring</a:t>
            </a:r>
            <a:br/>
            <a:br/>
            <a:r>
              <a:rPr sz="1100">
                <a:solidFill>
                  <a:srgbClr val="F7F7F2"/>
                </a:solidFill>
                <a:latin typeface="Arial"/>
                <a:ea typeface="Arial"/>
                <a:cs typeface="Arial"/>
              </a:rPr>
              <a:t>If true SMB labels become available, replace manual weights with a supervised model using the same seller-level features. Keep the output explainable so stakeholders can see why each seller was prioritized.</a:t>
            </a:r>
          </a:p>
        </p:txBody>
      </p:sp>
    </p:spTree>
    <p:extLst>
      <p:ext uri="{BB962C8B-B14F-4D97-AF65-F5344CB8AC3E}">
        <p14:creationId xmlns:p14="http://schemas.microsoft.com/office/powerpoint/2010/main" val="71895868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212C074E-E0E1-480A-AF43-C96D5509C210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970A0786-B0C0-4DEF-82E1-6822BF3E0C6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3" name="">
            <a:extLst>
              <a:ext uri="{FF2B5EF4-FFF2-40B4-BE49-F238E27FC236}">
                <ns2:creationId id="{C205BF2C-C6B8-4843-97ED-0BFF2B9D4D14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>
              <a:ext uri="{FF2B5EF4-FFF2-40B4-BE49-F238E27FC236}">
                <ns2:creationId id="{4D6B6D69-4828-4FC2-8746-D4B37E9D8B5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4FB3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>
              <a:ext uri="{FF2B5EF4-FFF2-40B4-BE49-F238E27FC236}">
                <ns2:creationId id="{7C2FE443-1366-4E89-BEE5-C60CD06CC394}"/>
              </a:ext>
            </a:extLst>
          </p:cNvPr>
          <p:cNvSpPr>
            <a:spLocks noGrp="1"/>
          </p:cNvSpPr>
          <p:nvPr/>
        </p:nvSpPr>
        <p:spPr>
          <a:xfrm>
            <a:off x="1257300" y="1162050"/>
            <a:ext cx="74295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6" name="">
            <a:extLst>
              <a:ext uri="{FF2B5EF4-FFF2-40B4-BE49-F238E27FC236}">
                <ns2:creationId id="{148BC242-79F7-4A89-ABD0-157B172BB116}"/>
              </a:ext>
            </a:extLst>
          </p:cNvPr>
          <p:cNvSpPr>
            <a:spLocks noGrp="1"/>
          </p:cNvSpPr>
          <p:nvPr/>
        </p:nvSpPr>
        <p:spPr>
          <a:xfrm>
            <a:off x="1257300" y="361950"/>
            <a:ext cx="9429750" cy="7905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Outreach should rank bundle readiness, not just historical spend.</a:t>
            </a:r>
          </a:p>
        </p:txBody>
      </p:sp>
      <p:sp>
        <p:nvSpPr>
          <p:cNvPr id="7" name="">
            <a:extLst>
              <a:ext uri="{FF2B5EF4-FFF2-40B4-BE49-F238E27FC236}">
                <ns2:creationId id="{471FC025-B4E9-469A-ABA7-DA5C07FDFC4F}"/>
              </a:ext>
            </a:extLst>
          </p:cNvPr>
          <p:cNvSpPr>
            <a:spLocks noGrp="1"/>
          </p:cNvSpPr>
          <p:nvPr/>
        </p:nvSpPr>
        <p:spPr>
          <a:xfrm>
            <a:off x="457200" y="3733800"/>
            <a:ext cx="81153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8" name="">
            <a:extLst>
              <a:ext uri="{FF2B5EF4-FFF2-40B4-BE49-F238E27FC236}">
                <ns2:creationId id="{65DE0F3F-360A-4116-9601-5D7300DDB2BC}"/>
              </a:ext>
            </a:extLst>
          </p:cNvPr>
          <p:cNvSpPr>
            <a:spLocks noGrp="1"/>
          </p:cNvSpPr>
          <p:nvPr/>
        </p:nvSpPr>
        <p:spPr>
          <a:xfrm>
            <a:off x="495300" y="4143375"/>
            <a:ext cx="20955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4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Sample context</a:t>
            </a:r>
          </a:p>
        </p:txBody>
      </p:sp>
      <p:sp>
        <p:nvSpPr>
          <p:cNvPr id="9" name="">
            <a:extLst>
              <a:ext uri="{FF2B5EF4-FFF2-40B4-BE49-F238E27FC236}">
                <ns2:creationId id="{6BA58DF7-54C9-4811-8D7A-1AB96B9219CA}"/>
              </a:ext>
            </a:extLst>
          </p:cNvPr>
          <p:cNvSpPr>
            <a:spLocks noGrp="1"/>
          </p:cNvSpPr>
          <p:nvPr/>
        </p:nvSpPr>
        <p:spPr>
          <a:xfrm>
            <a:off x="495300" y="4581525"/>
            <a:ext cx="76200" cy="7620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10" name="">
            <a:extLst>
              <a:ext uri="{FF2B5EF4-FFF2-40B4-BE49-F238E27FC236}">
                <ns2:creationId id="{7B5EC70E-C925-4920-BB04-F620648DDB77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94869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Data covers 129,501 seller-month-category rows, 3,840 sellers, 24 months, and 32 categories.</a:t>
            </a:r>
          </a:p>
        </p:txBody>
      </p:sp>
      <p:sp>
        <p:nvSpPr>
          <p:cNvPr id="11" name="">
            <a:extLst>
              <a:ext uri="{FF2B5EF4-FFF2-40B4-BE49-F238E27FC236}">
                <ns2:creationId id="{6842D45A-F9E6-40B8-91D8-F2F4D7D09C12}"/>
              </a:ext>
            </a:extLst>
          </p:cNvPr>
          <p:cNvSpPr>
            <a:spLocks noGrp="1"/>
          </p:cNvSpPr>
          <p:nvPr/>
        </p:nvSpPr>
        <p:spPr>
          <a:xfrm>
            <a:off x="495300" y="4981575"/>
            <a:ext cx="76200" cy="7620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12" name="">
            <a:extLst>
              <a:ext uri="{FF2B5EF4-FFF2-40B4-BE49-F238E27FC236}">
                <ns2:creationId id="{DA6466D8-012D-482D-8EE9-381FB93A4C7A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94869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Quality checks found no missing values, duplicate seller-month-category rows, or negative metric values.</a:t>
            </a:r>
          </a:p>
        </p:txBody>
      </p:sp>
    </p:spTree>
    <p:extLst>
      <p:ext uri="{BB962C8B-B14F-4D97-AF65-F5344CB8AC3E}">
        <ns3:creationId val="1352337032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C601EFA2-B56C-47D4-9B0D-BB9990E17B5B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21446B17-F82A-4AB7-91CC-0350DB928BA5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3" name="">
            <a:extLst>
              <a:ext uri="{FF2B5EF4-FFF2-40B4-BE49-F238E27FC236}">
                <ns2:creationId id="{E4124865-F8F5-4959-98EC-8B877BA69F6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>
              <a:ext uri="{FF2B5EF4-FFF2-40B4-BE49-F238E27FC236}">
                <ns2:creationId id="{7179EF5A-EF87-48F2-9A4A-DA7C1D08EEB1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90500" cy="1905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5" name="">
            <a:extLst>
              <a:ext uri="{FF2B5EF4-FFF2-40B4-BE49-F238E27FC236}">
                <ns2:creationId id="{B86DAE3E-4058-4FA0-910E-4D3D051B74AE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4000500" cy="209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PRIORITIZATION PROOF</a:t>
            </a:r>
          </a:p>
        </p:txBody>
      </p:sp>
      <p:sp>
        <p:nvSpPr>
          <p:cNvPr id="6" name="">
            <a:extLst>
              <a:ext uri="{FF2B5EF4-FFF2-40B4-BE49-F238E27FC236}">
                <ns2:creationId id="{837FA033-AA98-4B64-A2E1-8EB76CE01AAE}"/>
              </a:ext>
            </a:extLst>
          </p:cNvPr>
          <p:cNvSpPr>
            <a:spLocks noGrp="1"/>
          </p:cNvSpPr>
          <p:nvPr/>
        </p:nvSpPr>
        <p:spPr>
          <a:xfrm>
            <a:off x="457200" y="638175"/>
            <a:ext cx="9334500" cy="1066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Readiness scoring keeps commercial value while finding more current, broader sellers than fee rank alone.</a:t>
            </a:r>
          </a:p>
        </p:txBody>
      </p:sp>
      <p:sp>
        <p:nvSpPr>
          <p:cNvPr id="7" name="">
            <a:extLst>
              <a:ext uri="{FF2B5EF4-FFF2-40B4-BE49-F238E27FC236}">
                <ns2:creationId id="{D3EDF658-F511-478D-A62E-1490853E02BD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23812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960</a:t>
            </a:r>
          </a:p>
        </p:txBody>
      </p:sp>
      <p:sp>
        <p:nvSpPr>
          <p:cNvPr id="8" name="">
            <a:extLst>
              <a:ext uri="{FF2B5EF4-FFF2-40B4-BE49-F238E27FC236}">
                <ns2:creationId id="{CB9FE853-5362-4E4B-9E73-ABF47A6D97C2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23812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selected sellers in 5% sample top quartile</a:t>
            </a:r>
          </a:p>
        </p:txBody>
      </p:sp>
      <p:sp>
        <p:nvSpPr>
          <p:cNvPr id="9" name="">
            <a:extLst>
              <a:ext uri="{FF2B5EF4-FFF2-40B4-BE49-F238E27FC236}">
                <ns2:creationId id="{C1EBFBDA-C25E-4671-82C9-CCEDB4DA10B2}"/>
              </a:ext>
            </a:extLst>
          </p:cNvPr>
          <p:cNvSpPr>
            <a:spLocks noGrp="1"/>
          </p:cNvSpPr>
          <p:nvPr/>
        </p:nvSpPr>
        <p:spPr>
          <a:xfrm>
            <a:off x="3333750" y="2171700"/>
            <a:ext cx="2714625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EUR 1.08M</a:t>
            </a:r>
          </a:p>
        </p:txBody>
      </p:sp>
      <p:sp>
        <p:nvSpPr>
          <p:cNvPr id="10" name="">
            <a:extLst>
              <a:ext uri="{FF2B5EF4-FFF2-40B4-BE49-F238E27FC236}">
                <ns2:creationId id="{31B31C0C-3366-4A8F-9F7F-C0B15E52E51F}"/>
              </a:ext>
            </a:extLst>
          </p:cNvPr>
          <p:cNvSpPr>
            <a:spLocks noGrp="1"/>
          </p:cNvSpPr>
          <p:nvPr/>
        </p:nvSpPr>
        <p:spPr>
          <a:xfrm>
            <a:off x="3333750" y="2590800"/>
            <a:ext cx="2714625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total fees retained by readiness selection</a:t>
            </a:r>
          </a:p>
        </p:txBody>
      </p:sp>
      <p:sp>
        <p:nvSpPr>
          <p:cNvPr id="11" name="">
            <a:extLst>
              <a:ext uri="{FF2B5EF4-FFF2-40B4-BE49-F238E27FC236}">
                <ns2:creationId id="{E0757A9A-089A-4567-B6E5-907A3CA6C1E9}"/>
              </a:ext>
            </a:extLst>
          </p:cNvPr>
          <p:cNvSpPr>
            <a:spLocks noGrp="1"/>
          </p:cNvSpPr>
          <p:nvPr/>
        </p:nvSpPr>
        <p:spPr>
          <a:xfrm>
            <a:off x="6572250" y="2171700"/>
            <a:ext cx="2857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74.2</a:t>
            </a:r>
          </a:p>
        </p:txBody>
      </p:sp>
      <p:sp>
        <p:nvSpPr>
          <p:cNvPr id="12" name="">
            <a:extLst>
              <a:ext uri="{FF2B5EF4-FFF2-40B4-BE49-F238E27FC236}">
                <ns2:creationId id="{B67D7E76-3927-444C-9FAF-DDA8B93C1EBC}"/>
              </a:ext>
            </a:extLst>
          </p:cNvPr>
          <p:cNvSpPr>
            <a:spLocks noGrp="1"/>
          </p:cNvSpPr>
          <p:nvPr/>
        </p:nvSpPr>
        <p:spPr>
          <a:xfrm>
            <a:off x="6572250" y="2590800"/>
            <a:ext cx="2857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average readiness score for selected sellers</a:t>
            </a:r>
          </a:p>
        </p:txBody>
      </p:sp>
      <p:sp>
        <p:nvSpPr>
          <p:cNvPr id="13" name="">
            <a:extLst>
              <a:ext uri="{FF2B5EF4-FFF2-40B4-BE49-F238E27FC236}">
                <ns2:creationId id="{3531DB90-2627-4885-B217-C9EB41CBA689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5334000" cy="247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Readiness vs total-fee rank: average signal score</a:t>
            </a:r>
          </a:p>
        </p:txBody>
      </p:sp>
      <p:sp>
        <p:nvSpPr>
          <p:cNvPr id="14" name="">
            <a:extLst>
              <a:ext uri="{FF2B5EF4-FFF2-40B4-BE49-F238E27FC236}">
                <ns2:creationId id="{93913DDA-E2A7-413E-B53A-FE4D895C7494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Recent paid usage</a:t>
            </a:r>
          </a:p>
        </p:txBody>
      </p:sp>
      <p:sp>
        <p:nvSpPr>
          <p:cNvPr id="15" name="">
            <a:extLst>
              <a:ext uri="{FF2B5EF4-FFF2-40B4-BE49-F238E27FC236}">
                <ns2:creationId id="{F39179F8-162D-479B-AD53-6415C04D9BB0}"/>
              </a:ext>
            </a:extLst>
          </p:cNvPr>
          <p:cNvSpPr>
            <a:spLocks noGrp="1"/>
          </p:cNvSpPr>
          <p:nvPr/>
        </p:nvSpPr>
        <p:spPr>
          <a:xfrm>
            <a:off x="2847975" y="3857625"/>
            <a:ext cx="361950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6" name="">
            <a:extLst>
              <a:ext uri="{FF2B5EF4-FFF2-40B4-BE49-F238E27FC236}">
                <ns2:creationId id="{9E42D0CB-7EB9-4497-8E02-1113A5ECC0F6}"/>
              </a:ext>
            </a:extLst>
          </p:cNvPr>
          <p:cNvSpPr>
            <a:spLocks noGrp="1"/>
          </p:cNvSpPr>
          <p:nvPr/>
        </p:nvSpPr>
        <p:spPr>
          <a:xfrm>
            <a:off x="2847975" y="3857625"/>
            <a:ext cx="2986088" cy="11430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17" name="">
            <a:extLst>
              <a:ext uri="{FF2B5EF4-FFF2-40B4-BE49-F238E27FC236}">
                <ns2:creationId id="{3EECAF34-B73F-4FD8-8275-7B21BA8F0FCE}"/>
              </a:ext>
            </a:extLst>
          </p:cNvPr>
          <p:cNvSpPr>
            <a:spLocks noGrp="1"/>
          </p:cNvSpPr>
          <p:nvPr/>
        </p:nvSpPr>
        <p:spPr>
          <a:xfrm>
            <a:off x="6562725" y="380047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82.5</a:t>
            </a:r>
          </a:p>
        </p:txBody>
      </p:sp>
      <p:sp>
        <p:nvSpPr>
          <p:cNvPr id="18" name="">
            <a:extLst>
              <a:ext uri="{FF2B5EF4-FFF2-40B4-BE49-F238E27FC236}">
                <ns2:creationId id="{077EBB15-FDEF-4F93-A67C-258D69F64C9A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sp>
        <p:nvSpPr>
          <p:cNvPr id="19" name="">
            <a:extLst>
              <a:ext uri="{FF2B5EF4-FFF2-40B4-BE49-F238E27FC236}">
                <ns2:creationId id="{D0B5CDE8-A844-4966-8A76-713FD350E422}"/>
              </a:ext>
            </a:extLst>
          </p:cNvPr>
          <p:cNvSpPr>
            <a:spLocks noGrp="1"/>
          </p:cNvSpPr>
          <p:nvPr/>
        </p:nvSpPr>
        <p:spPr>
          <a:xfrm>
            <a:off x="2847975" y="4200525"/>
            <a:ext cx="361950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0" name="">
            <a:extLst>
              <a:ext uri="{FF2B5EF4-FFF2-40B4-BE49-F238E27FC236}">
                <ns2:creationId id="{A37B0292-FD09-4C35-8ED5-DF79A3C53034}"/>
              </a:ext>
            </a:extLst>
          </p:cNvPr>
          <p:cNvSpPr>
            <a:spLocks noGrp="1"/>
          </p:cNvSpPr>
          <p:nvPr/>
        </p:nvSpPr>
        <p:spPr>
          <a:xfrm>
            <a:off x="2847975" y="4200525"/>
            <a:ext cx="2801493" cy="11430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21" name="">
            <a:extLst>
              <a:ext uri="{FF2B5EF4-FFF2-40B4-BE49-F238E27FC236}">
                <ns2:creationId id="{358AA994-D779-43A4-A949-615484F15A92}"/>
              </a:ext>
            </a:extLst>
          </p:cNvPr>
          <p:cNvSpPr>
            <a:spLocks noGrp="1"/>
          </p:cNvSpPr>
          <p:nvPr/>
        </p:nvSpPr>
        <p:spPr>
          <a:xfrm>
            <a:off x="6562725" y="414337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77.4</a:t>
            </a:r>
          </a:p>
        </p:txBody>
      </p:sp>
      <p:sp>
        <p:nvSpPr>
          <p:cNvPr id="22" name="">
            <a:extLst>
              <a:ext uri="{FF2B5EF4-FFF2-40B4-BE49-F238E27FC236}">
                <ns2:creationId id="{729F9146-5F68-452C-A351-887899E5747D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Category breadth</a:t>
            </a:r>
          </a:p>
        </p:txBody>
      </p:sp>
      <p:sp>
        <p:nvSpPr>
          <p:cNvPr id="23" name="">
            <a:extLst>
              <a:ext uri="{FF2B5EF4-FFF2-40B4-BE49-F238E27FC236}">
                <ns2:creationId id="{C97FD40C-0613-46C3-A071-3D4D783FBBA9}"/>
              </a:ext>
            </a:extLst>
          </p:cNvPr>
          <p:cNvSpPr>
            <a:spLocks noGrp="1"/>
          </p:cNvSpPr>
          <p:nvPr/>
        </p:nvSpPr>
        <p:spPr>
          <a:xfrm>
            <a:off x="2847975" y="4543425"/>
            <a:ext cx="361950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4" name="">
            <a:extLst>
              <a:ext uri="{FF2B5EF4-FFF2-40B4-BE49-F238E27FC236}">
                <ns2:creationId id="{E469BD91-1B1F-4FC1-B03E-B571CBFB72EB}"/>
              </a:ext>
            </a:extLst>
          </p:cNvPr>
          <p:cNvSpPr>
            <a:spLocks noGrp="1"/>
          </p:cNvSpPr>
          <p:nvPr/>
        </p:nvSpPr>
        <p:spPr>
          <a:xfrm>
            <a:off x="2847975" y="4543425"/>
            <a:ext cx="2598801" cy="11430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25" name="">
            <a:extLst>
              <a:ext uri="{FF2B5EF4-FFF2-40B4-BE49-F238E27FC236}">
                <ns2:creationId id="{E06E6B60-05A4-4CB2-B16B-4B286E494885}"/>
              </a:ext>
            </a:extLst>
          </p:cNvPr>
          <p:cNvSpPr>
            <a:spLocks noGrp="1"/>
          </p:cNvSpPr>
          <p:nvPr/>
        </p:nvSpPr>
        <p:spPr>
          <a:xfrm>
            <a:off x="6562725" y="448627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71.8</a:t>
            </a:r>
          </a:p>
        </p:txBody>
      </p:sp>
      <p:sp>
        <p:nvSpPr>
          <p:cNvPr id="26" name="">
            <a:extLst>
              <a:ext uri="{FF2B5EF4-FFF2-40B4-BE49-F238E27FC236}">
                <ns2:creationId id="{DEFDB2BB-0DFB-4F07-B726-B663A56D6E00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Recent growth</a:t>
            </a:r>
          </a:p>
        </p:txBody>
      </p:sp>
      <p:sp>
        <p:nvSpPr>
          <p:cNvPr id="27" name="">
            <a:extLst>
              <a:ext uri="{FF2B5EF4-FFF2-40B4-BE49-F238E27FC236}">
                <ns2:creationId id="{3469FC24-F04B-4FCF-AC44-195C0BE24653}"/>
              </a:ext>
            </a:extLst>
          </p:cNvPr>
          <p:cNvSpPr>
            <a:spLocks noGrp="1"/>
          </p:cNvSpPr>
          <p:nvPr/>
        </p:nvSpPr>
        <p:spPr>
          <a:xfrm>
            <a:off x="2847975" y="4886325"/>
            <a:ext cx="361950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8" name="">
            <a:extLst>
              <a:ext uri="{FF2B5EF4-FFF2-40B4-BE49-F238E27FC236}">
                <ns2:creationId id="{C112C46E-6E7D-4E6F-BDCB-67EC7083B3EE}"/>
              </a:ext>
            </a:extLst>
          </p:cNvPr>
          <p:cNvSpPr>
            <a:spLocks noGrp="1"/>
          </p:cNvSpPr>
          <p:nvPr/>
        </p:nvSpPr>
        <p:spPr>
          <a:xfrm>
            <a:off x="2847975" y="4886325"/>
            <a:ext cx="2160842" cy="11430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29" name="">
            <a:extLst>
              <a:ext uri="{FF2B5EF4-FFF2-40B4-BE49-F238E27FC236}">
                <ns2:creationId id="{CFDC10EA-D777-430A-BFE4-0A9C988BDD46}"/>
              </a:ext>
            </a:extLst>
          </p:cNvPr>
          <p:cNvSpPr>
            <a:spLocks noGrp="1"/>
          </p:cNvSpPr>
          <p:nvPr/>
        </p:nvSpPr>
        <p:spPr>
          <a:xfrm>
            <a:off x="6562725" y="482917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59.7</a:t>
            </a:r>
          </a:p>
        </p:txBody>
      </p:sp>
      <p:sp>
        <p:nvSpPr>
          <p:cNvPr id="30" name="">
            <a:extLst>
              <a:ext uri="{FF2B5EF4-FFF2-40B4-BE49-F238E27FC236}">
                <ns2:creationId id="{252A0759-7783-400A-93C0-7B2C1FDD39EC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Fee-rank breadth</a:t>
            </a:r>
          </a:p>
        </p:txBody>
      </p:sp>
      <p:sp>
        <p:nvSpPr>
          <p:cNvPr id="31" name="">
            <a:extLst>
              <a:ext uri="{FF2B5EF4-FFF2-40B4-BE49-F238E27FC236}">
                <ns2:creationId id="{80755B04-6A5D-4DBC-B824-0969E1B05BCC}"/>
              </a:ext>
            </a:extLst>
          </p:cNvPr>
          <p:cNvSpPr>
            <a:spLocks noGrp="1"/>
          </p:cNvSpPr>
          <p:nvPr/>
        </p:nvSpPr>
        <p:spPr>
          <a:xfrm>
            <a:off x="2847975" y="5362575"/>
            <a:ext cx="361950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32" name="">
            <a:extLst>
              <a:ext uri="{FF2B5EF4-FFF2-40B4-BE49-F238E27FC236}">
                <ns2:creationId id="{67AC3AE9-2F88-467E-992E-CDA26E2743ED}"/>
              </a:ext>
            </a:extLst>
          </p:cNvPr>
          <p:cNvSpPr>
            <a:spLocks noGrp="1"/>
          </p:cNvSpPr>
          <p:nvPr/>
        </p:nvSpPr>
        <p:spPr>
          <a:xfrm>
            <a:off x="2847975" y="5362575"/>
            <a:ext cx="1882140" cy="114300"/>
          </a:xfrm>
          <a:prstGeom prst="rect">
            <a:avLst/>
          </a:prstGeom>
          <a:ln w="9525">
            <a:solidFill>
              <a:srgbClr val="777777"/>
            </a:solidFill>
          </a:ln>
        </p:spPr>
      </p:sp>
      <p:sp>
        <p:nvSpPr>
          <p:cNvPr id="33" name="">
            <a:extLst>
              <a:ext uri="{FF2B5EF4-FFF2-40B4-BE49-F238E27FC236}">
                <ns2:creationId id="{3412EB5D-A54E-443E-ABA2-EFE893071CC1}"/>
              </a:ext>
            </a:extLst>
          </p:cNvPr>
          <p:cNvSpPr>
            <a:spLocks noGrp="1"/>
          </p:cNvSpPr>
          <p:nvPr/>
        </p:nvSpPr>
        <p:spPr>
          <a:xfrm>
            <a:off x="6562725" y="530542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52.0</a:t>
            </a:r>
          </a:p>
        </p:txBody>
      </p:sp>
      <p:sp>
        <p:nvSpPr>
          <p:cNvPr id="34" name="">
            <a:extLst>
              <a:ext uri="{FF2B5EF4-FFF2-40B4-BE49-F238E27FC236}">
                <ns2:creationId id="{87DDAAB3-DC40-4BF5-9BDB-A24DEB95818E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Fee-rank growth</a:t>
            </a:r>
          </a:p>
        </p:txBody>
      </p:sp>
      <p:sp>
        <p:nvSpPr>
          <p:cNvPr id="35" name="">
            <a:extLst>
              <a:ext uri="{FF2B5EF4-FFF2-40B4-BE49-F238E27FC236}">
                <ns2:creationId id="{599685FA-28D6-415E-9143-C0FF5161BB33}"/>
              </a:ext>
            </a:extLst>
          </p:cNvPr>
          <p:cNvSpPr>
            <a:spLocks noGrp="1"/>
          </p:cNvSpPr>
          <p:nvPr/>
        </p:nvSpPr>
        <p:spPr>
          <a:xfrm>
            <a:off x="2847975" y="5705475"/>
            <a:ext cx="361950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36" name="">
            <a:extLst>
              <a:ext uri="{FF2B5EF4-FFF2-40B4-BE49-F238E27FC236}">
                <ns2:creationId id="{9EDEB8B9-8FFE-4CE5-9AA6-549976DE934D}"/>
              </a:ext>
            </a:extLst>
          </p:cNvPr>
          <p:cNvSpPr>
            <a:spLocks noGrp="1"/>
          </p:cNvSpPr>
          <p:nvPr/>
        </p:nvSpPr>
        <p:spPr>
          <a:xfrm>
            <a:off x="2847975" y="5705475"/>
            <a:ext cx="1639633" cy="114300"/>
          </a:xfrm>
          <a:prstGeom prst="rect">
            <a:avLst/>
          </a:prstGeom>
          <a:ln w="9525">
            <a:solidFill>
              <a:srgbClr val="777777"/>
            </a:solidFill>
          </a:ln>
        </p:spPr>
      </p:sp>
      <p:sp>
        <p:nvSpPr>
          <p:cNvPr id="37" name="">
            <a:extLst>
              <a:ext uri="{FF2B5EF4-FFF2-40B4-BE49-F238E27FC236}">
                <ns2:creationId id="{4C879B92-3976-4086-B715-762D923A8793}"/>
              </a:ext>
            </a:extLst>
          </p:cNvPr>
          <p:cNvSpPr>
            <a:spLocks noGrp="1"/>
          </p:cNvSpPr>
          <p:nvPr/>
        </p:nvSpPr>
        <p:spPr>
          <a:xfrm>
            <a:off x="6562725" y="564832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45.3</a:t>
            </a:r>
          </a:p>
        </p:txBody>
      </p:sp>
      <p:sp>
        <p:nvSpPr>
          <p:cNvPr id="38" name="">
            <a:extLst>
              <a:ext uri="{FF2B5EF4-FFF2-40B4-BE49-F238E27FC236}">
                <ns2:creationId id="{9329FF66-037E-41B1-BE44-F64261FEFE82}"/>
              </a:ext>
            </a:extLst>
          </p:cNvPr>
          <p:cNvSpPr>
            <a:spLocks noGrp="1"/>
          </p:cNvSpPr>
          <p:nvPr/>
        </p:nvSpPr>
        <p:spPr>
          <a:xfrm>
            <a:off x="7429500" y="3752850"/>
            <a:ext cx="3429000" cy="14859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39" name="">
            <a:extLst>
              <a:ext uri="{FF2B5EF4-FFF2-40B4-BE49-F238E27FC236}">
                <ns2:creationId id="{A368A92E-37E7-4379-AF70-47829A4DF720}"/>
              </a:ext>
            </a:extLst>
          </p:cNvPr>
          <p:cNvSpPr>
            <a:spLocks noGrp="1"/>
          </p:cNvSpPr>
          <p:nvPr/>
        </p:nvSpPr>
        <p:spPr>
          <a:xfrm>
            <a:off x="7658100" y="3981450"/>
            <a:ext cx="2095500" cy="247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40" name="">
            <a:extLst>
              <a:ext uri="{FF2B5EF4-FFF2-40B4-BE49-F238E27FC236}">
                <ns2:creationId id="{F41E4668-8E1A-4944-912E-17D639C312DD}"/>
              </a:ext>
            </a:extLst>
          </p:cNvPr>
          <p:cNvSpPr>
            <a:spLocks noGrp="1"/>
          </p:cNvSpPr>
          <p:nvPr/>
        </p:nvSpPr>
        <p:spPr>
          <a:xfrm>
            <a:off x="7658100" y="4400550"/>
            <a:ext cx="2857500" cy="685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The call list should favor sellers with recent need, repeated activity, paid-product adoption, category breadth, and momentum. Fee-only rank overweights historic spend and misses readiness.</a:t>
            </a:r>
          </a:p>
        </p:txBody>
      </p:sp>
    </p:spTree>
    <p:extLst>
      <p:ext uri="{BB962C8B-B14F-4D97-AF65-F5344CB8AC3E}">
        <ns3:creationId val="1647450058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6708A581-027A-4A9C-A236-674D40CFA7EB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0F1C4C64-B126-4BEC-86E6-14D305D0D64A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3" name="">
            <a:extLst>
              <a:ext uri="{FF2B5EF4-FFF2-40B4-BE49-F238E27FC236}">
                <ns2:creationId id="{B5357D23-2F26-4C50-94E2-C1688CE5946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>
              <a:ext uri="{FF2B5EF4-FFF2-40B4-BE49-F238E27FC236}">
                <ns2:creationId id="{32C2CB32-060A-4655-BED4-56A086FD16BF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90500" cy="1905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5" name="">
            <a:extLst>
              <a:ext uri="{FF2B5EF4-FFF2-40B4-BE49-F238E27FC236}">
                <ns2:creationId id="{6E8A349F-7637-4998-8E86-FD8F1F93E691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4000500" cy="209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BUNDLE POSITIONING</a:t>
            </a:r>
          </a:p>
        </p:txBody>
      </p:sp>
      <p:sp>
        <p:nvSpPr>
          <p:cNvPr id="6" name="">
            <a:extLst>
              <a:ext uri="{FF2B5EF4-FFF2-40B4-BE49-F238E27FC236}">
                <ns2:creationId id="{5A65630A-8811-4B3A-A0CE-763904B1E39E}"/>
              </a:ext>
            </a:extLst>
          </p:cNvPr>
          <p:cNvSpPr>
            <a:spLocks noGrp="1"/>
          </p:cNvSpPr>
          <p:nvPr/>
        </p:nvSpPr>
        <p:spPr>
          <a:xfrm>
            <a:off x="457200" y="638175"/>
            <a:ext cx="9334500" cy="1066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Plus should go to sellers already buying visibility; Basic is the lower-friction path for active sellers.</a:t>
            </a:r>
          </a:p>
        </p:txBody>
      </p:sp>
      <p:sp>
        <p:nvSpPr>
          <p:cNvPr id="7" name="">
            <a:extLst>
              <a:ext uri="{FF2B5EF4-FFF2-40B4-BE49-F238E27FC236}">
                <ns2:creationId id="{4588BFA2-24B0-481C-8342-F791B7D9728C}"/>
              </a:ext>
            </a:extLst>
          </p:cNvPr>
          <p:cNvSpPr>
            <a:spLocks noGrp="1"/>
          </p:cNvSpPr>
          <p:nvPr/>
        </p:nvSpPr>
        <p:spPr>
          <a:xfrm>
            <a:off x="590550" y="2362200"/>
            <a:ext cx="1238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Offer</a:t>
            </a:r>
          </a:p>
        </p:txBody>
      </p:sp>
      <p:sp>
        <p:nvSpPr>
          <p:cNvPr id="8" name="">
            <a:extLst>
              <a:ext uri="{FF2B5EF4-FFF2-40B4-BE49-F238E27FC236}">
                <ns2:creationId id="{D0D922A1-E01D-4885-A0B4-3964BD4104E8}"/>
              </a:ext>
            </a:extLst>
          </p:cNvPr>
          <p:cNvSpPr>
            <a:spLocks noGrp="1"/>
          </p:cNvSpPr>
          <p:nvPr/>
        </p:nvSpPr>
        <p:spPr>
          <a:xfrm>
            <a:off x="1828800" y="2362200"/>
            <a:ext cx="1238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Sellers</a:t>
            </a:r>
          </a:p>
        </p:txBody>
      </p:sp>
      <p:sp>
        <p:nvSpPr>
          <p:cNvPr id="9" name="">
            <a:extLst>
              <a:ext uri="{FF2B5EF4-FFF2-40B4-BE49-F238E27FC236}">
                <ns2:creationId id="{470E50DB-74C7-46B1-8706-17EC2DBBB9B0}"/>
              </a:ext>
            </a:extLst>
          </p:cNvPr>
          <p:cNvSpPr>
            <a:spLocks noGrp="1"/>
          </p:cNvSpPr>
          <p:nvPr/>
        </p:nvSpPr>
        <p:spPr>
          <a:xfrm>
            <a:off x="3067050" y="2362200"/>
            <a:ext cx="147637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Total fees</a:t>
            </a:r>
          </a:p>
        </p:txBody>
      </p:sp>
      <p:sp>
        <p:nvSpPr>
          <p:cNvPr id="10" name="">
            <a:extLst>
              <a:ext uri="{FF2B5EF4-FFF2-40B4-BE49-F238E27FC236}">
                <ns2:creationId id="{CB6FC288-0320-4CED-AD2A-80C05D2821B8}"/>
              </a:ext>
            </a:extLst>
          </p:cNvPr>
          <p:cNvSpPr>
            <a:spLocks noGrp="1"/>
          </p:cNvSpPr>
          <p:nvPr/>
        </p:nvSpPr>
        <p:spPr>
          <a:xfrm>
            <a:off x="4543425" y="2362200"/>
            <a:ext cx="166687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Recent paid usage</a:t>
            </a:r>
          </a:p>
        </p:txBody>
      </p:sp>
      <p:sp>
        <p:nvSpPr>
          <p:cNvPr id="11" name="">
            <a:extLst>
              <a:ext uri="{FF2B5EF4-FFF2-40B4-BE49-F238E27FC236}">
                <ns2:creationId id="{053911B4-8564-4627-87D9-9FDFFDC1938B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166687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Paid visibility</a:t>
            </a:r>
          </a:p>
        </p:txBody>
      </p:sp>
      <p:sp>
        <p:nvSpPr>
          <p:cNvPr id="12" name="">
            <a:extLst>
              <a:ext uri="{FF2B5EF4-FFF2-40B4-BE49-F238E27FC236}">
                <ns2:creationId id="{0703B9CD-A15C-4C8A-BAB6-21A1D12BEB41}"/>
              </a:ext>
            </a:extLst>
          </p:cNvPr>
          <p:cNvSpPr>
            <a:spLocks noGrp="1"/>
          </p:cNvSpPr>
          <p:nvPr/>
        </p:nvSpPr>
        <p:spPr>
          <a:xfrm>
            <a:off x="7877175" y="2362200"/>
            <a:ext cx="36195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Positioning</a:t>
            </a:r>
          </a:p>
        </p:txBody>
      </p:sp>
      <p:sp>
        <p:nvSpPr>
          <p:cNvPr id="13" name="">
            <a:extLst>
              <a:ext uri="{FF2B5EF4-FFF2-40B4-BE49-F238E27FC236}">
                <ns2:creationId id="{7BD9AB90-18AB-4C49-AAFE-AD28F48AF28C}"/>
              </a:ext>
            </a:extLst>
          </p:cNvPr>
          <p:cNvSpPr>
            <a:spLocks noGrp="1"/>
          </p:cNvSpPr>
          <p:nvPr/>
        </p:nvSpPr>
        <p:spPr>
          <a:xfrm>
            <a:off x="590550" y="2705100"/>
            <a:ext cx="10906125" cy="9906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4" name="">
            <a:extLst>
              <a:ext uri="{FF2B5EF4-FFF2-40B4-BE49-F238E27FC236}">
                <ns2:creationId id="{437E421A-7964-4576-9A05-D445C56BA9F8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1009650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Basic</a:t>
            </a:r>
          </a:p>
        </p:txBody>
      </p:sp>
      <p:sp>
        <p:nvSpPr>
          <p:cNvPr id="15" name="">
            <a:extLst>
              <a:ext uri="{FF2B5EF4-FFF2-40B4-BE49-F238E27FC236}">
                <ns2:creationId id="{9AABE546-73AE-49D1-A6B9-B96E20CB5F71}"/>
              </a:ext>
            </a:extLst>
          </p:cNvPr>
          <p:cNvSpPr>
            <a:spLocks noGrp="1"/>
          </p:cNvSpPr>
          <p:nvPr/>
        </p:nvSpPr>
        <p:spPr>
          <a:xfrm>
            <a:off x="1943100" y="3028950"/>
            <a:ext cx="1009650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576</a:t>
            </a:r>
          </a:p>
        </p:txBody>
      </p:sp>
      <p:sp>
        <p:nvSpPr>
          <p:cNvPr id="16" name="">
            <a:extLst>
              <a:ext uri="{FF2B5EF4-FFF2-40B4-BE49-F238E27FC236}">
                <ns2:creationId id="{31494243-D383-4D92-A7A0-BBC9CBD10B2F}"/>
              </a:ext>
            </a:extLst>
          </p:cNvPr>
          <p:cNvSpPr>
            <a:spLocks noGrp="1"/>
          </p:cNvSpPr>
          <p:nvPr/>
        </p:nvSpPr>
        <p:spPr>
          <a:xfrm>
            <a:off x="3181350" y="3028950"/>
            <a:ext cx="1247775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EUR 254k</a:t>
            </a:r>
          </a:p>
        </p:txBody>
      </p:sp>
      <p:sp>
        <p:nvSpPr>
          <p:cNvPr id="17" name="">
            <a:extLst>
              <a:ext uri="{FF2B5EF4-FFF2-40B4-BE49-F238E27FC236}">
                <ns2:creationId id="{69B78D90-E2B1-4AD3-AD8A-7E0C706E9BF1}"/>
              </a:ext>
            </a:extLst>
          </p:cNvPr>
          <p:cNvSpPr>
            <a:spLocks noGrp="1"/>
          </p:cNvSpPr>
          <p:nvPr/>
        </p:nvSpPr>
        <p:spPr>
          <a:xfrm>
            <a:off x="4657725" y="3028950"/>
            <a:ext cx="1438275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159.8</a:t>
            </a:r>
          </a:p>
        </p:txBody>
      </p:sp>
      <p:sp>
        <p:nvSpPr>
          <p:cNvPr id="18" name="">
            <a:extLst>
              <a:ext uri="{FF2B5EF4-FFF2-40B4-BE49-F238E27FC236}">
                <ns2:creationId id="{1B57C5AD-0FFE-401A-9340-4EA53CDE274F}"/>
              </a:ext>
            </a:extLst>
          </p:cNvPr>
          <p:cNvSpPr>
            <a:spLocks noGrp="1"/>
          </p:cNvSpPr>
          <p:nvPr/>
        </p:nvSpPr>
        <p:spPr>
          <a:xfrm>
            <a:off x="6324600" y="3028950"/>
            <a:ext cx="1438275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47.6</a:t>
            </a:r>
          </a:p>
        </p:txBody>
      </p:sp>
      <p:sp>
        <p:nvSpPr>
          <p:cNvPr id="19" name="">
            <a:extLst>
              <a:ext uri="{FF2B5EF4-FFF2-40B4-BE49-F238E27FC236}">
                <ns2:creationId id="{FBD86FF9-FF41-4E70-9A26-1EBBCBE320E4}"/>
              </a:ext>
            </a:extLst>
          </p:cNvPr>
          <p:cNvSpPr>
            <a:spLocks noGrp="1"/>
          </p:cNvSpPr>
          <p:nvPr/>
        </p:nvSpPr>
        <p:spPr>
          <a:xfrm>
            <a:off x="7991475" y="2857500"/>
            <a:ext cx="3390900" cy="590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Active sellers with lower visibility usage; sell verified/professional page benefits first.</a:t>
            </a:r>
          </a:p>
        </p:txBody>
      </p:sp>
      <p:sp>
        <p:nvSpPr>
          <p:cNvPr id="20" name="">
            <a:extLst>
              <a:ext uri="{FF2B5EF4-FFF2-40B4-BE49-F238E27FC236}">
                <ns2:creationId id="{5D0EBBF3-E233-4EC6-BBB8-A6E95625DDDD}"/>
              </a:ext>
            </a:extLst>
          </p:cNvPr>
          <p:cNvSpPr>
            <a:spLocks noGrp="1"/>
          </p:cNvSpPr>
          <p:nvPr/>
        </p:nvSpPr>
        <p:spPr>
          <a:xfrm>
            <a:off x="590550" y="3962400"/>
            <a:ext cx="10906125" cy="9906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1" name="">
            <a:extLst>
              <a:ext uri="{FF2B5EF4-FFF2-40B4-BE49-F238E27FC236}">
                <ns2:creationId id="{74F05A6F-9E58-4390-B3AF-9ACE90C00683}"/>
              </a:ext>
            </a:extLst>
          </p:cNvPr>
          <p:cNvSpPr>
            <a:spLocks noGrp="1"/>
          </p:cNvSpPr>
          <p:nvPr/>
        </p:nvSpPr>
        <p:spPr>
          <a:xfrm>
            <a:off x="704850" y="4286250"/>
            <a:ext cx="1009650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4FB3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Plus</a:t>
            </a:r>
          </a:p>
        </p:txBody>
      </p:sp>
      <p:sp>
        <p:nvSpPr>
          <p:cNvPr id="22" name="">
            <a:extLst>
              <a:ext uri="{FF2B5EF4-FFF2-40B4-BE49-F238E27FC236}">
                <ns2:creationId id="{EAD4FBF8-C0BC-4059-A468-8E66DB40DACC}"/>
              </a:ext>
            </a:extLst>
          </p:cNvPr>
          <p:cNvSpPr>
            <a:spLocks noGrp="1"/>
          </p:cNvSpPr>
          <p:nvPr/>
        </p:nvSpPr>
        <p:spPr>
          <a:xfrm>
            <a:off x="1943100" y="4286250"/>
            <a:ext cx="1009650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384</a:t>
            </a:r>
          </a:p>
        </p:txBody>
      </p:sp>
      <p:sp>
        <p:nvSpPr>
          <p:cNvPr id="23" name="">
            <a:extLst>
              <a:ext uri="{FF2B5EF4-FFF2-40B4-BE49-F238E27FC236}">
                <ns2:creationId id="{77F6AFCC-1493-4415-9965-9462D6CD0CD3}"/>
              </a:ext>
            </a:extLst>
          </p:cNvPr>
          <p:cNvSpPr>
            <a:spLocks noGrp="1"/>
          </p:cNvSpPr>
          <p:nvPr/>
        </p:nvSpPr>
        <p:spPr>
          <a:xfrm>
            <a:off x="3181350" y="4286250"/>
            <a:ext cx="1247775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EUR 827k</a:t>
            </a:r>
          </a:p>
        </p:txBody>
      </p:sp>
      <p:sp>
        <p:nvSpPr>
          <p:cNvPr id="24" name="">
            <a:extLst>
              <a:ext uri="{FF2B5EF4-FFF2-40B4-BE49-F238E27FC236}">
                <ns2:creationId id="{09F9AC7A-82D7-45B3-8ECC-38882FB4A6EF}"/>
              </a:ext>
            </a:extLst>
          </p:cNvPr>
          <p:cNvSpPr>
            <a:spLocks noGrp="1"/>
          </p:cNvSpPr>
          <p:nvPr/>
        </p:nvSpPr>
        <p:spPr>
          <a:xfrm>
            <a:off x="4657725" y="4286250"/>
            <a:ext cx="1438275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712.3</a:t>
            </a:r>
          </a:p>
        </p:txBody>
      </p:sp>
      <p:sp>
        <p:nvSpPr>
          <p:cNvPr id="25" name="">
            <a:extLst>
              <a:ext uri="{FF2B5EF4-FFF2-40B4-BE49-F238E27FC236}">
                <ns2:creationId id="{9A58026F-CC06-43F6-9EF8-F0A53D9937E6}"/>
              </a:ext>
            </a:extLst>
          </p:cNvPr>
          <p:cNvSpPr>
            <a:spLocks noGrp="1"/>
          </p:cNvSpPr>
          <p:nvPr/>
        </p:nvSpPr>
        <p:spPr>
          <a:xfrm>
            <a:off x="6324600" y="4286250"/>
            <a:ext cx="1438275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431.3</a:t>
            </a:r>
          </a:p>
        </p:txBody>
      </p:sp>
      <p:sp>
        <p:nvSpPr>
          <p:cNvPr id="26" name="">
            <a:extLst>
              <a:ext uri="{FF2B5EF4-FFF2-40B4-BE49-F238E27FC236}">
                <ns2:creationId id="{E0C04974-F90F-464B-A242-942E3D724B3B}"/>
              </a:ext>
            </a:extLst>
          </p:cNvPr>
          <p:cNvSpPr>
            <a:spLocks noGrp="1"/>
          </p:cNvSpPr>
          <p:nvPr/>
        </p:nvSpPr>
        <p:spPr>
          <a:xfrm>
            <a:off x="7991475" y="4114800"/>
            <a:ext cx="3390900" cy="590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High paid visibility and multi-product users; sell incremental reach and storefront depth.</a:t>
            </a:r>
          </a:p>
        </p:txBody>
      </p:sp>
      <p:sp>
        <p:nvSpPr>
          <p:cNvPr id="27" name="">
            <a:extLst>
              <a:ext uri="{FF2B5EF4-FFF2-40B4-BE49-F238E27FC236}">
                <ns2:creationId id="{9C6AB8A8-F0F0-47AA-A59E-0C62DB01E7A7}"/>
              </a:ext>
            </a:extLst>
          </p:cNvPr>
          <p:cNvSpPr>
            <a:spLocks noGrp="1"/>
          </p:cNvSpPr>
          <p:nvPr/>
        </p:nvSpPr>
        <p:spPr>
          <a:xfrm>
            <a:off x="723900" y="5381625"/>
            <a:ext cx="39052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4FB3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3.8x</a:t>
            </a:r>
          </a:p>
        </p:txBody>
      </p:sp>
      <p:sp>
        <p:nvSpPr>
          <p:cNvPr id="28" name="">
            <a:extLst>
              <a:ext uri="{FF2B5EF4-FFF2-40B4-BE49-F238E27FC236}">
                <ns2:creationId id="{658691B9-D15A-4DF5-83C0-51889A1D9BA6}"/>
              </a:ext>
            </a:extLst>
          </p:cNvPr>
          <p:cNvSpPr>
            <a:spLocks noGrp="1"/>
          </p:cNvSpPr>
          <p:nvPr/>
        </p:nvSpPr>
        <p:spPr>
          <a:xfrm>
            <a:off x="723900" y="5800725"/>
            <a:ext cx="39052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Plus sellers have higher average recent paid usage than Basic sellers.</a:t>
            </a:r>
          </a:p>
        </p:txBody>
      </p:sp>
    </p:spTree>
    <p:extLst>
      <p:ext uri="{BB962C8B-B14F-4D97-AF65-F5344CB8AC3E}">
        <ns3:creationId val="881416971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2EB2E877-6068-44FF-B46C-511B8B94E378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3EB06866-6D86-49F5-A3DB-25F296B2EDCC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Sales Dashboard</a:t>
            </a:r>
          </a:p>
        </p:txBody>
      </p:sp>
      <p:sp>
        <p:nvSpPr>
          <p:cNvPr id="3" name="">
            <a:extLst>
              <a:ext uri="{FF2B5EF4-FFF2-40B4-BE49-F238E27FC236}">
                <ns2:creationId id="{01E31D86-0060-418A-A038-549C5B29A4B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>
              <a:ext uri="{FF2B5EF4-FFF2-40B4-BE49-F238E27FC236}">
                <ns2:creationId id="{94CAD0C1-9941-4896-A15D-1EAE55F61259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>
              <a:ext uri="{FF2B5EF4-FFF2-40B4-BE49-F238E27FC236}">
                <ns2:creationId id="{CE2CCF48-DD30-4CC1-98DE-A7953637CAFD}"/>
              </a:ext>
            </a:extLst>
          </p:cNvPr>
          <p:cNvSpPr>
            <a:spLocks noGrp="1"/>
          </p:cNvSpPr>
          <p:nvPr/>
        </p:nvSpPr>
        <p:spPr>
          <a:xfrm>
            <a:off x="1257300" y="1162050"/>
            <a:ext cx="74295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Sales Dashboard</a:t>
            </a:r>
          </a:p>
        </p:txBody>
      </p:sp>
      <p:sp>
        <p:nvSpPr>
          <p:cNvPr id="6" name="">
            <a:extLst>
              <a:ext uri="{FF2B5EF4-FFF2-40B4-BE49-F238E27FC236}">
                <ns2:creationId id="{79749D4C-9613-4458-8BB6-1D07A3DF5356}"/>
              </a:ext>
            </a:extLst>
          </p:cNvPr>
          <p:cNvSpPr>
            <a:spLocks noGrp="1"/>
          </p:cNvSpPr>
          <p:nvPr/>
        </p:nvSpPr>
        <p:spPr>
          <a:xfrm>
            <a:off x="1257300" y="361950"/>
            <a:ext cx="9429750" cy="7905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Monitor separates launch traction, paid conversion, and future impact proof.</a:t>
            </a:r>
          </a:p>
        </p:txBody>
      </p:sp>
      <p:sp>
        <p:nvSpPr>
          <p:cNvPr id="7" name="">
            <a:extLst>
              <a:ext uri="{FF2B5EF4-FFF2-40B4-BE49-F238E27FC236}">
                <ns2:creationId id="{C78820D0-710C-4740-A4C2-7C500279F1C3}"/>
              </a:ext>
            </a:extLst>
          </p:cNvPr>
          <p:cNvSpPr>
            <a:spLocks noGrp="1"/>
          </p:cNvSpPr>
          <p:nvPr/>
        </p:nvSpPr>
        <p:spPr>
          <a:xfrm>
            <a:off x="457200" y="3733800"/>
            <a:ext cx="81153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8" name="">
            <a:extLst>
              <a:ext uri="{FF2B5EF4-FFF2-40B4-BE49-F238E27FC236}">
                <ns2:creationId id="{3F3169FB-2158-4A41-BE81-3B630AF5F335}"/>
              </a:ext>
            </a:extLst>
          </p:cNvPr>
          <p:cNvSpPr>
            <a:spLocks noGrp="1"/>
          </p:cNvSpPr>
          <p:nvPr/>
        </p:nvSpPr>
        <p:spPr>
          <a:xfrm>
            <a:off x="495300" y="3981450"/>
            <a:ext cx="24765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4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Dashboard architecture</a:t>
            </a:r>
          </a:p>
        </p:txBody>
      </p:sp>
      <p:sp>
        <p:nvSpPr>
          <p:cNvPr id="9" name="">
            <a:extLst>
              <a:ext uri="{FF2B5EF4-FFF2-40B4-BE49-F238E27FC236}">
                <ns2:creationId id="{52EC16DD-5353-4DCC-8559-F76F8F219E3A}"/>
              </a:ext>
            </a:extLst>
          </p:cNvPr>
          <p:cNvSpPr>
            <a:spLocks noGrp="1"/>
          </p:cNvSpPr>
          <p:nvPr/>
        </p:nvSpPr>
        <p:spPr>
          <a:xfrm>
            <a:off x="495300" y="4467225"/>
            <a:ext cx="76200" cy="76200"/>
          </a:xfrm>
          <a:prstGeom prst="rect">
            <a:avLst/>
          </a:prstGeom>
          <a:ln w="9525">
            <a:solidFill>
              <a:srgbClr val="3DDC97"/>
            </a:solidFill>
          </a:ln>
        </p:spPr>
      </p:sp>
      <p:sp>
        <p:nvSpPr>
          <p:cNvPr id="10" name="">
            <a:extLst>
              <a:ext uri="{FF2B5EF4-FFF2-40B4-BE49-F238E27FC236}">
                <ns2:creationId id="{E4D0BA69-B9BA-46EF-AC68-27F3BA8514B2}"/>
              </a:ext>
            </a:extLst>
          </p:cNvPr>
          <p:cNvSpPr>
            <a:spLocks noGrp="1"/>
          </p:cNvSpPr>
          <p:nvPr/>
        </p:nvSpPr>
        <p:spPr>
          <a:xfrm>
            <a:off x="723900" y="4381500"/>
            <a:ext cx="96774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Sales overview: registrations, paid base, trial pipeline, modeled revenue, and Plus mix.</a:t>
            </a:r>
          </a:p>
        </p:txBody>
      </p:sp>
      <p:sp>
        <p:nvSpPr>
          <p:cNvPr id="11" name="">
            <a:extLst>
              <a:ext uri="{FF2B5EF4-FFF2-40B4-BE49-F238E27FC236}">
                <ns2:creationId id="{F0912657-347F-4C03-88A0-60F182DDE721}"/>
              </a:ext>
            </a:extLst>
          </p:cNvPr>
          <p:cNvSpPr>
            <a:spLocks noGrp="1"/>
          </p:cNvSpPr>
          <p:nvPr/>
        </p:nvSpPr>
        <p:spPr>
          <a:xfrm>
            <a:off x="495300" y="4867275"/>
            <a:ext cx="76200" cy="76200"/>
          </a:xfrm>
          <a:prstGeom prst="rect">
            <a:avLst/>
          </a:prstGeom>
          <a:ln w="9525">
            <a:solidFill>
              <a:srgbClr val="3DDC97"/>
            </a:solidFill>
          </a:ln>
        </p:spPr>
      </p:sp>
      <p:sp>
        <p:nvSpPr>
          <p:cNvPr id="12" name="">
            <a:extLst>
              <a:ext uri="{FF2B5EF4-FFF2-40B4-BE49-F238E27FC236}">
                <ns2:creationId id="{F5E3978C-7EF5-4BF3-912D-FFD6D0F3205E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96774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Customer quality: cohort health and segment diagnosis by customer type and first bundle.</a:t>
            </a:r>
          </a:p>
        </p:txBody>
      </p:sp>
      <p:sp>
        <p:nvSpPr>
          <p:cNvPr id="13" name="">
            <a:extLst>
              <a:ext uri="{FF2B5EF4-FFF2-40B4-BE49-F238E27FC236}">
                <ns2:creationId id="{2766001D-412E-4F87-B1C0-62E1C157B06D}"/>
              </a:ext>
            </a:extLst>
          </p:cNvPr>
          <p:cNvSpPr>
            <a:spLocks noGrp="1"/>
          </p:cNvSpPr>
          <p:nvPr/>
        </p:nvSpPr>
        <p:spPr>
          <a:xfrm>
            <a:off x="495300" y="5934075"/>
            <a:ext cx="76200" cy="76200"/>
          </a:xfrm>
          <a:prstGeom prst="rect">
            <a:avLst/>
          </a:prstGeom>
          <a:ln w="9525">
            <a:solidFill>
              <a:srgbClr val="3DDC97"/>
            </a:solidFill>
          </a:ln>
        </p:spPr>
      </p:sp>
      <p:sp>
        <p:nvSpPr>
          <p:cNvPr id="14" name="">
            <a:extLst>
              <a:ext uri="{FF2B5EF4-FFF2-40B4-BE49-F238E27FC236}">
                <ns2:creationId id="{CF513032-04F4-4618-9194-73A29B31FA98}"/>
              </a:ext>
            </a:extLst>
          </p:cNvPr>
          <p:cNvSpPr>
            <a:spLocks noGrp="1"/>
          </p:cNvSpPr>
          <p:nvPr/>
        </p:nvSpPr>
        <p:spPr>
          <a:xfrm>
            <a:off x="723900" y="5181600"/>
            <a:ext cx="96774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Business impact: placeholders for incrementality, seller value, sales steering, and guardrails.</a:t>
            </a:r>
          </a:p>
        </p:txBody>
      </p:sp>
    </p:spTree>
    <p:extLst>
      <p:ext uri="{BB962C8B-B14F-4D97-AF65-F5344CB8AC3E}">
        <ns3:creationId val="1788051063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6E39EED1-D7B2-43D8-9987-7AC1AFA185F8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53A5EB44-8E9D-43C1-9CC4-4D529ED1586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Sales Dashboard</a:t>
            </a:r>
          </a:p>
        </p:txBody>
      </p:sp>
      <p:sp>
        <p:nvSpPr>
          <p:cNvPr id="3" name="">
            <a:extLst>
              <a:ext uri="{FF2B5EF4-FFF2-40B4-BE49-F238E27FC236}">
                <ns2:creationId id="{A36A3E26-C814-4FA1-A421-588FD3B494B5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>
              <a:ext uri="{FF2B5EF4-FFF2-40B4-BE49-F238E27FC236}">
                <ns2:creationId id="{0E401CDF-5CD1-4B22-A8F2-9AA6D31CDC0B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90500" cy="19050"/>
          </a:xfrm>
          <a:prstGeom prst="rect">
            <a:avLst/>
          </a:prstGeom>
          <a:ln w="9525">
            <a:solidFill>
              <a:srgbClr val="3DDC97"/>
            </a:solidFill>
          </a:ln>
        </p:spPr>
      </p:sp>
      <p:sp>
        <p:nvSpPr>
          <p:cNvPr id="5" name="">
            <a:extLst>
              <a:ext uri="{FF2B5EF4-FFF2-40B4-BE49-F238E27FC236}">
                <ns2:creationId id="{0FB5743E-779E-468E-AB55-D349A5489B4E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4000500" cy="209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LAUNCH TRACTION</a:t>
            </a:r>
          </a:p>
        </p:txBody>
      </p:sp>
      <p:sp>
        <p:nvSpPr>
          <p:cNvPr id="6" name="">
            <a:extLst>
              <a:ext uri="{FF2B5EF4-FFF2-40B4-BE49-F238E27FC236}">
                <ns2:creationId id="{7A21DD06-7AF4-4644-A146-6AF98BFEFD5B}"/>
              </a:ext>
            </a:extLst>
          </p:cNvPr>
          <p:cNvSpPr>
            <a:spLocks noGrp="1"/>
          </p:cNvSpPr>
          <p:nvPr/>
        </p:nvSpPr>
        <p:spPr>
          <a:xfrm>
            <a:off x="457200" y="638175"/>
            <a:ext cx="9334500" cy="1066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By 2025-04-29, the bundle base is monetized and Plus is a material part of paid adoption.</a:t>
            </a:r>
          </a:p>
        </p:txBody>
      </p:sp>
      <p:sp>
        <p:nvSpPr>
          <p:cNvPr id="7" name="">
            <a:extLst>
              <a:ext uri="{FF2B5EF4-FFF2-40B4-BE49-F238E27FC236}">
                <ns2:creationId id="{F631BA94-1F99-4223-B025-D15E953755AB}"/>
              </a:ext>
            </a:extLst>
          </p:cNvPr>
          <p:cNvSpPr>
            <a:spLocks noGrp="1"/>
          </p:cNvSpPr>
          <p:nvPr/>
        </p:nvSpPr>
        <p:spPr>
          <a:xfrm>
            <a:off x="590550" y="2305050"/>
            <a:ext cx="2095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2,709</a:t>
            </a:r>
          </a:p>
        </p:txBody>
      </p:sp>
      <p:sp>
        <p:nvSpPr>
          <p:cNvPr id="8" name="">
            <a:extLst>
              <a:ext uri="{FF2B5EF4-FFF2-40B4-BE49-F238E27FC236}">
                <ns2:creationId id="{C31E62E0-70D4-41CB-BBE8-F4F6CB856A6F}"/>
              </a:ext>
            </a:extLst>
          </p:cNvPr>
          <p:cNvSpPr>
            <a:spLocks noGrp="1"/>
          </p:cNvSpPr>
          <p:nvPr/>
        </p:nvSpPr>
        <p:spPr>
          <a:xfrm>
            <a:off x="590550" y="2724150"/>
            <a:ext cx="2095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active paid sellers</a:t>
            </a:r>
          </a:p>
        </p:txBody>
      </p:sp>
      <p:sp>
        <p:nvSpPr>
          <p:cNvPr id="9" name="">
            <a:extLst>
              <a:ext uri="{FF2B5EF4-FFF2-40B4-BE49-F238E27FC236}">
                <ns2:creationId id="{95430210-CC2D-4671-99AC-22B208465E82}"/>
              </a:ext>
            </a:extLst>
          </p:cNvPr>
          <p:cNvSpPr>
            <a:spLocks noGrp="1"/>
          </p:cNvSpPr>
          <p:nvPr/>
        </p:nvSpPr>
        <p:spPr>
          <a:xfrm>
            <a:off x="3105150" y="2305050"/>
            <a:ext cx="2476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40.9%</a:t>
            </a:r>
          </a:p>
        </p:txBody>
      </p:sp>
      <p:sp>
        <p:nvSpPr>
          <p:cNvPr id="10" name="">
            <a:extLst>
              <a:ext uri="{FF2B5EF4-FFF2-40B4-BE49-F238E27FC236}">
                <ns2:creationId id="{273964E1-BD2A-4CFA-AAA5-3D26A860BB25}"/>
              </a:ext>
            </a:extLst>
          </p:cNvPr>
          <p:cNvSpPr>
            <a:spLocks noGrp="1"/>
          </p:cNvSpPr>
          <p:nvPr/>
        </p:nvSpPr>
        <p:spPr>
          <a:xfrm>
            <a:off x="3105150" y="2724150"/>
            <a:ext cx="2476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Plus share of active paid sellers</a:t>
            </a:r>
          </a:p>
        </p:txBody>
      </p:sp>
      <p:sp>
        <p:nvSpPr>
          <p:cNvPr id="11" name="">
            <a:extLst>
              <a:ext uri="{FF2B5EF4-FFF2-40B4-BE49-F238E27FC236}">
                <ns2:creationId id="{FC4C677D-7F92-4B66-9B9F-694220B7E404}"/>
              </a:ext>
            </a:extLst>
          </p:cNvPr>
          <p:cNvSpPr>
            <a:spLocks noGrp="1"/>
          </p:cNvSpPr>
          <p:nvPr/>
        </p:nvSpPr>
        <p:spPr>
          <a:xfrm>
            <a:off x="6038850" y="2305050"/>
            <a:ext cx="31432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EUR 88,323</a:t>
            </a:r>
          </a:p>
        </p:txBody>
      </p:sp>
      <p:sp>
        <p:nvSpPr>
          <p:cNvPr id="12" name="">
            <a:extLst>
              <a:ext uri="{FF2B5EF4-FFF2-40B4-BE49-F238E27FC236}">
                <ns2:creationId id="{3B33CFB3-7F95-43F5-A015-FC2F29CE8036}"/>
              </a:ext>
            </a:extLst>
          </p:cNvPr>
          <p:cNvSpPr>
            <a:spLocks noGrp="1"/>
          </p:cNvSpPr>
          <p:nvPr/>
        </p:nvSpPr>
        <p:spPr>
          <a:xfrm>
            <a:off x="6038850" y="2724150"/>
            <a:ext cx="31432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latest complete modeled 4-week revenue</a:t>
            </a:r>
          </a:p>
        </p:txBody>
      </p:sp>
      <p:sp>
        <p:nvSpPr>
          <p:cNvPr id="13" name="">
            <a:extLst>
              <a:ext uri="{FF2B5EF4-FFF2-40B4-BE49-F238E27FC236}">
                <ns2:creationId id="{09447831-DDF3-4FA5-8176-B537D92D3B8A}"/>
              </a:ext>
            </a:extLst>
          </p:cNvPr>
          <p:cNvSpPr>
            <a:spLocks noGrp="1"/>
          </p:cNvSpPr>
          <p:nvPr/>
        </p:nvSpPr>
        <p:spPr>
          <a:xfrm>
            <a:off x="9620250" y="2305050"/>
            <a:ext cx="1714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">
            <a:extLst>
              <a:ext uri="{FF2B5EF4-FFF2-40B4-BE49-F238E27FC236}">
                <ns2:creationId id="{FA4C3AF8-8D00-4F83-8E7C-D01C51181D45}"/>
              </a:ext>
            </a:extLst>
          </p:cNvPr>
          <p:cNvSpPr>
            <a:spLocks noGrp="1"/>
          </p:cNvSpPr>
          <p:nvPr/>
        </p:nvSpPr>
        <p:spPr>
          <a:xfrm>
            <a:off x="9620250" y="2724150"/>
            <a:ext cx="1714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active trial sellers at reference date</a:t>
            </a:r>
          </a:p>
        </p:txBody>
      </p:sp>
      <p:sp>
        <p:nvSpPr>
          <p:cNvPr id="15" name="">
            <a:extLst>
              <a:ext uri="{FF2B5EF4-FFF2-40B4-BE49-F238E27FC236}">
                <ns2:creationId id="{BEC9F1C6-BD43-4CE4-B722-BA8A75D941B5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228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Revenue caveat</a:t>
            </a:r>
          </a:p>
        </p:txBody>
      </p:sp>
      <p:sp>
        <p:nvSpPr>
          <p:cNvPr id="16" name="">
            <a:extLst>
              <a:ext uri="{FF2B5EF4-FFF2-40B4-BE49-F238E27FC236}">
                <ns2:creationId id="{E93EDDE7-0518-4C90-A914-4DF7FD45DC47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4762500" cy="762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Revenue is modeled from bundle intervals, list prices, free-trial timing, and switching assumptions. It is not actual invoiced or collected revenue.</a:t>
            </a:r>
          </a:p>
        </p:txBody>
      </p:sp>
      <p:sp>
        <p:nvSpPr>
          <p:cNvPr id="17" name="">
            <a:extLst>
              <a:ext uri="{FF2B5EF4-FFF2-40B4-BE49-F238E27FC236}">
                <ns2:creationId id="{41CAE3B5-B879-4123-AD78-9C34DA9A1B76}"/>
              </a:ext>
            </a:extLst>
          </p:cNvPr>
          <p:cNvSpPr>
            <a:spLocks noGrp="1"/>
          </p:cNvSpPr>
          <p:nvPr/>
        </p:nvSpPr>
        <p:spPr>
          <a:xfrm>
            <a:off x="6572250" y="3733800"/>
            <a:ext cx="4171950" cy="135255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8" name="">
            <a:extLst>
              <a:ext uri="{FF2B5EF4-FFF2-40B4-BE49-F238E27FC236}">
                <ns2:creationId id="{76011026-FEB3-44B5-9BE1-8ED4D622CCE0}"/>
              </a:ext>
            </a:extLst>
          </p:cNvPr>
          <p:cNvSpPr>
            <a:spLocks noGrp="1"/>
          </p:cNvSpPr>
          <p:nvPr/>
        </p:nvSpPr>
        <p:spPr>
          <a:xfrm>
            <a:off x="6819900" y="3943350"/>
            <a:ext cx="2286000" cy="247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Current adoption mix</a:t>
            </a:r>
          </a:p>
        </p:txBody>
      </p:sp>
      <p:sp>
        <p:nvSpPr>
          <p:cNvPr id="19" name="">
            <a:extLst>
              <a:ext uri="{FF2B5EF4-FFF2-40B4-BE49-F238E27FC236}">
                <ns2:creationId id="{1A10D74E-FBFB-441D-A2A4-1286B8335930}"/>
              </a:ext>
            </a:extLst>
          </p:cNvPr>
          <p:cNvSpPr>
            <a:spLocks noGrp="1"/>
          </p:cNvSpPr>
          <p:nvPr/>
        </p:nvSpPr>
        <p:spPr>
          <a:xfrm>
            <a:off x="6819900" y="443865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Plus paid share</a:t>
            </a:r>
          </a:p>
        </p:txBody>
      </p:sp>
      <p:sp>
        <p:nvSpPr>
          <p:cNvPr id="20" name="">
            <a:extLst>
              <a:ext uri="{FF2B5EF4-FFF2-40B4-BE49-F238E27FC236}">
                <ns2:creationId id="{B5FBF7F9-5366-4498-A0AF-BC5E97506191}"/>
              </a:ext>
            </a:extLst>
          </p:cNvPr>
          <p:cNvSpPr>
            <a:spLocks noGrp="1"/>
          </p:cNvSpPr>
          <p:nvPr/>
        </p:nvSpPr>
        <p:spPr>
          <a:xfrm>
            <a:off x="9058275" y="4486275"/>
            <a:ext cx="200025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1" name="">
            <a:extLst>
              <a:ext uri="{FF2B5EF4-FFF2-40B4-BE49-F238E27FC236}">
                <ns2:creationId id="{FBB251DD-0F6D-4C79-A838-6479B8D6AC3A}"/>
              </a:ext>
            </a:extLst>
          </p:cNvPr>
          <p:cNvSpPr>
            <a:spLocks noGrp="1"/>
          </p:cNvSpPr>
          <p:nvPr/>
        </p:nvSpPr>
        <p:spPr>
          <a:xfrm>
            <a:off x="9058275" y="4486275"/>
            <a:ext cx="818102" cy="114300"/>
          </a:xfrm>
          <a:prstGeom prst="rect">
            <a:avLst/>
          </a:prstGeom>
          <a:ln w="9525">
            <a:solidFill>
              <a:srgbClr val="3DDC97"/>
            </a:solidFill>
          </a:ln>
        </p:spPr>
      </p:sp>
      <p:sp>
        <p:nvSpPr>
          <p:cNvPr id="22" name="">
            <a:extLst>
              <a:ext uri="{FF2B5EF4-FFF2-40B4-BE49-F238E27FC236}">
                <ns2:creationId id="{792DDCAA-4766-46E3-96CC-57C3C3D011B8}"/>
              </a:ext>
            </a:extLst>
          </p:cNvPr>
          <p:cNvSpPr>
            <a:spLocks noGrp="1"/>
          </p:cNvSpPr>
          <p:nvPr/>
        </p:nvSpPr>
        <p:spPr>
          <a:xfrm>
            <a:off x="11153775" y="442912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40.9%</a:t>
            </a:r>
          </a:p>
        </p:txBody>
      </p:sp>
      <p:sp>
        <p:nvSpPr>
          <p:cNvPr id="23" name="">
            <a:extLst>
              <a:ext uri="{FF2B5EF4-FFF2-40B4-BE49-F238E27FC236}">
                <ns2:creationId id="{B095F9E2-6E36-47FC-830B-F4A95F42AD27}"/>
              </a:ext>
            </a:extLst>
          </p:cNvPr>
          <p:cNvSpPr>
            <a:spLocks noGrp="1"/>
          </p:cNvSpPr>
          <p:nvPr/>
        </p:nvSpPr>
        <p:spPr>
          <a:xfrm>
            <a:off x="6819900" y="481965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Basic / other paid share</a:t>
            </a:r>
          </a:p>
        </p:txBody>
      </p:sp>
      <p:sp>
        <p:nvSpPr>
          <p:cNvPr id="24" name="">
            <a:extLst>
              <a:ext uri="{FF2B5EF4-FFF2-40B4-BE49-F238E27FC236}">
                <ns2:creationId id="{480026D7-B147-436E-A6A9-AC6CEF696AB7}"/>
              </a:ext>
            </a:extLst>
          </p:cNvPr>
          <p:cNvSpPr>
            <a:spLocks noGrp="1"/>
          </p:cNvSpPr>
          <p:nvPr/>
        </p:nvSpPr>
        <p:spPr>
          <a:xfrm>
            <a:off x="9058275" y="4867275"/>
            <a:ext cx="200025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5" name="">
            <a:extLst>
              <a:ext uri="{FF2B5EF4-FFF2-40B4-BE49-F238E27FC236}">
                <ns2:creationId id="{B97BA225-6C85-4B1D-BEBE-743B403666BB}"/>
              </a:ext>
            </a:extLst>
          </p:cNvPr>
          <p:cNvSpPr>
            <a:spLocks noGrp="1"/>
          </p:cNvSpPr>
          <p:nvPr/>
        </p:nvSpPr>
        <p:spPr>
          <a:xfrm>
            <a:off x="9058275" y="4867275"/>
            <a:ext cx="1182148" cy="114300"/>
          </a:xfrm>
          <a:prstGeom prst="rect">
            <a:avLst/>
          </a:prstGeom>
          <a:ln w="9525">
            <a:solidFill>
              <a:srgbClr val="777777"/>
            </a:solidFill>
          </a:ln>
        </p:spPr>
      </p:sp>
      <p:sp>
        <p:nvSpPr>
          <p:cNvPr id="26" name="">
            <a:extLst>
              <a:ext uri="{FF2B5EF4-FFF2-40B4-BE49-F238E27FC236}">
                <ns2:creationId id="{B527090A-1113-466B-9ED8-0442968E5907}"/>
              </a:ext>
            </a:extLst>
          </p:cNvPr>
          <p:cNvSpPr>
            <a:spLocks noGrp="1"/>
          </p:cNvSpPr>
          <p:nvPr/>
        </p:nvSpPr>
        <p:spPr>
          <a:xfrm>
            <a:off x="11153775" y="481012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59.1%</a:t>
            </a:r>
          </a:p>
        </p:txBody>
      </p:sp>
    </p:spTree>
    <p:extLst>
      <p:ext uri="{BB962C8B-B14F-4D97-AF65-F5344CB8AC3E}">
        <ns3:creationId val="145348525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99CBF261-0E8E-460E-892C-8F44F6410258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26756070-CF99-4CB3-9342-779C2062718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Sales Dashboard</a:t>
            </a:r>
          </a:p>
        </p:txBody>
      </p:sp>
      <p:sp>
        <p:nvSpPr>
          <p:cNvPr id="3" name="">
            <a:extLst>
              <a:ext uri="{FF2B5EF4-FFF2-40B4-BE49-F238E27FC236}">
                <ns2:creationId id="{62FFC49C-D61A-4A58-B7D1-12489ABBD5EE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>
              <a:ext uri="{FF2B5EF4-FFF2-40B4-BE49-F238E27FC236}">
                <ns2:creationId id="{AE0FA920-87A1-40A2-B49E-90E04E2AFC79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90500" cy="19050"/>
          </a:xfrm>
          <a:prstGeom prst="rect">
            <a:avLst/>
          </a:prstGeom>
          <a:ln w="9525">
            <a:solidFill>
              <a:srgbClr val="3DDC97"/>
            </a:solidFill>
          </a:ln>
        </p:spPr>
      </p:sp>
      <p:sp>
        <p:nvSpPr>
          <p:cNvPr id="5" name="">
            <a:extLst>
              <a:ext uri="{FF2B5EF4-FFF2-40B4-BE49-F238E27FC236}">
                <ns2:creationId id="{A74340D4-3DF5-4E30-A60E-910244EFCD89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4000500" cy="209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CUSTOMER QUALITY</a:t>
            </a:r>
          </a:p>
        </p:txBody>
      </p:sp>
      <p:sp>
        <p:nvSpPr>
          <p:cNvPr id="6" name="">
            <a:extLst>
              <a:ext uri="{FF2B5EF4-FFF2-40B4-BE49-F238E27FC236}">
                <ns2:creationId id="{018E351F-1CF9-470C-B584-D721E943D9E6}"/>
              </a:ext>
            </a:extLst>
          </p:cNvPr>
          <p:cNvSpPr>
            <a:spLocks noGrp="1"/>
          </p:cNvSpPr>
          <p:nvPr/>
        </p:nvSpPr>
        <p:spPr>
          <a:xfrm>
            <a:off x="457200" y="638175"/>
            <a:ext cx="9334500" cy="1066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Early paid conversion is consistently high, but the dashboard still needs incrementality data.</a:t>
            </a:r>
          </a:p>
        </p:txBody>
      </p:sp>
      <p:sp>
        <p:nvSpPr>
          <p:cNvPr id="7" name="">
            <a:extLst>
              <a:ext uri="{FF2B5EF4-FFF2-40B4-BE49-F238E27FC236}">
                <ns2:creationId id="{7FAA2DC9-41C8-49A5-8F6E-D32734885AC4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8763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8" name="">
            <a:extLst>
              <a:ext uri="{FF2B5EF4-FFF2-40B4-BE49-F238E27FC236}">
                <ns2:creationId id="{7B170CCF-EDE2-4D27-AACE-329B519855A4}"/>
              </a:ext>
            </a:extLst>
          </p:cNvPr>
          <p:cNvSpPr>
            <a:spLocks noGrp="1"/>
          </p:cNvSpPr>
          <p:nvPr/>
        </p:nvSpPr>
        <p:spPr>
          <a:xfrm>
            <a:off x="1485900" y="2343150"/>
            <a:ext cx="1619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First bundle</a:t>
            </a:r>
          </a:p>
        </p:txBody>
      </p:sp>
      <p:sp>
        <p:nvSpPr>
          <p:cNvPr id="9" name="">
            <a:extLst>
              <a:ext uri="{FF2B5EF4-FFF2-40B4-BE49-F238E27FC236}">
                <ns2:creationId id="{531C0F48-CB93-4A47-B6DD-F7B18720F331}"/>
              </a:ext>
            </a:extLst>
          </p:cNvPr>
          <p:cNvSpPr>
            <a:spLocks noGrp="1"/>
          </p:cNvSpPr>
          <p:nvPr/>
        </p:nvSpPr>
        <p:spPr>
          <a:xfrm>
            <a:off x="3105150" y="2343150"/>
            <a:ext cx="1619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Registrations</a:t>
            </a:r>
          </a:p>
        </p:txBody>
      </p:sp>
      <p:sp>
        <p:nvSpPr>
          <p:cNvPr id="10" name="">
            <a:extLst>
              <a:ext uri="{FF2B5EF4-FFF2-40B4-BE49-F238E27FC236}">
                <ns2:creationId id="{EACAD853-0501-4CA7-BD66-9489E833CF0A}"/>
              </a:ext>
            </a:extLst>
          </p:cNvPr>
          <p:cNvSpPr>
            <a:spLocks noGrp="1"/>
          </p:cNvSpPr>
          <p:nvPr/>
        </p:nvSpPr>
        <p:spPr>
          <a:xfrm>
            <a:off x="4724400" y="2343150"/>
            <a:ext cx="1381125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D28 paid</a:t>
            </a:r>
          </a:p>
        </p:txBody>
      </p:sp>
      <p:sp>
        <p:nvSpPr>
          <p:cNvPr id="11" name="">
            <a:extLst>
              <a:ext uri="{FF2B5EF4-FFF2-40B4-BE49-F238E27FC236}">
                <ns2:creationId id="{9ACECC91-AAF9-4D17-9AFB-3A601FFE0A6A}"/>
              </a:ext>
            </a:extLst>
          </p:cNvPr>
          <p:cNvSpPr>
            <a:spLocks noGrp="1"/>
          </p:cNvSpPr>
          <p:nvPr/>
        </p:nvSpPr>
        <p:spPr>
          <a:xfrm>
            <a:off x="6105525" y="2343150"/>
            <a:ext cx="1381125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Plus share</a:t>
            </a:r>
          </a:p>
        </p:txBody>
      </p:sp>
      <p:sp>
        <p:nvSpPr>
          <p:cNvPr id="12" name="">
            <a:extLst>
              <a:ext uri="{FF2B5EF4-FFF2-40B4-BE49-F238E27FC236}">
                <ns2:creationId id="{3561F51A-6FE5-4F9F-B725-6CD0BA64FCC7}"/>
              </a:ext>
            </a:extLst>
          </p:cNvPr>
          <p:cNvSpPr>
            <a:spLocks noGrp="1"/>
          </p:cNvSpPr>
          <p:nvPr/>
        </p:nvSpPr>
        <p:spPr>
          <a:xfrm>
            <a:off x="7486650" y="2343150"/>
            <a:ext cx="14287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Active paid</a:t>
            </a:r>
          </a:p>
        </p:txBody>
      </p:sp>
      <p:sp>
        <p:nvSpPr>
          <p:cNvPr id="13" name="">
            <a:extLst>
              <a:ext uri="{FF2B5EF4-FFF2-40B4-BE49-F238E27FC236}">
                <ns2:creationId id="{1992A340-DB35-4DD1-A958-2E70580F44C9}"/>
              </a:ext>
            </a:extLst>
          </p:cNvPr>
          <p:cNvSpPr>
            <a:spLocks noGrp="1"/>
          </p:cNvSpPr>
          <p:nvPr/>
        </p:nvSpPr>
        <p:spPr>
          <a:xfrm>
            <a:off x="552450" y="2686050"/>
            <a:ext cx="8667750" cy="4191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4" name="">
            <a:extLst>
              <a:ext uri="{FF2B5EF4-FFF2-40B4-BE49-F238E27FC236}">
                <ns2:creationId id="{AA22D604-D65A-46A7-9692-5C9B13D1E61F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876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15" name="">
            <a:extLst>
              <a:ext uri="{FF2B5EF4-FFF2-40B4-BE49-F238E27FC236}">
                <ns2:creationId id="{10E0C256-5BB3-43EE-BED3-2BDE48EDAD1E}"/>
              </a:ext>
            </a:extLst>
          </p:cNvPr>
          <p:cNvSpPr>
            <a:spLocks noGrp="1"/>
          </p:cNvSpPr>
          <p:nvPr/>
        </p:nvSpPr>
        <p:spPr>
          <a:xfrm>
            <a:off x="1485900" y="276225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Basic-first</a:t>
            </a:r>
          </a:p>
        </p:txBody>
      </p:sp>
      <p:sp>
        <p:nvSpPr>
          <p:cNvPr id="16" name="">
            <a:extLst>
              <a:ext uri="{FF2B5EF4-FFF2-40B4-BE49-F238E27FC236}">
                <ns2:creationId id="{427EBF61-A9AC-4982-AAE3-4334921A3B90}"/>
              </a:ext>
            </a:extLst>
          </p:cNvPr>
          <p:cNvSpPr>
            <a:spLocks noGrp="1"/>
          </p:cNvSpPr>
          <p:nvPr/>
        </p:nvSpPr>
        <p:spPr>
          <a:xfrm>
            <a:off x="3105150" y="276225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621</a:t>
            </a:r>
          </a:p>
        </p:txBody>
      </p:sp>
      <p:sp>
        <p:nvSpPr>
          <p:cNvPr id="17" name="">
            <a:extLst>
              <a:ext uri="{FF2B5EF4-FFF2-40B4-BE49-F238E27FC236}">
                <ns2:creationId id="{E15FE489-A370-45AF-A534-47B87B115C62}"/>
              </a:ext>
            </a:extLst>
          </p:cNvPr>
          <p:cNvSpPr>
            <a:spLocks noGrp="1"/>
          </p:cNvSpPr>
          <p:nvPr/>
        </p:nvSpPr>
        <p:spPr>
          <a:xfrm>
            <a:off x="4724400" y="276225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90.0%</a:t>
            </a:r>
          </a:p>
        </p:txBody>
      </p:sp>
      <p:sp>
        <p:nvSpPr>
          <p:cNvPr id="18" name="">
            <a:extLst>
              <a:ext uri="{FF2B5EF4-FFF2-40B4-BE49-F238E27FC236}">
                <ns2:creationId id="{28E4A92A-C187-43F9-8873-D419763469D3}"/>
              </a:ext>
            </a:extLst>
          </p:cNvPr>
          <p:cNvSpPr>
            <a:spLocks noGrp="1"/>
          </p:cNvSpPr>
          <p:nvPr/>
        </p:nvSpPr>
        <p:spPr>
          <a:xfrm>
            <a:off x="6105525" y="276225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22.2%</a:t>
            </a:r>
          </a:p>
        </p:txBody>
      </p:sp>
      <p:sp>
        <p:nvSpPr>
          <p:cNvPr id="19" name="">
            <a:extLst>
              <a:ext uri="{FF2B5EF4-FFF2-40B4-BE49-F238E27FC236}">
                <ns2:creationId id="{32D935B4-1B2E-4017-BD35-0B0367F79550}"/>
              </a:ext>
            </a:extLst>
          </p:cNvPr>
          <p:cNvSpPr>
            <a:spLocks noGrp="1"/>
          </p:cNvSpPr>
          <p:nvPr/>
        </p:nvSpPr>
        <p:spPr>
          <a:xfrm>
            <a:off x="7486650" y="2762250"/>
            <a:ext cx="14287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396</a:t>
            </a:r>
          </a:p>
        </p:txBody>
      </p:sp>
      <p:sp>
        <p:nvSpPr>
          <p:cNvPr id="20" name="">
            <a:extLst>
              <a:ext uri="{FF2B5EF4-FFF2-40B4-BE49-F238E27FC236}">
                <ns2:creationId id="{906D66E1-6B90-43B8-A501-01D0F3D4FA7C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8667750" cy="4191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1" name="">
            <a:extLst>
              <a:ext uri="{FF2B5EF4-FFF2-40B4-BE49-F238E27FC236}">
                <ns2:creationId id="{840F85EC-947C-4FBD-9287-3AC482EB8697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876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22" name="">
            <a:extLst>
              <a:ext uri="{FF2B5EF4-FFF2-40B4-BE49-F238E27FC236}">
                <ns2:creationId id="{831AF9C0-7738-4CF4-B1E2-08F58016B8B8}"/>
              </a:ext>
            </a:extLst>
          </p:cNvPr>
          <p:cNvSpPr>
            <a:spLocks noGrp="1"/>
          </p:cNvSpPr>
          <p:nvPr/>
        </p:nvSpPr>
        <p:spPr>
          <a:xfrm>
            <a:off x="1485900" y="331470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Plus-first</a:t>
            </a:r>
          </a:p>
        </p:txBody>
      </p:sp>
      <p:sp>
        <p:nvSpPr>
          <p:cNvPr id="23" name="">
            <a:extLst>
              <a:ext uri="{FF2B5EF4-FFF2-40B4-BE49-F238E27FC236}">
                <ns2:creationId id="{899194EB-6034-412C-BE0A-1962A03D7133}"/>
              </a:ext>
            </a:extLst>
          </p:cNvPr>
          <p:cNvSpPr>
            <a:spLocks noGrp="1"/>
          </p:cNvSpPr>
          <p:nvPr/>
        </p:nvSpPr>
        <p:spPr>
          <a:xfrm>
            <a:off x="3105150" y="331470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318</a:t>
            </a:r>
          </a:p>
        </p:txBody>
      </p:sp>
      <p:sp>
        <p:nvSpPr>
          <p:cNvPr id="24" name="">
            <a:extLst>
              <a:ext uri="{FF2B5EF4-FFF2-40B4-BE49-F238E27FC236}">
                <ns2:creationId id="{70171536-F2EF-422E-B59D-D28A878CA6AB}"/>
              </a:ext>
            </a:extLst>
          </p:cNvPr>
          <p:cNvSpPr>
            <a:spLocks noGrp="1"/>
          </p:cNvSpPr>
          <p:nvPr/>
        </p:nvSpPr>
        <p:spPr>
          <a:xfrm>
            <a:off x="4724400" y="331470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88.4%</a:t>
            </a:r>
          </a:p>
        </p:txBody>
      </p:sp>
      <p:sp>
        <p:nvSpPr>
          <p:cNvPr id="25" name="">
            <a:extLst>
              <a:ext uri="{FF2B5EF4-FFF2-40B4-BE49-F238E27FC236}">
                <ns2:creationId id="{4B2ED4E1-ABDC-41B0-875E-AF2ECD69B3C6}"/>
              </a:ext>
            </a:extLst>
          </p:cNvPr>
          <p:cNvSpPr>
            <a:spLocks noGrp="1"/>
          </p:cNvSpPr>
          <p:nvPr/>
        </p:nvSpPr>
        <p:spPr>
          <a:xfrm>
            <a:off x="6105525" y="331470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74.1%</a:t>
            </a:r>
          </a:p>
        </p:txBody>
      </p:sp>
      <p:sp>
        <p:nvSpPr>
          <p:cNvPr id="26" name="">
            <a:extLst>
              <a:ext uri="{FF2B5EF4-FFF2-40B4-BE49-F238E27FC236}">
                <ns2:creationId id="{FCD9C6A7-4782-4A7A-9446-F98AB2524C15}"/>
              </a:ext>
            </a:extLst>
          </p:cNvPr>
          <p:cNvSpPr>
            <a:spLocks noGrp="1"/>
          </p:cNvSpPr>
          <p:nvPr/>
        </p:nvSpPr>
        <p:spPr>
          <a:xfrm>
            <a:off x="7486650" y="3314700"/>
            <a:ext cx="14287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220</a:t>
            </a:r>
          </a:p>
        </p:txBody>
      </p:sp>
      <p:sp>
        <p:nvSpPr>
          <p:cNvPr id="27" name="">
            <a:extLst>
              <a:ext uri="{FF2B5EF4-FFF2-40B4-BE49-F238E27FC236}">
                <ns2:creationId id="{7CEE7027-E3B0-4B8C-B4CA-34E8EB3DFA48}"/>
              </a:ext>
            </a:extLst>
          </p:cNvPr>
          <p:cNvSpPr>
            <a:spLocks noGrp="1"/>
          </p:cNvSpPr>
          <p:nvPr/>
        </p:nvSpPr>
        <p:spPr>
          <a:xfrm>
            <a:off x="552450" y="3790950"/>
            <a:ext cx="8667750" cy="4191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8" name="">
            <a:extLst>
              <a:ext uri="{FF2B5EF4-FFF2-40B4-BE49-F238E27FC236}">
                <ns2:creationId id="{52C5F4E2-867B-4D61-97F4-5C7F8A9712C4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876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SYI</a:t>
            </a:r>
          </a:p>
        </p:txBody>
      </p:sp>
      <p:sp>
        <p:nvSpPr>
          <p:cNvPr id="29" name="">
            <a:extLst>
              <a:ext uri="{FF2B5EF4-FFF2-40B4-BE49-F238E27FC236}">
                <ns2:creationId id="{B5A20259-2DD3-43AF-9F68-699EB838F70E}"/>
              </a:ext>
            </a:extLst>
          </p:cNvPr>
          <p:cNvSpPr>
            <a:spLocks noGrp="1"/>
          </p:cNvSpPr>
          <p:nvPr/>
        </p:nvSpPr>
        <p:spPr>
          <a:xfrm>
            <a:off x="1485900" y="386715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Basic-first</a:t>
            </a:r>
          </a:p>
        </p:txBody>
      </p:sp>
      <p:sp>
        <p:nvSpPr>
          <p:cNvPr id="30" name="">
            <a:extLst>
              <a:ext uri="{FF2B5EF4-FFF2-40B4-BE49-F238E27FC236}">
                <ns2:creationId id="{B5EB3738-3CCA-4959-BC60-AEF0C27F10B5}"/>
              </a:ext>
            </a:extLst>
          </p:cNvPr>
          <p:cNvSpPr>
            <a:spLocks noGrp="1"/>
          </p:cNvSpPr>
          <p:nvPr/>
        </p:nvSpPr>
        <p:spPr>
          <a:xfrm>
            <a:off x="3105150" y="386715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2,170</a:t>
            </a:r>
          </a:p>
        </p:txBody>
      </p:sp>
      <p:sp>
        <p:nvSpPr>
          <p:cNvPr id="31" name="">
            <a:extLst>
              <a:ext uri="{FF2B5EF4-FFF2-40B4-BE49-F238E27FC236}">
                <ns2:creationId id="{EBFC9702-5DE6-4D51-9945-3BA331061DB1}"/>
              </a:ext>
            </a:extLst>
          </p:cNvPr>
          <p:cNvSpPr>
            <a:spLocks noGrp="1"/>
          </p:cNvSpPr>
          <p:nvPr/>
        </p:nvSpPr>
        <p:spPr>
          <a:xfrm>
            <a:off x="4724400" y="386715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89.2%</a:t>
            </a:r>
          </a:p>
        </p:txBody>
      </p:sp>
      <p:sp>
        <p:nvSpPr>
          <p:cNvPr id="32" name="">
            <a:extLst>
              <a:ext uri="{FF2B5EF4-FFF2-40B4-BE49-F238E27FC236}">
                <ns2:creationId id="{86C823CD-F66D-4226-B7BD-31B7C7780824}"/>
              </a:ext>
            </a:extLst>
          </p:cNvPr>
          <p:cNvSpPr>
            <a:spLocks noGrp="1"/>
          </p:cNvSpPr>
          <p:nvPr/>
        </p:nvSpPr>
        <p:spPr>
          <a:xfrm>
            <a:off x="6105525" y="386715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26.4%</a:t>
            </a:r>
          </a:p>
        </p:txBody>
      </p:sp>
      <p:sp>
        <p:nvSpPr>
          <p:cNvPr id="33" name="">
            <a:extLst>
              <a:ext uri="{FF2B5EF4-FFF2-40B4-BE49-F238E27FC236}">
                <ns2:creationId id="{5DBBB534-397B-461D-9673-B1863C53FD51}"/>
              </a:ext>
            </a:extLst>
          </p:cNvPr>
          <p:cNvSpPr>
            <a:spLocks noGrp="1"/>
          </p:cNvSpPr>
          <p:nvPr/>
        </p:nvSpPr>
        <p:spPr>
          <a:xfrm>
            <a:off x="7486650" y="3867150"/>
            <a:ext cx="14287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1,449</a:t>
            </a:r>
          </a:p>
        </p:txBody>
      </p:sp>
      <p:sp>
        <p:nvSpPr>
          <p:cNvPr id="34" name="">
            <a:extLst>
              <a:ext uri="{FF2B5EF4-FFF2-40B4-BE49-F238E27FC236}">
                <ns2:creationId id="{799940D7-5775-4EEC-8A56-3F2BF1AC8DF5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8667750" cy="4191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35" name="">
            <a:extLst>
              <a:ext uri="{FF2B5EF4-FFF2-40B4-BE49-F238E27FC236}">
                <ns2:creationId id="{ED9822DC-B18F-4820-8E4D-757524CE19E2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876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SYI</a:t>
            </a:r>
          </a:p>
        </p:txBody>
      </p:sp>
      <p:sp>
        <p:nvSpPr>
          <p:cNvPr id="36" name="">
            <a:extLst>
              <a:ext uri="{FF2B5EF4-FFF2-40B4-BE49-F238E27FC236}">
                <ns2:creationId id="{D7AD0FB9-8320-46F4-AC7C-BB31B20D1621}"/>
              </a:ext>
            </a:extLst>
          </p:cNvPr>
          <p:cNvSpPr>
            <a:spLocks noGrp="1"/>
          </p:cNvSpPr>
          <p:nvPr/>
        </p:nvSpPr>
        <p:spPr>
          <a:xfrm>
            <a:off x="1485900" y="441960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Plus-first</a:t>
            </a:r>
          </a:p>
        </p:txBody>
      </p:sp>
      <p:sp>
        <p:nvSpPr>
          <p:cNvPr id="37" name="">
            <a:extLst>
              <a:ext uri="{FF2B5EF4-FFF2-40B4-BE49-F238E27FC236}">
                <ns2:creationId id="{6F4958F9-D816-427C-8050-E15FF8D3BAEC}"/>
              </a:ext>
            </a:extLst>
          </p:cNvPr>
          <p:cNvSpPr>
            <a:spLocks noGrp="1"/>
          </p:cNvSpPr>
          <p:nvPr/>
        </p:nvSpPr>
        <p:spPr>
          <a:xfrm>
            <a:off x="3105150" y="441960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967</a:t>
            </a:r>
          </a:p>
        </p:txBody>
      </p:sp>
      <p:sp>
        <p:nvSpPr>
          <p:cNvPr id="38" name="">
            <a:extLst>
              <a:ext uri="{FF2B5EF4-FFF2-40B4-BE49-F238E27FC236}">
                <ns2:creationId id="{5BDFA86A-8095-4429-9F07-E99BDC7C9283}"/>
              </a:ext>
            </a:extLst>
          </p:cNvPr>
          <p:cNvSpPr>
            <a:spLocks noGrp="1"/>
          </p:cNvSpPr>
          <p:nvPr/>
        </p:nvSpPr>
        <p:spPr>
          <a:xfrm>
            <a:off x="4724400" y="441960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88.8%</a:t>
            </a:r>
          </a:p>
        </p:txBody>
      </p:sp>
      <p:sp>
        <p:nvSpPr>
          <p:cNvPr id="39" name="">
            <a:extLst>
              <a:ext uri="{FF2B5EF4-FFF2-40B4-BE49-F238E27FC236}">
                <ns2:creationId id="{7C04C3C6-0923-4AEB-A501-69D58A8F03E1}"/>
              </a:ext>
            </a:extLst>
          </p:cNvPr>
          <p:cNvSpPr>
            <a:spLocks noGrp="1"/>
          </p:cNvSpPr>
          <p:nvPr/>
        </p:nvSpPr>
        <p:spPr>
          <a:xfrm>
            <a:off x="6105525" y="441960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73.4%</a:t>
            </a:r>
          </a:p>
        </p:txBody>
      </p:sp>
      <p:sp>
        <p:nvSpPr>
          <p:cNvPr id="40" name="">
            <a:extLst>
              <a:ext uri="{FF2B5EF4-FFF2-40B4-BE49-F238E27FC236}">
                <ns2:creationId id="{803BBFAC-E339-4308-9984-CA1A830BCEB2}"/>
              </a:ext>
            </a:extLst>
          </p:cNvPr>
          <p:cNvSpPr>
            <a:spLocks noGrp="1"/>
          </p:cNvSpPr>
          <p:nvPr/>
        </p:nvSpPr>
        <p:spPr>
          <a:xfrm>
            <a:off x="7486650" y="4419600"/>
            <a:ext cx="14287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644</a:t>
            </a:r>
          </a:p>
        </p:txBody>
      </p:sp>
      <p:sp>
        <p:nvSpPr>
          <p:cNvPr id="41" name="">
            <a:extLst>
              <a:ext uri="{FF2B5EF4-FFF2-40B4-BE49-F238E27FC236}">
                <ns2:creationId id="{D6F125C9-CFA0-4690-90FB-AAD9AB69ACDC}"/>
              </a:ext>
            </a:extLst>
          </p:cNvPr>
          <p:cNvSpPr>
            <a:spLocks noGrp="1"/>
          </p:cNvSpPr>
          <p:nvPr/>
        </p:nvSpPr>
        <p:spPr>
          <a:xfrm>
            <a:off x="9639300" y="2571750"/>
            <a:ext cx="1619250" cy="20955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42" name="">
            <a:extLst>
              <a:ext uri="{FF2B5EF4-FFF2-40B4-BE49-F238E27FC236}">
                <ns2:creationId id="{CD8D68D1-71EB-4A60-8DBC-DE7D346CFCA7}"/>
              </a:ext>
            </a:extLst>
          </p:cNvPr>
          <p:cNvSpPr>
            <a:spLocks noGrp="1"/>
          </p:cNvSpPr>
          <p:nvPr/>
        </p:nvSpPr>
        <p:spPr>
          <a:xfrm>
            <a:off x="9810750" y="2800350"/>
            <a:ext cx="1238250" cy="4953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Missing to prove impact</a:t>
            </a:r>
          </a:p>
        </p:txBody>
      </p:sp>
      <p:sp>
        <p:nvSpPr>
          <p:cNvPr id="43" name="">
            <a:extLst>
              <a:ext uri="{FF2B5EF4-FFF2-40B4-BE49-F238E27FC236}">
                <ns2:creationId id="{DEB53C67-A33B-4E15-B719-E3E6B0FA23DF}"/>
              </a:ext>
            </a:extLst>
          </p:cNvPr>
          <p:cNvSpPr>
            <a:spLocks noGrp="1"/>
          </p:cNvSpPr>
          <p:nvPr/>
        </p:nvSpPr>
        <p:spPr>
          <a:xfrm>
            <a:off x="9810750" y="3505200"/>
            <a:ext cx="1200150" cy="1028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Invoices, matched non-adopters, seller outcomes, guardrail quality metrics, and category/seller-size steering data.</a:t>
            </a:r>
          </a:p>
        </p:txBody>
      </p:sp>
    </p:spTree>
    <p:extLst>
      <p:ext uri="{BB962C8B-B14F-4D97-AF65-F5344CB8AC3E}">
        <ns3:creationId val="654677130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0FE7CDAC-D946-4E39-8089-1D9D271E58B9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C59FD5A2-911C-40DE-A241-835340B1717A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</a:t>
            </a:r>
          </a:p>
        </p:txBody>
      </p:sp>
      <p:sp>
        <p:nvSpPr>
          <p:cNvPr id="3" name="">
            <a:extLst>
              <a:ext uri="{FF2B5EF4-FFF2-40B4-BE49-F238E27FC236}">
                <ns2:creationId id="{874A707E-E6F0-4182-8D3C-43CC23A17F1C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>
              <a:ext uri="{FF2B5EF4-FFF2-40B4-BE49-F238E27FC236}">
                <ns2:creationId id="{031093CB-B685-4FD7-A0DF-FE18CD133B9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>
              <a:ext uri="{FF2B5EF4-FFF2-40B4-BE49-F238E27FC236}">
                <ns2:creationId id="{D7CC42E7-71B4-4774-92A0-90E8FAC511A3}"/>
              </a:ext>
            </a:extLst>
          </p:cNvPr>
          <p:cNvSpPr>
            <a:spLocks noGrp="1"/>
          </p:cNvSpPr>
          <p:nvPr/>
        </p:nvSpPr>
        <p:spPr>
          <a:xfrm>
            <a:off x="1257300" y="1162050"/>
            <a:ext cx="74295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</a:t>
            </a:r>
          </a:p>
        </p:txBody>
      </p:sp>
      <p:sp>
        <p:nvSpPr>
          <p:cNvPr id="6" name="">
            <a:extLst>
              <a:ext uri="{FF2B5EF4-FFF2-40B4-BE49-F238E27FC236}">
                <ns2:creationId id="{7ED2E150-A736-479A-A5F7-770BA6131D2D}"/>
              </a:ext>
            </a:extLst>
          </p:cNvPr>
          <p:cNvSpPr>
            <a:spLocks noGrp="1"/>
          </p:cNvSpPr>
          <p:nvPr/>
        </p:nvSpPr>
        <p:spPr>
          <a:xfrm>
            <a:off x="1257300" y="361950"/>
            <a:ext cx="9429750" cy="7905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The campaign should target high-likelihood, high-readiness non-adopters.</a:t>
            </a:r>
          </a:p>
        </p:txBody>
      </p:sp>
      <p:sp>
        <p:nvSpPr>
          <p:cNvPr id="7" name="">
            <a:extLst>
              <a:ext uri="{FF2B5EF4-FFF2-40B4-BE49-F238E27FC236}">
                <ns2:creationId id="{DA83CB11-D861-4FD7-9808-961AE71C73AC}"/>
              </a:ext>
            </a:extLst>
          </p:cNvPr>
          <p:cNvSpPr>
            <a:spLocks noGrp="1"/>
          </p:cNvSpPr>
          <p:nvPr/>
        </p:nvSpPr>
        <p:spPr>
          <a:xfrm>
            <a:off x="457200" y="3733800"/>
            <a:ext cx="81153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8" name="">
            <a:extLst>
              <a:ext uri="{FF2B5EF4-FFF2-40B4-BE49-F238E27FC236}">
                <ns2:creationId id="{E10C1F51-C378-430F-BC73-936B6F11AB14}"/>
              </a:ext>
            </a:extLst>
          </p:cNvPr>
          <p:cNvSpPr>
            <a:spLocks noGrp="1"/>
          </p:cNvSpPr>
          <p:nvPr/>
        </p:nvSpPr>
        <p:spPr>
          <a:xfrm>
            <a:off x="495300" y="3981450"/>
            <a:ext cx="24765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4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Target definition</a:t>
            </a:r>
          </a:p>
        </p:txBody>
      </p:sp>
      <p:sp>
        <p:nvSpPr>
          <p:cNvPr id="9" name="">
            <a:extLst>
              <a:ext uri="{FF2B5EF4-FFF2-40B4-BE49-F238E27FC236}">
                <ns2:creationId id="{5081C9A7-237E-47B6-A7F3-F53A7AF89E25}"/>
              </a:ext>
            </a:extLst>
          </p:cNvPr>
          <p:cNvSpPr>
            <a:spLocks noGrp="1"/>
          </p:cNvSpPr>
          <p:nvPr/>
        </p:nvSpPr>
        <p:spPr>
          <a:xfrm>
            <a:off x="495300" y="4467225"/>
            <a:ext cx="76200" cy="76200"/>
          </a:xfrm>
          <a:prstGeom prst="rect">
            <a:avLst/>
          </a:prstGeom>
          <a:ln w="9525">
            <a:solidFill>
              <a:srgbClr val="FF7A59"/>
            </a:solidFill>
          </a:ln>
        </p:spPr>
      </p:sp>
      <p:sp>
        <p:nvSpPr>
          <p:cNvPr id="10" name="">
            <a:extLst>
              <a:ext uri="{FF2B5EF4-FFF2-40B4-BE49-F238E27FC236}">
                <ns2:creationId id="{2351A4A5-2E04-4568-B358-01FFF8B9DF48}"/>
              </a:ext>
            </a:extLst>
          </p:cNvPr>
          <p:cNvSpPr>
            <a:spLocks noGrp="1"/>
          </p:cNvSpPr>
          <p:nvPr/>
        </p:nvSpPr>
        <p:spPr>
          <a:xfrm>
            <a:off x="723900" y="4381500"/>
            <a:ext cx="96774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Active SMB sellers without a bundle.</a:t>
            </a:r>
          </a:p>
        </p:txBody>
      </p:sp>
      <p:sp>
        <p:nvSpPr>
          <p:cNvPr id="11" name="">
            <a:extLst>
              <a:ext uri="{FF2B5EF4-FFF2-40B4-BE49-F238E27FC236}">
                <ns2:creationId id="{1F930114-BA90-4148-B3D2-CA860C8D6184}"/>
              </a:ext>
            </a:extLst>
          </p:cNvPr>
          <p:cNvSpPr>
            <a:spLocks noGrp="1"/>
          </p:cNvSpPr>
          <p:nvPr/>
        </p:nvSpPr>
        <p:spPr>
          <a:xfrm>
            <a:off x="495300" y="4867275"/>
            <a:ext cx="76200" cy="76200"/>
          </a:xfrm>
          <a:prstGeom prst="rect">
            <a:avLst/>
          </a:prstGeom>
          <a:ln w="9525">
            <a:solidFill>
              <a:srgbClr val="FF7A59"/>
            </a:solidFill>
          </a:ln>
        </p:spPr>
      </p:sp>
      <p:sp>
        <p:nvSpPr>
          <p:cNvPr id="12" name="">
            <a:extLst>
              <a:ext uri="{FF2B5EF4-FFF2-40B4-BE49-F238E27FC236}">
                <ns2:creationId id="{E2E9068C-5354-45B6-81B0-815DEEDC629C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96774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First filter by high SMB likelihood from Identify.</a:t>
            </a:r>
          </a:p>
        </p:txBody>
      </p:sp>
      <p:sp>
        <p:nvSpPr>
          <p:cNvPr id="13" name="">
            <a:extLst>
              <a:ext uri="{FF2B5EF4-FFF2-40B4-BE49-F238E27FC236}">
                <ns2:creationId id="{7B671FDD-C79C-4663-A831-14DBA10DF319}"/>
              </a:ext>
            </a:extLst>
          </p:cNvPr>
          <p:cNvSpPr>
            <a:spLocks noGrp="1"/>
          </p:cNvSpPr>
          <p:nvPr/>
        </p:nvSpPr>
        <p:spPr>
          <a:xfrm>
            <a:off x="495300" y="5934075"/>
            <a:ext cx="76200" cy="76200"/>
          </a:xfrm>
          <a:prstGeom prst="rect">
            <a:avLst/>
          </a:prstGeom>
          <a:ln w="9525">
            <a:solidFill>
              <a:srgbClr val="FF7A59"/>
            </a:solidFill>
          </a:ln>
        </p:spPr>
      </p:sp>
      <p:sp>
        <p:nvSpPr>
          <p:cNvPr id="14" name="">
            <a:extLst>
              <a:ext uri="{FF2B5EF4-FFF2-40B4-BE49-F238E27FC236}">
                <ns2:creationId id="{6D80E1E6-7F73-4D7F-BFA6-F4A12E82BC47}"/>
              </a:ext>
            </a:extLst>
          </p:cNvPr>
          <p:cNvSpPr>
            <a:spLocks noGrp="1"/>
          </p:cNvSpPr>
          <p:nvPr/>
        </p:nvSpPr>
        <p:spPr>
          <a:xfrm>
            <a:off x="723900" y="5181600"/>
            <a:ext cx="96774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Use Prioritize readiness score, then adapt Basic vs Plus positioning.</a:t>
            </a:r>
          </a:p>
        </p:txBody>
      </p:sp>
    </p:spTree>
    <p:extLst>
      <p:ext uri="{BB962C8B-B14F-4D97-AF65-F5344CB8AC3E}">
        <ns3:creationId val="1113131483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49E2EDC2-10FD-4C87-B9D5-BA3FF8D6082A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4E3D2E17-A03A-468E-8E05-8E5D7136289A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</a:t>
            </a:r>
          </a:p>
        </p:txBody>
      </p:sp>
      <p:sp>
        <p:nvSpPr>
          <p:cNvPr id="3" name="">
            <a:extLst>
              <a:ext uri="{FF2B5EF4-FFF2-40B4-BE49-F238E27FC236}">
                <ns2:creationId id="{210366E1-031E-42DF-BD5B-A9FA43FF6B86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>
              <a:ext uri="{FF2B5EF4-FFF2-40B4-BE49-F238E27FC236}">
                <ns2:creationId id="{3DCE105F-582E-4E84-9F5B-2BA80971833C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90500" cy="19050"/>
          </a:xfrm>
          <a:prstGeom prst="rect">
            <a:avLst/>
          </a:prstGeom>
          <a:ln w="9525">
            <a:solidFill>
              <a:srgbClr val="FF7A59"/>
            </a:solidFill>
          </a:ln>
        </p:spPr>
      </p:sp>
      <p:sp>
        <p:nvSpPr>
          <p:cNvPr id="5" name="">
            <a:extLst>
              <a:ext uri="{FF2B5EF4-FFF2-40B4-BE49-F238E27FC236}">
                <ns2:creationId id="{C218E9A6-A6C7-4B88-8695-298FAFE709EF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4000500" cy="209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CAMPAIGN MECHANIC</a:t>
            </a:r>
          </a:p>
        </p:txBody>
      </p:sp>
      <p:sp>
        <p:nvSpPr>
          <p:cNvPr id="6" name="">
            <a:extLst>
              <a:ext uri="{FF2B5EF4-FFF2-40B4-BE49-F238E27FC236}">
                <ns2:creationId id="{ECEA9FDF-1E9B-4C9F-BDB5-7CDB4C86771C}"/>
              </a:ext>
            </a:extLst>
          </p:cNvPr>
          <p:cNvSpPr>
            <a:spLocks noGrp="1"/>
          </p:cNvSpPr>
          <p:nvPr/>
        </p:nvSpPr>
        <p:spPr>
          <a:xfrm>
            <a:off x="457200" y="638175"/>
            <a:ext cx="9334500" cy="1066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CRM and in-platform prompts cover the journey from seller intent to controlled adoption.</a:t>
            </a:r>
          </a:p>
        </p:txBody>
      </p:sp>
      <p:sp>
        <p:nvSpPr>
          <p:cNvPr id="7" name="">
            <a:extLst>
              <a:ext uri="{FF2B5EF4-FFF2-40B4-BE49-F238E27FC236}">
                <ns2:creationId id="{BADD5C60-4AB7-4976-88E7-DDF99E3CD787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2190750" cy="15240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8" name="">
            <a:extLst>
              <a:ext uri="{FF2B5EF4-FFF2-40B4-BE49-F238E27FC236}">
                <ns2:creationId id="{75665D95-6180-417A-8424-E38C676D8F49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1809750" cy="304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9" name="">
            <a:extLst>
              <a:ext uri="{FF2B5EF4-FFF2-40B4-BE49-F238E27FC236}">
                <ns2:creationId id="{703F576B-68E2-48E5-B880-BDCA951870AC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1809750" cy="590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Repeated listing, paid-feature use, competitive category, or buyer interest.</a:t>
            </a:r>
          </a:p>
        </p:txBody>
      </p:sp>
      <p:sp>
        <p:nvSpPr>
          <p:cNvPr id="10" name="">
            <a:extLst>
              <a:ext uri="{FF2B5EF4-FFF2-40B4-BE49-F238E27FC236}">
                <ns2:creationId id="{07790FF5-9256-4BFA-9B7C-24F93E2E84DA}"/>
              </a:ext>
            </a:extLst>
          </p:cNvPr>
          <p:cNvSpPr>
            <a:spLocks noGrp="1"/>
          </p:cNvSpPr>
          <p:nvPr/>
        </p:nvSpPr>
        <p:spPr>
          <a:xfrm>
            <a:off x="2819400" y="3390900"/>
            <a:ext cx="476250" cy="0"/>
          </a:xfrm>
          <a:prstGeom prst="line">
            <a:avLst/>
          </a:prstGeom>
          <a:ln w="19050">
            <a:solidFill>
              <a:srgbClr val="FF7A59"/>
            </a:solidFill>
          </a:ln>
        </p:spPr>
      </p:sp>
      <p:sp>
        <p:nvSpPr>
          <p:cNvPr id="11" name="">
            <a:extLst>
              <a:ext uri="{FF2B5EF4-FFF2-40B4-BE49-F238E27FC236}">
                <ns2:creationId id="{5C1F3A00-81FF-422D-920E-A42959B9C57A}"/>
              </a:ext>
            </a:extLst>
          </p:cNvPr>
          <p:cNvSpPr>
            <a:spLocks noGrp="1"/>
          </p:cNvSpPr>
          <p:nvPr/>
        </p:nvSpPr>
        <p:spPr>
          <a:xfrm>
            <a:off x="3390900" y="2628900"/>
            <a:ext cx="2190750" cy="15240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2" name="">
            <a:extLst>
              <a:ext uri="{FF2B5EF4-FFF2-40B4-BE49-F238E27FC236}">
                <ns2:creationId id="{E12BFD8E-D692-47A9-BED9-0F7C3394FBAF}"/>
              </a:ext>
            </a:extLst>
          </p:cNvPr>
          <p:cNvSpPr>
            <a:spLocks noGrp="1"/>
          </p:cNvSpPr>
          <p:nvPr/>
        </p:nvSpPr>
        <p:spPr>
          <a:xfrm>
            <a:off x="3562350" y="2876550"/>
            <a:ext cx="1809750" cy="304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Message</a:t>
            </a:r>
          </a:p>
        </p:txBody>
      </p:sp>
      <p:sp>
        <p:nvSpPr>
          <p:cNvPr id="13" name="">
            <a:extLst>
              <a:ext uri="{FF2B5EF4-FFF2-40B4-BE49-F238E27FC236}">
                <ns2:creationId id="{736F3300-DEBF-41F7-AB33-FC20AB2D8813}"/>
              </a:ext>
            </a:extLst>
          </p:cNvPr>
          <p:cNvSpPr>
            <a:spLocks noGrp="1"/>
          </p:cNvSpPr>
          <p:nvPr/>
        </p:nvSpPr>
        <p:spPr>
          <a:xfrm>
            <a:off x="3562350" y="3333750"/>
            <a:ext cx="1809750" cy="590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Position the bundle as visibility plus professional seller trust.</a:t>
            </a:r>
          </a:p>
        </p:txBody>
      </p:sp>
      <p:sp>
        <p:nvSpPr>
          <p:cNvPr id="14" name="">
            <a:extLst>
              <a:ext uri="{FF2B5EF4-FFF2-40B4-BE49-F238E27FC236}">
                <ns2:creationId id="{BCCB7496-B4AF-445C-8DE8-D78BD92B5136}"/>
              </a:ext>
            </a:extLst>
          </p:cNvPr>
          <p:cNvSpPr>
            <a:spLocks noGrp="1"/>
          </p:cNvSpPr>
          <p:nvPr/>
        </p:nvSpPr>
        <p:spPr>
          <a:xfrm>
            <a:off x="5600700" y="3390900"/>
            <a:ext cx="476250" cy="0"/>
          </a:xfrm>
          <a:prstGeom prst="line">
            <a:avLst/>
          </a:prstGeom>
          <a:ln w="19050">
            <a:solidFill>
              <a:srgbClr val="FF7A59"/>
            </a:solidFill>
          </a:ln>
        </p:spPr>
      </p:sp>
      <p:sp>
        <p:nvSpPr>
          <p:cNvPr id="15" name="">
            <a:extLst>
              <a:ext uri="{FF2B5EF4-FFF2-40B4-BE49-F238E27FC236}">
                <ns2:creationId id="{59B74BCF-366B-437A-AD6B-AC876CDCE7CD}"/>
              </a:ext>
            </a:extLst>
          </p:cNvPr>
          <p:cNvSpPr>
            <a:spLocks noGrp="1"/>
          </p:cNvSpPr>
          <p:nvPr/>
        </p:nvSpPr>
        <p:spPr>
          <a:xfrm>
            <a:off x="6172200" y="2628900"/>
            <a:ext cx="2190750" cy="15240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6" name="">
            <a:extLst>
              <a:ext uri="{FF2B5EF4-FFF2-40B4-BE49-F238E27FC236}">
                <ns2:creationId id="{CC30A3E8-F951-4EEE-BF57-9026C0BFBB74}"/>
              </a:ext>
            </a:extLst>
          </p:cNvPr>
          <p:cNvSpPr>
            <a:spLocks noGrp="1"/>
          </p:cNvSpPr>
          <p:nvPr/>
        </p:nvSpPr>
        <p:spPr>
          <a:xfrm>
            <a:off x="6343650" y="2876550"/>
            <a:ext cx="1809750" cy="304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7" name="">
            <a:extLst>
              <a:ext uri="{FF2B5EF4-FFF2-40B4-BE49-F238E27FC236}">
                <ns2:creationId id="{1A9E6EAF-5615-48D4-A9D0-40BF8EA612FE}"/>
              </a:ext>
            </a:extLst>
          </p:cNvPr>
          <p:cNvSpPr>
            <a:spLocks noGrp="1"/>
          </p:cNvSpPr>
          <p:nvPr/>
        </p:nvSpPr>
        <p:spPr>
          <a:xfrm>
            <a:off x="6343650" y="3333750"/>
            <a:ext cx="1809750" cy="590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 CRM plus seller dashboard, listing flow, listing management, and paid-feature purchase flow.</a:t>
            </a:r>
          </a:p>
        </p:txBody>
      </p:sp>
      <p:sp>
        <p:nvSpPr>
          <p:cNvPr id="18" name="">
            <a:extLst>
              <a:ext uri="{FF2B5EF4-FFF2-40B4-BE49-F238E27FC236}">
                <ns2:creationId id="{FD4CF4ED-4DF4-4817-A46D-6122AF1826FB}"/>
              </a:ext>
            </a:extLst>
          </p:cNvPr>
          <p:cNvSpPr>
            <a:spLocks noGrp="1"/>
          </p:cNvSpPr>
          <p:nvPr/>
        </p:nvSpPr>
        <p:spPr>
          <a:xfrm>
            <a:off x="8382000" y="3390900"/>
            <a:ext cx="476250" cy="0"/>
          </a:xfrm>
          <a:prstGeom prst="line">
            <a:avLst/>
          </a:prstGeom>
          <a:ln w="19050">
            <a:solidFill>
              <a:srgbClr val="FF7A59"/>
            </a:solidFill>
          </a:ln>
        </p:spPr>
      </p:sp>
      <p:sp>
        <p:nvSpPr>
          <p:cNvPr id="19" name="">
            <a:extLst>
              <a:ext uri="{FF2B5EF4-FFF2-40B4-BE49-F238E27FC236}">
                <ns2:creationId id="{8A67B987-EDBB-44FF-8C76-7B72F7E726B1}"/>
              </a:ext>
            </a:extLst>
          </p:cNvPr>
          <p:cNvSpPr>
            <a:spLocks noGrp="1"/>
          </p:cNvSpPr>
          <p:nvPr/>
        </p:nvSpPr>
        <p:spPr>
          <a:xfrm>
            <a:off x="8953500" y="2628900"/>
            <a:ext cx="2190750" cy="15240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0" name="">
            <a:extLst>
              <a:ext uri="{FF2B5EF4-FFF2-40B4-BE49-F238E27FC236}">
                <ns2:creationId id="{82DBE2B3-51CB-4B60-B367-136AB78E75D5}"/>
              </a:ext>
            </a:extLst>
          </p:cNvPr>
          <p:cNvSpPr>
            <a:spLocks noGrp="1"/>
          </p:cNvSpPr>
          <p:nvPr/>
        </p:nvSpPr>
        <p:spPr>
          <a:xfrm>
            <a:off x="9124950" y="2876550"/>
            <a:ext cx="1809750" cy="304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21" name="">
            <a:extLst>
              <a:ext uri="{FF2B5EF4-FFF2-40B4-BE49-F238E27FC236}">
                <ns2:creationId id="{5ED83E8C-E72E-4BD3-A84D-AD2617FB8E25}"/>
              </a:ext>
            </a:extLst>
          </p:cNvPr>
          <p:cNvSpPr>
            <a:spLocks noGrp="1"/>
          </p:cNvSpPr>
          <p:nvPr/>
        </p:nvSpPr>
        <p:spPr>
          <a:xfrm>
            <a:off x="9124950" y="3333750"/>
            <a:ext cx="1809750" cy="590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Incremental adoption against holdout, then revenue uplift and quality guardrails.</a:t>
            </a:r>
          </a:p>
        </p:txBody>
      </p:sp>
      <p:sp>
        <p:nvSpPr>
          <p:cNvPr id="22" name="">
            <a:extLst>
              <a:ext uri="{FF2B5EF4-FFF2-40B4-BE49-F238E27FC236}">
                <ns2:creationId id="{8103B654-A85F-417A-9DB9-96724EE48767}"/>
              </a:ext>
            </a:extLst>
          </p:cNvPr>
          <p:cNvSpPr>
            <a:spLocks noGrp="1"/>
          </p:cNvSpPr>
          <p:nvPr/>
        </p:nvSpPr>
        <p:spPr>
          <a:xfrm>
            <a:off x="628650" y="4819650"/>
            <a:ext cx="1714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Primary KPI</a:t>
            </a:r>
          </a:p>
        </p:txBody>
      </p:sp>
      <p:sp>
        <p:nvSpPr>
          <p:cNvPr id="23" name="">
            <a:extLst>
              <a:ext uri="{FF2B5EF4-FFF2-40B4-BE49-F238E27FC236}">
                <ns2:creationId id="{AF616637-726F-4AA8-9A1E-A12115EAC207}"/>
              </a:ext>
            </a:extLst>
          </p:cNvPr>
          <p:cNvSpPr>
            <a:spLocks noGrp="1"/>
          </p:cNvSpPr>
          <p:nvPr/>
        </p:nvSpPr>
        <p:spPr>
          <a:xfrm>
            <a:off x="628650" y="5143500"/>
            <a:ext cx="6000750" cy="5143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Incremental SMB Bundle adoption rate: adoption difference between exposed sellers and a holdout/control group.</a:t>
            </a:r>
          </a:p>
        </p:txBody>
      </p:sp>
      <p:sp>
        <p:nvSpPr>
          <p:cNvPr id="24" name="">
            <a:extLst>
              <a:ext uri="{FF2B5EF4-FFF2-40B4-BE49-F238E27FC236}">
                <ns2:creationId id="{A8A68785-FEF8-4FC6-A99B-C953159862ED}"/>
              </a:ext>
            </a:extLst>
          </p:cNvPr>
          <p:cNvSpPr>
            <a:spLocks noGrp="1"/>
          </p:cNvSpPr>
          <p:nvPr/>
        </p:nvSpPr>
        <p:spPr>
          <a:xfrm>
            <a:off x="7048500" y="5010150"/>
            <a:ext cx="4000500" cy="666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Secondary KPIs: click-through rate, trial start rate, bundle revenue uplift. Guardrails: early cancellation or downgrade, seller opt-out or complaint rate.</a:t>
            </a:r>
          </a:p>
        </p:txBody>
      </p:sp>
    </p:spTree>
    <p:extLst>
      <p:ext uri="{BB962C8B-B14F-4D97-AF65-F5344CB8AC3E}">
        <ns3:creationId val="1416733793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137DF101-FE13-4979-AF92-27229E832D18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2422924D-1E86-4125-88E6-7F2137389FCD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Cross-question synthesis</a:t>
            </a:r>
          </a:p>
        </p:txBody>
      </p:sp>
      <p:sp>
        <p:nvSpPr>
          <p:cNvPr id="3" name="">
            <a:extLst>
              <a:ext uri="{FF2B5EF4-FFF2-40B4-BE49-F238E27FC236}">
                <ns2:creationId id="{FADAED1E-A041-4843-B366-9354DB32FB44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>
              <a:ext uri="{FF2B5EF4-FFF2-40B4-BE49-F238E27FC236}">
                <ns2:creationId id="{815AA307-E94D-47B6-8A1A-38BC21DA97C3}"/>
              </a:ext>
            </a:extLst>
          </p:cNvPr>
          <p:cNvSpPr>
            <a:spLocks noGrp="1"/>
          </p:cNvSpPr>
          <p:nvPr/>
        </p:nvSpPr>
        <p:spPr>
          <a:xfrm>
            <a:off x="552450" y="600075"/>
            <a:ext cx="7524750" cy="685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0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The operating loop is ready.</a:t>
            </a:r>
          </a:p>
        </p:txBody>
      </p:sp>
      <p:sp>
        <p:nvSpPr>
          <p:cNvPr id="5" name="">
            <a:extLst>
              <a:ext uri="{FF2B5EF4-FFF2-40B4-BE49-F238E27FC236}">
                <ns2:creationId id="{9BC8BB56-B0ED-4FA2-A4B2-1F8E1F40ECC9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763000" cy="8191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87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Assignment 2 links analytics to action: identify likely SMBs, prioritize commercial readiness, monitor paid adoption, then scale promotion with controlled measurement.</a:t>
            </a:r>
          </a:p>
        </p:txBody>
      </p:sp>
      <p:sp>
        <p:nvSpPr>
          <p:cNvPr id="6" name="">
            <a:extLst>
              <a:ext uri="{FF2B5EF4-FFF2-40B4-BE49-F238E27FC236}">
                <ns2:creationId id="{47AC6BA8-119C-46BB-BC19-1768CD674697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1638300" cy="104775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7" name="">
            <a:extLst>
              <a:ext uri="{FF2B5EF4-FFF2-40B4-BE49-F238E27FC236}">
                <ns2:creationId id="{D2DC0345-922A-4530-9995-68FE7444EA33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1257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8" name="">
            <a:extLst>
              <a:ext uri="{FF2B5EF4-FFF2-40B4-BE49-F238E27FC236}">
                <ns2:creationId id="{EC66A31B-4C7F-403D-BB7C-FC6B1E93F4F6}"/>
              </a:ext>
            </a:extLst>
          </p:cNvPr>
          <p:cNvSpPr>
            <a:spLocks noGrp="1"/>
          </p:cNvSpPr>
          <p:nvPr/>
        </p:nvSpPr>
        <p:spPr>
          <a:xfrm>
            <a:off x="857250" y="3695700"/>
            <a:ext cx="12573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Explainable SMB likelihood</a:t>
            </a:r>
          </a:p>
        </p:txBody>
      </p:sp>
      <p:sp>
        <p:nvSpPr>
          <p:cNvPr id="9" name="">
            <a:extLst>
              <a:ext uri="{FF2B5EF4-FFF2-40B4-BE49-F238E27FC236}">
                <ns2:creationId id="{B7807B8A-B32C-4804-B326-73F728A96F71}"/>
              </a:ext>
            </a:extLst>
          </p:cNvPr>
          <p:cNvSpPr>
            <a:spLocks noGrp="1"/>
          </p:cNvSpPr>
          <p:nvPr/>
        </p:nvSpPr>
        <p:spPr>
          <a:xfrm>
            <a:off x="2343150" y="3667125"/>
            <a:ext cx="4191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10" name="">
            <a:extLst>
              <a:ext uri="{FF2B5EF4-FFF2-40B4-BE49-F238E27FC236}">
                <ns2:creationId id="{2E76497E-A772-446B-92B5-CA51BAF70F6F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4775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1" name="">
            <a:extLst>
              <a:ext uri="{FF2B5EF4-FFF2-40B4-BE49-F238E27FC236}">
                <ns2:creationId id="{B5E09C2A-8D5E-4E9B-8791-DA16B2E46159}"/>
              </a:ext>
            </a:extLst>
          </p:cNvPr>
          <p:cNvSpPr>
            <a:spLocks noGrp="1"/>
          </p:cNvSpPr>
          <p:nvPr/>
        </p:nvSpPr>
        <p:spPr>
          <a:xfrm>
            <a:off x="3009900" y="3333750"/>
            <a:ext cx="1257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">
            <a:extLst>
              <a:ext uri="{FF2B5EF4-FFF2-40B4-BE49-F238E27FC236}">
                <ns2:creationId id="{420D0FC7-B5EE-4FFE-801C-6E959EFC4C07}"/>
              </a:ext>
            </a:extLst>
          </p:cNvPr>
          <p:cNvSpPr>
            <a:spLocks noGrp="1"/>
          </p:cNvSpPr>
          <p:nvPr/>
        </p:nvSpPr>
        <p:spPr>
          <a:xfrm>
            <a:off x="3009900" y="3695700"/>
            <a:ext cx="12573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Readiness score and bundle fit</a:t>
            </a:r>
          </a:p>
        </p:txBody>
      </p:sp>
      <p:sp>
        <p:nvSpPr>
          <p:cNvPr id="13" name="">
            <a:extLst>
              <a:ext uri="{FF2B5EF4-FFF2-40B4-BE49-F238E27FC236}">
                <ns2:creationId id="{677ED116-B710-4DAD-9A72-AB543A56B3DA}"/>
              </a:ext>
            </a:extLst>
          </p:cNvPr>
          <p:cNvSpPr>
            <a:spLocks noGrp="1"/>
          </p:cNvSpPr>
          <p:nvPr/>
        </p:nvSpPr>
        <p:spPr>
          <a:xfrm>
            <a:off x="4495800" y="3667125"/>
            <a:ext cx="4191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14" name="">
            <a:extLst>
              <a:ext uri="{FF2B5EF4-FFF2-40B4-BE49-F238E27FC236}">
                <ns2:creationId id="{F36B3C68-CE59-4864-BD94-62FB3DF87976}"/>
              </a:ext>
            </a:extLst>
          </p:cNvPr>
          <p:cNvSpPr>
            <a:spLocks noGrp="1"/>
          </p:cNvSpPr>
          <p:nvPr/>
        </p:nvSpPr>
        <p:spPr>
          <a:xfrm>
            <a:off x="4991100" y="3143250"/>
            <a:ext cx="1638300" cy="104775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5" name="">
            <a:extLst>
              <a:ext uri="{FF2B5EF4-FFF2-40B4-BE49-F238E27FC236}">
                <ns2:creationId id="{E2A67A41-4E46-4C70-A397-891510E47373}"/>
              </a:ext>
            </a:extLst>
          </p:cNvPr>
          <p:cNvSpPr>
            <a:spLocks noGrp="1"/>
          </p:cNvSpPr>
          <p:nvPr/>
        </p:nvSpPr>
        <p:spPr>
          <a:xfrm>
            <a:off x="5162550" y="3333750"/>
            <a:ext cx="1257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Sell</a:t>
            </a:r>
          </a:p>
        </p:txBody>
      </p:sp>
      <p:sp>
        <p:nvSpPr>
          <p:cNvPr id="16" name="">
            <a:extLst>
              <a:ext uri="{FF2B5EF4-FFF2-40B4-BE49-F238E27FC236}">
                <ns2:creationId id="{1A52468B-C4BD-44E5-B02C-08E3318E8C56}"/>
              </a:ext>
            </a:extLst>
          </p:cNvPr>
          <p:cNvSpPr>
            <a:spLocks noGrp="1"/>
          </p:cNvSpPr>
          <p:nvPr/>
        </p:nvSpPr>
        <p:spPr>
          <a:xfrm>
            <a:off x="5162550" y="3695700"/>
            <a:ext cx="12573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Basic or Plus outreach</a:t>
            </a:r>
          </a:p>
        </p:txBody>
      </p:sp>
      <p:sp>
        <p:nvSpPr>
          <p:cNvPr id="17" name="">
            <a:extLst>
              <a:ext uri="{FF2B5EF4-FFF2-40B4-BE49-F238E27FC236}">
                <ns2:creationId id="{466E1777-3414-4276-A7CA-A52D3EF8D4FC}"/>
              </a:ext>
            </a:extLst>
          </p:cNvPr>
          <p:cNvSpPr>
            <a:spLocks noGrp="1"/>
          </p:cNvSpPr>
          <p:nvPr/>
        </p:nvSpPr>
        <p:spPr>
          <a:xfrm>
            <a:off x="6648450" y="3667125"/>
            <a:ext cx="4191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18" name="">
            <a:extLst>
              <a:ext uri="{FF2B5EF4-FFF2-40B4-BE49-F238E27FC236}">
                <ns2:creationId id="{F9A9444D-2017-4593-80E0-186F849E26CB}"/>
              </a:ext>
            </a:extLst>
          </p:cNvPr>
          <p:cNvSpPr>
            <a:spLocks noGrp="1"/>
          </p:cNvSpPr>
          <p:nvPr/>
        </p:nvSpPr>
        <p:spPr>
          <a:xfrm>
            <a:off x="7143750" y="3143250"/>
            <a:ext cx="1638300" cy="104775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9" name="">
            <a:extLst>
              <a:ext uri="{FF2B5EF4-FFF2-40B4-BE49-F238E27FC236}">
                <ns2:creationId id="{1E6BCB3E-CFD0-4D86-92D8-DFEE7CA26347}"/>
              </a:ext>
            </a:extLst>
          </p:cNvPr>
          <p:cNvSpPr>
            <a:spLocks noGrp="1"/>
          </p:cNvSpPr>
          <p:nvPr/>
        </p:nvSpPr>
        <p:spPr>
          <a:xfrm>
            <a:off x="7315200" y="3333750"/>
            <a:ext cx="1257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20" name="">
            <a:extLst>
              <a:ext uri="{FF2B5EF4-FFF2-40B4-BE49-F238E27FC236}">
                <ns2:creationId id="{056D0279-6645-4E27-A5E6-1190F79DAB8F}"/>
              </a:ext>
            </a:extLst>
          </p:cNvPr>
          <p:cNvSpPr>
            <a:spLocks noGrp="1"/>
          </p:cNvSpPr>
          <p:nvPr/>
        </p:nvSpPr>
        <p:spPr>
          <a:xfrm>
            <a:off x="7315200" y="3695700"/>
            <a:ext cx="12573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Paid base, revenue proxy, quality</a:t>
            </a:r>
          </a:p>
        </p:txBody>
      </p:sp>
      <p:sp>
        <p:nvSpPr>
          <p:cNvPr id="21" name="">
            <a:extLst>
              <a:ext uri="{FF2B5EF4-FFF2-40B4-BE49-F238E27FC236}">
                <ns2:creationId id="{EBA44059-7495-4E78-A677-8F47419E964E}"/>
              </a:ext>
            </a:extLst>
          </p:cNvPr>
          <p:cNvSpPr>
            <a:spLocks noGrp="1"/>
          </p:cNvSpPr>
          <p:nvPr/>
        </p:nvSpPr>
        <p:spPr>
          <a:xfrm>
            <a:off x="8801100" y="3667125"/>
            <a:ext cx="4191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2" name="">
            <a:extLst>
              <a:ext uri="{FF2B5EF4-FFF2-40B4-BE49-F238E27FC236}">
                <ns2:creationId id="{2876B73E-70B8-49A9-A092-091DE692F6C8}"/>
              </a:ext>
            </a:extLst>
          </p:cNvPr>
          <p:cNvSpPr>
            <a:spLocks noGrp="1"/>
          </p:cNvSpPr>
          <p:nvPr/>
        </p:nvSpPr>
        <p:spPr>
          <a:xfrm>
            <a:off x="9296400" y="3143250"/>
            <a:ext cx="1638300" cy="1047750"/>
          </a:xfrm>
          <a:prstGeom prst="rect">
            <a:avLst/>
          </a:prstGeom>
          <a:ln w="9525">
            <a:solidFill>
              <a:srgbClr val="F4C430"/>
            </a:solidFill>
          </a:ln>
        </p:spPr>
      </p:sp>
      <p:sp>
        <p:nvSpPr>
          <p:cNvPr id="23" name="">
            <a:extLst>
              <a:ext uri="{FF2B5EF4-FFF2-40B4-BE49-F238E27FC236}">
                <ns2:creationId id="{A0344C27-0156-4053-9025-EDCAB46A5EFE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1257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24" name="">
            <a:extLst>
              <a:ext uri="{FF2B5EF4-FFF2-40B4-BE49-F238E27FC236}">
                <ns2:creationId id="{A054D825-02CB-405B-BE85-6753AF9235A9}"/>
              </a:ext>
            </a:extLst>
          </p:cNvPr>
          <p:cNvSpPr>
            <a:spLocks noGrp="1"/>
          </p:cNvSpPr>
          <p:nvPr/>
        </p:nvSpPr>
        <p:spPr>
          <a:xfrm>
            <a:off x="9467850" y="3695700"/>
            <a:ext cx="12573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CRM and in-platform campaign</a:t>
            </a:r>
          </a:p>
        </p:txBody>
      </p:sp>
      <p:sp>
        <p:nvSpPr>
          <p:cNvPr id="25" name="">
            <a:extLst>
              <a:ext uri="{FF2B5EF4-FFF2-40B4-BE49-F238E27FC236}">
                <ns2:creationId id="{049DD8B2-1269-4681-A786-26790F50564E}"/>
              </a:ext>
            </a:extLst>
          </p:cNvPr>
          <p:cNvSpPr>
            <a:spLocks noGrp="1"/>
          </p:cNvSpPr>
          <p:nvPr/>
        </p:nvSpPr>
        <p:spPr>
          <a:xfrm>
            <a:off x="723900" y="4953000"/>
            <a:ext cx="1619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Next upgrade</a:t>
            </a:r>
          </a:p>
        </p:txBody>
      </p:sp>
      <p:sp>
        <p:nvSpPr>
          <p:cNvPr id="26" name="">
            <a:extLst>
              <a:ext uri="{FF2B5EF4-FFF2-40B4-BE49-F238E27FC236}">
                <ns2:creationId id="{C3F15D64-3D42-49E8-8F74-6F212A430624}"/>
              </a:ext>
            </a:extLst>
          </p:cNvPr>
          <p:cNvSpPr>
            <a:spLocks noGrp="1"/>
          </p:cNvSpPr>
          <p:nvPr/>
        </p:nvSpPr>
        <p:spPr>
          <a:xfrm>
            <a:off x="723900" y="5257800"/>
            <a:ext cx="8096250" cy="4191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Move from modeled launch metrics to causal impact: actual invoices, matched controls, seller outcome lift, and marketplace quality guardrails.</a:t>
            </a:r>
          </a:p>
        </p:txBody>
      </p:sp>
    </p:spTree>
    <p:extLst>
      <p:ext uri="{BB962C8B-B14F-4D97-AF65-F5344CB8AC3E}">
        <ns3:creationId val="1149913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2026-06-12T23:24:48.2340000Z</dcterms:created>
  <dcterms:modified xsi:type="dcterms:W3CDTF">2026-06-12T23:24:48.2340000Z</dcterms:modified>
</coreProperties>
</file>